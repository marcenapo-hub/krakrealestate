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Objetivo: que todo el equipo, industrial y residencial, sepa qué formas de reparto existen, cuál se usa según el producto y, sobre todo, cómo dejar el acuerdo asegurado antes de operar. El mensaje que tiene que quedar: se pregunta primero y se deja por escrito. Los repartos que se muestran son usos del mercado, no una regla universal. Duración estimada: 30 minutos más el taller del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Abrir con la pregunta: ¿cuántas veces tuvieron un cliente y la propiedad la tenía otro colega, o al revés? Co-broking es resolver eso entre dos corredores. No es una concesión: sin el colega, la operación no existía. Lo que sigue en la capacitación es cómo hacerlo ordenado para que nadie termine discutiendo un cobro.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Marcar que 'la bolsa' es el nombre que se le da al 50 y 50 sobre el total de las comisiones. La mitad del comprador es lo más habitual en residencial. La tercera forma, un porcentaje fijo (por ejemplo el 1%), aparece a veces y se pacta puntualmente. Confirmar con Marce el alcance exacto de esta tercera forma antes de dictar: en el borrador quedó como 'a veces te comparten el uno'. La idea para el equipo: tres esquemas posibles, ninguno se da por supuesto.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terrenos lo habitual es compartir la mitad de todo. En departamentos residenciales, solo la mitad del honorario del comprador. Para el resto de los productos, incluido industrial, no se mostró una costumbre fija en el material fuente: la diapositiva dice 'se acuerda' y es el criterio prudente. Si el equipo industrial tiene un uso propio, agregarlo acá. Esta diapositiva no es una regla para aplicar sin preguntar: la costumbre orienta, el acuerdo manda.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Ejemplo hipotético, marcado así en la diapositiva. Los porcentajes del 3% son ilustrativos y no representan la tarifa de Krak. Bolsa: se suman USD 6.000 y cada colega se lleva 3.000. Mitad del comprador: el colega A, que tiene la propiedad, cobra USD 3.000 al vendedor y mitad del honorario del comprador (1.500), o sea 4.500; el colega B cobra 1.500. Confirmar que esta lectura de 'mitad del comprador' coincide con cómo se maneja en la práctica del equipo, es decir, quién retiene el honorario del vendedor. La moraleja: la diferencia entre esquemas puede ser de miles de dólares, y por eso nunca se asume.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 la regla más importante y la más barata de cumplir: una pregunta antes de empezar. Dos preguntas, siempre: si compartimos honorarios y cuánto (y sobre qué base: total o solo comprador). No importa si es un colega de confianza: se pregunta igual. El mensaje tipo es un ejemplo; cada uno lo adapta a su estilo. Silencio sugerido: dejar que el equipo piense cuántas veces mostró una propiedad sin haber preguntado esto.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caminos para asegurarse. A: poner la participación de cada uno en la reserva. B: firmar un convenio de honorarios con el colega. La diferencia entre ambos es quién ve el documento, y eso se explica en la próxima diapositiva. Lo que no cambia es el principio: por escrito. Y el objetivo real es la previsión: no llegar nunca a tener que ejecutar un cobro, sino evitar los malentendidos desde el principio.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razón de existir del convenio: a veces hay que proteger la identidad de uno de los colegas por el bien de la operación, y la reserva la ven las partes. En ese caso el reparto queda en un acuerdo privado entre colegas. Además, en ningún documento que ven terceros se habla de ninguna relación entre las distintas marcas del grupo. Para el equipo de la agencia: esto se aplica igual cuando el colega pertenece a otra de nuestras empresas.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mail o el WhatsApp pueden usarse como prueba del acuerdo. Pero la jerarquía es clara: lo mejor es el documento firmado; un mensaje escrito y confirmado por el colega sirve como respaldo; el acuerdo de palabra no deja nada. Un hábito práctico: después de una llamada, escribir un mensaje resumiendo lo acordado y pedir un 'ok'.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Checklist de contenido mínimo. Cinco elementos: quiénes, sobre qué operación, qué esquema, sobre qué base y cuándo y cómo se paga. El último no tiene una regla única del grupo: cada pareja de colegas lo define, pero tiene que quedar definido. Esta lista sirve igual para la reserva, el convenio o el mensaje de respaldo.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Casos hipotéticos armados para ilustrar. No son conflictos reales de la empresa. Leer cada caso, pedir al equipo que diga qué falló antes de mostrar la respuesta en rojo. Los tres tienen el mismo patrón: faltó preguntar o faltó escribir. Dejar abierta la puerta: los casos reales los traen los agentes en la próxima diapositiva.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Espacio para que los agentes cuenten sus propias experiencias. No hay casos de conflicto documentados por la empresa: el valor está en lo que el equipo ya vivió. Pedir que se cuenten sin nombres de colegas ni de clientes. Anotar los casos y las preguntas para reemplazar los hipotéticos de la diapositiva anterior en la próxima versión. Tiempo sugerido: 10 a 15 minutos.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Resumen operativo. Cinco puntos. Si el equipo se acuerda de uno solo, que sea el primero: preguntar. Esta diapositiva se puede imprimir o dejar fijada en el escritorio. Cerrar con el mensaje final.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Mensaje: preguntar primero y dejar por escrito. Recordar que los esquemas de reparto son usos del mercado, que los números del ejemplo son hipotéticos y que el criterio de Krak está vigente a la fecha indicada. Antes de volver a dictar la capacitación: confirmar el alcance de la tercera forma de reparto, la regla para otros productos como naves y locales, y sumar los casos reales del taller.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image" Target="../media/image-4-2.pn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image" Target="../media/image-9-2.png"/><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image" Target="../media/image-12-2.png"/><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image" Target="../media/image-13-2.png"/><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co-broking/brand/logo_white.png">    </p:cNvPr>
          <p:cNvPicPr>
            <a:picLocks noChangeAspect="1"/>
          </p:cNvPicPr>
          <p:nvPr/>
        </p:nvPicPr>
        <p:blipFill>
          <a:blip r:embed="rId2"/>
          <a:stretch>
            <a:fillRect/>
          </a:stretch>
        </p:blipFill>
        <p:spPr>
          <a:xfrm>
            <a:off x="658368" y="777240"/>
            <a:ext cx="1847088" cy="821131"/>
          </a:xfrm>
          <a:prstGeom prst="rect">
            <a:avLst/>
          </a:prstGeom>
        </p:spPr>
      </p:pic>
      <p:sp>
        <p:nvSpPr>
          <p:cNvPr id="3" name="Text 0"/>
          <p:cNvSpPr/>
          <p:nvPr/>
        </p:nvSpPr>
        <p:spPr>
          <a:xfrm>
            <a:off x="658368" y="2121408"/>
            <a:ext cx="6858000" cy="310896"/>
          </a:xfrm>
          <a:prstGeom prst="rect">
            <a:avLst/>
          </a:prstGeom>
          <a:noFill/>
          <a:ln/>
        </p:spPr>
        <p:txBody>
          <a:bodyPr wrap="square" lIns="0" tIns="0" rIns="0" bIns="0" rtlCol="0" anchor="ctr"/>
          <a:lstStyle/>
          <a:p>
            <a:pPr indent="0" marL="0">
              <a:buNone/>
            </a:pPr>
            <a:r>
              <a:rPr lang="en-US" sz="1500" dirty="0">
                <a:solidFill>
                  <a:srgbClr val="FFFFFF"/>
                </a:solidFill>
                <a:latin typeface="Inter" pitchFamily="34" charset="0"/>
                <a:ea typeface="Inter" pitchFamily="34" charset="-122"/>
                <a:cs typeface="Inter" pitchFamily="34" charset="-120"/>
              </a:rPr>
              <a:t>Capacitaciones Krak Real Estate</a:t>
            </a:r>
            <a:endParaRPr lang="en-US" sz="1500" dirty="0"/>
          </a:p>
        </p:txBody>
      </p:sp>
      <p:sp>
        <p:nvSpPr>
          <p:cNvPr id="4" name="Text 1"/>
          <p:cNvSpPr/>
          <p:nvPr/>
        </p:nvSpPr>
        <p:spPr>
          <a:xfrm>
            <a:off x="640080" y="2487168"/>
            <a:ext cx="7955280" cy="1371600"/>
          </a:xfrm>
          <a:prstGeom prst="rect">
            <a:avLst/>
          </a:prstGeom>
          <a:noFill/>
          <a:ln/>
        </p:spPr>
        <p:txBody>
          <a:bodyPr wrap="square" lIns="0" tIns="0" rIns="0" bIns="0" rtlCol="0" anchor="t"/>
          <a:lstStyle/>
          <a:p>
            <a:pPr indent="0" marL="0">
              <a:lnSpc>
                <a:spcPts val="4800"/>
              </a:lnSpc>
              <a:buNone/>
            </a:pPr>
            <a:r>
              <a:rPr lang="en-US" sz="4000" b="1" dirty="0">
                <a:solidFill>
                  <a:srgbClr val="FFFFFF"/>
                </a:solidFill>
                <a:latin typeface="Inter" pitchFamily="34" charset="0"/>
                <a:ea typeface="Inter" pitchFamily="34" charset="-122"/>
                <a:cs typeface="Inter" pitchFamily="34" charset="-120"/>
              </a:rPr>
              <a:t>Co-broking: compartir honorarios con colegas</a:t>
            </a:r>
            <a:endParaRPr lang="en-US" sz="4000" dirty="0"/>
          </a:p>
        </p:txBody>
      </p:sp>
      <p:sp>
        <p:nvSpPr>
          <p:cNvPr id="5" name="Text 2"/>
          <p:cNvSpPr/>
          <p:nvPr/>
        </p:nvSpPr>
        <p:spPr>
          <a:xfrm>
            <a:off x="658368" y="3977640"/>
            <a:ext cx="6949440" cy="365760"/>
          </a:xfrm>
          <a:prstGeom prst="rect">
            <a:avLst/>
          </a:prstGeom>
          <a:noFill/>
          <a:ln/>
        </p:spPr>
        <p:txBody>
          <a:bodyPr wrap="square" lIns="0" tIns="0" rIns="0" bIns="0" rtlCol="0" anchor="ctr"/>
          <a:lstStyle/>
          <a:p>
            <a:pPr indent="0" marL="0">
              <a:buNone/>
            </a:pPr>
            <a:r>
              <a:rPr lang="en-US" sz="1250" dirty="0">
                <a:solidFill>
                  <a:srgbClr val="D9E4F0"/>
                </a:solidFill>
                <a:latin typeface="Inter" pitchFamily="34" charset="0"/>
                <a:ea typeface="Inter" pitchFamily="34" charset="-122"/>
                <a:cs typeface="Inter" pitchFamily="34" charset="-120"/>
              </a:rPr>
              <a:t>Cómo se reparte y cómo se asegura el cobro  ·  Criterio vigente al 03/10/2026</a:t>
            </a:r>
            <a:endParaRPr lang="en-US" sz="12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Por qué trabajar con colegas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Una operación puede necesitar algo que solo tiene otro corredor.</a:t>
            </a:r>
            <a:endParaRPr lang="en-US" sz="1200" dirty="0"/>
          </a:p>
        </p:txBody>
      </p:sp>
      <p:sp>
        <p:nvSpPr>
          <p:cNvPr id="7" name="Shape 4"/>
          <p:cNvSpPr/>
          <p:nvPr/>
        </p:nvSpPr>
        <p:spPr>
          <a:xfrm>
            <a:off x="603504" y="1188720"/>
            <a:ext cx="2542032" cy="2377440"/>
          </a:xfrm>
          <a:prstGeom prst="roundRect">
            <a:avLst>
              <a:gd name="adj" fmla="val 3462"/>
            </a:avLst>
          </a:prstGeom>
          <a:solidFill>
            <a:srgbClr val="08407C"/>
          </a:solidFill>
          <a:ln w="12700">
            <a:solidFill>
              <a:srgbClr val="08407C"/>
            </a:solidFill>
            <a:prstDash val="solid"/>
          </a:ln>
        </p:spPr>
      </p:sp>
      <p:sp>
        <p:nvSpPr>
          <p:cNvPr id="8" name="Text 5"/>
          <p:cNvSpPr/>
          <p:nvPr/>
        </p:nvSpPr>
        <p:spPr>
          <a:xfrm>
            <a:off x="822960"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SITUACIÓN 1</a:t>
            </a:r>
            <a:endParaRPr lang="en-US" sz="900" dirty="0"/>
          </a:p>
        </p:txBody>
      </p:sp>
      <p:sp>
        <p:nvSpPr>
          <p:cNvPr id="9" name="Text 6"/>
          <p:cNvSpPr/>
          <p:nvPr/>
        </p:nvSpPr>
        <p:spPr>
          <a:xfrm>
            <a:off x="822960" y="1572768"/>
            <a:ext cx="2103120" cy="77724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Tu cliente busca lo que no tenés</a:t>
            </a:r>
            <a:endParaRPr lang="en-US" sz="1600" dirty="0"/>
          </a:p>
        </p:txBody>
      </p:sp>
      <p:sp>
        <p:nvSpPr>
          <p:cNvPr id="10" name="Text 7"/>
          <p:cNvSpPr/>
          <p:nvPr/>
        </p:nvSpPr>
        <p:spPr>
          <a:xfrm>
            <a:off x="822960" y="2423160"/>
            <a:ext cx="2103120" cy="1014984"/>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Tenés un comprador con necesidad clara y la propiedad ideal está en la cartera de otro colega.</a:t>
            </a:r>
            <a:endParaRPr lang="en-US" sz="1100" dirty="0"/>
          </a:p>
        </p:txBody>
      </p:sp>
      <p:sp>
        <p:nvSpPr>
          <p:cNvPr id="11" name="Shape 8"/>
          <p:cNvSpPr/>
          <p:nvPr/>
        </p:nvSpPr>
        <p:spPr>
          <a:xfrm>
            <a:off x="3374136" y="1188720"/>
            <a:ext cx="2542032" cy="2377440"/>
          </a:xfrm>
          <a:prstGeom prst="roundRect">
            <a:avLst>
              <a:gd name="adj" fmla="val 3462"/>
            </a:avLst>
          </a:prstGeom>
          <a:solidFill>
            <a:srgbClr val="7C8594"/>
          </a:solidFill>
          <a:ln w="12700">
            <a:solidFill>
              <a:srgbClr val="7C8594"/>
            </a:solidFill>
            <a:prstDash val="solid"/>
          </a:ln>
        </p:spPr>
      </p:sp>
      <p:sp>
        <p:nvSpPr>
          <p:cNvPr id="12" name="Text 9"/>
          <p:cNvSpPr/>
          <p:nvPr/>
        </p:nvSpPr>
        <p:spPr>
          <a:xfrm>
            <a:off x="3593592"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SITUACIÓN 2</a:t>
            </a:r>
            <a:endParaRPr lang="en-US" sz="900" dirty="0"/>
          </a:p>
        </p:txBody>
      </p:sp>
      <p:sp>
        <p:nvSpPr>
          <p:cNvPr id="13" name="Text 10"/>
          <p:cNvSpPr/>
          <p:nvPr/>
        </p:nvSpPr>
        <p:spPr>
          <a:xfrm>
            <a:off x="3593592" y="1572768"/>
            <a:ext cx="2103120" cy="77724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Tu propiedad necesita un comprador</a:t>
            </a:r>
            <a:endParaRPr lang="en-US" sz="1600" dirty="0"/>
          </a:p>
        </p:txBody>
      </p:sp>
      <p:sp>
        <p:nvSpPr>
          <p:cNvPr id="14" name="Text 11"/>
          <p:cNvSpPr/>
          <p:nvPr/>
        </p:nvSpPr>
        <p:spPr>
          <a:xfrm>
            <a:off x="3593592" y="2423160"/>
            <a:ext cx="2103120" cy="1014984"/>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Tenés la autorización de venta y el comprador que encaja está en la base de otro colega.</a:t>
            </a:r>
            <a:endParaRPr lang="en-US" sz="1100" dirty="0"/>
          </a:p>
        </p:txBody>
      </p:sp>
      <p:sp>
        <p:nvSpPr>
          <p:cNvPr id="15" name="Shape 12"/>
          <p:cNvSpPr/>
          <p:nvPr/>
        </p:nvSpPr>
        <p:spPr>
          <a:xfrm>
            <a:off x="6144768" y="1188720"/>
            <a:ext cx="2542032" cy="2377440"/>
          </a:xfrm>
          <a:prstGeom prst="roundRect">
            <a:avLst>
              <a:gd name="adj" fmla="val 3462"/>
            </a:avLst>
          </a:prstGeom>
          <a:solidFill>
            <a:srgbClr val="08407C"/>
          </a:solidFill>
          <a:ln w="12700">
            <a:solidFill>
              <a:srgbClr val="08407C"/>
            </a:solidFill>
            <a:prstDash val="solid"/>
          </a:ln>
        </p:spPr>
      </p:sp>
      <p:sp>
        <p:nvSpPr>
          <p:cNvPr id="16" name="Text 13"/>
          <p:cNvSpPr/>
          <p:nvPr/>
        </p:nvSpPr>
        <p:spPr>
          <a:xfrm>
            <a:off x="6364224"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RESULTADO</a:t>
            </a:r>
            <a:endParaRPr lang="en-US" sz="900" dirty="0"/>
          </a:p>
        </p:txBody>
      </p:sp>
      <p:sp>
        <p:nvSpPr>
          <p:cNvPr id="17" name="Text 14"/>
          <p:cNvSpPr/>
          <p:nvPr/>
        </p:nvSpPr>
        <p:spPr>
          <a:xfrm>
            <a:off x="6364224" y="1572768"/>
            <a:ext cx="2103120" cy="777240"/>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La operación se destraba</a:t>
            </a:r>
            <a:endParaRPr lang="en-US" sz="1600" dirty="0"/>
          </a:p>
        </p:txBody>
      </p:sp>
      <p:sp>
        <p:nvSpPr>
          <p:cNvPr id="18" name="Text 15"/>
          <p:cNvSpPr/>
          <p:nvPr/>
        </p:nvSpPr>
        <p:spPr>
          <a:xfrm>
            <a:off x="6364224" y="2423160"/>
            <a:ext cx="2103120" cy="1014984"/>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Entre dos se cierra lo que uno solo no cerraba. Se reparte el honorario, pero se cobra.</a:t>
            </a:r>
            <a:endParaRPr lang="en-US" sz="1100" dirty="0"/>
          </a:p>
        </p:txBody>
      </p:sp>
      <p:sp>
        <p:nvSpPr>
          <p:cNvPr id="19" name="Shape 16"/>
          <p:cNvSpPr/>
          <p:nvPr/>
        </p:nvSpPr>
        <p:spPr>
          <a:xfrm>
            <a:off x="603504" y="3840480"/>
            <a:ext cx="8083296" cy="658368"/>
          </a:xfrm>
          <a:prstGeom prst="roundRect">
            <a:avLst>
              <a:gd name="adj" fmla="val 12500"/>
            </a:avLst>
          </a:prstGeom>
          <a:solidFill>
            <a:srgbClr val="08407C"/>
          </a:solidFill>
          <a:ln w="12700">
            <a:solidFill>
              <a:srgbClr val="08407C"/>
            </a:solidFill>
            <a:prstDash val="solid"/>
          </a:ln>
        </p:spPr>
      </p:sp>
      <p:sp>
        <p:nvSpPr>
          <p:cNvPr id="20" name="Text 17"/>
          <p:cNvSpPr/>
          <p:nvPr/>
        </p:nvSpPr>
        <p:spPr>
          <a:xfrm>
            <a:off x="841248" y="388620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IDEA CENTRAL</a:t>
            </a:r>
            <a:endParaRPr lang="en-US" sz="900" dirty="0"/>
          </a:p>
        </p:txBody>
      </p:sp>
      <p:sp>
        <p:nvSpPr>
          <p:cNvPr id="21" name="Text 18"/>
          <p:cNvSpPr/>
          <p:nvPr/>
        </p:nvSpPr>
        <p:spPr>
          <a:xfrm>
            <a:off x="841248" y="408736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Compartir honorarios no es perder comisión: es cobrar una operación que solo no se cerraba.</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Tres formas de compartir honorarios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Se acuerdan entre colegas, caso por caso. Son prácticas del mercado.</a:t>
            </a:r>
            <a:endParaRPr lang="en-US" sz="1200" dirty="0"/>
          </a:p>
        </p:txBody>
      </p:sp>
      <p:sp>
        <p:nvSpPr>
          <p:cNvPr id="7" name="Shape 4"/>
          <p:cNvSpPr/>
          <p:nvPr/>
        </p:nvSpPr>
        <p:spPr>
          <a:xfrm>
            <a:off x="603504" y="1188720"/>
            <a:ext cx="2542032" cy="2331720"/>
          </a:xfrm>
          <a:prstGeom prst="roundRect">
            <a:avLst>
              <a:gd name="adj" fmla="val 3529"/>
            </a:avLst>
          </a:prstGeom>
          <a:solidFill>
            <a:srgbClr val="08407C"/>
          </a:solidFill>
          <a:ln w="12700">
            <a:solidFill>
              <a:srgbClr val="08407C"/>
            </a:solidFill>
            <a:prstDash val="solid"/>
          </a:ln>
        </p:spPr>
      </p:sp>
      <p:sp>
        <p:nvSpPr>
          <p:cNvPr id="8" name="Text 5"/>
          <p:cNvSpPr/>
          <p:nvPr/>
        </p:nvSpPr>
        <p:spPr>
          <a:xfrm>
            <a:off x="822960"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FORMA 1</a:t>
            </a:r>
            <a:endParaRPr lang="en-US" sz="900" dirty="0"/>
          </a:p>
        </p:txBody>
      </p:sp>
      <p:sp>
        <p:nvSpPr>
          <p:cNvPr id="9" name="Text 6"/>
          <p:cNvSpPr/>
          <p:nvPr/>
        </p:nvSpPr>
        <p:spPr>
          <a:xfrm>
            <a:off x="822960"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La bolsa: 50 y 50</a:t>
            </a:r>
            <a:endParaRPr lang="en-US" sz="1600" dirty="0"/>
          </a:p>
        </p:txBody>
      </p:sp>
      <p:sp>
        <p:nvSpPr>
          <p:cNvPr id="10" name="Text 7"/>
          <p:cNvSpPr/>
          <p:nvPr/>
        </p:nvSpPr>
        <p:spPr>
          <a:xfrm>
            <a:off x="822960"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Se suman todos los honorarios de la operación, vendedor y comprador, y se reparten por mitades.</a:t>
            </a:r>
            <a:endParaRPr lang="en-US" sz="1100" dirty="0"/>
          </a:p>
        </p:txBody>
      </p:sp>
      <p:sp>
        <p:nvSpPr>
          <p:cNvPr id="11" name="Shape 8"/>
          <p:cNvSpPr/>
          <p:nvPr/>
        </p:nvSpPr>
        <p:spPr>
          <a:xfrm>
            <a:off x="3374136" y="1188720"/>
            <a:ext cx="2542032" cy="2331720"/>
          </a:xfrm>
          <a:prstGeom prst="roundRect">
            <a:avLst>
              <a:gd name="adj" fmla="val 3529"/>
            </a:avLst>
          </a:prstGeom>
          <a:solidFill>
            <a:srgbClr val="7C8594"/>
          </a:solidFill>
          <a:ln w="12700">
            <a:solidFill>
              <a:srgbClr val="7C8594"/>
            </a:solidFill>
            <a:prstDash val="solid"/>
          </a:ln>
        </p:spPr>
      </p:sp>
      <p:sp>
        <p:nvSpPr>
          <p:cNvPr id="12" name="Text 9"/>
          <p:cNvSpPr/>
          <p:nvPr/>
        </p:nvSpPr>
        <p:spPr>
          <a:xfrm>
            <a:off x="3593592"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FORMA 2 · LA MÁS HABITUAL</a:t>
            </a:r>
            <a:endParaRPr lang="en-US" sz="900" dirty="0"/>
          </a:p>
        </p:txBody>
      </p:sp>
      <p:sp>
        <p:nvSpPr>
          <p:cNvPr id="13" name="Text 10"/>
          <p:cNvSpPr/>
          <p:nvPr/>
        </p:nvSpPr>
        <p:spPr>
          <a:xfrm>
            <a:off x="3593592"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La mitad del comprador</a:t>
            </a:r>
            <a:endParaRPr lang="en-US" sz="1600" dirty="0"/>
          </a:p>
        </p:txBody>
      </p:sp>
      <p:sp>
        <p:nvSpPr>
          <p:cNvPr id="14" name="Text 11"/>
          <p:cNvSpPr/>
          <p:nvPr/>
        </p:nvSpPr>
        <p:spPr>
          <a:xfrm>
            <a:off x="3593592"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Cada uno conserva el honorario de su cliente. Solo se divide por mitades el honorario del comprador.</a:t>
            </a:r>
            <a:endParaRPr lang="en-US" sz="1100" dirty="0"/>
          </a:p>
        </p:txBody>
      </p:sp>
      <p:sp>
        <p:nvSpPr>
          <p:cNvPr id="15" name="Shape 12"/>
          <p:cNvSpPr/>
          <p:nvPr/>
        </p:nvSpPr>
        <p:spPr>
          <a:xfrm>
            <a:off x="6144768" y="1188720"/>
            <a:ext cx="2542032" cy="2331720"/>
          </a:xfrm>
          <a:prstGeom prst="roundRect">
            <a:avLst>
              <a:gd name="adj" fmla="val 3529"/>
            </a:avLst>
          </a:prstGeom>
          <a:solidFill>
            <a:srgbClr val="08407C"/>
          </a:solidFill>
          <a:ln w="12700">
            <a:solidFill>
              <a:srgbClr val="08407C"/>
            </a:solidFill>
            <a:prstDash val="solid"/>
          </a:ln>
        </p:spPr>
      </p:sp>
      <p:sp>
        <p:nvSpPr>
          <p:cNvPr id="16" name="Text 13"/>
          <p:cNvSpPr/>
          <p:nvPr/>
        </p:nvSpPr>
        <p:spPr>
          <a:xfrm>
            <a:off x="6364224"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FORMA 3</a:t>
            </a:r>
            <a:endParaRPr lang="en-US" sz="900" dirty="0"/>
          </a:p>
        </p:txBody>
      </p:sp>
      <p:sp>
        <p:nvSpPr>
          <p:cNvPr id="17" name="Text 14"/>
          <p:cNvSpPr/>
          <p:nvPr/>
        </p:nvSpPr>
        <p:spPr>
          <a:xfrm>
            <a:off x="6364224"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Un porcentaje fijo</a:t>
            </a:r>
            <a:endParaRPr lang="en-US" sz="1600" dirty="0"/>
          </a:p>
        </p:txBody>
      </p:sp>
      <p:sp>
        <p:nvSpPr>
          <p:cNvPr id="18" name="Text 15"/>
          <p:cNvSpPr/>
          <p:nvPr/>
        </p:nvSpPr>
        <p:spPr>
          <a:xfrm>
            <a:off x="6364224"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A veces se acuerda una participación puntual, por ejemplo el 1%, sobre el valor de la operación.</a:t>
            </a:r>
            <a:endParaRPr lang="en-US" sz="1100" dirty="0"/>
          </a:p>
        </p:txBody>
      </p:sp>
      <p:sp>
        <p:nvSpPr>
          <p:cNvPr id="19" name="Shape 16"/>
          <p:cNvSpPr/>
          <p:nvPr/>
        </p:nvSpPr>
        <p:spPr>
          <a:xfrm>
            <a:off x="603504" y="3794760"/>
            <a:ext cx="8083296" cy="658368"/>
          </a:xfrm>
          <a:prstGeom prst="roundRect">
            <a:avLst>
              <a:gd name="adj" fmla="val 12500"/>
            </a:avLst>
          </a:prstGeom>
          <a:solidFill>
            <a:srgbClr val="4E586E"/>
          </a:solidFill>
          <a:ln w="12700">
            <a:solidFill>
              <a:srgbClr val="4E586E"/>
            </a:solidFill>
            <a:prstDash val="solid"/>
          </a:ln>
        </p:spPr>
      </p:sp>
      <p:sp>
        <p:nvSpPr>
          <p:cNvPr id="20" name="Text 17"/>
          <p:cNvSpPr/>
          <p:nvPr/>
        </p:nvSpPr>
        <p:spPr>
          <a:xfrm>
            <a:off x="841248" y="384048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ATENCIÓN</a:t>
            </a:r>
            <a:endParaRPr lang="en-US" sz="900" dirty="0"/>
          </a:p>
        </p:txBody>
      </p:sp>
      <p:sp>
        <p:nvSpPr>
          <p:cNvPr id="21" name="Text 18"/>
          <p:cNvSpPr/>
          <p:nvPr/>
        </p:nvSpPr>
        <p:spPr>
          <a:xfrm>
            <a:off x="841248" y="404164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Los tres existen y los tres son válidos. Por eso nunca se asume cuál aplica: se pregunta y se acuerda.</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Cambia según el producto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La costumbre del mercado no es la misma para todo.</a:t>
            </a:r>
            <a:endParaRPr lang="en-US" sz="1200" dirty="0"/>
          </a:p>
        </p:txBody>
      </p:sp>
      <p:sp>
        <p:nvSpPr>
          <p:cNvPr id="7" name="Shape 4"/>
          <p:cNvSpPr/>
          <p:nvPr/>
        </p:nvSpPr>
        <p:spPr>
          <a:xfrm>
            <a:off x="603504" y="1188720"/>
            <a:ext cx="2542032" cy="457200"/>
          </a:xfrm>
          <a:prstGeom prst="roundRect">
            <a:avLst>
              <a:gd name="adj" fmla="val 18000"/>
            </a:avLst>
          </a:prstGeom>
          <a:solidFill>
            <a:srgbClr val="08407C"/>
          </a:solidFill>
          <a:ln w="12700">
            <a:solidFill>
              <a:srgbClr val="08407C"/>
            </a:solidFill>
            <a:prstDash val="solid"/>
          </a:ln>
        </p:spPr>
      </p:sp>
      <p:sp>
        <p:nvSpPr>
          <p:cNvPr id="8" name="Text 5"/>
          <p:cNvSpPr/>
          <p:nvPr/>
        </p:nvSpPr>
        <p:spPr>
          <a:xfrm>
            <a:off x="822960" y="1188720"/>
            <a:ext cx="2176272"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TERRENOS</a:t>
            </a:r>
            <a:endParaRPr lang="en-US" sz="1150" dirty="0"/>
          </a:p>
        </p:txBody>
      </p:sp>
      <p:sp>
        <p:nvSpPr>
          <p:cNvPr id="9" name="Shape 6"/>
          <p:cNvSpPr/>
          <p:nvPr/>
        </p:nvSpPr>
        <p:spPr>
          <a:xfrm>
            <a:off x="603504" y="1700784"/>
            <a:ext cx="2542032" cy="1783080"/>
          </a:xfrm>
          <a:prstGeom prst="roundRect">
            <a:avLst>
              <a:gd name="adj" fmla="val 4615"/>
            </a:avLst>
          </a:prstGeom>
          <a:solidFill>
            <a:srgbClr val="F3F3F3"/>
          </a:solidFill>
          <a:ln w="12700">
            <a:solidFill>
              <a:srgbClr val="F3F3F3"/>
            </a:solidFill>
            <a:prstDash val="solid"/>
          </a:ln>
        </p:spPr>
      </p:sp>
      <p:sp>
        <p:nvSpPr>
          <p:cNvPr id="10" name="Text 7"/>
          <p:cNvSpPr/>
          <p:nvPr/>
        </p:nvSpPr>
        <p:spPr>
          <a:xfrm>
            <a:off x="822960" y="1810512"/>
            <a:ext cx="2103120" cy="566928"/>
          </a:xfrm>
          <a:prstGeom prst="rect">
            <a:avLst/>
          </a:prstGeom>
          <a:noFill/>
          <a:ln/>
        </p:spPr>
        <p:txBody>
          <a:bodyPr wrap="square" lIns="0" tIns="0" rIns="0" bIns="0" rtlCol="0" anchor="ctr"/>
          <a:lstStyle/>
          <a:p>
            <a:pPr indent="0" marL="0">
              <a:lnSpc>
                <a:spcPts val="2000"/>
              </a:lnSpc>
              <a:buNone/>
            </a:pPr>
            <a:r>
              <a:rPr lang="en-US" sz="1700" b="1" dirty="0">
                <a:solidFill>
                  <a:srgbClr val="08407C"/>
                </a:solidFill>
                <a:latin typeface="Inter" pitchFamily="34" charset="0"/>
                <a:ea typeface="Inter" pitchFamily="34" charset="-122"/>
                <a:cs typeface="Inter" pitchFamily="34" charset="-120"/>
              </a:rPr>
              <a:t>La bolsa</a:t>
            </a:r>
            <a:endParaRPr lang="en-US" sz="1700" dirty="0"/>
          </a:p>
        </p:txBody>
      </p:sp>
      <p:sp>
        <p:nvSpPr>
          <p:cNvPr id="11" name="Text 8"/>
          <p:cNvSpPr/>
          <p:nvPr/>
        </p:nvSpPr>
        <p:spPr>
          <a:xfrm>
            <a:off x="822960" y="2432304"/>
            <a:ext cx="2103120" cy="960120"/>
          </a:xfrm>
          <a:prstGeom prst="rect">
            <a:avLst/>
          </a:prstGeom>
          <a:noFill/>
          <a:ln/>
        </p:spPr>
        <p:txBody>
          <a:bodyPr wrap="square" lIns="0" tIns="0" rIns="0" bIns="0" rtlCol="0" anchor="t"/>
          <a:lstStyle/>
          <a:p>
            <a:pPr indent="0" marL="0">
              <a:lnSpc>
                <a:spcPts val="1400"/>
              </a:lnSpc>
              <a:buNone/>
            </a:pPr>
            <a:r>
              <a:rPr lang="en-US" sz="1050" dirty="0">
                <a:solidFill>
                  <a:srgbClr val="2E4258"/>
                </a:solidFill>
                <a:latin typeface="Inter" pitchFamily="34" charset="0"/>
                <a:ea typeface="Inter" pitchFamily="34" charset="-122"/>
                <a:cs typeface="Inter" pitchFamily="34" charset="-120"/>
              </a:rPr>
              <a:t>Se suele compartir la mitad de todo: honorarios del vendedor y del comprador, 50 y 50.</a:t>
            </a:r>
            <a:endParaRPr lang="en-US" sz="1050" dirty="0"/>
          </a:p>
        </p:txBody>
      </p:sp>
      <p:sp>
        <p:nvSpPr>
          <p:cNvPr id="12" name="Shape 9"/>
          <p:cNvSpPr/>
          <p:nvPr/>
        </p:nvSpPr>
        <p:spPr>
          <a:xfrm>
            <a:off x="3374136" y="1188720"/>
            <a:ext cx="2542032" cy="457200"/>
          </a:xfrm>
          <a:prstGeom prst="roundRect">
            <a:avLst>
              <a:gd name="adj" fmla="val 18000"/>
            </a:avLst>
          </a:prstGeom>
          <a:solidFill>
            <a:srgbClr val="7C8594"/>
          </a:solidFill>
          <a:ln w="12700">
            <a:solidFill>
              <a:srgbClr val="7C8594"/>
            </a:solidFill>
            <a:prstDash val="solid"/>
          </a:ln>
        </p:spPr>
      </p:sp>
      <p:sp>
        <p:nvSpPr>
          <p:cNvPr id="13" name="Text 10"/>
          <p:cNvSpPr/>
          <p:nvPr/>
        </p:nvSpPr>
        <p:spPr>
          <a:xfrm>
            <a:off x="3593592" y="1188720"/>
            <a:ext cx="2176272"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DEPARTAMENTOS</a:t>
            </a:r>
            <a:endParaRPr lang="en-US" sz="1150" dirty="0"/>
          </a:p>
        </p:txBody>
      </p:sp>
      <p:sp>
        <p:nvSpPr>
          <p:cNvPr id="14" name="Shape 11"/>
          <p:cNvSpPr/>
          <p:nvPr/>
        </p:nvSpPr>
        <p:spPr>
          <a:xfrm>
            <a:off x="3374136" y="1700784"/>
            <a:ext cx="2542032" cy="1783080"/>
          </a:xfrm>
          <a:prstGeom prst="roundRect">
            <a:avLst>
              <a:gd name="adj" fmla="val 4615"/>
            </a:avLst>
          </a:prstGeom>
          <a:solidFill>
            <a:srgbClr val="F3F3F3"/>
          </a:solidFill>
          <a:ln w="12700">
            <a:solidFill>
              <a:srgbClr val="F3F3F3"/>
            </a:solidFill>
            <a:prstDash val="solid"/>
          </a:ln>
        </p:spPr>
      </p:sp>
      <p:sp>
        <p:nvSpPr>
          <p:cNvPr id="15" name="Text 12"/>
          <p:cNvSpPr/>
          <p:nvPr/>
        </p:nvSpPr>
        <p:spPr>
          <a:xfrm>
            <a:off x="3593592" y="1810512"/>
            <a:ext cx="2103120" cy="566928"/>
          </a:xfrm>
          <a:prstGeom prst="rect">
            <a:avLst/>
          </a:prstGeom>
          <a:noFill/>
          <a:ln/>
        </p:spPr>
        <p:txBody>
          <a:bodyPr wrap="square" lIns="0" tIns="0" rIns="0" bIns="0" rtlCol="0" anchor="ctr"/>
          <a:lstStyle/>
          <a:p>
            <a:pPr indent="0" marL="0">
              <a:lnSpc>
                <a:spcPts val="2000"/>
              </a:lnSpc>
              <a:buNone/>
            </a:pPr>
            <a:r>
              <a:rPr lang="en-US" sz="1700" b="1" dirty="0">
                <a:solidFill>
                  <a:srgbClr val="08407C"/>
                </a:solidFill>
                <a:latin typeface="Inter" pitchFamily="34" charset="0"/>
                <a:ea typeface="Inter" pitchFamily="34" charset="-122"/>
                <a:cs typeface="Inter" pitchFamily="34" charset="-120"/>
              </a:rPr>
              <a:t>Mitad del comprador</a:t>
            </a:r>
            <a:endParaRPr lang="en-US" sz="1700" dirty="0"/>
          </a:p>
        </p:txBody>
      </p:sp>
      <p:sp>
        <p:nvSpPr>
          <p:cNvPr id="16" name="Text 13"/>
          <p:cNvSpPr/>
          <p:nvPr/>
        </p:nvSpPr>
        <p:spPr>
          <a:xfrm>
            <a:off x="3593592" y="2432304"/>
            <a:ext cx="2103120" cy="960120"/>
          </a:xfrm>
          <a:prstGeom prst="rect">
            <a:avLst/>
          </a:prstGeom>
          <a:noFill/>
          <a:ln/>
        </p:spPr>
        <p:txBody>
          <a:bodyPr wrap="square" lIns="0" tIns="0" rIns="0" bIns="0" rtlCol="0" anchor="t"/>
          <a:lstStyle/>
          <a:p>
            <a:pPr indent="0" marL="0">
              <a:lnSpc>
                <a:spcPts val="1400"/>
              </a:lnSpc>
              <a:buNone/>
            </a:pPr>
            <a:r>
              <a:rPr lang="en-US" sz="1050" dirty="0">
                <a:solidFill>
                  <a:srgbClr val="2E4258"/>
                </a:solidFill>
                <a:latin typeface="Inter" pitchFamily="34" charset="0"/>
                <a:ea typeface="Inter" pitchFamily="34" charset="-122"/>
                <a:cs typeface="Inter" pitchFamily="34" charset="-120"/>
              </a:rPr>
              <a:t>Solo se comparte la mitad del honorario del comprador. Cada uno se queda con el de su cliente.</a:t>
            </a:r>
            <a:endParaRPr lang="en-US" sz="1050" dirty="0"/>
          </a:p>
        </p:txBody>
      </p:sp>
      <p:sp>
        <p:nvSpPr>
          <p:cNvPr id="17" name="Shape 14"/>
          <p:cNvSpPr/>
          <p:nvPr/>
        </p:nvSpPr>
        <p:spPr>
          <a:xfrm>
            <a:off x="6144768" y="1188720"/>
            <a:ext cx="2542032" cy="457200"/>
          </a:xfrm>
          <a:prstGeom prst="roundRect">
            <a:avLst>
              <a:gd name="adj" fmla="val 18000"/>
            </a:avLst>
          </a:prstGeom>
          <a:solidFill>
            <a:srgbClr val="4E586E"/>
          </a:solidFill>
          <a:ln w="12700">
            <a:solidFill>
              <a:srgbClr val="4E586E"/>
            </a:solidFill>
            <a:prstDash val="solid"/>
          </a:ln>
        </p:spPr>
      </p:sp>
      <p:sp>
        <p:nvSpPr>
          <p:cNvPr id="18" name="Text 15"/>
          <p:cNvSpPr/>
          <p:nvPr/>
        </p:nvSpPr>
        <p:spPr>
          <a:xfrm>
            <a:off x="6364224" y="1188720"/>
            <a:ext cx="2176272"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OTROS PRODUCTOS</a:t>
            </a:r>
            <a:endParaRPr lang="en-US" sz="1150" dirty="0"/>
          </a:p>
        </p:txBody>
      </p:sp>
      <p:sp>
        <p:nvSpPr>
          <p:cNvPr id="19" name="Shape 16"/>
          <p:cNvSpPr/>
          <p:nvPr/>
        </p:nvSpPr>
        <p:spPr>
          <a:xfrm>
            <a:off x="6144768" y="1700784"/>
            <a:ext cx="2542032" cy="1783080"/>
          </a:xfrm>
          <a:prstGeom prst="roundRect">
            <a:avLst>
              <a:gd name="adj" fmla="val 4615"/>
            </a:avLst>
          </a:prstGeom>
          <a:solidFill>
            <a:srgbClr val="F3F3F3"/>
          </a:solidFill>
          <a:ln w="12700">
            <a:solidFill>
              <a:srgbClr val="F3F3F3"/>
            </a:solidFill>
            <a:prstDash val="solid"/>
          </a:ln>
        </p:spPr>
      </p:sp>
      <p:sp>
        <p:nvSpPr>
          <p:cNvPr id="20" name="Text 17"/>
          <p:cNvSpPr/>
          <p:nvPr/>
        </p:nvSpPr>
        <p:spPr>
          <a:xfrm>
            <a:off x="6364224" y="1810512"/>
            <a:ext cx="2103120" cy="566928"/>
          </a:xfrm>
          <a:prstGeom prst="rect">
            <a:avLst/>
          </a:prstGeom>
          <a:noFill/>
          <a:ln/>
        </p:spPr>
        <p:txBody>
          <a:bodyPr wrap="square" lIns="0" tIns="0" rIns="0" bIns="0" rtlCol="0" anchor="ctr"/>
          <a:lstStyle/>
          <a:p>
            <a:pPr indent="0" marL="0">
              <a:lnSpc>
                <a:spcPts val="2000"/>
              </a:lnSpc>
              <a:buNone/>
            </a:pPr>
            <a:r>
              <a:rPr lang="en-US" sz="1700" b="1" dirty="0">
                <a:solidFill>
                  <a:srgbClr val="08407C"/>
                </a:solidFill>
                <a:latin typeface="Inter" pitchFamily="34" charset="0"/>
                <a:ea typeface="Inter" pitchFamily="34" charset="-122"/>
                <a:cs typeface="Inter" pitchFamily="34" charset="-120"/>
              </a:rPr>
              <a:t>Se acuerda</a:t>
            </a:r>
            <a:endParaRPr lang="en-US" sz="1700" dirty="0"/>
          </a:p>
        </p:txBody>
      </p:sp>
      <p:sp>
        <p:nvSpPr>
          <p:cNvPr id="21" name="Text 18"/>
          <p:cNvSpPr/>
          <p:nvPr/>
        </p:nvSpPr>
        <p:spPr>
          <a:xfrm>
            <a:off x="6364224" y="2432304"/>
            <a:ext cx="2103120" cy="960120"/>
          </a:xfrm>
          <a:prstGeom prst="rect">
            <a:avLst/>
          </a:prstGeom>
          <a:noFill/>
          <a:ln/>
        </p:spPr>
        <p:txBody>
          <a:bodyPr wrap="square" lIns="0" tIns="0" rIns="0" bIns="0" rtlCol="0" anchor="t"/>
          <a:lstStyle/>
          <a:p>
            <a:pPr indent="0" marL="0">
              <a:lnSpc>
                <a:spcPts val="1400"/>
              </a:lnSpc>
              <a:buNone/>
            </a:pPr>
            <a:r>
              <a:rPr lang="en-US" sz="1050" dirty="0">
                <a:solidFill>
                  <a:srgbClr val="2E4258"/>
                </a:solidFill>
                <a:latin typeface="Inter" pitchFamily="34" charset="0"/>
                <a:ea typeface="Inter" pitchFamily="34" charset="-122"/>
                <a:cs typeface="Inter" pitchFamily="34" charset="-120"/>
              </a:rPr>
              <a:t>Naves, locales, alquileres: no hay una costumbre fija. Se pregunta y se pacta en cada caso.</a:t>
            </a:r>
            <a:endParaRPr lang="en-US" sz="1050" dirty="0"/>
          </a:p>
        </p:txBody>
      </p:sp>
      <p:sp>
        <p:nvSpPr>
          <p:cNvPr id="22" name="Shape 19"/>
          <p:cNvSpPr/>
          <p:nvPr/>
        </p:nvSpPr>
        <p:spPr>
          <a:xfrm>
            <a:off x="603504" y="3749040"/>
            <a:ext cx="8083296" cy="658368"/>
          </a:xfrm>
          <a:prstGeom prst="roundRect">
            <a:avLst>
              <a:gd name="adj" fmla="val 12500"/>
            </a:avLst>
          </a:prstGeom>
          <a:solidFill>
            <a:srgbClr val="08407C"/>
          </a:solidFill>
          <a:ln w="12700">
            <a:solidFill>
              <a:srgbClr val="08407C"/>
            </a:solidFill>
            <a:prstDash val="solid"/>
          </a:ln>
        </p:spPr>
      </p:sp>
      <p:sp>
        <p:nvSpPr>
          <p:cNvPr id="23" name="Text 20"/>
          <p:cNvSpPr/>
          <p:nvPr/>
        </p:nvSpPr>
        <p:spPr>
          <a:xfrm>
            <a:off x="841248" y="379476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RECORDAR</a:t>
            </a:r>
            <a:endParaRPr lang="en-US" sz="900" dirty="0"/>
          </a:p>
        </p:txBody>
      </p:sp>
      <p:sp>
        <p:nvSpPr>
          <p:cNvPr id="24" name="Text 21"/>
          <p:cNvSpPr/>
          <p:nvPr/>
        </p:nvSpPr>
        <p:spPr>
          <a:xfrm>
            <a:off x="841248" y="399592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Es práctica habitual, no regla universal. Aun cuando exista una costumbre, el esquema se confirma con el colega antes de operar.</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El mismo negocio, dos resultados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Ejemplo hipotético: porcentajes ilustrativos, no son tarifa de Krak.</a:t>
            </a:r>
            <a:endParaRPr lang="en-US" sz="1200" dirty="0"/>
          </a:p>
        </p:txBody>
      </p:sp>
      <p:sp>
        <p:nvSpPr>
          <p:cNvPr id="7" name="Shape 4"/>
          <p:cNvSpPr/>
          <p:nvPr/>
        </p:nvSpPr>
        <p:spPr>
          <a:xfrm>
            <a:off x="603504" y="1170432"/>
            <a:ext cx="8083296" cy="566928"/>
          </a:xfrm>
          <a:prstGeom prst="roundRect">
            <a:avLst>
              <a:gd name="adj" fmla="val 14516"/>
            </a:avLst>
          </a:prstGeom>
          <a:solidFill>
            <a:srgbClr val="F3F3F3"/>
          </a:solidFill>
          <a:ln w="12700">
            <a:solidFill>
              <a:srgbClr val="F3F3F3"/>
            </a:solidFill>
            <a:prstDash val="solid"/>
          </a:ln>
        </p:spPr>
      </p:sp>
      <p:sp>
        <p:nvSpPr>
          <p:cNvPr id="8" name="Text 5"/>
          <p:cNvSpPr/>
          <p:nvPr/>
        </p:nvSpPr>
        <p:spPr>
          <a:xfrm>
            <a:off x="822960" y="1170432"/>
            <a:ext cx="7644384" cy="566928"/>
          </a:xfrm>
          <a:prstGeom prst="rect">
            <a:avLst/>
          </a:prstGeom>
          <a:noFill/>
          <a:ln/>
        </p:spPr>
        <p:txBody>
          <a:bodyPr wrap="square" lIns="0" tIns="0" rIns="0" bIns="0" rtlCol="0" anchor="ctr"/>
          <a:lstStyle/>
          <a:p>
            <a:pPr indent="0" marL="0">
              <a:lnSpc>
                <a:spcPts val="1300"/>
              </a:lnSpc>
              <a:buNone/>
            </a:pPr>
            <a:r>
              <a:rPr lang="en-US" sz="1050" b="1" dirty="0">
                <a:solidFill>
                  <a:srgbClr val="08407C"/>
                </a:solidFill>
                <a:latin typeface="Inter" pitchFamily="34" charset="0"/>
                <a:ea typeface="Inter" pitchFamily="34" charset="-122"/>
                <a:cs typeface="Inter" pitchFamily="34" charset="-120"/>
              </a:rPr>
              <a:t>Supuesto:  </a:t>
            </a:r>
            <a:pPr indent="0" marL="0">
              <a:lnSpc>
                <a:spcPts val="1300"/>
              </a:lnSpc>
              <a:buNone/>
            </a:pPr>
            <a:r>
              <a:rPr lang="en-US" sz="1050" dirty="0">
                <a:solidFill>
                  <a:srgbClr val="2E4258"/>
                </a:solidFill>
                <a:latin typeface="Inter" pitchFamily="34" charset="0"/>
                <a:ea typeface="Inter" pitchFamily="34" charset="-122"/>
                <a:cs typeface="Inter" pitchFamily="34" charset="-120"/>
              </a:rPr>
              <a:t>venta de USD 100.000. Honorario de ejemplo del 3% a cada parte: USD 3.000 del vendedor y USD 3.000 del comprador. El colega A tiene la propiedad y el colega B trae al comprador.</a:t>
            </a:r>
            <a:endParaRPr lang="en-US" sz="1050" dirty="0"/>
          </a:p>
        </p:txBody>
      </p:sp>
      <p:sp>
        <p:nvSpPr>
          <p:cNvPr id="9" name="Shape 6"/>
          <p:cNvSpPr/>
          <p:nvPr/>
        </p:nvSpPr>
        <p:spPr>
          <a:xfrm>
            <a:off x="603504" y="1901952"/>
            <a:ext cx="3950208" cy="457200"/>
          </a:xfrm>
          <a:prstGeom prst="roundRect">
            <a:avLst>
              <a:gd name="adj" fmla="val 18000"/>
            </a:avLst>
          </a:prstGeom>
          <a:solidFill>
            <a:srgbClr val="08407C"/>
          </a:solidFill>
          <a:ln w="12700">
            <a:solidFill>
              <a:srgbClr val="08407C"/>
            </a:solidFill>
            <a:prstDash val="solid"/>
          </a:ln>
        </p:spPr>
      </p:sp>
      <p:sp>
        <p:nvSpPr>
          <p:cNvPr id="10" name="Text 7"/>
          <p:cNvSpPr/>
          <p:nvPr/>
        </p:nvSpPr>
        <p:spPr>
          <a:xfrm>
            <a:off x="822960" y="1901952"/>
            <a:ext cx="3584448"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LA BOLSA · 50 Y 50</a:t>
            </a:r>
            <a:endParaRPr lang="en-US" sz="1150" dirty="0"/>
          </a:p>
        </p:txBody>
      </p:sp>
      <p:sp>
        <p:nvSpPr>
          <p:cNvPr id="11" name="Shape 8"/>
          <p:cNvSpPr/>
          <p:nvPr/>
        </p:nvSpPr>
        <p:spPr>
          <a:xfrm>
            <a:off x="603504" y="2414016"/>
            <a:ext cx="3950208" cy="402336"/>
          </a:xfrm>
          <a:prstGeom prst="roundRect">
            <a:avLst>
              <a:gd name="adj" fmla="val 20455"/>
            </a:avLst>
          </a:prstGeom>
          <a:solidFill>
            <a:srgbClr val="F3F3F3"/>
          </a:solidFill>
          <a:ln w="12700">
            <a:solidFill>
              <a:srgbClr val="F3F3F3"/>
            </a:solidFill>
            <a:prstDash val="solid"/>
          </a:ln>
        </p:spPr>
      </p:sp>
      <p:sp>
        <p:nvSpPr>
          <p:cNvPr id="12" name="Text 9"/>
          <p:cNvSpPr/>
          <p:nvPr/>
        </p:nvSpPr>
        <p:spPr>
          <a:xfrm>
            <a:off x="822960" y="2414016"/>
            <a:ext cx="1828800" cy="40233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Colega A</a:t>
            </a:r>
            <a:endParaRPr lang="en-US" sz="1150" dirty="0"/>
          </a:p>
        </p:txBody>
      </p:sp>
      <p:sp>
        <p:nvSpPr>
          <p:cNvPr id="13" name="Text 10"/>
          <p:cNvSpPr/>
          <p:nvPr/>
        </p:nvSpPr>
        <p:spPr>
          <a:xfrm>
            <a:off x="2432304" y="2414016"/>
            <a:ext cx="1901952" cy="402336"/>
          </a:xfrm>
          <a:prstGeom prst="rect">
            <a:avLst/>
          </a:prstGeom>
          <a:noFill/>
          <a:ln/>
        </p:spPr>
        <p:txBody>
          <a:bodyPr wrap="square" lIns="0" tIns="0" rIns="0" bIns="0" rtlCol="0" anchor="ctr"/>
          <a:lstStyle/>
          <a:p>
            <a:pPr algn="r" indent="0" marL="0">
              <a:buNone/>
            </a:pPr>
            <a:r>
              <a:rPr lang="en-US" sz="1300" b="1" dirty="0">
                <a:solidFill>
                  <a:srgbClr val="2E4258"/>
                </a:solidFill>
                <a:latin typeface="Inter" pitchFamily="34" charset="0"/>
                <a:ea typeface="Inter" pitchFamily="34" charset="-122"/>
                <a:cs typeface="Inter" pitchFamily="34" charset="-120"/>
              </a:rPr>
              <a:t>USD 3.000</a:t>
            </a:r>
            <a:endParaRPr lang="en-US" sz="1300" dirty="0"/>
          </a:p>
        </p:txBody>
      </p:sp>
      <p:sp>
        <p:nvSpPr>
          <p:cNvPr id="14" name="Shape 11"/>
          <p:cNvSpPr/>
          <p:nvPr/>
        </p:nvSpPr>
        <p:spPr>
          <a:xfrm>
            <a:off x="603504" y="2871216"/>
            <a:ext cx="3950208" cy="402336"/>
          </a:xfrm>
          <a:prstGeom prst="roundRect">
            <a:avLst>
              <a:gd name="adj" fmla="val 20455"/>
            </a:avLst>
          </a:prstGeom>
          <a:solidFill>
            <a:srgbClr val="F3F3F3"/>
          </a:solidFill>
          <a:ln w="12700">
            <a:solidFill>
              <a:srgbClr val="F3F3F3"/>
            </a:solidFill>
            <a:prstDash val="solid"/>
          </a:ln>
        </p:spPr>
      </p:sp>
      <p:sp>
        <p:nvSpPr>
          <p:cNvPr id="15" name="Text 12"/>
          <p:cNvSpPr/>
          <p:nvPr/>
        </p:nvSpPr>
        <p:spPr>
          <a:xfrm>
            <a:off x="822960" y="2871216"/>
            <a:ext cx="1828800" cy="40233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Colega B</a:t>
            </a:r>
            <a:endParaRPr lang="en-US" sz="1150" dirty="0"/>
          </a:p>
        </p:txBody>
      </p:sp>
      <p:sp>
        <p:nvSpPr>
          <p:cNvPr id="16" name="Text 13"/>
          <p:cNvSpPr/>
          <p:nvPr/>
        </p:nvSpPr>
        <p:spPr>
          <a:xfrm>
            <a:off x="2432304" y="2871216"/>
            <a:ext cx="1901952" cy="402336"/>
          </a:xfrm>
          <a:prstGeom prst="rect">
            <a:avLst/>
          </a:prstGeom>
          <a:noFill/>
          <a:ln/>
        </p:spPr>
        <p:txBody>
          <a:bodyPr wrap="square" lIns="0" tIns="0" rIns="0" bIns="0" rtlCol="0" anchor="ctr"/>
          <a:lstStyle/>
          <a:p>
            <a:pPr algn="r" indent="0" marL="0">
              <a:buNone/>
            </a:pPr>
            <a:r>
              <a:rPr lang="en-US" sz="1300" b="1" dirty="0">
                <a:solidFill>
                  <a:srgbClr val="2E4258"/>
                </a:solidFill>
                <a:latin typeface="Inter" pitchFamily="34" charset="0"/>
                <a:ea typeface="Inter" pitchFamily="34" charset="-122"/>
                <a:cs typeface="Inter" pitchFamily="34" charset="-120"/>
              </a:rPr>
              <a:t>USD 3.000</a:t>
            </a:r>
            <a:endParaRPr lang="en-US" sz="1300" dirty="0"/>
          </a:p>
        </p:txBody>
      </p:sp>
      <p:sp>
        <p:nvSpPr>
          <p:cNvPr id="17" name="Text 14"/>
          <p:cNvSpPr/>
          <p:nvPr/>
        </p:nvSpPr>
        <p:spPr>
          <a:xfrm>
            <a:off x="603504" y="3364992"/>
            <a:ext cx="3950208" cy="365760"/>
          </a:xfrm>
          <a:prstGeom prst="rect">
            <a:avLst/>
          </a:prstGeom>
          <a:noFill/>
          <a:ln/>
        </p:spPr>
        <p:txBody>
          <a:bodyPr wrap="square" lIns="0" tIns="0" rIns="0" bIns="0" rtlCol="0" anchor="t"/>
          <a:lstStyle/>
          <a:p>
            <a:pPr indent="0" marL="0">
              <a:lnSpc>
                <a:spcPts val="1300"/>
              </a:lnSpc>
              <a:buNone/>
            </a:pPr>
            <a:r>
              <a:rPr lang="en-US" sz="1000" i="1" dirty="0">
                <a:solidFill>
                  <a:srgbClr val="6A7686"/>
                </a:solidFill>
                <a:latin typeface="Inter" pitchFamily="34" charset="0"/>
                <a:ea typeface="Inter" pitchFamily="34" charset="-122"/>
                <a:cs typeface="Inter" pitchFamily="34" charset="-120"/>
              </a:rPr>
              <a:t>Se suman USD 6.000 y se reparten por mitades.</a:t>
            </a:r>
            <a:endParaRPr lang="en-US" sz="1000" dirty="0"/>
          </a:p>
        </p:txBody>
      </p:sp>
      <p:sp>
        <p:nvSpPr>
          <p:cNvPr id="18" name="Shape 15"/>
          <p:cNvSpPr/>
          <p:nvPr/>
        </p:nvSpPr>
        <p:spPr>
          <a:xfrm>
            <a:off x="4736592" y="1901952"/>
            <a:ext cx="3950208" cy="457200"/>
          </a:xfrm>
          <a:prstGeom prst="roundRect">
            <a:avLst>
              <a:gd name="adj" fmla="val 18000"/>
            </a:avLst>
          </a:prstGeom>
          <a:solidFill>
            <a:srgbClr val="7C8594"/>
          </a:solidFill>
          <a:ln w="12700">
            <a:solidFill>
              <a:srgbClr val="7C8594"/>
            </a:solidFill>
            <a:prstDash val="solid"/>
          </a:ln>
        </p:spPr>
      </p:sp>
      <p:sp>
        <p:nvSpPr>
          <p:cNvPr id="19" name="Text 16"/>
          <p:cNvSpPr/>
          <p:nvPr/>
        </p:nvSpPr>
        <p:spPr>
          <a:xfrm>
            <a:off x="4956048" y="1901952"/>
            <a:ext cx="3584448"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MITAD DEL COMPRADOR</a:t>
            </a:r>
            <a:endParaRPr lang="en-US" sz="1150" dirty="0"/>
          </a:p>
        </p:txBody>
      </p:sp>
      <p:sp>
        <p:nvSpPr>
          <p:cNvPr id="20" name="Shape 17"/>
          <p:cNvSpPr/>
          <p:nvPr/>
        </p:nvSpPr>
        <p:spPr>
          <a:xfrm>
            <a:off x="4736592" y="2414016"/>
            <a:ext cx="3950208" cy="402336"/>
          </a:xfrm>
          <a:prstGeom prst="roundRect">
            <a:avLst>
              <a:gd name="adj" fmla="val 20455"/>
            </a:avLst>
          </a:prstGeom>
          <a:solidFill>
            <a:srgbClr val="F3F3F3"/>
          </a:solidFill>
          <a:ln w="12700">
            <a:solidFill>
              <a:srgbClr val="F3F3F3"/>
            </a:solidFill>
            <a:prstDash val="solid"/>
          </a:ln>
        </p:spPr>
      </p:sp>
      <p:sp>
        <p:nvSpPr>
          <p:cNvPr id="21" name="Text 18"/>
          <p:cNvSpPr/>
          <p:nvPr/>
        </p:nvSpPr>
        <p:spPr>
          <a:xfrm>
            <a:off x="4956048" y="2414016"/>
            <a:ext cx="1828800" cy="40233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Colega A</a:t>
            </a:r>
            <a:endParaRPr lang="en-US" sz="1150" dirty="0"/>
          </a:p>
        </p:txBody>
      </p:sp>
      <p:sp>
        <p:nvSpPr>
          <p:cNvPr id="22" name="Text 19"/>
          <p:cNvSpPr/>
          <p:nvPr/>
        </p:nvSpPr>
        <p:spPr>
          <a:xfrm>
            <a:off x="6565392" y="2414016"/>
            <a:ext cx="1901952" cy="402336"/>
          </a:xfrm>
          <a:prstGeom prst="rect">
            <a:avLst/>
          </a:prstGeom>
          <a:noFill/>
          <a:ln/>
        </p:spPr>
        <p:txBody>
          <a:bodyPr wrap="square" lIns="0" tIns="0" rIns="0" bIns="0" rtlCol="0" anchor="ctr"/>
          <a:lstStyle/>
          <a:p>
            <a:pPr algn="r" indent="0" marL="0">
              <a:buNone/>
            </a:pPr>
            <a:r>
              <a:rPr lang="en-US" sz="1300" b="1" dirty="0">
                <a:solidFill>
                  <a:srgbClr val="2E4258"/>
                </a:solidFill>
                <a:latin typeface="Inter" pitchFamily="34" charset="0"/>
                <a:ea typeface="Inter" pitchFamily="34" charset="-122"/>
                <a:cs typeface="Inter" pitchFamily="34" charset="-120"/>
              </a:rPr>
              <a:t>USD 4.500</a:t>
            </a:r>
            <a:endParaRPr lang="en-US" sz="1300" dirty="0"/>
          </a:p>
        </p:txBody>
      </p:sp>
      <p:sp>
        <p:nvSpPr>
          <p:cNvPr id="23" name="Shape 20"/>
          <p:cNvSpPr/>
          <p:nvPr/>
        </p:nvSpPr>
        <p:spPr>
          <a:xfrm>
            <a:off x="4736592" y="2871216"/>
            <a:ext cx="3950208" cy="402336"/>
          </a:xfrm>
          <a:prstGeom prst="roundRect">
            <a:avLst>
              <a:gd name="adj" fmla="val 20455"/>
            </a:avLst>
          </a:prstGeom>
          <a:solidFill>
            <a:srgbClr val="F3F3F3"/>
          </a:solidFill>
          <a:ln w="12700">
            <a:solidFill>
              <a:srgbClr val="F3F3F3"/>
            </a:solidFill>
            <a:prstDash val="solid"/>
          </a:ln>
        </p:spPr>
      </p:sp>
      <p:sp>
        <p:nvSpPr>
          <p:cNvPr id="24" name="Text 21"/>
          <p:cNvSpPr/>
          <p:nvPr/>
        </p:nvSpPr>
        <p:spPr>
          <a:xfrm>
            <a:off x="4956048" y="2871216"/>
            <a:ext cx="1828800" cy="40233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Colega B</a:t>
            </a:r>
            <a:endParaRPr lang="en-US" sz="1150" dirty="0"/>
          </a:p>
        </p:txBody>
      </p:sp>
      <p:sp>
        <p:nvSpPr>
          <p:cNvPr id="25" name="Text 22"/>
          <p:cNvSpPr/>
          <p:nvPr/>
        </p:nvSpPr>
        <p:spPr>
          <a:xfrm>
            <a:off x="6565392" y="2871216"/>
            <a:ext cx="1901952" cy="402336"/>
          </a:xfrm>
          <a:prstGeom prst="rect">
            <a:avLst/>
          </a:prstGeom>
          <a:noFill/>
          <a:ln/>
        </p:spPr>
        <p:txBody>
          <a:bodyPr wrap="square" lIns="0" tIns="0" rIns="0" bIns="0" rtlCol="0" anchor="ctr"/>
          <a:lstStyle/>
          <a:p>
            <a:pPr algn="r" indent="0" marL="0">
              <a:buNone/>
            </a:pPr>
            <a:r>
              <a:rPr lang="en-US" sz="1300" b="1" dirty="0">
                <a:solidFill>
                  <a:srgbClr val="2E4258"/>
                </a:solidFill>
                <a:latin typeface="Inter" pitchFamily="34" charset="0"/>
                <a:ea typeface="Inter" pitchFamily="34" charset="-122"/>
                <a:cs typeface="Inter" pitchFamily="34" charset="-120"/>
              </a:rPr>
              <a:t>USD 1.500</a:t>
            </a:r>
            <a:endParaRPr lang="en-US" sz="1300" dirty="0"/>
          </a:p>
        </p:txBody>
      </p:sp>
      <p:sp>
        <p:nvSpPr>
          <p:cNvPr id="26" name="Text 23"/>
          <p:cNvSpPr/>
          <p:nvPr/>
        </p:nvSpPr>
        <p:spPr>
          <a:xfrm>
            <a:off x="4736592" y="3364992"/>
            <a:ext cx="3950208" cy="365760"/>
          </a:xfrm>
          <a:prstGeom prst="rect">
            <a:avLst/>
          </a:prstGeom>
          <a:noFill/>
          <a:ln/>
        </p:spPr>
        <p:txBody>
          <a:bodyPr wrap="square" lIns="0" tIns="0" rIns="0" bIns="0" rtlCol="0" anchor="t"/>
          <a:lstStyle/>
          <a:p>
            <a:pPr indent="0" marL="0">
              <a:lnSpc>
                <a:spcPts val="1300"/>
              </a:lnSpc>
              <a:buNone/>
            </a:pPr>
            <a:r>
              <a:rPr lang="en-US" sz="1000" i="1" dirty="0">
                <a:solidFill>
                  <a:srgbClr val="6A7686"/>
                </a:solidFill>
                <a:latin typeface="Inter" pitchFamily="34" charset="0"/>
                <a:ea typeface="Inter" pitchFamily="34" charset="-122"/>
                <a:cs typeface="Inter" pitchFamily="34" charset="-120"/>
              </a:rPr>
              <a:t>A: USD 3.000 del vendedor + USD 1.500. B: USD 1.500.</a:t>
            </a:r>
            <a:endParaRPr lang="en-US" sz="1000" dirty="0"/>
          </a:p>
        </p:txBody>
      </p:sp>
      <p:sp>
        <p:nvSpPr>
          <p:cNvPr id="27" name="Shape 24"/>
          <p:cNvSpPr/>
          <p:nvPr/>
        </p:nvSpPr>
        <p:spPr>
          <a:xfrm>
            <a:off x="603504" y="4023360"/>
            <a:ext cx="8083296" cy="658368"/>
          </a:xfrm>
          <a:prstGeom prst="roundRect">
            <a:avLst>
              <a:gd name="adj" fmla="val 12500"/>
            </a:avLst>
          </a:prstGeom>
          <a:solidFill>
            <a:srgbClr val="08407C"/>
          </a:solidFill>
          <a:ln w="12700">
            <a:solidFill>
              <a:srgbClr val="08407C"/>
            </a:solidFill>
            <a:prstDash val="solid"/>
          </a:ln>
        </p:spPr>
      </p:sp>
      <p:sp>
        <p:nvSpPr>
          <p:cNvPr id="28" name="Text 25"/>
          <p:cNvSpPr/>
          <p:nvPr/>
        </p:nvSpPr>
        <p:spPr>
          <a:xfrm>
            <a:off x="841248" y="406908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LO QUE MUESTRA</a:t>
            </a:r>
            <a:endParaRPr lang="en-US" sz="900" dirty="0"/>
          </a:p>
        </p:txBody>
      </p:sp>
      <p:sp>
        <p:nvSpPr>
          <p:cNvPr id="29" name="Text 26"/>
          <p:cNvSpPr/>
          <p:nvPr/>
        </p:nvSpPr>
        <p:spPr>
          <a:xfrm>
            <a:off x="841248" y="427024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Para el colega B, la diferencia entre un esquema y otro es USD 1.500 sobre la misma operación. Por eso se pregunta antes de empezar.</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Regla uno: preguntar primero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Antes de pasar un dato, coordinar una visita o mostrar algo.</a:t>
            </a:r>
            <a:endParaRPr lang="en-US" sz="1200" dirty="0"/>
          </a:p>
        </p:txBody>
      </p:sp>
      <p:sp>
        <p:nvSpPr>
          <p:cNvPr id="7" name="Shape 4"/>
          <p:cNvSpPr/>
          <p:nvPr/>
        </p:nvSpPr>
        <p:spPr>
          <a:xfrm>
            <a:off x="603504" y="1188720"/>
            <a:ext cx="8083296" cy="1051560"/>
          </a:xfrm>
          <a:prstGeom prst="roundRect">
            <a:avLst>
              <a:gd name="adj" fmla="val 7826"/>
            </a:avLst>
          </a:prstGeom>
          <a:solidFill>
            <a:srgbClr val="08407C"/>
          </a:solidFill>
          <a:ln w="12700">
            <a:solidFill>
              <a:srgbClr val="08407C"/>
            </a:solidFill>
            <a:prstDash val="solid"/>
          </a:ln>
        </p:spPr>
      </p:sp>
      <p:sp>
        <p:nvSpPr>
          <p:cNvPr id="8" name="Text 5"/>
          <p:cNvSpPr/>
          <p:nvPr/>
        </p:nvSpPr>
        <p:spPr>
          <a:xfrm>
            <a:off x="877824" y="1188720"/>
            <a:ext cx="7534656" cy="1051560"/>
          </a:xfrm>
          <a:prstGeom prst="rect">
            <a:avLst/>
          </a:prstGeom>
          <a:noFill/>
          <a:ln/>
        </p:spPr>
        <p:txBody>
          <a:bodyPr wrap="square" lIns="0" tIns="0" rIns="0" bIns="0" rtlCol="0" anchor="ctr"/>
          <a:lstStyle/>
          <a:p>
            <a:pPr indent="0" marL="0">
              <a:lnSpc>
                <a:spcPts val="2100"/>
              </a:lnSpc>
              <a:buNone/>
            </a:pPr>
            <a:r>
              <a:rPr lang="en-US" sz="1600" b="1" dirty="0">
                <a:solidFill>
                  <a:srgbClr val="FFFFFF"/>
                </a:solidFill>
                <a:latin typeface="Inter" pitchFamily="34" charset="0"/>
                <a:ea typeface="Inter" pitchFamily="34" charset="-122"/>
                <a:cs typeface="Inter" pitchFamily="34" charset="-120"/>
              </a:rPr>
              <a:t>No se debe pasar datos, coordinar una visita ni mostrar una propiedad sin haber acordado antes si se comparten honorarios y cuánto.</a:t>
            </a:r>
            <a:endParaRPr lang="en-US" sz="1600" dirty="0"/>
          </a:p>
        </p:txBody>
      </p:sp>
      <p:sp>
        <p:nvSpPr>
          <p:cNvPr id="9" name="Shape 6"/>
          <p:cNvSpPr/>
          <p:nvPr/>
        </p:nvSpPr>
        <p:spPr>
          <a:xfrm>
            <a:off x="603504" y="2423160"/>
            <a:ext cx="3950208" cy="777240"/>
          </a:xfrm>
          <a:prstGeom prst="roundRect">
            <a:avLst>
              <a:gd name="adj" fmla="val 10588"/>
            </a:avLst>
          </a:prstGeom>
          <a:solidFill>
            <a:srgbClr val="F3F3F3"/>
          </a:solidFill>
          <a:ln w="12700">
            <a:solidFill>
              <a:srgbClr val="F3F3F3"/>
            </a:solidFill>
            <a:prstDash val="solid"/>
          </a:ln>
        </p:spPr>
      </p:sp>
      <p:sp>
        <p:nvSpPr>
          <p:cNvPr id="10" name="Shape 7"/>
          <p:cNvSpPr/>
          <p:nvPr/>
        </p:nvSpPr>
        <p:spPr>
          <a:xfrm>
            <a:off x="822960" y="2606040"/>
            <a:ext cx="411480" cy="411480"/>
          </a:xfrm>
          <a:prstGeom prst="roundRect">
            <a:avLst>
              <a:gd name="adj" fmla="val 111111"/>
            </a:avLst>
          </a:prstGeom>
          <a:solidFill>
            <a:srgbClr val="08407C"/>
          </a:solidFill>
          <a:ln w="12700">
            <a:solidFill>
              <a:srgbClr val="08407C"/>
            </a:solidFill>
            <a:prstDash val="solid"/>
          </a:ln>
        </p:spPr>
      </p:sp>
      <p:sp>
        <p:nvSpPr>
          <p:cNvPr id="11" name="Text 8"/>
          <p:cNvSpPr/>
          <p:nvPr/>
        </p:nvSpPr>
        <p:spPr>
          <a:xfrm>
            <a:off x="822960" y="26060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1</a:t>
            </a:r>
            <a:endParaRPr lang="en-US" sz="1300" dirty="0"/>
          </a:p>
        </p:txBody>
      </p:sp>
      <p:sp>
        <p:nvSpPr>
          <p:cNvPr id="12" name="Text 9"/>
          <p:cNvSpPr/>
          <p:nvPr/>
        </p:nvSpPr>
        <p:spPr>
          <a:xfrm>
            <a:off x="1389888" y="2423160"/>
            <a:ext cx="3017520" cy="777240"/>
          </a:xfrm>
          <a:prstGeom prst="rect">
            <a:avLst/>
          </a:prstGeom>
          <a:noFill/>
          <a:ln/>
        </p:spPr>
        <p:txBody>
          <a:bodyPr wrap="square" lIns="0" tIns="0" rIns="0" bIns="0" rtlCol="0" anchor="ctr"/>
          <a:lstStyle/>
          <a:p>
            <a:pPr indent="0" marL="0">
              <a:buNone/>
            </a:pPr>
            <a:r>
              <a:rPr lang="en-US" sz="1400" b="1" dirty="0">
                <a:solidFill>
                  <a:srgbClr val="08407C"/>
                </a:solidFill>
                <a:latin typeface="Inter" pitchFamily="34" charset="0"/>
                <a:ea typeface="Inter" pitchFamily="34" charset="-122"/>
                <a:cs typeface="Inter" pitchFamily="34" charset="-120"/>
              </a:rPr>
              <a:t>¿Compartimos honorarios?</a:t>
            </a:r>
            <a:endParaRPr lang="en-US" sz="1400" dirty="0"/>
          </a:p>
        </p:txBody>
      </p:sp>
      <p:sp>
        <p:nvSpPr>
          <p:cNvPr id="13" name="Shape 10"/>
          <p:cNvSpPr/>
          <p:nvPr/>
        </p:nvSpPr>
        <p:spPr>
          <a:xfrm>
            <a:off x="4736592" y="2423160"/>
            <a:ext cx="3950208" cy="777240"/>
          </a:xfrm>
          <a:prstGeom prst="roundRect">
            <a:avLst>
              <a:gd name="adj" fmla="val 10588"/>
            </a:avLst>
          </a:prstGeom>
          <a:solidFill>
            <a:srgbClr val="F3F3F3"/>
          </a:solidFill>
          <a:ln w="12700">
            <a:solidFill>
              <a:srgbClr val="F3F3F3"/>
            </a:solidFill>
            <a:prstDash val="solid"/>
          </a:ln>
        </p:spPr>
      </p:sp>
      <p:sp>
        <p:nvSpPr>
          <p:cNvPr id="14" name="Shape 11"/>
          <p:cNvSpPr/>
          <p:nvPr/>
        </p:nvSpPr>
        <p:spPr>
          <a:xfrm>
            <a:off x="4956048" y="2606040"/>
            <a:ext cx="411480" cy="411480"/>
          </a:xfrm>
          <a:prstGeom prst="roundRect">
            <a:avLst>
              <a:gd name="adj" fmla="val 111111"/>
            </a:avLst>
          </a:prstGeom>
          <a:solidFill>
            <a:srgbClr val="08407C"/>
          </a:solidFill>
          <a:ln w="12700">
            <a:solidFill>
              <a:srgbClr val="08407C"/>
            </a:solidFill>
            <a:prstDash val="solid"/>
          </a:ln>
        </p:spPr>
      </p:sp>
      <p:sp>
        <p:nvSpPr>
          <p:cNvPr id="15" name="Text 12"/>
          <p:cNvSpPr/>
          <p:nvPr/>
        </p:nvSpPr>
        <p:spPr>
          <a:xfrm>
            <a:off x="4956048" y="2606040"/>
            <a:ext cx="411480" cy="411480"/>
          </a:xfrm>
          <a:prstGeom prst="rect">
            <a:avLst/>
          </a:prstGeom>
          <a:noFill/>
          <a:ln/>
        </p:spPr>
        <p:txBody>
          <a:bodyPr wrap="square" lIns="0" tIns="0" rIns="0" bIns="0" rtlCol="0" anchor="ctr"/>
          <a:lstStyle/>
          <a:p>
            <a:pPr algn="ctr" indent="0" marL="0">
              <a:buNone/>
            </a:pPr>
            <a:r>
              <a:rPr lang="en-US" sz="1300" b="1" dirty="0">
                <a:solidFill>
                  <a:srgbClr val="FFFFFF"/>
                </a:solidFill>
                <a:latin typeface="Inter" pitchFamily="34" charset="0"/>
                <a:ea typeface="Inter" pitchFamily="34" charset="-122"/>
                <a:cs typeface="Inter" pitchFamily="34" charset="-120"/>
              </a:rPr>
              <a:t>2</a:t>
            </a:r>
            <a:endParaRPr lang="en-US" sz="1300" dirty="0"/>
          </a:p>
        </p:txBody>
      </p:sp>
      <p:sp>
        <p:nvSpPr>
          <p:cNvPr id="16" name="Text 13"/>
          <p:cNvSpPr/>
          <p:nvPr/>
        </p:nvSpPr>
        <p:spPr>
          <a:xfrm>
            <a:off x="5522976" y="2423160"/>
            <a:ext cx="3017520" cy="777240"/>
          </a:xfrm>
          <a:prstGeom prst="rect">
            <a:avLst/>
          </a:prstGeom>
          <a:noFill/>
          <a:ln/>
        </p:spPr>
        <p:txBody>
          <a:bodyPr wrap="square" lIns="0" tIns="0" rIns="0" bIns="0" rtlCol="0" anchor="ctr"/>
          <a:lstStyle/>
          <a:p>
            <a:pPr indent="0" marL="0">
              <a:buNone/>
            </a:pPr>
            <a:r>
              <a:rPr lang="en-US" sz="1400" b="1" dirty="0">
                <a:solidFill>
                  <a:srgbClr val="08407C"/>
                </a:solidFill>
                <a:latin typeface="Inter" pitchFamily="34" charset="0"/>
                <a:ea typeface="Inter" pitchFamily="34" charset="-122"/>
                <a:cs typeface="Inter" pitchFamily="34" charset="-120"/>
              </a:rPr>
              <a:t>¿Cuánto y sobre qué base?</a:t>
            </a:r>
            <a:endParaRPr lang="en-US" sz="1400" dirty="0"/>
          </a:p>
        </p:txBody>
      </p:sp>
      <p:sp>
        <p:nvSpPr>
          <p:cNvPr id="17" name="Shape 14"/>
          <p:cNvSpPr/>
          <p:nvPr/>
        </p:nvSpPr>
        <p:spPr>
          <a:xfrm>
            <a:off x="603504" y="3383280"/>
            <a:ext cx="8083296" cy="804672"/>
          </a:xfrm>
          <a:prstGeom prst="roundRect">
            <a:avLst>
              <a:gd name="adj" fmla="val 10227"/>
            </a:avLst>
          </a:prstGeom>
          <a:solidFill>
            <a:srgbClr val="E4E6E9"/>
          </a:solidFill>
          <a:ln w="12700">
            <a:solidFill>
              <a:srgbClr val="E4E6E9"/>
            </a:solidFill>
            <a:prstDash val="solid"/>
          </a:ln>
        </p:spPr>
      </p:sp>
      <p:sp>
        <p:nvSpPr>
          <p:cNvPr id="18" name="Text 15"/>
          <p:cNvSpPr/>
          <p:nvPr/>
        </p:nvSpPr>
        <p:spPr>
          <a:xfrm>
            <a:off x="822960" y="3438144"/>
            <a:ext cx="2743200" cy="201168"/>
          </a:xfrm>
          <a:prstGeom prst="rect">
            <a:avLst/>
          </a:prstGeom>
          <a:noFill/>
          <a:ln/>
        </p:spPr>
        <p:txBody>
          <a:bodyPr wrap="square" lIns="0" tIns="0" rIns="0" bIns="0" rtlCol="0" anchor="ctr"/>
          <a:lstStyle/>
          <a:p>
            <a:pPr indent="0" marL="0">
              <a:buNone/>
            </a:pPr>
            <a:r>
              <a:rPr lang="en-US" sz="900" b="1" spc="120" kern="0" dirty="0">
                <a:solidFill>
                  <a:srgbClr val="4E586E"/>
                </a:solidFill>
                <a:latin typeface="Inter" pitchFamily="34" charset="0"/>
                <a:ea typeface="Inter" pitchFamily="34" charset="-122"/>
                <a:cs typeface="Inter" pitchFamily="34" charset="-120"/>
              </a:rPr>
              <a:t>MENSAJE TIPO</a:t>
            </a:r>
            <a:endParaRPr lang="en-US" sz="900" dirty="0"/>
          </a:p>
        </p:txBody>
      </p:sp>
      <p:sp>
        <p:nvSpPr>
          <p:cNvPr id="19" name="Text 16"/>
          <p:cNvSpPr/>
          <p:nvPr/>
        </p:nvSpPr>
        <p:spPr>
          <a:xfrm>
            <a:off x="822960" y="3657600"/>
            <a:ext cx="7644384" cy="457200"/>
          </a:xfrm>
          <a:prstGeom prst="rect">
            <a:avLst/>
          </a:prstGeom>
          <a:noFill/>
          <a:ln/>
        </p:spPr>
        <p:txBody>
          <a:bodyPr wrap="square" lIns="0" tIns="0" rIns="0" bIns="0" rtlCol="0" anchor="ctr"/>
          <a:lstStyle/>
          <a:p>
            <a:pPr indent="0" marL="0">
              <a:lnSpc>
                <a:spcPts val="1500"/>
              </a:lnSpc>
              <a:buNone/>
            </a:pPr>
            <a:r>
              <a:rPr lang="en-US" sz="1200" i="1" dirty="0">
                <a:solidFill>
                  <a:srgbClr val="2E4258"/>
                </a:solidFill>
                <a:latin typeface="Inter" pitchFamily="34" charset="0"/>
                <a:ea typeface="Inter" pitchFamily="34" charset="-122"/>
                <a:cs typeface="Inter" pitchFamily="34" charset="-120"/>
              </a:rPr>
              <a:t>“Hola, tengo un cliente para tu propiedad. ¿Compartís honorarios? ¿Cómo lo manejás?”</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Dos formas de asegurar el cobro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El objetivo es prever: que nunca haya que ejecutar un cobro.</a:t>
            </a:r>
            <a:endParaRPr lang="en-US" sz="1200" dirty="0"/>
          </a:p>
        </p:txBody>
      </p:sp>
      <p:sp>
        <p:nvSpPr>
          <p:cNvPr id="7" name="Shape 4"/>
          <p:cNvSpPr/>
          <p:nvPr/>
        </p:nvSpPr>
        <p:spPr>
          <a:xfrm>
            <a:off x="603504" y="1188720"/>
            <a:ext cx="3950208" cy="2148840"/>
          </a:xfrm>
          <a:prstGeom prst="roundRect">
            <a:avLst>
              <a:gd name="adj" fmla="val 3830"/>
            </a:avLst>
          </a:prstGeom>
          <a:solidFill>
            <a:srgbClr val="08407C"/>
          </a:solidFill>
          <a:ln w="12700">
            <a:solidFill>
              <a:srgbClr val="08407C"/>
            </a:solidFill>
            <a:prstDash val="solid"/>
          </a:ln>
        </p:spPr>
      </p:sp>
      <p:sp>
        <p:nvSpPr>
          <p:cNvPr id="8" name="Text 5"/>
          <p:cNvSpPr/>
          <p:nvPr/>
        </p:nvSpPr>
        <p:spPr>
          <a:xfrm>
            <a:off x="822960" y="1335024"/>
            <a:ext cx="35112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FORMA A</a:t>
            </a:r>
            <a:endParaRPr lang="en-US" sz="900" dirty="0"/>
          </a:p>
        </p:txBody>
      </p:sp>
      <p:sp>
        <p:nvSpPr>
          <p:cNvPr id="9" name="Text 6"/>
          <p:cNvSpPr/>
          <p:nvPr/>
        </p:nvSpPr>
        <p:spPr>
          <a:xfrm>
            <a:off x="822960" y="1572768"/>
            <a:ext cx="3511296" cy="457200"/>
          </a:xfrm>
          <a:prstGeom prst="rect">
            <a:avLst/>
          </a:prstGeom>
          <a:noFill/>
          <a:ln/>
        </p:spPr>
        <p:txBody>
          <a:bodyPr wrap="square" lIns="0" tIns="0" rIns="0" bIns="0" rtlCol="0" anchor="t"/>
          <a:lstStyle/>
          <a:p>
            <a:pPr indent="0" marL="0">
              <a:lnSpc>
                <a:spcPts val="2100"/>
              </a:lnSpc>
              <a:buNone/>
            </a:pPr>
            <a:r>
              <a:rPr lang="en-US" sz="1800" b="1" dirty="0">
                <a:solidFill>
                  <a:srgbClr val="FFFFFF"/>
                </a:solidFill>
                <a:latin typeface="Inter" pitchFamily="34" charset="0"/>
                <a:ea typeface="Inter" pitchFamily="34" charset="-122"/>
                <a:cs typeface="Inter" pitchFamily="34" charset="-120"/>
              </a:rPr>
              <a:t>En la reserva</a:t>
            </a:r>
            <a:endParaRPr lang="en-US" sz="1800" dirty="0"/>
          </a:p>
        </p:txBody>
      </p:sp>
      <p:sp>
        <p:nvSpPr>
          <p:cNvPr id="10" name="Text 7"/>
          <p:cNvSpPr/>
          <p:nvPr/>
        </p:nvSpPr>
        <p:spPr>
          <a:xfrm>
            <a:off x="822960" y="2103120"/>
            <a:ext cx="3511296" cy="1106424"/>
          </a:xfrm>
          <a:prstGeom prst="rect">
            <a:avLst/>
          </a:prstGeom>
          <a:noFill/>
          <a:ln/>
        </p:spPr>
        <p:txBody>
          <a:bodyPr wrap="square" lIns="0" tIns="0" rIns="0" bIns="0" rtlCol="0" anchor="t"/>
          <a:lstStyle/>
          <a:p>
            <a:pPr indent="0" marL="0">
              <a:lnSpc>
                <a:spcPts val="1400"/>
              </a:lnSpc>
              <a:buNone/>
            </a:pPr>
            <a:r>
              <a:rPr lang="en-US" sz="1200" dirty="0">
                <a:solidFill>
                  <a:srgbClr val="EAEFF5"/>
                </a:solidFill>
                <a:latin typeface="Inter" pitchFamily="34" charset="0"/>
                <a:ea typeface="Inter" pitchFamily="34" charset="-122"/>
                <a:cs typeface="Inter" pitchFamily="34" charset="-120"/>
              </a:rPr>
              <a:t>La participación de cada colega queda escrita en el documento de la reserva, firmada por las partes.</a:t>
            </a:r>
            <a:endParaRPr lang="en-US" sz="1200" dirty="0"/>
          </a:p>
        </p:txBody>
      </p:sp>
      <p:sp>
        <p:nvSpPr>
          <p:cNvPr id="11" name="Shape 8"/>
          <p:cNvSpPr/>
          <p:nvPr/>
        </p:nvSpPr>
        <p:spPr>
          <a:xfrm>
            <a:off x="4736592" y="1188720"/>
            <a:ext cx="3950208" cy="2148840"/>
          </a:xfrm>
          <a:prstGeom prst="roundRect">
            <a:avLst>
              <a:gd name="adj" fmla="val 3830"/>
            </a:avLst>
          </a:prstGeom>
          <a:solidFill>
            <a:srgbClr val="7C8594"/>
          </a:solidFill>
          <a:ln w="12700">
            <a:solidFill>
              <a:srgbClr val="7C8594"/>
            </a:solidFill>
            <a:prstDash val="solid"/>
          </a:ln>
        </p:spPr>
      </p:sp>
      <p:sp>
        <p:nvSpPr>
          <p:cNvPr id="12" name="Text 9"/>
          <p:cNvSpPr/>
          <p:nvPr/>
        </p:nvSpPr>
        <p:spPr>
          <a:xfrm>
            <a:off x="4956048" y="1335024"/>
            <a:ext cx="35112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FORMA B</a:t>
            </a:r>
            <a:endParaRPr lang="en-US" sz="900" dirty="0"/>
          </a:p>
        </p:txBody>
      </p:sp>
      <p:sp>
        <p:nvSpPr>
          <p:cNvPr id="13" name="Text 10"/>
          <p:cNvSpPr/>
          <p:nvPr/>
        </p:nvSpPr>
        <p:spPr>
          <a:xfrm>
            <a:off x="4956048" y="1572768"/>
            <a:ext cx="3511296" cy="457200"/>
          </a:xfrm>
          <a:prstGeom prst="rect">
            <a:avLst/>
          </a:prstGeom>
          <a:noFill/>
          <a:ln/>
        </p:spPr>
        <p:txBody>
          <a:bodyPr wrap="square" lIns="0" tIns="0" rIns="0" bIns="0" rtlCol="0" anchor="t"/>
          <a:lstStyle/>
          <a:p>
            <a:pPr indent="0" marL="0">
              <a:lnSpc>
                <a:spcPts val="2100"/>
              </a:lnSpc>
              <a:buNone/>
            </a:pPr>
            <a:r>
              <a:rPr lang="en-US" sz="1800" b="1" dirty="0">
                <a:solidFill>
                  <a:srgbClr val="FFFFFF"/>
                </a:solidFill>
                <a:latin typeface="Inter" pitchFamily="34" charset="0"/>
                <a:ea typeface="Inter" pitchFamily="34" charset="-122"/>
                <a:cs typeface="Inter" pitchFamily="34" charset="-120"/>
              </a:rPr>
              <a:t>Convenio de honorarios</a:t>
            </a:r>
            <a:endParaRPr lang="en-US" sz="1800" dirty="0"/>
          </a:p>
        </p:txBody>
      </p:sp>
      <p:sp>
        <p:nvSpPr>
          <p:cNvPr id="14" name="Text 11"/>
          <p:cNvSpPr/>
          <p:nvPr/>
        </p:nvSpPr>
        <p:spPr>
          <a:xfrm>
            <a:off x="4956048" y="2103120"/>
            <a:ext cx="3511296" cy="1106424"/>
          </a:xfrm>
          <a:prstGeom prst="rect">
            <a:avLst/>
          </a:prstGeom>
          <a:noFill/>
          <a:ln/>
        </p:spPr>
        <p:txBody>
          <a:bodyPr wrap="square" lIns="0" tIns="0" rIns="0" bIns="0" rtlCol="0" anchor="t"/>
          <a:lstStyle/>
          <a:p>
            <a:pPr indent="0" marL="0">
              <a:lnSpc>
                <a:spcPts val="1400"/>
              </a:lnSpc>
              <a:buNone/>
            </a:pPr>
            <a:r>
              <a:rPr lang="en-US" sz="1200" dirty="0">
                <a:solidFill>
                  <a:srgbClr val="EAEFF5"/>
                </a:solidFill>
                <a:latin typeface="Inter" pitchFamily="34" charset="0"/>
                <a:ea typeface="Inter" pitchFamily="34" charset="-122"/>
                <a:cs typeface="Inter" pitchFamily="34" charset="-120"/>
              </a:rPr>
              <a:t>Un acuerdo escrito y firmado solo entre los colegas, aparte de la reserva, con lo que cobra cada uno.</a:t>
            </a:r>
            <a:endParaRPr lang="en-US" sz="1200" dirty="0"/>
          </a:p>
        </p:txBody>
      </p:sp>
      <p:sp>
        <p:nvSpPr>
          <p:cNvPr id="15" name="Shape 12"/>
          <p:cNvSpPr/>
          <p:nvPr/>
        </p:nvSpPr>
        <p:spPr>
          <a:xfrm>
            <a:off x="603504" y="3611880"/>
            <a:ext cx="8083296" cy="658368"/>
          </a:xfrm>
          <a:prstGeom prst="roundRect">
            <a:avLst>
              <a:gd name="adj" fmla="val 12500"/>
            </a:avLst>
          </a:prstGeom>
          <a:solidFill>
            <a:srgbClr val="4E586E"/>
          </a:solidFill>
          <a:ln w="12700">
            <a:solidFill>
              <a:srgbClr val="4E586E"/>
            </a:solidFill>
            <a:prstDash val="solid"/>
          </a:ln>
        </p:spPr>
      </p:sp>
      <p:sp>
        <p:nvSpPr>
          <p:cNvPr id="16" name="Text 13"/>
          <p:cNvSpPr/>
          <p:nvPr/>
        </p:nvSpPr>
        <p:spPr>
          <a:xfrm>
            <a:off x="841248" y="365760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PRINCIPIO</a:t>
            </a:r>
            <a:endParaRPr lang="en-US" sz="900" dirty="0"/>
          </a:p>
        </p:txBody>
      </p:sp>
      <p:sp>
        <p:nvSpPr>
          <p:cNvPr id="17" name="Text 14"/>
          <p:cNvSpPr/>
          <p:nvPr/>
        </p:nvSpPr>
        <p:spPr>
          <a:xfrm>
            <a:off x="841248" y="385876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Hay que dejarlo por escrito. El objetivo no es poder reclamar un cobro: es evitar que el malentendido exista.</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¿Reserva o convenio?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Depende de quién tiene que ver el acuerdo.</a:t>
            </a:r>
            <a:endParaRPr lang="en-US" sz="1200" dirty="0"/>
          </a:p>
        </p:txBody>
      </p:sp>
      <p:sp>
        <p:nvSpPr>
          <p:cNvPr id="7" name="Shape 4"/>
          <p:cNvSpPr/>
          <p:nvPr/>
        </p:nvSpPr>
        <p:spPr>
          <a:xfrm>
            <a:off x="603504" y="1188720"/>
            <a:ext cx="3950208" cy="457200"/>
          </a:xfrm>
          <a:prstGeom prst="roundRect">
            <a:avLst>
              <a:gd name="adj" fmla="val 18000"/>
            </a:avLst>
          </a:prstGeom>
          <a:solidFill>
            <a:srgbClr val="08407C"/>
          </a:solidFill>
          <a:ln w="12700">
            <a:solidFill>
              <a:srgbClr val="08407C"/>
            </a:solidFill>
            <a:prstDash val="solid"/>
          </a:ln>
        </p:spPr>
      </p:sp>
      <p:sp>
        <p:nvSpPr>
          <p:cNvPr id="8" name="Text 5"/>
          <p:cNvSpPr/>
          <p:nvPr/>
        </p:nvSpPr>
        <p:spPr>
          <a:xfrm>
            <a:off x="822960" y="1188720"/>
            <a:ext cx="3584448"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EN LA RESERVA</a:t>
            </a:r>
            <a:endParaRPr lang="en-US" sz="1150" dirty="0"/>
          </a:p>
        </p:txBody>
      </p:sp>
      <p:sp>
        <p:nvSpPr>
          <p:cNvPr id="9" name="Shape 6"/>
          <p:cNvSpPr/>
          <p:nvPr/>
        </p:nvSpPr>
        <p:spPr>
          <a:xfrm>
            <a:off x="603504" y="1700784"/>
            <a:ext cx="3950208" cy="1965960"/>
          </a:xfrm>
          <a:prstGeom prst="roundRect">
            <a:avLst>
              <a:gd name="adj" fmla="val 4186"/>
            </a:avLst>
          </a:prstGeom>
          <a:solidFill>
            <a:srgbClr val="F3F3F3"/>
          </a:solidFill>
          <a:ln w="12700">
            <a:solidFill>
              <a:srgbClr val="F3F3F3"/>
            </a:solidFill>
            <a:prstDash val="solid"/>
          </a:ln>
        </p:spPr>
      </p:sp>
      <p:sp>
        <p:nvSpPr>
          <p:cNvPr id="10" name="Text 7"/>
          <p:cNvSpPr/>
          <p:nvPr/>
        </p:nvSpPr>
        <p:spPr>
          <a:xfrm>
            <a:off x="822960" y="1792224"/>
            <a:ext cx="3566160" cy="274320"/>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Visible para las partes de la operación</a:t>
            </a:r>
            <a:endParaRPr lang="en-US" sz="1150" dirty="0"/>
          </a:p>
        </p:txBody>
      </p:sp>
      <p:sp>
        <p:nvSpPr>
          <p:cNvPr id="11" name="Text 8"/>
          <p:cNvSpPr/>
          <p:nvPr/>
        </p:nvSpPr>
        <p:spPr>
          <a:xfrm>
            <a:off x="859536" y="2139696"/>
            <a:ext cx="3511296" cy="141732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Sirve cuando no hay nada que proteger.</a:t>
            </a:r>
            <a:endParaRPr lang="en-US" sz="1100" dirty="0"/>
          </a:p>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Deja la participación de cada uno dentro del mismo documento.</a:t>
            </a:r>
            <a:endParaRPr lang="en-US" sz="1100" dirty="0"/>
          </a:p>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Es lo más simple de armar.</a:t>
            </a:r>
            <a:endParaRPr lang="en-US" sz="1100" dirty="0"/>
          </a:p>
        </p:txBody>
      </p:sp>
      <p:sp>
        <p:nvSpPr>
          <p:cNvPr id="12" name="Shape 9"/>
          <p:cNvSpPr/>
          <p:nvPr/>
        </p:nvSpPr>
        <p:spPr>
          <a:xfrm>
            <a:off x="4736592" y="1188720"/>
            <a:ext cx="3950208" cy="457200"/>
          </a:xfrm>
          <a:prstGeom prst="roundRect">
            <a:avLst>
              <a:gd name="adj" fmla="val 18000"/>
            </a:avLst>
          </a:prstGeom>
          <a:solidFill>
            <a:srgbClr val="7C8594"/>
          </a:solidFill>
          <a:ln w="12700">
            <a:solidFill>
              <a:srgbClr val="7C8594"/>
            </a:solidFill>
            <a:prstDash val="solid"/>
          </a:ln>
        </p:spPr>
      </p:sp>
      <p:sp>
        <p:nvSpPr>
          <p:cNvPr id="13" name="Text 10"/>
          <p:cNvSpPr/>
          <p:nvPr/>
        </p:nvSpPr>
        <p:spPr>
          <a:xfrm>
            <a:off x="4956048" y="1188720"/>
            <a:ext cx="3584448" cy="457200"/>
          </a:xfrm>
          <a:prstGeom prst="rect">
            <a:avLst/>
          </a:prstGeom>
          <a:noFill/>
          <a:ln/>
        </p:spPr>
        <p:txBody>
          <a:bodyPr wrap="square" lIns="0" tIns="0" rIns="0" bIns="0" rtlCol="0" anchor="ctr"/>
          <a:lstStyle/>
          <a:p>
            <a:pPr indent="0" marL="0">
              <a:buNone/>
            </a:pPr>
            <a:r>
              <a:rPr lang="en-US" sz="1150" b="1" spc="100" kern="0" dirty="0">
                <a:solidFill>
                  <a:srgbClr val="FFFFFF"/>
                </a:solidFill>
                <a:latin typeface="Inter" pitchFamily="34" charset="0"/>
                <a:ea typeface="Inter" pitchFamily="34" charset="-122"/>
                <a:cs typeface="Inter" pitchFamily="34" charset="-120"/>
              </a:rPr>
              <a:t>EN UN CONVENIO</a:t>
            </a:r>
            <a:endParaRPr lang="en-US" sz="1150" dirty="0"/>
          </a:p>
        </p:txBody>
      </p:sp>
      <p:sp>
        <p:nvSpPr>
          <p:cNvPr id="14" name="Shape 11"/>
          <p:cNvSpPr/>
          <p:nvPr/>
        </p:nvSpPr>
        <p:spPr>
          <a:xfrm>
            <a:off x="4736592" y="1700784"/>
            <a:ext cx="3950208" cy="1965960"/>
          </a:xfrm>
          <a:prstGeom prst="roundRect">
            <a:avLst>
              <a:gd name="adj" fmla="val 4186"/>
            </a:avLst>
          </a:prstGeom>
          <a:solidFill>
            <a:srgbClr val="F3F3F3"/>
          </a:solidFill>
          <a:ln w="12700">
            <a:solidFill>
              <a:srgbClr val="F3F3F3"/>
            </a:solidFill>
            <a:prstDash val="solid"/>
          </a:ln>
        </p:spPr>
      </p:sp>
      <p:sp>
        <p:nvSpPr>
          <p:cNvPr id="15" name="Text 12"/>
          <p:cNvSpPr/>
          <p:nvPr/>
        </p:nvSpPr>
        <p:spPr>
          <a:xfrm>
            <a:off x="4956048" y="1792224"/>
            <a:ext cx="3566160" cy="274320"/>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Privado entre los colegas</a:t>
            </a:r>
            <a:endParaRPr lang="en-US" sz="1150" dirty="0"/>
          </a:p>
        </p:txBody>
      </p:sp>
      <p:sp>
        <p:nvSpPr>
          <p:cNvPr id="16" name="Text 13"/>
          <p:cNvSpPr/>
          <p:nvPr/>
        </p:nvSpPr>
        <p:spPr>
          <a:xfrm>
            <a:off x="4992624" y="2139696"/>
            <a:ext cx="3511296" cy="1417320"/>
          </a:xfrm>
          <a:prstGeom prst="rect">
            <a:avLst/>
          </a:prstGeom>
          <a:noFill/>
          <a:ln/>
        </p:spPr>
        <p:txBody>
          <a:bodyPr wrap="square" lIns="0" tIns="0" rIns="0" bIns="0" rtlCol="0" anchor="t"/>
          <a:lstStyle/>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Protege la identidad de uno de los colegas cuando la operación lo requiere.</a:t>
            </a:r>
            <a:endParaRPr lang="en-US" sz="1100" dirty="0"/>
          </a:p>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No expone la relación entre las distintas marcas.</a:t>
            </a:r>
            <a:endParaRPr lang="en-US" sz="1100" dirty="0"/>
          </a:p>
          <a:p>
            <a:pPr marL="177800" indent="-177800">
              <a:spcAft>
                <a:spcPts val="700"/>
              </a:spcAft>
              <a:buSzPct val="100000"/>
              <a:buChar char="•"/>
            </a:pPr>
            <a:r>
              <a:rPr lang="en-US" sz="1100" dirty="0">
                <a:solidFill>
                  <a:srgbClr val="2E4258"/>
                </a:solidFill>
                <a:latin typeface="Inter" pitchFamily="34" charset="0"/>
                <a:ea typeface="Inter" pitchFamily="34" charset="-122"/>
                <a:cs typeface="Inter" pitchFamily="34" charset="-120"/>
              </a:rPr>
              <a:t>Deja el reparto fuera de la reserva.</a:t>
            </a:r>
            <a:endParaRPr lang="en-US" sz="1100" dirty="0"/>
          </a:p>
        </p:txBody>
      </p:sp>
      <p:sp>
        <p:nvSpPr>
          <p:cNvPr id="17" name="Shape 14"/>
          <p:cNvSpPr/>
          <p:nvPr/>
        </p:nvSpPr>
        <p:spPr>
          <a:xfrm>
            <a:off x="603504" y="3931920"/>
            <a:ext cx="8083296" cy="658368"/>
          </a:xfrm>
          <a:prstGeom prst="roundRect">
            <a:avLst>
              <a:gd name="adj" fmla="val 12500"/>
            </a:avLst>
          </a:prstGeom>
          <a:solidFill>
            <a:srgbClr val="08407C"/>
          </a:solidFill>
          <a:ln w="12700">
            <a:solidFill>
              <a:srgbClr val="08407C"/>
            </a:solidFill>
            <a:prstDash val="solid"/>
          </a:ln>
        </p:spPr>
      </p:sp>
      <p:sp>
        <p:nvSpPr>
          <p:cNvPr id="18" name="Text 15"/>
          <p:cNvSpPr/>
          <p:nvPr/>
        </p:nvSpPr>
        <p:spPr>
          <a:xfrm>
            <a:off x="841248" y="397764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CRITERIO</a:t>
            </a:r>
            <a:endParaRPr lang="en-US" sz="900" dirty="0"/>
          </a:p>
        </p:txBody>
      </p:sp>
      <p:sp>
        <p:nvSpPr>
          <p:cNvPr id="19" name="Text 16"/>
          <p:cNvSpPr/>
          <p:nvPr/>
        </p:nvSpPr>
        <p:spPr>
          <a:xfrm>
            <a:off x="841248" y="417880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Si hay que proteger a alguien por el bien de la operación, se usa convenio. Si no, la reserva alcanza.</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Mail y WhatsApp también sirven</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Como respaldo: no reemplazan al documento, pero son prueba.</a:t>
            </a:r>
            <a:endParaRPr lang="en-US" sz="1200" dirty="0"/>
          </a:p>
        </p:txBody>
      </p:sp>
      <p:sp>
        <p:nvSpPr>
          <p:cNvPr id="7" name="Shape 4"/>
          <p:cNvSpPr/>
          <p:nvPr/>
        </p:nvSpPr>
        <p:spPr>
          <a:xfrm>
            <a:off x="603504" y="1188720"/>
            <a:ext cx="2542032" cy="2331720"/>
          </a:xfrm>
          <a:prstGeom prst="roundRect">
            <a:avLst>
              <a:gd name="adj" fmla="val 3529"/>
            </a:avLst>
          </a:prstGeom>
          <a:solidFill>
            <a:srgbClr val="08407C"/>
          </a:solidFill>
          <a:ln w="12700">
            <a:solidFill>
              <a:srgbClr val="08407C"/>
            </a:solidFill>
            <a:prstDash val="solid"/>
          </a:ln>
        </p:spPr>
      </p:sp>
      <p:sp>
        <p:nvSpPr>
          <p:cNvPr id="8" name="Text 5"/>
          <p:cNvSpPr/>
          <p:nvPr/>
        </p:nvSpPr>
        <p:spPr>
          <a:xfrm>
            <a:off x="822960"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LO MEJOR</a:t>
            </a:r>
            <a:endParaRPr lang="en-US" sz="900" dirty="0"/>
          </a:p>
        </p:txBody>
      </p:sp>
      <p:sp>
        <p:nvSpPr>
          <p:cNvPr id="9" name="Text 6"/>
          <p:cNvSpPr/>
          <p:nvPr/>
        </p:nvSpPr>
        <p:spPr>
          <a:xfrm>
            <a:off x="822960"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Reserva o convenio firmado</a:t>
            </a:r>
            <a:endParaRPr lang="en-US" sz="1600" dirty="0"/>
          </a:p>
        </p:txBody>
      </p:sp>
      <p:sp>
        <p:nvSpPr>
          <p:cNvPr id="10" name="Text 7"/>
          <p:cNvSpPr/>
          <p:nvPr/>
        </p:nvSpPr>
        <p:spPr>
          <a:xfrm>
            <a:off x="822960"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El acuerdo queda en un documento con la firma de las partes.</a:t>
            </a:r>
            <a:endParaRPr lang="en-US" sz="1100" dirty="0"/>
          </a:p>
        </p:txBody>
      </p:sp>
      <p:sp>
        <p:nvSpPr>
          <p:cNvPr id="11" name="Shape 8"/>
          <p:cNvSpPr/>
          <p:nvPr/>
        </p:nvSpPr>
        <p:spPr>
          <a:xfrm>
            <a:off x="3374136" y="1188720"/>
            <a:ext cx="2542032" cy="2331720"/>
          </a:xfrm>
          <a:prstGeom prst="roundRect">
            <a:avLst>
              <a:gd name="adj" fmla="val 3529"/>
            </a:avLst>
          </a:prstGeom>
          <a:solidFill>
            <a:srgbClr val="7C8594"/>
          </a:solidFill>
          <a:ln w="12700">
            <a:solidFill>
              <a:srgbClr val="7C8594"/>
            </a:solidFill>
            <a:prstDash val="solid"/>
          </a:ln>
        </p:spPr>
      </p:sp>
      <p:sp>
        <p:nvSpPr>
          <p:cNvPr id="12" name="Text 9"/>
          <p:cNvSpPr/>
          <p:nvPr/>
        </p:nvSpPr>
        <p:spPr>
          <a:xfrm>
            <a:off x="3593592"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SIRVE COMO PRUEBA</a:t>
            </a:r>
            <a:endParaRPr lang="en-US" sz="900" dirty="0"/>
          </a:p>
        </p:txBody>
      </p:sp>
      <p:sp>
        <p:nvSpPr>
          <p:cNvPr id="13" name="Text 10"/>
          <p:cNvSpPr/>
          <p:nvPr/>
        </p:nvSpPr>
        <p:spPr>
          <a:xfrm>
            <a:off x="3593592"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Mail o WhatsApp</a:t>
            </a:r>
            <a:endParaRPr lang="en-US" sz="1600" dirty="0"/>
          </a:p>
        </p:txBody>
      </p:sp>
      <p:sp>
        <p:nvSpPr>
          <p:cNvPr id="14" name="Text 11"/>
          <p:cNvSpPr/>
          <p:nvPr/>
        </p:nvSpPr>
        <p:spPr>
          <a:xfrm>
            <a:off x="3593592"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Escribir el acuerdo y pedir que el colega lo confirme por el mismo medio.</a:t>
            </a:r>
            <a:endParaRPr lang="en-US" sz="1100" dirty="0"/>
          </a:p>
        </p:txBody>
      </p:sp>
      <p:sp>
        <p:nvSpPr>
          <p:cNvPr id="15" name="Shape 12"/>
          <p:cNvSpPr/>
          <p:nvPr/>
        </p:nvSpPr>
        <p:spPr>
          <a:xfrm>
            <a:off x="6144768" y="1188720"/>
            <a:ext cx="2542032" cy="2331720"/>
          </a:xfrm>
          <a:prstGeom prst="roundRect">
            <a:avLst>
              <a:gd name="adj" fmla="val 3529"/>
            </a:avLst>
          </a:prstGeom>
          <a:solidFill>
            <a:srgbClr val="4E586E"/>
          </a:solidFill>
          <a:ln w="12700">
            <a:solidFill>
              <a:srgbClr val="4E586E"/>
            </a:solidFill>
            <a:prstDash val="solid"/>
          </a:ln>
        </p:spPr>
      </p:sp>
      <p:sp>
        <p:nvSpPr>
          <p:cNvPr id="16" name="Text 13"/>
          <p:cNvSpPr/>
          <p:nvPr/>
        </p:nvSpPr>
        <p:spPr>
          <a:xfrm>
            <a:off x="6364224" y="1335024"/>
            <a:ext cx="2103120"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NO ALCANZA</a:t>
            </a:r>
            <a:endParaRPr lang="en-US" sz="900" dirty="0"/>
          </a:p>
        </p:txBody>
      </p:sp>
      <p:sp>
        <p:nvSpPr>
          <p:cNvPr id="17" name="Text 14"/>
          <p:cNvSpPr/>
          <p:nvPr/>
        </p:nvSpPr>
        <p:spPr>
          <a:xfrm>
            <a:off x="6364224" y="1572768"/>
            <a:ext cx="2103120" cy="566928"/>
          </a:xfrm>
          <a:prstGeom prst="rect">
            <a:avLst/>
          </a:prstGeom>
          <a:noFill/>
          <a:ln/>
        </p:spPr>
        <p:txBody>
          <a:bodyPr wrap="square" lIns="0" tIns="0" rIns="0" bIns="0" rtlCol="0" anchor="t"/>
          <a:lstStyle/>
          <a:p>
            <a:pPr indent="0" marL="0">
              <a:lnSpc>
                <a:spcPts val="1900"/>
              </a:lnSpc>
              <a:buNone/>
            </a:pPr>
            <a:r>
              <a:rPr lang="en-US" sz="1600" b="1" dirty="0">
                <a:solidFill>
                  <a:srgbClr val="FFFFFF"/>
                </a:solidFill>
                <a:latin typeface="Inter" pitchFamily="34" charset="0"/>
                <a:ea typeface="Inter" pitchFamily="34" charset="-122"/>
                <a:cs typeface="Inter" pitchFamily="34" charset="-120"/>
              </a:rPr>
              <a:t>Acuerdo de palabra</a:t>
            </a:r>
            <a:endParaRPr lang="en-US" sz="1600" dirty="0"/>
          </a:p>
        </p:txBody>
      </p:sp>
      <p:sp>
        <p:nvSpPr>
          <p:cNvPr id="18" name="Text 15"/>
          <p:cNvSpPr/>
          <p:nvPr/>
        </p:nvSpPr>
        <p:spPr>
          <a:xfrm>
            <a:off x="6364224" y="2212848"/>
            <a:ext cx="2103120" cy="1179576"/>
          </a:xfrm>
          <a:prstGeom prst="rect">
            <a:avLst/>
          </a:prstGeom>
          <a:noFill/>
          <a:ln/>
        </p:spPr>
        <p:txBody>
          <a:bodyPr wrap="square" lIns="0" tIns="0" rIns="0" bIns="0" rtlCol="0" anchor="t"/>
          <a:lstStyle/>
          <a:p>
            <a:pPr indent="0" marL="0">
              <a:lnSpc>
                <a:spcPts val="1400"/>
              </a:lnSpc>
              <a:buNone/>
            </a:pPr>
            <a:r>
              <a:rPr lang="en-US" sz="1100" dirty="0">
                <a:solidFill>
                  <a:srgbClr val="EAEFF5"/>
                </a:solidFill>
                <a:latin typeface="Inter" pitchFamily="34" charset="0"/>
                <a:ea typeface="Inter" pitchFamily="34" charset="-122"/>
                <a:cs typeface="Inter" pitchFamily="34" charset="-120"/>
              </a:rPr>
              <a:t>Un llamado o una charla en una visita no deja nada que mostrar si hay un malentendido.</a:t>
            </a:r>
            <a:endParaRPr lang="en-US" sz="1100" dirty="0"/>
          </a:p>
        </p:txBody>
      </p:sp>
      <p:sp>
        <p:nvSpPr>
          <p:cNvPr id="19" name="Shape 16"/>
          <p:cNvSpPr/>
          <p:nvPr/>
        </p:nvSpPr>
        <p:spPr>
          <a:xfrm>
            <a:off x="603504" y="3794760"/>
            <a:ext cx="8083296" cy="658368"/>
          </a:xfrm>
          <a:prstGeom prst="roundRect">
            <a:avLst>
              <a:gd name="adj" fmla="val 12500"/>
            </a:avLst>
          </a:prstGeom>
          <a:solidFill>
            <a:srgbClr val="08407C"/>
          </a:solidFill>
          <a:ln w="12700">
            <a:solidFill>
              <a:srgbClr val="08407C"/>
            </a:solidFill>
            <a:prstDash val="solid"/>
          </a:ln>
        </p:spPr>
      </p:sp>
      <p:sp>
        <p:nvSpPr>
          <p:cNvPr id="20" name="Text 17"/>
          <p:cNvSpPr/>
          <p:nvPr/>
        </p:nvSpPr>
        <p:spPr>
          <a:xfrm>
            <a:off x="841248" y="384048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HÁBITO</a:t>
            </a:r>
            <a:endParaRPr lang="en-US" sz="900" dirty="0"/>
          </a:p>
        </p:txBody>
      </p:sp>
      <p:sp>
        <p:nvSpPr>
          <p:cNvPr id="21" name="Text 18"/>
          <p:cNvSpPr/>
          <p:nvPr/>
        </p:nvSpPr>
        <p:spPr>
          <a:xfrm>
            <a:off x="841248" y="404164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Si no hay documento a mano, se escribe el acuerdo por mail o WhatsApp y se pide la confirmación del colega.</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Qué debe quedar escrito</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Ya sea en la reserva, en el convenio o en un mensaje.</a:t>
            </a:r>
            <a:endParaRPr lang="en-US" sz="1200" dirty="0"/>
          </a:p>
        </p:txBody>
      </p:sp>
      <p:sp>
        <p:nvSpPr>
          <p:cNvPr id="7" name="Shape 4"/>
          <p:cNvSpPr/>
          <p:nvPr/>
        </p:nvSpPr>
        <p:spPr>
          <a:xfrm>
            <a:off x="603504" y="1188720"/>
            <a:ext cx="8083296" cy="512064"/>
          </a:xfrm>
          <a:prstGeom prst="roundRect">
            <a:avLst>
              <a:gd name="adj" fmla="val 16071"/>
            </a:avLst>
          </a:prstGeom>
          <a:solidFill>
            <a:srgbClr val="F3F3F3"/>
          </a:solidFill>
          <a:ln w="12700">
            <a:solidFill>
              <a:srgbClr val="F3F3F3"/>
            </a:solidFill>
            <a:prstDash val="solid"/>
          </a:ln>
        </p:spPr>
      </p:sp>
      <p:sp>
        <p:nvSpPr>
          <p:cNvPr id="8" name="Text 5"/>
          <p:cNvSpPr/>
          <p:nvPr/>
        </p:nvSpPr>
        <p:spPr>
          <a:xfrm>
            <a:off x="822960" y="1216152"/>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Quiénes son las partes</a:t>
            </a:r>
            <a:endParaRPr lang="en-US" sz="1150" dirty="0"/>
          </a:p>
        </p:txBody>
      </p:sp>
      <p:sp>
        <p:nvSpPr>
          <p:cNvPr id="9" name="Text 6"/>
          <p:cNvSpPr/>
          <p:nvPr/>
        </p:nvSpPr>
        <p:spPr>
          <a:xfrm>
            <a:off x="822960" y="1426464"/>
            <a:ext cx="7626096" cy="256032"/>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Los dos colegas y la empresa que representa cada uno.</a:t>
            </a:r>
            <a:endParaRPr lang="en-US" sz="1000" dirty="0"/>
          </a:p>
        </p:txBody>
      </p:sp>
      <p:sp>
        <p:nvSpPr>
          <p:cNvPr id="10" name="Text 7"/>
          <p:cNvSpPr/>
          <p:nvPr/>
        </p:nvSpPr>
        <p:spPr>
          <a:xfrm>
            <a:off x="822960" y="1783080"/>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Sobre qué operación</a:t>
            </a:r>
            <a:endParaRPr lang="en-US" sz="1150" dirty="0"/>
          </a:p>
        </p:txBody>
      </p:sp>
      <p:sp>
        <p:nvSpPr>
          <p:cNvPr id="11" name="Text 8"/>
          <p:cNvSpPr/>
          <p:nvPr/>
        </p:nvSpPr>
        <p:spPr>
          <a:xfrm>
            <a:off x="822960" y="1993392"/>
            <a:ext cx="7626096" cy="256032"/>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La propiedad o el producto y, si ya existe, el cliente o la reserva.</a:t>
            </a:r>
            <a:endParaRPr lang="en-US" sz="1000" dirty="0"/>
          </a:p>
        </p:txBody>
      </p:sp>
      <p:sp>
        <p:nvSpPr>
          <p:cNvPr id="12" name="Shape 9"/>
          <p:cNvSpPr/>
          <p:nvPr/>
        </p:nvSpPr>
        <p:spPr>
          <a:xfrm>
            <a:off x="603504" y="2322576"/>
            <a:ext cx="8083296" cy="512064"/>
          </a:xfrm>
          <a:prstGeom prst="roundRect">
            <a:avLst>
              <a:gd name="adj" fmla="val 16071"/>
            </a:avLst>
          </a:prstGeom>
          <a:solidFill>
            <a:srgbClr val="F3F3F3"/>
          </a:solidFill>
          <a:ln w="12700">
            <a:solidFill>
              <a:srgbClr val="F3F3F3"/>
            </a:solidFill>
            <a:prstDash val="solid"/>
          </a:ln>
        </p:spPr>
      </p:sp>
      <p:sp>
        <p:nvSpPr>
          <p:cNvPr id="13" name="Text 10"/>
          <p:cNvSpPr/>
          <p:nvPr/>
        </p:nvSpPr>
        <p:spPr>
          <a:xfrm>
            <a:off x="822960" y="2350008"/>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Qué esquema se aplica</a:t>
            </a:r>
            <a:endParaRPr lang="en-US" sz="1150" dirty="0"/>
          </a:p>
        </p:txBody>
      </p:sp>
      <p:sp>
        <p:nvSpPr>
          <p:cNvPr id="14" name="Text 11"/>
          <p:cNvSpPr/>
          <p:nvPr/>
        </p:nvSpPr>
        <p:spPr>
          <a:xfrm>
            <a:off x="822960" y="2560320"/>
            <a:ext cx="7626096" cy="256032"/>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La bolsa 50 y 50, la mitad del comprador o un porcentaje fijo.</a:t>
            </a:r>
            <a:endParaRPr lang="en-US" sz="1000" dirty="0"/>
          </a:p>
        </p:txBody>
      </p:sp>
      <p:sp>
        <p:nvSpPr>
          <p:cNvPr id="15" name="Text 12"/>
          <p:cNvSpPr/>
          <p:nvPr/>
        </p:nvSpPr>
        <p:spPr>
          <a:xfrm>
            <a:off x="822960" y="2916936"/>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Sobre qué base se calcula</a:t>
            </a:r>
            <a:endParaRPr lang="en-US" sz="1150" dirty="0"/>
          </a:p>
        </p:txBody>
      </p:sp>
      <p:sp>
        <p:nvSpPr>
          <p:cNvPr id="16" name="Text 13"/>
          <p:cNvSpPr/>
          <p:nvPr/>
        </p:nvSpPr>
        <p:spPr>
          <a:xfrm>
            <a:off x="822960" y="3127248"/>
            <a:ext cx="7626096" cy="256032"/>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El total de los honorarios, solo el comprador o el valor de la operación.</a:t>
            </a:r>
            <a:endParaRPr lang="en-US" sz="1000" dirty="0"/>
          </a:p>
        </p:txBody>
      </p:sp>
      <p:sp>
        <p:nvSpPr>
          <p:cNvPr id="17" name="Shape 14"/>
          <p:cNvSpPr/>
          <p:nvPr/>
        </p:nvSpPr>
        <p:spPr>
          <a:xfrm>
            <a:off x="603504" y="3456432"/>
            <a:ext cx="8083296" cy="512064"/>
          </a:xfrm>
          <a:prstGeom prst="roundRect">
            <a:avLst>
              <a:gd name="adj" fmla="val 16071"/>
            </a:avLst>
          </a:prstGeom>
          <a:solidFill>
            <a:srgbClr val="F3F3F3"/>
          </a:solidFill>
          <a:ln w="12700">
            <a:solidFill>
              <a:srgbClr val="F3F3F3"/>
            </a:solidFill>
            <a:prstDash val="solid"/>
          </a:ln>
        </p:spPr>
      </p:sp>
      <p:sp>
        <p:nvSpPr>
          <p:cNvPr id="18" name="Text 15"/>
          <p:cNvSpPr/>
          <p:nvPr/>
        </p:nvSpPr>
        <p:spPr>
          <a:xfrm>
            <a:off x="822960" y="3483864"/>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Cuándo y cómo se paga</a:t>
            </a:r>
            <a:endParaRPr lang="en-US" sz="1150" dirty="0"/>
          </a:p>
        </p:txBody>
      </p:sp>
      <p:sp>
        <p:nvSpPr>
          <p:cNvPr id="19" name="Text 16"/>
          <p:cNvSpPr/>
          <p:nvPr/>
        </p:nvSpPr>
        <p:spPr>
          <a:xfrm>
            <a:off x="822960" y="3694176"/>
            <a:ext cx="7626096" cy="256032"/>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Lo define cada pareja de colegas; lo importante es que no quede abierto.</a:t>
            </a:r>
            <a:endParaRPr lang="en-US" sz="1000" dirty="0"/>
          </a:p>
        </p:txBody>
      </p:sp>
      <p:sp>
        <p:nvSpPr>
          <p:cNvPr id="20" name="Shape 17"/>
          <p:cNvSpPr/>
          <p:nvPr/>
        </p:nvSpPr>
        <p:spPr>
          <a:xfrm>
            <a:off x="603504" y="4114800"/>
            <a:ext cx="8083296" cy="658368"/>
          </a:xfrm>
          <a:prstGeom prst="roundRect">
            <a:avLst>
              <a:gd name="adj" fmla="val 12500"/>
            </a:avLst>
          </a:prstGeom>
          <a:solidFill>
            <a:srgbClr val="4E586E"/>
          </a:solidFill>
          <a:ln w="12700">
            <a:solidFill>
              <a:srgbClr val="4E586E"/>
            </a:solidFill>
            <a:prstDash val="solid"/>
          </a:ln>
        </p:spPr>
      </p:sp>
      <p:sp>
        <p:nvSpPr>
          <p:cNvPr id="21" name="Text 18"/>
          <p:cNvSpPr/>
          <p:nvPr/>
        </p:nvSpPr>
        <p:spPr>
          <a:xfrm>
            <a:off x="841248" y="416052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REGLA</a:t>
            </a:r>
            <a:endParaRPr lang="en-US" sz="900" dirty="0"/>
          </a:p>
        </p:txBody>
      </p:sp>
      <p:sp>
        <p:nvSpPr>
          <p:cNvPr id="22" name="Text 19"/>
          <p:cNvSpPr/>
          <p:nvPr/>
        </p:nvSpPr>
        <p:spPr>
          <a:xfrm>
            <a:off x="841248" y="436168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Si algo del acuerdo se puede interpretar de dos maneras, se escribe de una sola.</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Tres casos para pensar</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Hipotéticos. En el taller los reemplazamos por los del equipo.</a:t>
            </a:r>
            <a:endParaRPr lang="en-US" sz="1200" dirty="0"/>
          </a:p>
        </p:txBody>
      </p:sp>
      <p:sp>
        <p:nvSpPr>
          <p:cNvPr id="7" name="Shape 4"/>
          <p:cNvSpPr/>
          <p:nvPr/>
        </p:nvSpPr>
        <p:spPr>
          <a:xfrm>
            <a:off x="603504" y="1188720"/>
            <a:ext cx="2542032" cy="2697480"/>
          </a:xfrm>
          <a:prstGeom prst="roundRect">
            <a:avLst>
              <a:gd name="adj" fmla="val 3237"/>
            </a:avLst>
          </a:prstGeom>
          <a:solidFill>
            <a:srgbClr val="F3F3F3"/>
          </a:solidFill>
          <a:ln w="12700">
            <a:solidFill>
              <a:srgbClr val="F3F3F3"/>
            </a:solidFill>
            <a:prstDash val="solid"/>
          </a:ln>
        </p:spPr>
      </p:sp>
      <p:sp>
        <p:nvSpPr>
          <p:cNvPr id="8" name="Shape 5"/>
          <p:cNvSpPr/>
          <p:nvPr/>
        </p:nvSpPr>
        <p:spPr>
          <a:xfrm>
            <a:off x="603504" y="1188720"/>
            <a:ext cx="2542032" cy="457200"/>
          </a:xfrm>
          <a:prstGeom prst="roundRect">
            <a:avLst>
              <a:gd name="adj" fmla="val 18000"/>
            </a:avLst>
          </a:prstGeom>
          <a:solidFill>
            <a:srgbClr val="08407C"/>
          </a:solidFill>
          <a:ln w="12700">
            <a:solidFill>
              <a:srgbClr val="08407C"/>
            </a:solidFill>
            <a:prstDash val="solid"/>
          </a:ln>
        </p:spPr>
      </p:sp>
      <p:sp>
        <p:nvSpPr>
          <p:cNvPr id="9" name="Text 6"/>
          <p:cNvSpPr/>
          <p:nvPr/>
        </p:nvSpPr>
        <p:spPr>
          <a:xfrm>
            <a:off x="822960" y="1188720"/>
            <a:ext cx="2103120" cy="457200"/>
          </a:xfrm>
          <a:prstGeom prst="rect">
            <a:avLst/>
          </a:prstGeom>
          <a:noFill/>
          <a:ln/>
        </p:spPr>
        <p:txBody>
          <a:bodyPr wrap="square" lIns="0" tIns="0" rIns="0" bIns="0" rtlCol="0" anchor="ctr"/>
          <a:lstStyle/>
          <a:p>
            <a:pPr indent="0" marL="0">
              <a:buNone/>
            </a:pPr>
            <a:r>
              <a:rPr lang="en-US" sz="1100" b="1" spc="120" kern="0" dirty="0">
                <a:solidFill>
                  <a:srgbClr val="FFFFFF"/>
                </a:solidFill>
                <a:latin typeface="Inter" pitchFamily="34" charset="0"/>
                <a:ea typeface="Inter" pitchFamily="34" charset="-122"/>
                <a:cs typeface="Inter" pitchFamily="34" charset="-120"/>
              </a:rPr>
              <a:t>CASO 1</a:t>
            </a:r>
            <a:endParaRPr lang="en-US" sz="1100" dirty="0"/>
          </a:p>
        </p:txBody>
      </p:sp>
      <p:sp>
        <p:nvSpPr>
          <p:cNvPr id="10" name="Text 7"/>
          <p:cNvSpPr/>
          <p:nvPr/>
        </p:nvSpPr>
        <p:spPr>
          <a:xfrm>
            <a:off x="822960" y="1737360"/>
            <a:ext cx="2103120" cy="457200"/>
          </a:xfrm>
          <a:prstGeom prst="rect">
            <a:avLst/>
          </a:prstGeom>
          <a:noFill/>
          <a:ln/>
        </p:spPr>
        <p:txBody>
          <a:bodyPr wrap="square" lIns="0" tIns="0" rIns="0" bIns="0" rtlCol="0" anchor="t"/>
          <a:lstStyle/>
          <a:p>
            <a:pPr indent="0" marL="0">
              <a:lnSpc>
                <a:spcPts val="1600"/>
              </a:lnSpc>
              <a:buNone/>
            </a:pPr>
            <a:r>
              <a:rPr lang="en-US" sz="1300" b="1" dirty="0">
                <a:solidFill>
                  <a:srgbClr val="08407C"/>
                </a:solidFill>
                <a:latin typeface="Inter" pitchFamily="34" charset="0"/>
                <a:ea typeface="Inter" pitchFamily="34" charset="-122"/>
                <a:cs typeface="Inter" pitchFamily="34" charset="-120"/>
              </a:rPr>
              <a:t>El dato sin acuerdo</a:t>
            </a:r>
            <a:endParaRPr lang="en-US" sz="1300" dirty="0"/>
          </a:p>
        </p:txBody>
      </p:sp>
      <p:sp>
        <p:nvSpPr>
          <p:cNvPr id="11" name="Text 8"/>
          <p:cNvSpPr/>
          <p:nvPr/>
        </p:nvSpPr>
        <p:spPr>
          <a:xfrm>
            <a:off x="822960" y="2240280"/>
            <a:ext cx="2103120" cy="914400"/>
          </a:xfrm>
          <a:prstGeom prst="rect">
            <a:avLst/>
          </a:prstGeom>
          <a:noFill/>
          <a:ln/>
        </p:spPr>
        <p:txBody>
          <a:bodyPr wrap="square" lIns="0" tIns="0" rIns="0" bIns="0" rtlCol="0" anchor="t"/>
          <a:lstStyle/>
          <a:p>
            <a:pPr indent="0" marL="0">
              <a:lnSpc>
                <a:spcPts val="1300"/>
              </a:lnSpc>
              <a:buNone/>
            </a:pPr>
            <a:r>
              <a:rPr lang="en-US" sz="1000" dirty="0">
                <a:solidFill>
                  <a:srgbClr val="2E4258"/>
                </a:solidFill>
                <a:latin typeface="Inter" pitchFamily="34" charset="0"/>
                <a:ea typeface="Inter" pitchFamily="34" charset="-122"/>
                <a:cs typeface="Inter" pitchFamily="34" charset="-120"/>
              </a:rPr>
              <a:t>Un colega pasa los datos de una propiedad y, después de la visita, el comprador quiere ofertar. Nadie habló de honorarios.</a:t>
            </a:r>
            <a:endParaRPr lang="en-US" sz="1000" dirty="0"/>
          </a:p>
        </p:txBody>
      </p:sp>
      <p:sp>
        <p:nvSpPr>
          <p:cNvPr id="12" name="Text 9"/>
          <p:cNvSpPr/>
          <p:nvPr/>
        </p:nvSpPr>
        <p:spPr>
          <a:xfrm>
            <a:off x="822960" y="3200400"/>
            <a:ext cx="2103120" cy="594360"/>
          </a:xfrm>
          <a:prstGeom prst="rect">
            <a:avLst/>
          </a:prstGeom>
          <a:noFill/>
          <a:ln/>
        </p:spPr>
        <p:txBody>
          <a:bodyPr wrap="square" lIns="0" tIns="0" rIns="0" bIns="0" rtlCol="0" anchor="t"/>
          <a:lstStyle/>
          <a:p>
            <a:pPr indent="0" marL="0">
              <a:lnSpc>
                <a:spcPts val="1300"/>
              </a:lnSpc>
              <a:buNone/>
            </a:pPr>
            <a:r>
              <a:rPr lang="en-US" sz="1050" b="1" dirty="0">
                <a:solidFill>
                  <a:srgbClr val="E74B3C"/>
                </a:solidFill>
                <a:latin typeface="Inter" pitchFamily="34" charset="0"/>
                <a:ea typeface="Inter" pitchFamily="34" charset="-122"/>
                <a:cs typeface="Inter" pitchFamily="34" charset="-120"/>
              </a:rPr>
              <a:t>Se debió preguntar primero.</a:t>
            </a:r>
            <a:endParaRPr lang="en-US" sz="1050" dirty="0"/>
          </a:p>
        </p:txBody>
      </p:sp>
      <p:sp>
        <p:nvSpPr>
          <p:cNvPr id="13" name="Shape 10"/>
          <p:cNvSpPr/>
          <p:nvPr/>
        </p:nvSpPr>
        <p:spPr>
          <a:xfrm>
            <a:off x="3374136" y="1188720"/>
            <a:ext cx="2542032" cy="2697480"/>
          </a:xfrm>
          <a:prstGeom prst="roundRect">
            <a:avLst>
              <a:gd name="adj" fmla="val 3237"/>
            </a:avLst>
          </a:prstGeom>
          <a:solidFill>
            <a:srgbClr val="F3F3F3"/>
          </a:solidFill>
          <a:ln w="12700">
            <a:solidFill>
              <a:srgbClr val="F3F3F3"/>
            </a:solidFill>
            <a:prstDash val="solid"/>
          </a:ln>
        </p:spPr>
      </p:sp>
      <p:sp>
        <p:nvSpPr>
          <p:cNvPr id="14" name="Shape 11"/>
          <p:cNvSpPr/>
          <p:nvPr/>
        </p:nvSpPr>
        <p:spPr>
          <a:xfrm>
            <a:off x="3374136" y="1188720"/>
            <a:ext cx="2542032" cy="457200"/>
          </a:xfrm>
          <a:prstGeom prst="roundRect">
            <a:avLst>
              <a:gd name="adj" fmla="val 18000"/>
            </a:avLst>
          </a:prstGeom>
          <a:solidFill>
            <a:srgbClr val="7C8594"/>
          </a:solidFill>
          <a:ln w="12700">
            <a:solidFill>
              <a:srgbClr val="7C8594"/>
            </a:solidFill>
            <a:prstDash val="solid"/>
          </a:ln>
        </p:spPr>
      </p:sp>
      <p:sp>
        <p:nvSpPr>
          <p:cNvPr id="15" name="Text 12"/>
          <p:cNvSpPr/>
          <p:nvPr/>
        </p:nvSpPr>
        <p:spPr>
          <a:xfrm>
            <a:off x="3593592" y="1188720"/>
            <a:ext cx="2103120" cy="457200"/>
          </a:xfrm>
          <a:prstGeom prst="rect">
            <a:avLst/>
          </a:prstGeom>
          <a:noFill/>
          <a:ln/>
        </p:spPr>
        <p:txBody>
          <a:bodyPr wrap="square" lIns="0" tIns="0" rIns="0" bIns="0" rtlCol="0" anchor="ctr"/>
          <a:lstStyle/>
          <a:p>
            <a:pPr indent="0" marL="0">
              <a:buNone/>
            </a:pPr>
            <a:r>
              <a:rPr lang="en-US" sz="1100" b="1" spc="120" kern="0" dirty="0">
                <a:solidFill>
                  <a:srgbClr val="FFFFFF"/>
                </a:solidFill>
                <a:latin typeface="Inter" pitchFamily="34" charset="0"/>
                <a:ea typeface="Inter" pitchFamily="34" charset="-122"/>
                <a:cs typeface="Inter" pitchFamily="34" charset="-120"/>
              </a:rPr>
              <a:t>CASO 2</a:t>
            </a:r>
            <a:endParaRPr lang="en-US" sz="1100" dirty="0"/>
          </a:p>
        </p:txBody>
      </p:sp>
      <p:sp>
        <p:nvSpPr>
          <p:cNvPr id="16" name="Text 13"/>
          <p:cNvSpPr/>
          <p:nvPr/>
        </p:nvSpPr>
        <p:spPr>
          <a:xfrm>
            <a:off x="3593592" y="1737360"/>
            <a:ext cx="2103120" cy="457200"/>
          </a:xfrm>
          <a:prstGeom prst="rect">
            <a:avLst/>
          </a:prstGeom>
          <a:noFill/>
          <a:ln/>
        </p:spPr>
        <p:txBody>
          <a:bodyPr wrap="square" lIns="0" tIns="0" rIns="0" bIns="0" rtlCol="0" anchor="t"/>
          <a:lstStyle/>
          <a:p>
            <a:pPr indent="0" marL="0">
              <a:lnSpc>
                <a:spcPts val="1600"/>
              </a:lnSpc>
              <a:buNone/>
            </a:pPr>
            <a:r>
              <a:rPr lang="en-US" sz="1300" b="1" dirty="0">
                <a:solidFill>
                  <a:srgbClr val="08407C"/>
                </a:solidFill>
                <a:latin typeface="Inter" pitchFamily="34" charset="0"/>
                <a:ea typeface="Inter" pitchFamily="34" charset="-122"/>
                <a:cs typeface="Inter" pitchFamily="34" charset="-120"/>
              </a:rPr>
              <a:t>El acuerdo de palabra</a:t>
            </a:r>
            <a:endParaRPr lang="en-US" sz="1300" dirty="0"/>
          </a:p>
        </p:txBody>
      </p:sp>
      <p:sp>
        <p:nvSpPr>
          <p:cNvPr id="17" name="Text 14"/>
          <p:cNvSpPr/>
          <p:nvPr/>
        </p:nvSpPr>
        <p:spPr>
          <a:xfrm>
            <a:off x="3593592" y="2240280"/>
            <a:ext cx="2103120" cy="914400"/>
          </a:xfrm>
          <a:prstGeom prst="rect">
            <a:avLst/>
          </a:prstGeom>
          <a:noFill/>
          <a:ln/>
        </p:spPr>
        <p:txBody>
          <a:bodyPr wrap="square" lIns="0" tIns="0" rIns="0" bIns="0" rtlCol="0" anchor="t"/>
          <a:lstStyle/>
          <a:p>
            <a:pPr indent="0" marL="0">
              <a:lnSpc>
                <a:spcPts val="1300"/>
              </a:lnSpc>
              <a:buNone/>
            </a:pPr>
            <a:r>
              <a:rPr lang="en-US" sz="1000" dirty="0">
                <a:solidFill>
                  <a:srgbClr val="2E4258"/>
                </a:solidFill>
                <a:latin typeface="Inter" pitchFamily="34" charset="0"/>
                <a:ea typeface="Inter" pitchFamily="34" charset="-122"/>
                <a:cs typeface="Inter" pitchFamily="34" charset="-120"/>
              </a:rPr>
              <a:t>Se acordó la mitad del comprador por teléfono. Al cierre, el colega dice que era la bolsa.</a:t>
            </a:r>
            <a:endParaRPr lang="en-US" sz="1000" dirty="0"/>
          </a:p>
        </p:txBody>
      </p:sp>
      <p:sp>
        <p:nvSpPr>
          <p:cNvPr id="18" name="Text 15"/>
          <p:cNvSpPr/>
          <p:nvPr/>
        </p:nvSpPr>
        <p:spPr>
          <a:xfrm>
            <a:off x="3593592" y="3200400"/>
            <a:ext cx="2103120" cy="594360"/>
          </a:xfrm>
          <a:prstGeom prst="rect">
            <a:avLst/>
          </a:prstGeom>
          <a:noFill/>
          <a:ln/>
        </p:spPr>
        <p:txBody>
          <a:bodyPr wrap="square" lIns="0" tIns="0" rIns="0" bIns="0" rtlCol="0" anchor="t"/>
          <a:lstStyle/>
          <a:p>
            <a:pPr indent="0" marL="0">
              <a:lnSpc>
                <a:spcPts val="1300"/>
              </a:lnSpc>
              <a:buNone/>
            </a:pPr>
            <a:r>
              <a:rPr lang="en-US" sz="1050" b="1" dirty="0">
                <a:solidFill>
                  <a:srgbClr val="E74B3C"/>
                </a:solidFill>
                <a:latin typeface="Inter" pitchFamily="34" charset="0"/>
                <a:ea typeface="Inter" pitchFamily="34" charset="-122"/>
                <a:cs typeface="Inter" pitchFamily="34" charset="-120"/>
              </a:rPr>
              <a:t>Se debió dejar escrito.</a:t>
            </a:r>
            <a:endParaRPr lang="en-US" sz="1050" dirty="0"/>
          </a:p>
        </p:txBody>
      </p:sp>
      <p:sp>
        <p:nvSpPr>
          <p:cNvPr id="19" name="Shape 16"/>
          <p:cNvSpPr/>
          <p:nvPr/>
        </p:nvSpPr>
        <p:spPr>
          <a:xfrm>
            <a:off x="6144768" y="1188720"/>
            <a:ext cx="2542032" cy="2697480"/>
          </a:xfrm>
          <a:prstGeom prst="roundRect">
            <a:avLst>
              <a:gd name="adj" fmla="val 3237"/>
            </a:avLst>
          </a:prstGeom>
          <a:solidFill>
            <a:srgbClr val="F3F3F3"/>
          </a:solidFill>
          <a:ln w="12700">
            <a:solidFill>
              <a:srgbClr val="F3F3F3"/>
            </a:solidFill>
            <a:prstDash val="solid"/>
          </a:ln>
        </p:spPr>
      </p:sp>
      <p:sp>
        <p:nvSpPr>
          <p:cNvPr id="20" name="Shape 17"/>
          <p:cNvSpPr/>
          <p:nvPr/>
        </p:nvSpPr>
        <p:spPr>
          <a:xfrm>
            <a:off x="6144768" y="1188720"/>
            <a:ext cx="2542032" cy="457200"/>
          </a:xfrm>
          <a:prstGeom prst="roundRect">
            <a:avLst>
              <a:gd name="adj" fmla="val 18000"/>
            </a:avLst>
          </a:prstGeom>
          <a:solidFill>
            <a:srgbClr val="08407C"/>
          </a:solidFill>
          <a:ln w="12700">
            <a:solidFill>
              <a:srgbClr val="08407C"/>
            </a:solidFill>
            <a:prstDash val="solid"/>
          </a:ln>
        </p:spPr>
      </p:sp>
      <p:sp>
        <p:nvSpPr>
          <p:cNvPr id="21" name="Text 18"/>
          <p:cNvSpPr/>
          <p:nvPr/>
        </p:nvSpPr>
        <p:spPr>
          <a:xfrm>
            <a:off x="6364224" y="1188720"/>
            <a:ext cx="2103120" cy="457200"/>
          </a:xfrm>
          <a:prstGeom prst="rect">
            <a:avLst/>
          </a:prstGeom>
          <a:noFill/>
          <a:ln/>
        </p:spPr>
        <p:txBody>
          <a:bodyPr wrap="square" lIns="0" tIns="0" rIns="0" bIns="0" rtlCol="0" anchor="ctr"/>
          <a:lstStyle/>
          <a:p>
            <a:pPr indent="0" marL="0">
              <a:buNone/>
            </a:pPr>
            <a:r>
              <a:rPr lang="en-US" sz="1100" b="1" spc="120" kern="0" dirty="0">
                <a:solidFill>
                  <a:srgbClr val="FFFFFF"/>
                </a:solidFill>
                <a:latin typeface="Inter" pitchFamily="34" charset="0"/>
                <a:ea typeface="Inter" pitchFamily="34" charset="-122"/>
                <a:cs typeface="Inter" pitchFamily="34" charset="-120"/>
              </a:rPr>
              <a:t>CASO 3</a:t>
            </a:r>
            <a:endParaRPr lang="en-US" sz="1100" dirty="0"/>
          </a:p>
        </p:txBody>
      </p:sp>
      <p:sp>
        <p:nvSpPr>
          <p:cNvPr id="22" name="Text 19"/>
          <p:cNvSpPr/>
          <p:nvPr/>
        </p:nvSpPr>
        <p:spPr>
          <a:xfrm>
            <a:off x="6364224" y="1737360"/>
            <a:ext cx="2103120" cy="457200"/>
          </a:xfrm>
          <a:prstGeom prst="rect">
            <a:avLst/>
          </a:prstGeom>
          <a:noFill/>
          <a:ln/>
        </p:spPr>
        <p:txBody>
          <a:bodyPr wrap="square" lIns="0" tIns="0" rIns="0" bIns="0" rtlCol="0" anchor="t"/>
          <a:lstStyle/>
          <a:p>
            <a:pPr indent="0" marL="0">
              <a:lnSpc>
                <a:spcPts val="1600"/>
              </a:lnSpc>
              <a:buNone/>
            </a:pPr>
            <a:r>
              <a:rPr lang="en-US" sz="1300" b="1" dirty="0">
                <a:solidFill>
                  <a:srgbClr val="08407C"/>
                </a:solidFill>
                <a:latin typeface="Inter" pitchFamily="34" charset="0"/>
                <a:ea typeface="Inter" pitchFamily="34" charset="-122"/>
                <a:cs typeface="Inter" pitchFamily="34" charset="-120"/>
              </a:rPr>
              <a:t>Dos colegas, un comprador</a:t>
            </a:r>
            <a:endParaRPr lang="en-US" sz="1300" dirty="0"/>
          </a:p>
        </p:txBody>
      </p:sp>
      <p:sp>
        <p:nvSpPr>
          <p:cNvPr id="23" name="Text 20"/>
          <p:cNvSpPr/>
          <p:nvPr/>
        </p:nvSpPr>
        <p:spPr>
          <a:xfrm>
            <a:off x="6364224" y="2240280"/>
            <a:ext cx="2103120" cy="914400"/>
          </a:xfrm>
          <a:prstGeom prst="rect">
            <a:avLst/>
          </a:prstGeom>
          <a:noFill/>
          <a:ln/>
        </p:spPr>
        <p:txBody>
          <a:bodyPr wrap="square" lIns="0" tIns="0" rIns="0" bIns="0" rtlCol="0" anchor="t"/>
          <a:lstStyle/>
          <a:p>
            <a:pPr indent="0" marL="0">
              <a:lnSpc>
                <a:spcPts val="1300"/>
              </a:lnSpc>
              <a:buNone/>
            </a:pPr>
            <a:r>
              <a:rPr lang="en-US" sz="1000" dirty="0">
                <a:solidFill>
                  <a:srgbClr val="2E4258"/>
                </a:solidFill>
                <a:latin typeface="Inter" pitchFamily="34" charset="0"/>
                <a:ea typeface="Inter" pitchFamily="34" charset="-122"/>
                <a:cs typeface="Inter" pitchFamily="34" charset="-120"/>
              </a:rPr>
              <a:t>Dos colegas dicen haber traído al mismo comprador a la misma propiedad.</a:t>
            </a:r>
            <a:endParaRPr lang="en-US" sz="1000" dirty="0"/>
          </a:p>
        </p:txBody>
      </p:sp>
      <p:sp>
        <p:nvSpPr>
          <p:cNvPr id="24" name="Text 21"/>
          <p:cNvSpPr/>
          <p:nvPr/>
        </p:nvSpPr>
        <p:spPr>
          <a:xfrm>
            <a:off x="6364224" y="3200400"/>
            <a:ext cx="2103120" cy="594360"/>
          </a:xfrm>
          <a:prstGeom prst="rect">
            <a:avLst/>
          </a:prstGeom>
          <a:noFill/>
          <a:ln/>
        </p:spPr>
        <p:txBody>
          <a:bodyPr wrap="square" lIns="0" tIns="0" rIns="0" bIns="0" rtlCol="0" anchor="t"/>
          <a:lstStyle/>
          <a:p>
            <a:pPr indent="0" marL="0">
              <a:lnSpc>
                <a:spcPts val="1300"/>
              </a:lnSpc>
              <a:buNone/>
            </a:pPr>
            <a:r>
              <a:rPr lang="en-US" sz="1050" b="1" dirty="0">
                <a:solidFill>
                  <a:srgbClr val="E74B3C"/>
                </a:solidFill>
                <a:latin typeface="Inter" pitchFamily="34" charset="0"/>
                <a:ea typeface="Inter" pitchFamily="34" charset="-122"/>
                <a:cs typeface="Inter" pitchFamily="34" charset="-120"/>
              </a:rPr>
              <a:t>Lo que quedó escrito antes de la visita define quién cobra.</a:t>
            </a:r>
            <a:endParaRPr lang="en-US" sz="1050" dirty="0"/>
          </a:p>
        </p:txBody>
      </p:sp>
      <p:sp>
        <p:nvSpPr>
          <p:cNvPr id="25" name="Shape 22"/>
          <p:cNvSpPr/>
          <p:nvPr/>
        </p:nvSpPr>
        <p:spPr>
          <a:xfrm>
            <a:off x="603504" y="4114800"/>
            <a:ext cx="8083296" cy="658368"/>
          </a:xfrm>
          <a:prstGeom prst="roundRect">
            <a:avLst>
              <a:gd name="adj" fmla="val 12500"/>
            </a:avLst>
          </a:prstGeom>
          <a:solidFill>
            <a:srgbClr val="08407C"/>
          </a:solidFill>
          <a:ln w="12700">
            <a:solidFill>
              <a:srgbClr val="08407C"/>
            </a:solidFill>
            <a:prstDash val="solid"/>
          </a:ln>
        </p:spPr>
      </p:sp>
      <p:sp>
        <p:nvSpPr>
          <p:cNvPr id="26" name="Text 23"/>
          <p:cNvSpPr/>
          <p:nvPr/>
        </p:nvSpPr>
        <p:spPr>
          <a:xfrm>
            <a:off x="841248" y="416052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PATRÓN</a:t>
            </a:r>
            <a:endParaRPr lang="en-US" sz="900" dirty="0"/>
          </a:p>
        </p:txBody>
      </p:sp>
      <p:sp>
        <p:nvSpPr>
          <p:cNvPr id="27" name="Text 24"/>
          <p:cNvSpPr/>
          <p:nvPr/>
        </p:nvSpPr>
        <p:spPr>
          <a:xfrm>
            <a:off x="841248" y="436168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En los tres casos el conflicto se evitaba con una pregunta y una línea escrita.</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Taller: sus casos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Cada uno cuenta una operación con un colega, sin nombres.</a:t>
            </a:r>
            <a:endParaRPr lang="en-US" sz="1200" dirty="0"/>
          </a:p>
        </p:txBody>
      </p:sp>
      <p:sp>
        <p:nvSpPr>
          <p:cNvPr id="7" name="Shape 4"/>
          <p:cNvSpPr/>
          <p:nvPr/>
        </p:nvSpPr>
        <p:spPr>
          <a:xfrm>
            <a:off x="603504" y="1188720"/>
            <a:ext cx="8083296" cy="585216"/>
          </a:xfrm>
          <a:prstGeom prst="roundRect">
            <a:avLst>
              <a:gd name="adj" fmla="val 14063"/>
            </a:avLst>
          </a:prstGeom>
          <a:solidFill>
            <a:srgbClr val="F3F3F3"/>
          </a:solidFill>
          <a:ln w="12700">
            <a:solidFill>
              <a:srgbClr val="F3F3F3"/>
            </a:solidFill>
            <a:prstDash val="solid"/>
          </a:ln>
        </p:spPr>
      </p:sp>
      <p:sp>
        <p:nvSpPr>
          <p:cNvPr id="8" name="Text 5"/>
          <p:cNvSpPr/>
          <p:nvPr/>
        </p:nvSpPr>
        <p:spPr>
          <a:xfrm>
            <a:off x="822960" y="1216152"/>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¿Qué esquema se usó?</a:t>
            </a:r>
            <a:endParaRPr lang="en-US" sz="1150" dirty="0"/>
          </a:p>
        </p:txBody>
      </p:sp>
      <p:sp>
        <p:nvSpPr>
          <p:cNvPr id="9" name="Text 6"/>
          <p:cNvSpPr/>
          <p:nvPr/>
        </p:nvSpPr>
        <p:spPr>
          <a:xfrm>
            <a:off x="822960" y="1426464"/>
            <a:ext cx="7626096" cy="329184"/>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Bolsa 50 y 50, mitad del comprador, porcentaje fijo o ninguno definido.</a:t>
            </a:r>
            <a:endParaRPr lang="en-US" sz="1000" dirty="0"/>
          </a:p>
        </p:txBody>
      </p:sp>
      <p:sp>
        <p:nvSpPr>
          <p:cNvPr id="10" name="Text 7"/>
          <p:cNvSpPr/>
          <p:nvPr/>
        </p:nvSpPr>
        <p:spPr>
          <a:xfrm>
            <a:off x="822960" y="1856232"/>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¿Qué quedó por escrito?</a:t>
            </a:r>
            <a:endParaRPr lang="en-US" sz="1150" dirty="0"/>
          </a:p>
        </p:txBody>
      </p:sp>
      <p:sp>
        <p:nvSpPr>
          <p:cNvPr id="11" name="Text 8"/>
          <p:cNvSpPr/>
          <p:nvPr/>
        </p:nvSpPr>
        <p:spPr>
          <a:xfrm>
            <a:off x="822960" y="2066544"/>
            <a:ext cx="7626096" cy="329184"/>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Reserva, convenio, mensaje o nada.</a:t>
            </a:r>
            <a:endParaRPr lang="en-US" sz="1000" dirty="0"/>
          </a:p>
        </p:txBody>
      </p:sp>
      <p:sp>
        <p:nvSpPr>
          <p:cNvPr id="12" name="Shape 9"/>
          <p:cNvSpPr/>
          <p:nvPr/>
        </p:nvSpPr>
        <p:spPr>
          <a:xfrm>
            <a:off x="603504" y="2468880"/>
            <a:ext cx="8083296" cy="585216"/>
          </a:xfrm>
          <a:prstGeom prst="roundRect">
            <a:avLst>
              <a:gd name="adj" fmla="val 14063"/>
            </a:avLst>
          </a:prstGeom>
          <a:solidFill>
            <a:srgbClr val="F3F3F3"/>
          </a:solidFill>
          <a:ln w="12700">
            <a:solidFill>
              <a:srgbClr val="F3F3F3"/>
            </a:solidFill>
            <a:prstDash val="solid"/>
          </a:ln>
        </p:spPr>
      </p:sp>
      <p:sp>
        <p:nvSpPr>
          <p:cNvPr id="13" name="Text 10"/>
          <p:cNvSpPr/>
          <p:nvPr/>
        </p:nvSpPr>
        <p:spPr>
          <a:xfrm>
            <a:off x="822960" y="2496312"/>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¿Hubo un malentendido?</a:t>
            </a:r>
            <a:endParaRPr lang="en-US" sz="1150" dirty="0"/>
          </a:p>
        </p:txBody>
      </p:sp>
      <p:sp>
        <p:nvSpPr>
          <p:cNvPr id="14" name="Text 11"/>
          <p:cNvSpPr/>
          <p:nvPr/>
        </p:nvSpPr>
        <p:spPr>
          <a:xfrm>
            <a:off x="822960" y="2706624"/>
            <a:ext cx="7626096" cy="329184"/>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Qué se entendió distinto y en qué momento apareció.</a:t>
            </a:r>
            <a:endParaRPr lang="en-US" sz="1000" dirty="0"/>
          </a:p>
        </p:txBody>
      </p:sp>
      <p:sp>
        <p:nvSpPr>
          <p:cNvPr id="15" name="Text 12"/>
          <p:cNvSpPr/>
          <p:nvPr/>
        </p:nvSpPr>
        <p:spPr>
          <a:xfrm>
            <a:off x="822960" y="3136392"/>
            <a:ext cx="7626096" cy="219456"/>
          </a:xfrm>
          <a:prstGeom prst="rect">
            <a:avLst/>
          </a:prstGeom>
          <a:noFill/>
          <a:ln/>
        </p:spPr>
        <p:txBody>
          <a:bodyPr wrap="square" lIns="0" tIns="0" rIns="0" bIns="0" rtlCol="0" anchor="ctr"/>
          <a:lstStyle/>
          <a:p>
            <a:pPr indent="0" marL="0">
              <a:buNone/>
            </a:pPr>
            <a:r>
              <a:rPr lang="en-US" sz="1150" b="1" dirty="0">
                <a:solidFill>
                  <a:srgbClr val="08407C"/>
                </a:solidFill>
                <a:latin typeface="Inter" pitchFamily="34" charset="0"/>
                <a:ea typeface="Inter" pitchFamily="34" charset="-122"/>
                <a:cs typeface="Inter" pitchFamily="34" charset="-120"/>
              </a:rPr>
              <a:t>¿Qué lo habría evitado?</a:t>
            </a:r>
            <a:endParaRPr lang="en-US" sz="1150" dirty="0"/>
          </a:p>
        </p:txBody>
      </p:sp>
      <p:sp>
        <p:nvSpPr>
          <p:cNvPr id="16" name="Text 13"/>
          <p:cNvSpPr/>
          <p:nvPr/>
        </p:nvSpPr>
        <p:spPr>
          <a:xfrm>
            <a:off x="822960" y="3346704"/>
            <a:ext cx="7626096" cy="329184"/>
          </a:xfrm>
          <a:prstGeom prst="rect">
            <a:avLst/>
          </a:prstGeom>
          <a:noFill/>
          <a:ln/>
        </p:spPr>
        <p:txBody>
          <a:bodyPr wrap="square" lIns="0" tIns="0" rIns="0" bIns="0" rtlCol="0" anchor="ctr"/>
          <a:lstStyle/>
          <a:p>
            <a:pPr indent="0" marL="0">
              <a:lnSpc>
                <a:spcPts val="1200"/>
              </a:lnSpc>
              <a:buNone/>
            </a:pPr>
            <a:r>
              <a:rPr lang="en-US" sz="1000" dirty="0">
                <a:solidFill>
                  <a:srgbClr val="2E4258"/>
                </a:solidFill>
                <a:latin typeface="Inter" pitchFamily="34" charset="0"/>
                <a:ea typeface="Inter" pitchFamily="34" charset="-122"/>
                <a:cs typeface="Inter" pitchFamily="34" charset="-120"/>
              </a:rPr>
              <a:t>Una pregunta antes, una línea escrita o un convenio.</a:t>
            </a:r>
            <a:endParaRPr lang="en-US" sz="1000" dirty="0"/>
          </a:p>
        </p:txBody>
      </p:sp>
      <p:sp>
        <p:nvSpPr>
          <p:cNvPr id="17" name="Shape 14"/>
          <p:cNvSpPr/>
          <p:nvPr/>
        </p:nvSpPr>
        <p:spPr>
          <a:xfrm>
            <a:off x="603504" y="3886200"/>
            <a:ext cx="8083296" cy="658368"/>
          </a:xfrm>
          <a:prstGeom prst="roundRect">
            <a:avLst>
              <a:gd name="adj" fmla="val 12500"/>
            </a:avLst>
          </a:prstGeom>
          <a:solidFill>
            <a:srgbClr val="4E586E"/>
          </a:solidFill>
          <a:ln w="12700">
            <a:solidFill>
              <a:srgbClr val="4E586E"/>
            </a:solidFill>
            <a:prstDash val="solid"/>
          </a:ln>
        </p:spPr>
      </p:sp>
      <p:sp>
        <p:nvSpPr>
          <p:cNvPr id="18" name="Text 15"/>
          <p:cNvSpPr/>
          <p:nvPr/>
        </p:nvSpPr>
        <p:spPr>
          <a:xfrm>
            <a:off x="841248" y="393192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SALIDA DEL TALLER</a:t>
            </a:r>
            <a:endParaRPr lang="en-US" sz="900" dirty="0"/>
          </a:p>
        </p:txBody>
      </p:sp>
      <p:sp>
        <p:nvSpPr>
          <p:cNvPr id="19" name="Text 16"/>
          <p:cNvSpPr/>
          <p:nvPr/>
        </p:nvSpPr>
        <p:spPr>
          <a:xfrm>
            <a:off x="841248" y="413308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Los casos reales que salgan se anotan sin nombres y se suman a la próxima versión de esta capacitación.</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411480" cy="5143500"/>
          </a:xfrm>
          <a:prstGeom prst="rect">
            <a:avLst/>
          </a:prstGeom>
          <a:solidFill>
            <a:srgbClr val="4E586E"/>
          </a:solidFill>
          <a:ln w="12700">
            <a:solidFill>
              <a:srgbClr val="4E586E"/>
            </a:solidFill>
            <a:prstDash val="solid"/>
          </a:ln>
        </p:spPr>
      </p:sp>
      <p:sp>
        <p:nvSpPr>
          <p:cNvPr id="3" name="Shape 1"/>
          <p:cNvSpPr/>
          <p:nvPr/>
        </p:nvSpPr>
        <p:spPr>
          <a:xfrm>
            <a:off x="0" y="0"/>
            <a:ext cx="411480" cy="402336"/>
          </a:xfrm>
          <a:prstGeom prst="rect">
            <a:avLst/>
          </a:prstGeom>
          <a:solidFill>
            <a:srgbClr val="08407C"/>
          </a:solidFill>
          <a:ln w="12700">
            <a:solidFill>
              <a:srgbClr val="08407C"/>
            </a:solidFill>
            <a:prstDash val="solid"/>
          </a:ln>
        </p:spPr>
      </p:sp>
      <p:pic>
        <p:nvPicPr>
          <p:cNvPr id="4" name="Image 0" descr="/home/user/KrakRealEstate/capacitaciones/co-broking/brand/iso_white.png">    </p:cNvPr>
          <p:cNvPicPr>
            <a:picLocks noChangeAspect="1"/>
          </p:cNvPicPr>
          <p:nvPr/>
        </p:nvPicPr>
        <p:blipFill>
          <a:blip r:embed="rId2"/>
          <a:stretch>
            <a:fillRect/>
          </a:stretch>
        </p:blipFill>
        <p:spPr>
          <a:xfrm>
            <a:off x="123444" y="68580"/>
            <a:ext cx="164592" cy="217627"/>
          </a:xfrm>
          <a:prstGeom prst="rect">
            <a:avLst/>
          </a:prstGeom>
        </p:spPr>
      </p:pic>
      <p:sp>
        <p:nvSpPr>
          <p:cNvPr id="5" name="Text 2"/>
          <p:cNvSpPr/>
          <p:nvPr/>
        </p:nvSpPr>
        <p:spPr>
          <a:xfrm>
            <a:off x="603504" y="256032"/>
            <a:ext cx="8083296" cy="475488"/>
          </a:xfrm>
          <a:prstGeom prst="rect">
            <a:avLst/>
          </a:prstGeom>
          <a:noFill/>
          <a:ln/>
        </p:spPr>
        <p:txBody>
          <a:bodyPr wrap="square" lIns="0" tIns="0" rIns="0" bIns="0" rtlCol="0" anchor="ctr"/>
          <a:lstStyle/>
          <a:p>
            <a:pPr indent="0" marL="0">
              <a:buNone/>
            </a:pPr>
            <a:r>
              <a:rPr lang="en-US" sz="2600" b="1" dirty="0">
                <a:solidFill>
                  <a:srgbClr val="08407C"/>
                </a:solidFill>
                <a:latin typeface="Inter" pitchFamily="34" charset="0"/>
                <a:ea typeface="Inter" pitchFamily="34" charset="-122"/>
                <a:cs typeface="Inter" pitchFamily="34" charset="-120"/>
              </a:rPr>
              <a:t>Antes de co-operar: cinco puntos</a:t>
            </a:r>
            <a:endParaRPr lang="en-US" sz="2600" dirty="0"/>
          </a:p>
        </p:txBody>
      </p:sp>
      <p:sp>
        <p:nvSpPr>
          <p:cNvPr id="6" name="Text 3"/>
          <p:cNvSpPr/>
          <p:nvPr/>
        </p:nvSpPr>
        <p:spPr>
          <a:xfrm>
            <a:off x="603504" y="749808"/>
            <a:ext cx="8083296" cy="274320"/>
          </a:xfrm>
          <a:prstGeom prst="rect">
            <a:avLst/>
          </a:prstGeom>
          <a:noFill/>
          <a:ln/>
        </p:spPr>
        <p:txBody>
          <a:bodyPr wrap="square" lIns="0" tIns="0" rIns="0" bIns="0" rtlCol="0" anchor="ctr"/>
          <a:lstStyle/>
          <a:p>
            <a:pPr indent="0" marL="0">
              <a:buNone/>
            </a:pPr>
            <a:r>
              <a:rPr lang="en-US" sz="1200" i="1" dirty="0">
                <a:solidFill>
                  <a:srgbClr val="6A7686"/>
                </a:solidFill>
                <a:latin typeface="Inter" pitchFamily="34" charset="0"/>
                <a:ea typeface="Inter" pitchFamily="34" charset="-122"/>
                <a:cs typeface="Inter" pitchFamily="34" charset="-120"/>
              </a:rPr>
              <a:t>Un repaso para tener a mano cada vez que hay un colega en la operación.</a:t>
            </a:r>
            <a:endParaRPr lang="en-US" sz="1200" dirty="0"/>
          </a:p>
        </p:txBody>
      </p:sp>
      <p:sp>
        <p:nvSpPr>
          <p:cNvPr id="7" name="Shape 4"/>
          <p:cNvSpPr/>
          <p:nvPr/>
        </p:nvSpPr>
        <p:spPr>
          <a:xfrm>
            <a:off x="603504" y="1188720"/>
            <a:ext cx="8083296" cy="512064"/>
          </a:xfrm>
          <a:prstGeom prst="roundRect">
            <a:avLst>
              <a:gd name="adj" fmla="val 16071"/>
            </a:avLst>
          </a:prstGeom>
          <a:solidFill>
            <a:srgbClr val="F3F3F3"/>
          </a:solidFill>
          <a:ln w="12700">
            <a:solidFill>
              <a:srgbClr val="F3F3F3"/>
            </a:solidFill>
            <a:prstDash val="solid"/>
          </a:ln>
        </p:spPr>
      </p:sp>
      <p:sp>
        <p:nvSpPr>
          <p:cNvPr id="8" name="Shape 5"/>
          <p:cNvSpPr/>
          <p:nvPr/>
        </p:nvSpPr>
        <p:spPr>
          <a:xfrm>
            <a:off x="786384" y="1261872"/>
            <a:ext cx="365760" cy="365760"/>
          </a:xfrm>
          <a:prstGeom prst="roundRect">
            <a:avLst>
              <a:gd name="adj" fmla="val 125000"/>
            </a:avLst>
          </a:prstGeom>
          <a:solidFill>
            <a:srgbClr val="08407C"/>
          </a:solidFill>
          <a:ln w="12700">
            <a:solidFill>
              <a:srgbClr val="08407C"/>
            </a:solidFill>
            <a:prstDash val="solid"/>
          </a:ln>
        </p:spPr>
      </p:sp>
      <p:sp>
        <p:nvSpPr>
          <p:cNvPr id="9" name="Text 6"/>
          <p:cNvSpPr/>
          <p:nvPr/>
        </p:nvSpPr>
        <p:spPr>
          <a:xfrm>
            <a:off x="786384" y="12618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1</a:t>
            </a:r>
            <a:endParaRPr lang="en-US" sz="1200" dirty="0"/>
          </a:p>
        </p:txBody>
      </p:sp>
      <p:sp>
        <p:nvSpPr>
          <p:cNvPr id="10" name="Text 7"/>
          <p:cNvSpPr/>
          <p:nvPr/>
        </p:nvSpPr>
        <p:spPr>
          <a:xfrm>
            <a:off x="1353312" y="1188720"/>
            <a:ext cx="2377440" cy="512064"/>
          </a:xfrm>
          <a:prstGeom prst="rect">
            <a:avLst/>
          </a:prstGeom>
          <a:noFill/>
          <a:ln/>
        </p:spPr>
        <p:txBody>
          <a:bodyPr wrap="square" lIns="0" tIns="0" rIns="0" bIns="0" rtlCol="0" anchor="ctr"/>
          <a:lstStyle/>
          <a:p>
            <a:pPr indent="0" marL="0">
              <a:buNone/>
            </a:pPr>
            <a:r>
              <a:rPr lang="en-US" sz="1250" b="1" dirty="0">
                <a:solidFill>
                  <a:srgbClr val="08407C"/>
                </a:solidFill>
                <a:latin typeface="Inter" pitchFamily="34" charset="0"/>
                <a:ea typeface="Inter" pitchFamily="34" charset="-122"/>
                <a:cs typeface="Inter" pitchFamily="34" charset="-120"/>
              </a:rPr>
              <a:t>Preguntar</a:t>
            </a:r>
            <a:endParaRPr lang="en-US" sz="1250" dirty="0"/>
          </a:p>
        </p:txBody>
      </p:sp>
      <p:sp>
        <p:nvSpPr>
          <p:cNvPr id="11" name="Text 8"/>
          <p:cNvSpPr/>
          <p:nvPr/>
        </p:nvSpPr>
        <p:spPr>
          <a:xfrm>
            <a:off x="3803904" y="1188720"/>
            <a:ext cx="4754880" cy="512064"/>
          </a:xfrm>
          <a:prstGeom prst="rect">
            <a:avLst/>
          </a:prstGeom>
          <a:noFill/>
          <a:ln/>
        </p:spPr>
        <p:txBody>
          <a:bodyPr wrap="square" lIns="0" tIns="0" rIns="0" bIns="0" rtlCol="0" anchor="ctr"/>
          <a:lstStyle/>
          <a:p>
            <a:pPr indent="0" marL="0">
              <a:buNone/>
            </a:pPr>
            <a:r>
              <a:rPr lang="en-US" sz="1100" dirty="0">
                <a:solidFill>
                  <a:srgbClr val="2E4258"/>
                </a:solidFill>
                <a:latin typeface="Inter" pitchFamily="34" charset="0"/>
                <a:ea typeface="Inter" pitchFamily="34" charset="-122"/>
                <a:cs typeface="Inter" pitchFamily="34" charset="-120"/>
              </a:rPr>
              <a:t>Si se comparten honorarios y cuánto.</a:t>
            </a:r>
            <a:endParaRPr lang="en-US" sz="1100" dirty="0"/>
          </a:p>
        </p:txBody>
      </p:sp>
      <p:sp>
        <p:nvSpPr>
          <p:cNvPr id="12" name="Shape 9"/>
          <p:cNvSpPr/>
          <p:nvPr/>
        </p:nvSpPr>
        <p:spPr>
          <a:xfrm>
            <a:off x="603504" y="1773936"/>
            <a:ext cx="8083296" cy="512064"/>
          </a:xfrm>
          <a:prstGeom prst="roundRect">
            <a:avLst>
              <a:gd name="adj" fmla="val 16071"/>
            </a:avLst>
          </a:prstGeom>
          <a:solidFill>
            <a:srgbClr val="FFFFFF"/>
          </a:solidFill>
          <a:ln w="12700">
            <a:solidFill>
              <a:srgbClr val="FFFFFF"/>
            </a:solidFill>
            <a:prstDash val="solid"/>
          </a:ln>
        </p:spPr>
      </p:sp>
      <p:sp>
        <p:nvSpPr>
          <p:cNvPr id="13" name="Shape 10"/>
          <p:cNvSpPr/>
          <p:nvPr/>
        </p:nvSpPr>
        <p:spPr>
          <a:xfrm>
            <a:off x="786384" y="1847088"/>
            <a:ext cx="365760" cy="365760"/>
          </a:xfrm>
          <a:prstGeom prst="roundRect">
            <a:avLst>
              <a:gd name="adj" fmla="val 125000"/>
            </a:avLst>
          </a:prstGeom>
          <a:solidFill>
            <a:srgbClr val="08407C"/>
          </a:solidFill>
          <a:ln w="12700">
            <a:solidFill>
              <a:srgbClr val="08407C"/>
            </a:solidFill>
            <a:prstDash val="solid"/>
          </a:ln>
        </p:spPr>
      </p:sp>
      <p:sp>
        <p:nvSpPr>
          <p:cNvPr id="14" name="Text 11"/>
          <p:cNvSpPr/>
          <p:nvPr/>
        </p:nvSpPr>
        <p:spPr>
          <a:xfrm>
            <a:off x="786384" y="184708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2</a:t>
            </a:r>
            <a:endParaRPr lang="en-US" sz="1200" dirty="0"/>
          </a:p>
        </p:txBody>
      </p:sp>
      <p:sp>
        <p:nvSpPr>
          <p:cNvPr id="15" name="Text 12"/>
          <p:cNvSpPr/>
          <p:nvPr/>
        </p:nvSpPr>
        <p:spPr>
          <a:xfrm>
            <a:off x="1353312" y="1773936"/>
            <a:ext cx="2377440" cy="512064"/>
          </a:xfrm>
          <a:prstGeom prst="rect">
            <a:avLst/>
          </a:prstGeom>
          <a:noFill/>
          <a:ln/>
        </p:spPr>
        <p:txBody>
          <a:bodyPr wrap="square" lIns="0" tIns="0" rIns="0" bIns="0" rtlCol="0" anchor="ctr"/>
          <a:lstStyle/>
          <a:p>
            <a:pPr indent="0" marL="0">
              <a:buNone/>
            </a:pPr>
            <a:r>
              <a:rPr lang="en-US" sz="1250" b="1" dirty="0">
                <a:solidFill>
                  <a:srgbClr val="08407C"/>
                </a:solidFill>
                <a:latin typeface="Inter" pitchFamily="34" charset="0"/>
                <a:ea typeface="Inter" pitchFamily="34" charset="-122"/>
                <a:cs typeface="Inter" pitchFamily="34" charset="-120"/>
              </a:rPr>
              <a:t>Confirmar la base</a:t>
            </a:r>
            <a:endParaRPr lang="en-US" sz="1250" dirty="0"/>
          </a:p>
        </p:txBody>
      </p:sp>
      <p:sp>
        <p:nvSpPr>
          <p:cNvPr id="16" name="Text 13"/>
          <p:cNvSpPr/>
          <p:nvPr/>
        </p:nvSpPr>
        <p:spPr>
          <a:xfrm>
            <a:off x="3803904" y="1773936"/>
            <a:ext cx="4754880" cy="512064"/>
          </a:xfrm>
          <a:prstGeom prst="rect">
            <a:avLst/>
          </a:prstGeom>
          <a:noFill/>
          <a:ln/>
        </p:spPr>
        <p:txBody>
          <a:bodyPr wrap="square" lIns="0" tIns="0" rIns="0" bIns="0" rtlCol="0" anchor="ctr"/>
          <a:lstStyle/>
          <a:p>
            <a:pPr indent="0" marL="0">
              <a:buNone/>
            </a:pPr>
            <a:r>
              <a:rPr lang="en-US" sz="1100" dirty="0">
                <a:solidFill>
                  <a:srgbClr val="2E4258"/>
                </a:solidFill>
                <a:latin typeface="Inter" pitchFamily="34" charset="0"/>
                <a:ea typeface="Inter" pitchFamily="34" charset="-122"/>
                <a:cs typeface="Inter" pitchFamily="34" charset="-120"/>
              </a:rPr>
              <a:t>Sobre el total de los honorarios o solo sobre el comprador.</a:t>
            </a:r>
            <a:endParaRPr lang="en-US" sz="1100" dirty="0"/>
          </a:p>
        </p:txBody>
      </p:sp>
      <p:sp>
        <p:nvSpPr>
          <p:cNvPr id="17" name="Shape 14"/>
          <p:cNvSpPr/>
          <p:nvPr/>
        </p:nvSpPr>
        <p:spPr>
          <a:xfrm>
            <a:off x="603504" y="2359152"/>
            <a:ext cx="8083296" cy="512064"/>
          </a:xfrm>
          <a:prstGeom prst="roundRect">
            <a:avLst>
              <a:gd name="adj" fmla="val 16071"/>
            </a:avLst>
          </a:prstGeom>
          <a:solidFill>
            <a:srgbClr val="F3F3F3"/>
          </a:solidFill>
          <a:ln w="12700">
            <a:solidFill>
              <a:srgbClr val="F3F3F3"/>
            </a:solidFill>
            <a:prstDash val="solid"/>
          </a:ln>
        </p:spPr>
      </p:sp>
      <p:sp>
        <p:nvSpPr>
          <p:cNvPr id="18" name="Shape 15"/>
          <p:cNvSpPr/>
          <p:nvPr/>
        </p:nvSpPr>
        <p:spPr>
          <a:xfrm>
            <a:off x="786384" y="2432304"/>
            <a:ext cx="365760" cy="365760"/>
          </a:xfrm>
          <a:prstGeom prst="roundRect">
            <a:avLst>
              <a:gd name="adj" fmla="val 125000"/>
            </a:avLst>
          </a:prstGeom>
          <a:solidFill>
            <a:srgbClr val="08407C"/>
          </a:solidFill>
          <a:ln w="12700">
            <a:solidFill>
              <a:srgbClr val="08407C"/>
            </a:solidFill>
            <a:prstDash val="solid"/>
          </a:ln>
        </p:spPr>
      </p:sp>
      <p:sp>
        <p:nvSpPr>
          <p:cNvPr id="19" name="Text 16"/>
          <p:cNvSpPr/>
          <p:nvPr/>
        </p:nvSpPr>
        <p:spPr>
          <a:xfrm>
            <a:off x="786384" y="243230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3</a:t>
            </a:r>
            <a:endParaRPr lang="en-US" sz="1200" dirty="0"/>
          </a:p>
        </p:txBody>
      </p:sp>
      <p:sp>
        <p:nvSpPr>
          <p:cNvPr id="20" name="Text 17"/>
          <p:cNvSpPr/>
          <p:nvPr/>
        </p:nvSpPr>
        <p:spPr>
          <a:xfrm>
            <a:off x="1353312" y="2359152"/>
            <a:ext cx="2377440" cy="512064"/>
          </a:xfrm>
          <a:prstGeom prst="rect">
            <a:avLst/>
          </a:prstGeom>
          <a:noFill/>
          <a:ln/>
        </p:spPr>
        <p:txBody>
          <a:bodyPr wrap="square" lIns="0" tIns="0" rIns="0" bIns="0" rtlCol="0" anchor="ctr"/>
          <a:lstStyle/>
          <a:p>
            <a:pPr indent="0" marL="0">
              <a:buNone/>
            </a:pPr>
            <a:r>
              <a:rPr lang="en-US" sz="1250" b="1" dirty="0">
                <a:solidFill>
                  <a:srgbClr val="08407C"/>
                </a:solidFill>
                <a:latin typeface="Inter" pitchFamily="34" charset="0"/>
                <a:ea typeface="Inter" pitchFamily="34" charset="-122"/>
                <a:cs typeface="Inter" pitchFamily="34" charset="-120"/>
              </a:rPr>
              <a:t>Escribirlo</a:t>
            </a:r>
            <a:endParaRPr lang="en-US" sz="1250" dirty="0"/>
          </a:p>
        </p:txBody>
      </p:sp>
      <p:sp>
        <p:nvSpPr>
          <p:cNvPr id="21" name="Text 18"/>
          <p:cNvSpPr/>
          <p:nvPr/>
        </p:nvSpPr>
        <p:spPr>
          <a:xfrm>
            <a:off x="3803904" y="2359152"/>
            <a:ext cx="4754880" cy="512064"/>
          </a:xfrm>
          <a:prstGeom prst="rect">
            <a:avLst/>
          </a:prstGeom>
          <a:noFill/>
          <a:ln/>
        </p:spPr>
        <p:txBody>
          <a:bodyPr wrap="square" lIns="0" tIns="0" rIns="0" bIns="0" rtlCol="0" anchor="ctr"/>
          <a:lstStyle/>
          <a:p>
            <a:pPr indent="0" marL="0">
              <a:buNone/>
            </a:pPr>
            <a:r>
              <a:rPr lang="en-US" sz="1100" dirty="0">
                <a:solidFill>
                  <a:srgbClr val="2E4258"/>
                </a:solidFill>
                <a:latin typeface="Inter" pitchFamily="34" charset="0"/>
                <a:ea typeface="Inter" pitchFamily="34" charset="-122"/>
                <a:cs typeface="Inter" pitchFamily="34" charset="-120"/>
              </a:rPr>
              <a:t>En la reserva o en un convenio de honorarios.</a:t>
            </a:r>
            <a:endParaRPr lang="en-US" sz="1100" dirty="0"/>
          </a:p>
        </p:txBody>
      </p:sp>
      <p:sp>
        <p:nvSpPr>
          <p:cNvPr id="22" name="Shape 19"/>
          <p:cNvSpPr/>
          <p:nvPr/>
        </p:nvSpPr>
        <p:spPr>
          <a:xfrm>
            <a:off x="603504" y="2944368"/>
            <a:ext cx="8083296" cy="512064"/>
          </a:xfrm>
          <a:prstGeom prst="roundRect">
            <a:avLst>
              <a:gd name="adj" fmla="val 16071"/>
            </a:avLst>
          </a:prstGeom>
          <a:solidFill>
            <a:srgbClr val="FFFFFF"/>
          </a:solidFill>
          <a:ln w="12700">
            <a:solidFill>
              <a:srgbClr val="FFFFFF"/>
            </a:solidFill>
            <a:prstDash val="solid"/>
          </a:ln>
        </p:spPr>
      </p:sp>
      <p:sp>
        <p:nvSpPr>
          <p:cNvPr id="23" name="Shape 20"/>
          <p:cNvSpPr/>
          <p:nvPr/>
        </p:nvSpPr>
        <p:spPr>
          <a:xfrm>
            <a:off x="786384" y="3017520"/>
            <a:ext cx="365760" cy="365760"/>
          </a:xfrm>
          <a:prstGeom prst="roundRect">
            <a:avLst>
              <a:gd name="adj" fmla="val 125000"/>
            </a:avLst>
          </a:prstGeom>
          <a:solidFill>
            <a:srgbClr val="08407C"/>
          </a:solidFill>
          <a:ln w="12700">
            <a:solidFill>
              <a:srgbClr val="08407C"/>
            </a:solidFill>
            <a:prstDash val="solid"/>
          </a:ln>
        </p:spPr>
      </p:sp>
      <p:sp>
        <p:nvSpPr>
          <p:cNvPr id="24" name="Text 21"/>
          <p:cNvSpPr/>
          <p:nvPr/>
        </p:nvSpPr>
        <p:spPr>
          <a:xfrm>
            <a:off x="786384" y="301752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4</a:t>
            </a:r>
            <a:endParaRPr lang="en-US" sz="1200" dirty="0"/>
          </a:p>
        </p:txBody>
      </p:sp>
      <p:sp>
        <p:nvSpPr>
          <p:cNvPr id="25" name="Text 22"/>
          <p:cNvSpPr/>
          <p:nvPr/>
        </p:nvSpPr>
        <p:spPr>
          <a:xfrm>
            <a:off x="1353312" y="2944368"/>
            <a:ext cx="2377440" cy="512064"/>
          </a:xfrm>
          <a:prstGeom prst="rect">
            <a:avLst/>
          </a:prstGeom>
          <a:noFill/>
          <a:ln/>
        </p:spPr>
        <p:txBody>
          <a:bodyPr wrap="square" lIns="0" tIns="0" rIns="0" bIns="0" rtlCol="0" anchor="ctr"/>
          <a:lstStyle/>
          <a:p>
            <a:pPr indent="0" marL="0">
              <a:buNone/>
            </a:pPr>
            <a:r>
              <a:rPr lang="en-US" sz="1250" b="1" dirty="0">
                <a:solidFill>
                  <a:srgbClr val="08407C"/>
                </a:solidFill>
                <a:latin typeface="Inter" pitchFamily="34" charset="0"/>
                <a:ea typeface="Inter" pitchFamily="34" charset="-122"/>
                <a:cs typeface="Inter" pitchFamily="34" charset="-120"/>
              </a:rPr>
              <a:t>Evaluar la identidad</a:t>
            </a:r>
            <a:endParaRPr lang="en-US" sz="1250" dirty="0"/>
          </a:p>
        </p:txBody>
      </p:sp>
      <p:sp>
        <p:nvSpPr>
          <p:cNvPr id="26" name="Text 23"/>
          <p:cNvSpPr/>
          <p:nvPr/>
        </p:nvSpPr>
        <p:spPr>
          <a:xfrm>
            <a:off x="3803904" y="2944368"/>
            <a:ext cx="4754880" cy="512064"/>
          </a:xfrm>
          <a:prstGeom prst="rect">
            <a:avLst/>
          </a:prstGeom>
          <a:noFill/>
          <a:ln/>
        </p:spPr>
        <p:txBody>
          <a:bodyPr wrap="square" lIns="0" tIns="0" rIns="0" bIns="0" rtlCol="0" anchor="ctr"/>
          <a:lstStyle/>
          <a:p>
            <a:pPr indent="0" marL="0">
              <a:buNone/>
            </a:pPr>
            <a:r>
              <a:rPr lang="en-US" sz="1100" dirty="0">
                <a:solidFill>
                  <a:srgbClr val="2E4258"/>
                </a:solidFill>
                <a:latin typeface="Inter" pitchFamily="34" charset="0"/>
                <a:ea typeface="Inter" pitchFamily="34" charset="-122"/>
                <a:cs typeface="Inter" pitchFamily="34" charset="-120"/>
              </a:rPr>
              <a:t>Si hay que proteger a alguien, convenio privado.</a:t>
            </a:r>
            <a:endParaRPr lang="en-US" sz="1100" dirty="0"/>
          </a:p>
        </p:txBody>
      </p:sp>
      <p:sp>
        <p:nvSpPr>
          <p:cNvPr id="27" name="Shape 24"/>
          <p:cNvSpPr/>
          <p:nvPr/>
        </p:nvSpPr>
        <p:spPr>
          <a:xfrm>
            <a:off x="603504" y="3529584"/>
            <a:ext cx="8083296" cy="512064"/>
          </a:xfrm>
          <a:prstGeom prst="roundRect">
            <a:avLst>
              <a:gd name="adj" fmla="val 16071"/>
            </a:avLst>
          </a:prstGeom>
          <a:solidFill>
            <a:srgbClr val="F3F3F3"/>
          </a:solidFill>
          <a:ln w="12700">
            <a:solidFill>
              <a:srgbClr val="F3F3F3"/>
            </a:solidFill>
            <a:prstDash val="solid"/>
          </a:ln>
        </p:spPr>
      </p:sp>
      <p:sp>
        <p:nvSpPr>
          <p:cNvPr id="28" name="Shape 25"/>
          <p:cNvSpPr/>
          <p:nvPr/>
        </p:nvSpPr>
        <p:spPr>
          <a:xfrm>
            <a:off x="786384" y="3602736"/>
            <a:ext cx="365760" cy="365760"/>
          </a:xfrm>
          <a:prstGeom prst="roundRect">
            <a:avLst>
              <a:gd name="adj" fmla="val 125000"/>
            </a:avLst>
          </a:prstGeom>
          <a:solidFill>
            <a:srgbClr val="08407C"/>
          </a:solidFill>
          <a:ln w="12700">
            <a:solidFill>
              <a:srgbClr val="08407C"/>
            </a:solidFill>
            <a:prstDash val="solid"/>
          </a:ln>
        </p:spPr>
      </p:sp>
      <p:sp>
        <p:nvSpPr>
          <p:cNvPr id="29" name="Text 26"/>
          <p:cNvSpPr/>
          <p:nvPr/>
        </p:nvSpPr>
        <p:spPr>
          <a:xfrm>
            <a:off x="786384" y="3602736"/>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Inter" pitchFamily="34" charset="0"/>
                <a:ea typeface="Inter" pitchFamily="34" charset="-122"/>
                <a:cs typeface="Inter" pitchFamily="34" charset="-120"/>
              </a:rPr>
              <a:t>5</a:t>
            </a:r>
            <a:endParaRPr lang="en-US" sz="1200" dirty="0"/>
          </a:p>
        </p:txBody>
      </p:sp>
      <p:sp>
        <p:nvSpPr>
          <p:cNvPr id="30" name="Text 27"/>
          <p:cNvSpPr/>
          <p:nvPr/>
        </p:nvSpPr>
        <p:spPr>
          <a:xfrm>
            <a:off x="1353312" y="3529584"/>
            <a:ext cx="2377440" cy="512064"/>
          </a:xfrm>
          <a:prstGeom prst="rect">
            <a:avLst/>
          </a:prstGeom>
          <a:noFill/>
          <a:ln/>
        </p:spPr>
        <p:txBody>
          <a:bodyPr wrap="square" lIns="0" tIns="0" rIns="0" bIns="0" rtlCol="0" anchor="ctr"/>
          <a:lstStyle/>
          <a:p>
            <a:pPr indent="0" marL="0">
              <a:buNone/>
            </a:pPr>
            <a:r>
              <a:rPr lang="en-US" sz="1250" b="1" dirty="0">
                <a:solidFill>
                  <a:srgbClr val="08407C"/>
                </a:solidFill>
                <a:latin typeface="Inter" pitchFamily="34" charset="0"/>
                <a:ea typeface="Inter" pitchFamily="34" charset="-122"/>
                <a:cs typeface="Inter" pitchFamily="34" charset="-120"/>
              </a:rPr>
              <a:t>Guardar el respaldo</a:t>
            </a:r>
            <a:endParaRPr lang="en-US" sz="1250" dirty="0"/>
          </a:p>
        </p:txBody>
      </p:sp>
      <p:sp>
        <p:nvSpPr>
          <p:cNvPr id="31" name="Text 28"/>
          <p:cNvSpPr/>
          <p:nvPr/>
        </p:nvSpPr>
        <p:spPr>
          <a:xfrm>
            <a:off x="3803904" y="3529584"/>
            <a:ext cx="4754880" cy="512064"/>
          </a:xfrm>
          <a:prstGeom prst="rect">
            <a:avLst/>
          </a:prstGeom>
          <a:noFill/>
          <a:ln/>
        </p:spPr>
        <p:txBody>
          <a:bodyPr wrap="square" lIns="0" tIns="0" rIns="0" bIns="0" rtlCol="0" anchor="ctr"/>
          <a:lstStyle/>
          <a:p>
            <a:pPr indent="0" marL="0">
              <a:buNone/>
            </a:pPr>
            <a:r>
              <a:rPr lang="en-US" sz="1100" dirty="0">
                <a:solidFill>
                  <a:srgbClr val="2E4258"/>
                </a:solidFill>
                <a:latin typeface="Inter" pitchFamily="34" charset="0"/>
                <a:ea typeface="Inter" pitchFamily="34" charset="-122"/>
                <a:cs typeface="Inter" pitchFamily="34" charset="-120"/>
              </a:rPr>
              <a:t>Mails y mensajes que confirman lo acordado.</a:t>
            </a:r>
            <a:endParaRPr lang="en-US" sz="1100" dirty="0"/>
          </a:p>
        </p:txBody>
      </p:sp>
      <p:sp>
        <p:nvSpPr>
          <p:cNvPr id="32" name="Shape 29"/>
          <p:cNvSpPr/>
          <p:nvPr/>
        </p:nvSpPr>
        <p:spPr>
          <a:xfrm>
            <a:off x="603504" y="4206240"/>
            <a:ext cx="8083296" cy="658368"/>
          </a:xfrm>
          <a:prstGeom prst="roundRect">
            <a:avLst>
              <a:gd name="adj" fmla="val 12500"/>
            </a:avLst>
          </a:prstGeom>
          <a:solidFill>
            <a:srgbClr val="08407C"/>
          </a:solidFill>
          <a:ln w="12700">
            <a:solidFill>
              <a:srgbClr val="08407C"/>
            </a:solidFill>
            <a:prstDash val="solid"/>
          </a:ln>
        </p:spPr>
      </p:sp>
      <p:sp>
        <p:nvSpPr>
          <p:cNvPr id="33" name="Text 30"/>
          <p:cNvSpPr/>
          <p:nvPr/>
        </p:nvSpPr>
        <p:spPr>
          <a:xfrm>
            <a:off x="841248" y="4251960"/>
            <a:ext cx="7626096" cy="201168"/>
          </a:xfrm>
          <a:prstGeom prst="rect">
            <a:avLst/>
          </a:prstGeom>
          <a:noFill/>
          <a:ln/>
        </p:spPr>
        <p:txBody>
          <a:bodyPr wrap="square" lIns="0" tIns="0" rIns="0" bIns="0" rtlCol="0" anchor="ctr"/>
          <a:lstStyle/>
          <a:p>
            <a:pPr indent="0" marL="0">
              <a:buNone/>
            </a:pPr>
            <a:r>
              <a:rPr lang="en-US" sz="900" b="1" spc="120" kern="0" dirty="0">
                <a:solidFill>
                  <a:srgbClr val="FFFFFF"/>
                </a:solidFill>
                <a:latin typeface="Inter" pitchFamily="34" charset="0"/>
                <a:ea typeface="Inter" pitchFamily="34" charset="-122"/>
                <a:cs typeface="Inter" pitchFamily="34" charset="-120"/>
              </a:rPr>
              <a:t>SI SOLO SE RECUERDA UNA COSA</a:t>
            </a:r>
            <a:endParaRPr lang="en-US" sz="900" dirty="0"/>
          </a:p>
        </p:txBody>
      </p:sp>
      <p:sp>
        <p:nvSpPr>
          <p:cNvPr id="34" name="Text 31"/>
          <p:cNvSpPr/>
          <p:nvPr/>
        </p:nvSpPr>
        <p:spPr>
          <a:xfrm>
            <a:off x="841248" y="4453128"/>
            <a:ext cx="7607808" cy="347472"/>
          </a:xfrm>
          <a:prstGeom prst="rect">
            <a:avLst/>
          </a:prstGeom>
          <a:noFill/>
          <a:ln/>
        </p:spPr>
        <p:txBody>
          <a:bodyPr wrap="square" lIns="0" tIns="0" rIns="0" bIns="0" rtlCol="0" anchor="ctr"/>
          <a:lstStyle/>
          <a:p>
            <a:pPr indent="0" marL="0">
              <a:lnSpc>
                <a:spcPts val="1400"/>
              </a:lnSpc>
              <a:buNone/>
            </a:pPr>
            <a:r>
              <a:rPr lang="en-US" sz="1100" dirty="0">
                <a:solidFill>
                  <a:srgbClr val="FFFFFF"/>
                </a:solidFill>
                <a:latin typeface="Inter" pitchFamily="34" charset="0"/>
                <a:ea typeface="Inter" pitchFamily="34" charset="-122"/>
                <a:cs typeface="Inter" pitchFamily="34" charset="-120"/>
              </a:rPr>
              <a:t>Preguntar primero y dejarlo por escrito.</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home/user/KrakRealEstate/capacitaciones/co-broking/brand/logo_stack.png">    </p:cNvPr>
          <p:cNvPicPr>
            <a:picLocks noChangeAspect="1"/>
          </p:cNvPicPr>
          <p:nvPr/>
        </p:nvPicPr>
        <p:blipFill>
          <a:blip r:embed="rId2"/>
          <a:stretch>
            <a:fillRect/>
          </a:stretch>
        </p:blipFill>
        <p:spPr>
          <a:xfrm>
            <a:off x="7315200" y="411480"/>
            <a:ext cx="859536" cy="1463040"/>
          </a:xfrm>
          <a:prstGeom prst="rect">
            <a:avLst/>
          </a:prstGeom>
        </p:spPr>
      </p:pic>
      <p:sp>
        <p:nvSpPr>
          <p:cNvPr id="3" name="Text 0"/>
          <p:cNvSpPr/>
          <p:nvPr/>
        </p:nvSpPr>
        <p:spPr>
          <a:xfrm>
            <a:off x="749808" y="1874520"/>
            <a:ext cx="5943600" cy="658368"/>
          </a:xfrm>
          <a:prstGeom prst="rect">
            <a:avLst/>
          </a:prstGeom>
          <a:noFill/>
          <a:ln/>
        </p:spPr>
        <p:txBody>
          <a:bodyPr wrap="square" lIns="0" tIns="0" rIns="0" bIns="0" rtlCol="0" anchor="ctr"/>
          <a:lstStyle/>
          <a:p>
            <a:pPr indent="0" marL="0">
              <a:buNone/>
            </a:pPr>
            <a:r>
              <a:rPr lang="en-US" sz="3800" b="1" dirty="0">
                <a:solidFill>
                  <a:srgbClr val="08407C"/>
                </a:solidFill>
                <a:latin typeface="Inter" pitchFamily="34" charset="0"/>
                <a:ea typeface="Inter" pitchFamily="34" charset="-122"/>
                <a:cs typeface="Inter" pitchFamily="34" charset="-120"/>
              </a:rPr>
              <a:t>Preguntá primero.</a:t>
            </a:r>
            <a:endParaRPr lang="en-US" sz="3800" dirty="0"/>
          </a:p>
        </p:txBody>
      </p:sp>
      <p:sp>
        <p:nvSpPr>
          <p:cNvPr id="4" name="Text 1"/>
          <p:cNvSpPr/>
          <p:nvPr/>
        </p:nvSpPr>
        <p:spPr>
          <a:xfrm>
            <a:off x="777240" y="2606040"/>
            <a:ext cx="6035040" cy="329184"/>
          </a:xfrm>
          <a:prstGeom prst="rect">
            <a:avLst/>
          </a:prstGeom>
          <a:noFill/>
          <a:ln/>
        </p:spPr>
        <p:txBody>
          <a:bodyPr wrap="square" lIns="0" tIns="0" rIns="0" bIns="0" rtlCol="0" anchor="ctr"/>
          <a:lstStyle/>
          <a:p>
            <a:pPr indent="0" marL="0">
              <a:buNone/>
            </a:pPr>
            <a:r>
              <a:rPr lang="en-US" sz="1500" dirty="0">
                <a:solidFill>
                  <a:srgbClr val="4E586E"/>
                </a:solidFill>
                <a:latin typeface="Inter" pitchFamily="34" charset="0"/>
                <a:ea typeface="Inter" pitchFamily="34" charset="-122"/>
                <a:cs typeface="Inter" pitchFamily="34" charset="-120"/>
              </a:rPr>
              <a:t>Dejalo por escrito.</a:t>
            </a:r>
            <a:endParaRPr lang="en-US" sz="1500" dirty="0"/>
          </a:p>
        </p:txBody>
      </p:sp>
      <p:sp>
        <p:nvSpPr>
          <p:cNvPr id="5" name="Text 2"/>
          <p:cNvSpPr/>
          <p:nvPr/>
        </p:nvSpPr>
        <p:spPr>
          <a:xfrm>
            <a:off x="777240" y="4224528"/>
            <a:ext cx="7498080" cy="274320"/>
          </a:xfrm>
          <a:prstGeom prst="rect">
            <a:avLst/>
          </a:prstGeom>
          <a:noFill/>
          <a:ln/>
        </p:spPr>
        <p:txBody>
          <a:bodyPr wrap="square" lIns="0" tIns="0" rIns="0" bIns="0" rtlCol="0" anchor="ctr"/>
          <a:lstStyle/>
          <a:p>
            <a:pPr indent="0" marL="0">
              <a:buNone/>
            </a:pPr>
            <a:r>
              <a:rPr lang="en-US" sz="950" dirty="0">
                <a:solidFill>
                  <a:srgbClr val="6A7686"/>
                </a:solidFill>
                <a:latin typeface="Inter" pitchFamily="34" charset="0"/>
                <a:ea typeface="Inter" pitchFamily="34" charset="-122"/>
                <a:cs typeface="Inter" pitchFamily="34" charset="-120"/>
              </a:rPr>
              <a:t>Co-broking · Capacitaciones Krak Real Estate · Criterio vigente al 03/10/2026 · Ejemplos numéricos hipotéticos</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Co-broking: compartir honorarios con colegas</dc:title>
  <dc:subject>PptxGenJS Presentation</dc:subject>
  <dc:creator>Krak Real Estate</dc:creator>
  <cp:lastModifiedBy>Krak Real Estate</cp:lastModifiedBy>
  <cp:revision>1</cp:revision>
  <dcterms:created xsi:type="dcterms:W3CDTF">2026-10-03T18:53:23Z</dcterms:created>
  <dcterms:modified xsi:type="dcterms:W3CDTF">2026-10-03T18:53:23Z</dcterms:modified>
</cp:coreProperties>
</file>