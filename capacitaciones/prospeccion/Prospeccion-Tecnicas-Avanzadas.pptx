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Apertura. Esta capacitación asume que el equipo ya conoce las tácticas de prospección: acá se trabaja el porqué, los canales y, sobre todo, cómo calificar a un prospecto antes de invertirle tiempo.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importante de la definición son dos palabras: sistemático e identificar. Sistemático porque no se trata de tener suerte, y identificar porque prospectar no es vender: es detectar quién puede llegar a necesitar el servicio. La oportunidad aparece en cualquier lado y en cualquier momento, y por eso conviene estar siempre atento.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Redefinir “amigo” no significa fingir cercanía: significa aceptar que hay distintos niveles de relación y que a cada uno le corresponde un trato y una frecuencia distintos. El punto que más cuesta es el último: la tasación, la captación y la producción ya tienen un proceso escrito en la agencia. La prospección suele ser lo único que queda librado a la inspiración del día.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 decirlo sin vueltas frente al equipo: los números no son para que la empresa controle a nadie. Un agente que no sabe cuántas conversaciones tuvo el mes pasado no puede saber por qué facturó lo que facturó, y por lo tanto tampoco puede mejorarlo. Medir es la única forma de ver la propia realidad con perspectiva.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el momento incómodo de la capacitación y conviene sostenerlo unos segundos. Todos declaramos objetivos que no acompañamos con conducta. En prospección pasa exactamente lo mismo: el objetivo de facturación se declara en enero y la agenda de la semana no lo refleja.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punto de la frase de la estantería es que la prospección no es solo salir a buscar: también es estar disponible para que te encuentren. Los dos grupos de canales no compiten entre sí, se complementan; lo que no funciona es estar a medias en ocho canales.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networking estratégico falla cuando se pide de forma vaga: “si sabés de alguien, avisame” no genera nada. La pregunta concreta obliga a la otra persona a repasar mentalmente su círculo. El barrido de base es el canal de mayor retorno por hora invertida y casi nadie lo hace, porque no tiene la adrenalina de salir a la calle.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la contracara de “el negocio es hacer amigos”. La obsecuencia se nota y quema la relación: el cliente percibe rápido cuándo alguien le dice que sí a todo para caerle bien. Ser profesional de las relaciones públicas significa aportar valor real y también decir lo que el cliente no quiere escuchar cuando corresponde, por ejemplo sobre el precio.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presupuesto es el primer filtro y el más duro. Un propietario con una idea de precio muy alejada del mercado no es un prospecto: es una tasación que no se va a firmar y tres meses de trabajo perdidos. La pregunta por la forma de pago y por si ya tasó con alguien es la que más información devuelve.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pregunta por herederos y copropietarios evita el problema más frecuente del rubro: avanzar meses con quien no puede firmar. En una sucesión con varios herederos, la operación se define en una conversación en la que el agente no está presente.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tiempo es el indicador más honesto: quien tiene una urgencia real la menciona sin que se la pregunten dos veces. Quien contesta “no tengo apuro” no está mintiendo, está diciendo que hoy no es un prospecto de corto plazo — y eso también es información útil.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Interés no es lo mismo que curiosidad. La pregunta por el motivo —qué lo lleva a vender ahora— es la más reveladora de las cuatro letras: detrás siempre hay un hecho concreto (una mudanza, una sucesión, un cambio de trabajo) o no hay nada.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el cierre conceptual de la capacitación y conviene decirlo despacio. La idea es que ninguna herramienta, ni siquiera esta capacitación, reemplaza la decisión personal de sostener la conducta cuando nadie mira. Conectar de vuelta con la diapositiva del deseo y la acción.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El entregable mínimo es que cada agente salga con las cuatro preguntas de PATI anotadas y las use en el próximo contacto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user/KrakRealEstate/capacitaciones/prospeccion/brand/logo_white.png">    </p:cNvPr>
          <p:cNvPicPr>
            <a:picLocks noChangeAspect="1"/>
          </p:cNvPicPr>
          <p:nvPr/>
        </p:nvPicPr>
        <p:blipFill>
          <a:blip r:embed="rId2"/>
          <a:stretch>
            <a:fillRect/>
          </a:stretch>
        </p:blipFill>
        <p:spPr>
          <a:xfrm>
            <a:off x="658368" y="777240"/>
            <a:ext cx="1847088" cy="821131"/>
          </a:xfrm>
          <a:prstGeom prst="rect">
            <a:avLst/>
          </a:prstGeom>
        </p:spPr>
      </p:pic>
      <p:sp>
        <p:nvSpPr>
          <p:cNvPr id="3" name="Text 0"/>
          <p:cNvSpPr/>
          <p:nvPr/>
        </p:nvSpPr>
        <p:spPr>
          <a:xfrm>
            <a:off x="658368" y="2121408"/>
            <a:ext cx="6858000" cy="310896"/>
          </a:xfrm>
          <a:prstGeom prst="rect">
            <a:avLst/>
          </a:prstGeom>
          <a:noFill/>
          <a:ln/>
        </p:spPr>
        <p:txBody>
          <a:bodyPr wrap="square" lIns="0" tIns="0" rIns="0" bIns="0" rtlCol="0" anchor="ctr"/>
          <a:lstStyle/>
          <a:p>
            <a:pPr indent="0" marL="0">
              <a:buNone/>
            </a:pPr>
            <a:r>
              <a:rPr lang="en-US" sz="1500" dirty="0">
                <a:solidFill>
                  <a:srgbClr val="FFFFFF"/>
                </a:solidFill>
                <a:latin typeface="Inter" pitchFamily="34" charset="0"/>
                <a:ea typeface="Inter" pitchFamily="34" charset="-122"/>
                <a:cs typeface="Inter" pitchFamily="34" charset="-120"/>
              </a:rPr>
              <a:t>Capacitaciones Krak Real Estate</a:t>
            </a:r>
            <a:endParaRPr lang="en-US" sz="1500" dirty="0"/>
          </a:p>
        </p:txBody>
      </p:sp>
      <p:sp>
        <p:nvSpPr>
          <p:cNvPr id="4" name="Text 1"/>
          <p:cNvSpPr/>
          <p:nvPr/>
        </p:nvSpPr>
        <p:spPr>
          <a:xfrm>
            <a:off x="640080" y="2487168"/>
            <a:ext cx="7955280" cy="1371600"/>
          </a:xfrm>
          <a:prstGeom prst="rect">
            <a:avLst/>
          </a:prstGeom>
          <a:noFill/>
          <a:ln/>
        </p:spPr>
        <p:txBody>
          <a:bodyPr wrap="square" lIns="0" tIns="0" rIns="0" bIns="0" rtlCol="0" anchor="t"/>
          <a:lstStyle/>
          <a:p>
            <a:pPr indent="0" marL="0">
              <a:lnSpc>
                <a:spcPts val="4800"/>
              </a:lnSpc>
              <a:buNone/>
            </a:pPr>
            <a:r>
              <a:rPr lang="en-US" sz="4000" b="1" dirty="0">
                <a:solidFill>
                  <a:srgbClr val="FFFFFF"/>
                </a:solidFill>
                <a:latin typeface="Inter" pitchFamily="34" charset="0"/>
                <a:ea typeface="Inter" pitchFamily="34" charset="-122"/>
                <a:cs typeface="Inter" pitchFamily="34" charset="-120"/>
              </a:rPr>
              <a:t>Técnicas Avanzadas de Prospección Inmobiliaria</a:t>
            </a:r>
            <a:endParaRPr lang="en-US" sz="4000" dirty="0"/>
          </a:p>
        </p:txBody>
      </p:sp>
      <p:sp>
        <p:nvSpPr>
          <p:cNvPr id="5" name="Text 2"/>
          <p:cNvSpPr/>
          <p:nvPr/>
        </p:nvSpPr>
        <p:spPr>
          <a:xfrm>
            <a:off x="658368" y="3977640"/>
            <a:ext cx="6949440" cy="365760"/>
          </a:xfrm>
          <a:prstGeom prst="rect">
            <a:avLst/>
          </a:prstGeom>
          <a:noFill/>
          <a:ln/>
        </p:spPr>
        <p:txBody>
          <a:bodyPr wrap="square" lIns="0" tIns="0" rIns="0" bIns="0" rtlCol="0" anchor="ctr"/>
          <a:lstStyle/>
          <a:p>
            <a:pPr indent="0" marL="0">
              <a:buNone/>
            </a:pPr>
            <a:r>
              <a:rPr lang="en-US" sz="1250" dirty="0">
                <a:solidFill>
                  <a:srgbClr val="D9E4F0"/>
                </a:solidFill>
                <a:latin typeface="Inter" pitchFamily="34" charset="0"/>
                <a:ea typeface="Inter" pitchFamily="34" charset="-122"/>
                <a:cs typeface="Inter" pitchFamily="34" charset="-120"/>
              </a:rPr>
              <a:t>Cómo encontrar, calificar y sostener prospectos de forma sistemática.</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411480" cy="5143500"/>
          </a:xfrm>
          <a:prstGeom prst="rect">
            <a:avLst/>
          </a:prstGeom>
          <a:solidFill>
            <a:srgbClr val="4E586E"/>
          </a:solidFill>
          <a:ln w="12700">
            <a:solidFill>
              <a:srgbClr val="4E586E"/>
            </a:solidFill>
            <a:prstDash val="solid"/>
          </a:ln>
        </p:spPr>
      </p:sp>
      <p:sp>
        <p:nvSpPr>
          <p:cNvPr id="3" name="Shape 1"/>
          <p:cNvSpPr/>
          <p:nvPr/>
        </p:nvSpPr>
        <p:spPr>
          <a:xfrm>
            <a:off x="0" y="0"/>
            <a:ext cx="411480" cy="402336"/>
          </a:xfrm>
          <a:prstGeom prst="rect">
            <a:avLst/>
          </a:prstGeom>
          <a:solidFill>
            <a:srgbClr val="08407C"/>
          </a:solidFill>
          <a:ln w="12700">
            <a:solidFill>
              <a:srgbClr val="08407C"/>
            </a:solidFill>
            <a:prstDash val="solid"/>
          </a:ln>
        </p:spPr>
      </p:sp>
      <p:pic>
        <p:nvPicPr>
          <p:cNvPr id="4" name="Image 0" descr="/home/user/KrakRealEstate/capacitaciones/prospeccion/brand/iso_white.png">    </p:cNvPr>
          <p:cNvPicPr>
            <a:picLocks noChangeAspect="1"/>
          </p:cNvPicPr>
          <p:nvPr/>
        </p:nvPicPr>
        <p:blipFill>
          <a:blip r:embed="rId2"/>
          <a:stretch>
            <a:fillRect/>
          </a:stretch>
        </p:blipFill>
        <p:spPr>
          <a:xfrm>
            <a:off x="123444" y="68580"/>
            <a:ext cx="164592" cy="217627"/>
          </a:xfrm>
          <a:prstGeom prst="rect">
            <a:avLst/>
          </a:prstGeom>
        </p:spPr>
      </p:pic>
      <p:sp>
        <p:nvSpPr>
          <p:cNvPr id="5" name="Text 2"/>
          <p:cNvSpPr/>
          <p:nvPr/>
        </p:nvSpPr>
        <p:spPr>
          <a:xfrm>
            <a:off x="603504" y="256032"/>
            <a:ext cx="8083296" cy="475488"/>
          </a:xfrm>
          <a:prstGeom prst="rect">
            <a:avLst/>
          </a:prstGeom>
          <a:noFill/>
          <a:ln/>
        </p:spPr>
        <p:txBody>
          <a:bodyPr wrap="square" lIns="0" tIns="0" rIns="0" bIns="0" rtlCol="0" anchor="ctr"/>
          <a:lstStyle/>
          <a:p>
            <a:pPr indent="0" marL="0">
              <a:buNone/>
            </a:pPr>
            <a:r>
              <a:rPr lang="en-US" sz="2600" b="1" dirty="0">
                <a:solidFill>
                  <a:srgbClr val="08407C"/>
                </a:solidFill>
                <a:latin typeface="Inter" pitchFamily="34" charset="0"/>
                <a:ea typeface="Inter" pitchFamily="34" charset="-122"/>
                <a:cs typeface="Inter" pitchFamily="34" charset="-120"/>
              </a:rPr>
              <a:t>¿Qué es la prospección?</a:t>
            </a:r>
            <a:endParaRPr lang="en-US" sz="2600" dirty="0"/>
          </a:p>
        </p:txBody>
      </p:sp>
      <p:sp>
        <p:nvSpPr>
          <p:cNvPr id="6" name="Text 3"/>
          <p:cNvSpPr/>
          <p:nvPr/>
        </p:nvSpPr>
        <p:spPr>
          <a:xfrm>
            <a:off x="603504" y="749808"/>
            <a:ext cx="8083296" cy="274320"/>
          </a:xfrm>
          <a:prstGeom prst="rect">
            <a:avLst/>
          </a:prstGeom>
          <a:noFill/>
          <a:ln/>
        </p:spPr>
        <p:txBody>
          <a:bodyPr wrap="square" lIns="0" tIns="0" rIns="0" bIns="0" rtlCol="0" anchor="ctr"/>
          <a:lstStyle/>
          <a:p>
            <a:pPr indent="0" marL="0">
              <a:buNone/>
            </a:pPr>
            <a:r>
              <a:rPr lang="en-US" sz="1200" i="1" dirty="0">
                <a:solidFill>
                  <a:srgbClr val="6A7686"/>
                </a:solidFill>
                <a:latin typeface="Inter" pitchFamily="34" charset="0"/>
                <a:ea typeface="Inter" pitchFamily="34" charset="-122"/>
                <a:cs typeface="Inter" pitchFamily="34" charset="-120"/>
              </a:rPr>
              <a:t>El primer eslabón de toda la cadena comercial.</a:t>
            </a:r>
            <a:endParaRPr lang="en-US" sz="1200" dirty="0"/>
          </a:p>
        </p:txBody>
      </p:sp>
      <p:sp>
        <p:nvSpPr>
          <p:cNvPr id="7" name="Shape 4"/>
          <p:cNvSpPr/>
          <p:nvPr/>
        </p:nvSpPr>
        <p:spPr>
          <a:xfrm>
            <a:off x="603504" y="1207008"/>
            <a:ext cx="3950208" cy="2286000"/>
          </a:xfrm>
          <a:prstGeom prst="roundRect">
            <a:avLst>
              <a:gd name="adj" fmla="val 3600"/>
            </a:avLst>
          </a:prstGeom>
          <a:solidFill>
            <a:srgbClr val="08407C"/>
          </a:solidFill>
          <a:ln w="12700">
            <a:solidFill>
              <a:srgbClr val="08407C"/>
            </a:solidFill>
            <a:prstDash val="solid"/>
          </a:ln>
        </p:spPr>
      </p:sp>
      <p:sp>
        <p:nvSpPr>
          <p:cNvPr id="8" name="Text 5"/>
          <p:cNvSpPr/>
          <p:nvPr/>
        </p:nvSpPr>
        <p:spPr>
          <a:xfrm>
            <a:off x="859536" y="1389888"/>
            <a:ext cx="3383280" cy="292608"/>
          </a:xfrm>
          <a:prstGeom prst="rect">
            <a:avLst/>
          </a:prstGeom>
          <a:noFill/>
          <a:ln/>
        </p:spPr>
        <p:txBody>
          <a:bodyPr wrap="square" lIns="0" tIns="0" rIns="0" bIns="0" rtlCol="0" anchor="ctr"/>
          <a:lstStyle/>
          <a:p>
            <a:pPr indent="0" marL="0">
              <a:buNone/>
            </a:pPr>
            <a:r>
              <a:rPr lang="en-US" sz="1600" b="1" dirty="0">
                <a:solidFill>
                  <a:srgbClr val="FFFFFF"/>
                </a:solidFill>
                <a:latin typeface="Inter" pitchFamily="34" charset="0"/>
                <a:ea typeface="Inter" pitchFamily="34" charset="-122"/>
                <a:cs typeface="Inter" pitchFamily="34" charset="-120"/>
              </a:rPr>
              <a:t>Definición</a:t>
            </a:r>
            <a:endParaRPr lang="en-US" sz="1600" dirty="0"/>
          </a:p>
        </p:txBody>
      </p:sp>
      <p:sp>
        <p:nvSpPr>
          <p:cNvPr id="9" name="Text 6"/>
          <p:cNvSpPr/>
          <p:nvPr/>
        </p:nvSpPr>
        <p:spPr>
          <a:xfrm>
            <a:off x="859536" y="1773936"/>
            <a:ext cx="3456432" cy="1554480"/>
          </a:xfrm>
          <a:prstGeom prst="rect">
            <a:avLst/>
          </a:prstGeom>
          <a:noFill/>
          <a:ln/>
        </p:spPr>
        <p:txBody>
          <a:bodyPr wrap="square" lIns="0" tIns="0" rIns="0" bIns="0" rtlCol="0" anchor="ctr"/>
          <a:lstStyle/>
          <a:p>
            <a:pPr indent="0" marL="0">
              <a:lnSpc>
                <a:spcPts val="1700"/>
              </a:lnSpc>
              <a:buNone/>
            </a:pPr>
            <a:r>
              <a:rPr lang="en-US" sz="1200" dirty="0">
                <a:solidFill>
                  <a:srgbClr val="CDD8E4"/>
                </a:solidFill>
                <a:latin typeface="Inter" pitchFamily="34" charset="0"/>
                <a:ea typeface="Inter" pitchFamily="34" charset="-122"/>
                <a:cs typeface="Inter" pitchFamily="34" charset="-120"/>
              </a:rPr>
              <a:t>Es el proceso sistemático de identificar personas que pueden convertirse en potenciales clientes. En el ámbito inmobiliario, detectar propietarios interesados en vender, alquilar o invertir.</a:t>
            </a:r>
            <a:endParaRPr lang="en-US" sz="1200" dirty="0"/>
          </a:p>
        </p:txBody>
      </p:sp>
      <p:sp>
        <p:nvSpPr>
          <p:cNvPr id="10" name="Shape 7"/>
          <p:cNvSpPr/>
          <p:nvPr/>
        </p:nvSpPr>
        <p:spPr>
          <a:xfrm>
            <a:off x="4736592" y="1207008"/>
            <a:ext cx="3950208" cy="2286000"/>
          </a:xfrm>
          <a:prstGeom prst="roundRect">
            <a:avLst>
              <a:gd name="adj" fmla="val 3600"/>
            </a:avLst>
          </a:prstGeom>
          <a:solidFill>
            <a:srgbClr val="7C8594"/>
          </a:solidFill>
          <a:ln w="12700">
            <a:solidFill>
              <a:srgbClr val="7C8594"/>
            </a:solidFill>
            <a:prstDash val="solid"/>
          </a:ln>
        </p:spPr>
      </p:sp>
      <p:sp>
        <p:nvSpPr>
          <p:cNvPr id="11" name="Text 8"/>
          <p:cNvSpPr/>
          <p:nvPr/>
        </p:nvSpPr>
        <p:spPr>
          <a:xfrm>
            <a:off x="4992624" y="1389888"/>
            <a:ext cx="3383280" cy="292608"/>
          </a:xfrm>
          <a:prstGeom prst="rect">
            <a:avLst/>
          </a:prstGeom>
          <a:noFill/>
          <a:ln/>
        </p:spPr>
        <p:txBody>
          <a:bodyPr wrap="square" lIns="0" tIns="0" rIns="0" bIns="0" rtlCol="0" anchor="ctr"/>
          <a:lstStyle/>
          <a:p>
            <a:pPr indent="0" marL="0">
              <a:buNone/>
            </a:pPr>
            <a:r>
              <a:rPr lang="en-US" sz="1600" b="1" dirty="0">
                <a:solidFill>
                  <a:srgbClr val="FFFFFF"/>
                </a:solidFill>
                <a:latin typeface="Inter" pitchFamily="34" charset="0"/>
                <a:ea typeface="Inter" pitchFamily="34" charset="-122"/>
                <a:cs typeface="Inter" pitchFamily="34" charset="-120"/>
              </a:rPr>
              <a:t>Por qué es estratégica</a:t>
            </a:r>
            <a:endParaRPr lang="en-US" sz="1600" dirty="0"/>
          </a:p>
        </p:txBody>
      </p:sp>
      <p:sp>
        <p:nvSpPr>
          <p:cNvPr id="12" name="Text 9"/>
          <p:cNvSpPr/>
          <p:nvPr/>
        </p:nvSpPr>
        <p:spPr>
          <a:xfrm>
            <a:off x="4992624" y="1773936"/>
            <a:ext cx="3456432" cy="1554480"/>
          </a:xfrm>
          <a:prstGeom prst="rect">
            <a:avLst/>
          </a:prstGeom>
          <a:noFill/>
          <a:ln/>
        </p:spPr>
        <p:txBody>
          <a:bodyPr wrap="square" lIns="0" tIns="0" rIns="0" bIns="0" rtlCol="0" anchor="ctr"/>
          <a:lstStyle/>
          <a:p>
            <a:pPr indent="0" marL="0">
              <a:lnSpc>
                <a:spcPts val="1700"/>
              </a:lnSpc>
              <a:buNone/>
            </a:pPr>
            <a:r>
              <a:rPr lang="en-US" sz="1200" dirty="0">
                <a:solidFill>
                  <a:srgbClr val="E4E6E9"/>
                </a:solidFill>
                <a:latin typeface="Inter" pitchFamily="34" charset="0"/>
                <a:ea typeface="Inter" pitchFamily="34" charset="-122"/>
                <a:cs typeface="Inter" pitchFamily="34" charset="-120"/>
              </a:rPr>
              <a:t>La prospección es el primer eslabón.</a:t>
            </a:r>
            <a:endParaRPr lang="en-US" sz="1200" dirty="0"/>
          </a:p>
          <a:p>
            <a:pPr indent="0" marL="0">
              <a:lnSpc>
                <a:spcPts val="1700"/>
              </a:lnSpc>
              <a:buNone/>
            </a:pPr>
            <a:endParaRPr lang="en-US" sz="1200" dirty="0"/>
          </a:p>
          <a:p>
            <a:pPr indent="0" marL="0">
              <a:lnSpc>
                <a:spcPts val="1700"/>
              </a:lnSpc>
              <a:buNone/>
            </a:pPr>
            <a:r>
              <a:rPr lang="en-US" sz="1200" dirty="0">
                <a:solidFill>
                  <a:srgbClr val="E4E6E9"/>
                </a:solidFill>
                <a:latin typeface="Inter" pitchFamily="34" charset="0"/>
                <a:ea typeface="Inter" pitchFamily="34" charset="-122"/>
                <a:cs typeface="Inter" pitchFamily="34" charset="-120"/>
              </a:rPr>
              <a:t>Sin prospectos no hay oportunidades, y sin oportunidades no hay cierres.</a:t>
            </a:r>
            <a:endParaRPr lang="en-US" sz="1200" dirty="0"/>
          </a:p>
        </p:txBody>
      </p:sp>
      <p:sp>
        <p:nvSpPr>
          <p:cNvPr id="13" name="Shape 10"/>
          <p:cNvSpPr/>
          <p:nvPr/>
        </p:nvSpPr>
        <p:spPr>
          <a:xfrm>
            <a:off x="603504" y="3712464"/>
            <a:ext cx="8083296" cy="658368"/>
          </a:xfrm>
          <a:prstGeom prst="roundRect">
            <a:avLst>
              <a:gd name="adj" fmla="val 12500"/>
            </a:avLst>
          </a:prstGeom>
          <a:solidFill>
            <a:srgbClr val="08407C"/>
          </a:solidFill>
          <a:ln w="12700">
            <a:solidFill>
              <a:srgbClr val="08407C"/>
            </a:solidFill>
            <a:prstDash val="solid"/>
          </a:ln>
        </p:spPr>
      </p:sp>
      <p:sp>
        <p:nvSpPr>
          <p:cNvPr id="14" name="Text 11"/>
          <p:cNvSpPr/>
          <p:nvPr/>
        </p:nvSpPr>
        <p:spPr>
          <a:xfrm>
            <a:off x="841248" y="3758184"/>
            <a:ext cx="7626096" cy="201168"/>
          </a:xfrm>
          <a:prstGeom prst="rect">
            <a:avLst/>
          </a:prstGeom>
          <a:noFill/>
          <a:ln/>
        </p:spPr>
        <p:txBody>
          <a:bodyPr wrap="square" lIns="0" tIns="0" rIns="0" bIns="0" rtlCol="0" anchor="ctr"/>
          <a:lstStyle/>
          <a:p>
            <a:pPr indent="0" marL="0">
              <a:buNone/>
            </a:pPr>
            <a:r>
              <a:rPr lang="en-US" sz="900" b="1" spc="120" kern="0" dirty="0">
                <a:solidFill>
                  <a:srgbClr val="FFFFFF"/>
                </a:solidFill>
                <a:latin typeface="Inter" pitchFamily="34" charset="0"/>
                <a:ea typeface="Inter" pitchFamily="34" charset="-122"/>
                <a:cs typeface="Inter" pitchFamily="34" charset="-120"/>
              </a:rPr>
              <a:t>LA ACTITUD DE FONDO</a:t>
            </a:r>
            <a:endParaRPr lang="en-US" sz="900" dirty="0"/>
          </a:p>
        </p:txBody>
      </p:sp>
      <p:sp>
        <p:nvSpPr>
          <p:cNvPr id="15" name="Text 12"/>
          <p:cNvSpPr/>
          <p:nvPr/>
        </p:nvSpPr>
        <p:spPr>
          <a:xfrm>
            <a:off x="841248" y="3959352"/>
            <a:ext cx="7607808" cy="347472"/>
          </a:xfrm>
          <a:prstGeom prst="rect">
            <a:avLst/>
          </a:prstGeom>
          <a:noFill/>
          <a:ln/>
        </p:spPr>
        <p:txBody>
          <a:bodyPr wrap="square" lIns="0" tIns="0" rIns="0" bIns="0" rtlCol="0" anchor="ctr"/>
          <a:lstStyle/>
          <a:p>
            <a:pPr indent="0" marL="0">
              <a:lnSpc>
                <a:spcPts val="1400"/>
              </a:lnSpc>
              <a:buNone/>
            </a:pPr>
            <a:r>
              <a:rPr lang="en-US" sz="1100" dirty="0">
                <a:solidFill>
                  <a:srgbClr val="FFFFFF"/>
                </a:solidFill>
                <a:latin typeface="Inter" pitchFamily="34" charset="0"/>
                <a:ea typeface="Inter" pitchFamily="34" charset="-122"/>
                <a:cs typeface="Inter" pitchFamily="34" charset="-120"/>
              </a:rPr>
              <a:t>Nunca se sabe dónde salta la coneja: hay que estar siempre atento a la oportunidad.</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411480" cy="5143500"/>
          </a:xfrm>
          <a:prstGeom prst="rect">
            <a:avLst/>
          </a:prstGeom>
          <a:solidFill>
            <a:srgbClr val="4E586E"/>
          </a:solidFill>
          <a:ln w="12700">
            <a:solidFill>
              <a:srgbClr val="4E586E"/>
            </a:solidFill>
            <a:prstDash val="solid"/>
          </a:ln>
        </p:spPr>
      </p:sp>
      <p:sp>
        <p:nvSpPr>
          <p:cNvPr id="3" name="Shape 1"/>
          <p:cNvSpPr/>
          <p:nvPr/>
        </p:nvSpPr>
        <p:spPr>
          <a:xfrm>
            <a:off x="0" y="0"/>
            <a:ext cx="411480" cy="402336"/>
          </a:xfrm>
          <a:prstGeom prst="rect">
            <a:avLst/>
          </a:prstGeom>
          <a:solidFill>
            <a:srgbClr val="08407C"/>
          </a:solidFill>
          <a:ln w="12700">
            <a:solidFill>
              <a:srgbClr val="08407C"/>
            </a:solidFill>
            <a:prstDash val="solid"/>
          </a:ln>
        </p:spPr>
      </p:sp>
      <p:pic>
        <p:nvPicPr>
          <p:cNvPr id="4" name="Image 0" descr="/home/user/KrakRealEstate/capacitaciones/prospeccion/brand/iso_white.png">    </p:cNvPr>
          <p:cNvPicPr>
            <a:picLocks noChangeAspect="1"/>
          </p:cNvPicPr>
          <p:nvPr/>
        </p:nvPicPr>
        <p:blipFill>
          <a:blip r:embed="rId2"/>
          <a:stretch>
            <a:fillRect/>
          </a:stretch>
        </p:blipFill>
        <p:spPr>
          <a:xfrm>
            <a:off x="123444" y="68580"/>
            <a:ext cx="164592" cy="217627"/>
          </a:xfrm>
          <a:prstGeom prst="rect">
            <a:avLst/>
          </a:prstGeom>
        </p:spPr>
      </p:pic>
      <p:sp>
        <p:nvSpPr>
          <p:cNvPr id="5" name="Text 2"/>
          <p:cNvSpPr/>
          <p:nvPr/>
        </p:nvSpPr>
        <p:spPr>
          <a:xfrm>
            <a:off x="603504" y="256032"/>
            <a:ext cx="8083296" cy="475488"/>
          </a:xfrm>
          <a:prstGeom prst="rect">
            <a:avLst/>
          </a:prstGeom>
          <a:noFill/>
          <a:ln/>
        </p:spPr>
        <p:txBody>
          <a:bodyPr wrap="square" lIns="0" tIns="0" rIns="0" bIns="0" rtlCol="0" anchor="ctr"/>
          <a:lstStyle/>
          <a:p>
            <a:pPr indent="0" marL="0">
              <a:buNone/>
            </a:pPr>
            <a:r>
              <a:rPr lang="en-US" sz="2600" b="1" dirty="0">
                <a:solidFill>
                  <a:srgbClr val="08407C"/>
                </a:solidFill>
                <a:latin typeface="Inter" pitchFamily="34" charset="0"/>
                <a:ea typeface="Inter" pitchFamily="34" charset="-122"/>
                <a:cs typeface="Inter" pitchFamily="34" charset="-120"/>
              </a:rPr>
              <a:t>¿Qué tipo de negocio son los bienes raíces?</a:t>
            </a:r>
            <a:endParaRPr lang="en-US" sz="2600" dirty="0"/>
          </a:p>
        </p:txBody>
      </p:sp>
      <p:sp>
        <p:nvSpPr>
          <p:cNvPr id="6" name="Text 3"/>
          <p:cNvSpPr/>
          <p:nvPr/>
        </p:nvSpPr>
        <p:spPr>
          <a:xfrm>
            <a:off x="603504" y="749808"/>
            <a:ext cx="8083296" cy="274320"/>
          </a:xfrm>
          <a:prstGeom prst="rect">
            <a:avLst/>
          </a:prstGeom>
          <a:noFill/>
          <a:ln/>
        </p:spPr>
        <p:txBody>
          <a:bodyPr wrap="square" lIns="0" tIns="0" rIns="0" bIns="0" rtlCol="0" anchor="ctr"/>
          <a:lstStyle/>
          <a:p>
            <a:pPr indent="0" marL="0">
              <a:buNone/>
            </a:pPr>
            <a:r>
              <a:rPr lang="en-US" sz="1200" i="1" dirty="0">
                <a:solidFill>
                  <a:srgbClr val="6A7686"/>
                </a:solidFill>
                <a:latin typeface="Inter" pitchFamily="34" charset="0"/>
                <a:ea typeface="Inter" pitchFamily="34" charset="-122"/>
                <a:cs typeface="Inter" pitchFamily="34" charset="-120"/>
              </a:rPr>
              <a:t>Una respuesta corta y una consecuencia larga.</a:t>
            </a:r>
            <a:endParaRPr lang="en-US" sz="1200" dirty="0"/>
          </a:p>
        </p:txBody>
      </p:sp>
      <p:sp>
        <p:nvSpPr>
          <p:cNvPr id="7" name="Shape 4"/>
          <p:cNvSpPr/>
          <p:nvPr/>
        </p:nvSpPr>
        <p:spPr>
          <a:xfrm>
            <a:off x="603504" y="1188720"/>
            <a:ext cx="5029200" cy="658368"/>
          </a:xfrm>
          <a:prstGeom prst="roundRect">
            <a:avLst>
              <a:gd name="adj" fmla="val 12500"/>
            </a:avLst>
          </a:prstGeom>
          <a:solidFill>
            <a:srgbClr val="08407C"/>
          </a:solidFill>
          <a:ln w="12700">
            <a:solidFill>
              <a:srgbClr val="08407C"/>
            </a:solidFill>
            <a:prstDash val="solid"/>
          </a:ln>
        </p:spPr>
      </p:sp>
      <p:sp>
        <p:nvSpPr>
          <p:cNvPr id="8" name="Text 5"/>
          <p:cNvSpPr/>
          <p:nvPr/>
        </p:nvSpPr>
        <p:spPr>
          <a:xfrm>
            <a:off x="859536" y="1188720"/>
            <a:ext cx="4572000" cy="658368"/>
          </a:xfrm>
          <a:prstGeom prst="rect">
            <a:avLst/>
          </a:prstGeom>
          <a:noFill/>
          <a:ln/>
        </p:spPr>
        <p:txBody>
          <a:bodyPr wrap="square" lIns="0" tIns="0" rIns="0" bIns="0" rtlCol="0" anchor="ctr"/>
          <a:lstStyle/>
          <a:p>
            <a:pPr indent="0" marL="0">
              <a:buNone/>
            </a:pPr>
            <a:r>
              <a:rPr lang="en-US" sz="2000" b="1" dirty="0">
                <a:solidFill>
                  <a:srgbClr val="FFFFFF"/>
                </a:solidFill>
                <a:latin typeface="Inter" pitchFamily="34" charset="0"/>
                <a:ea typeface="Inter" pitchFamily="34" charset="-122"/>
                <a:cs typeface="Inter" pitchFamily="34" charset="-120"/>
              </a:rPr>
              <a:t>El negocio es hacer amigos.</a:t>
            </a:r>
            <a:endParaRPr lang="en-US" sz="2000" dirty="0"/>
          </a:p>
        </p:txBody>
      </p:sp>
      <p:sp>
        <p:nvSpPr>
          <p:cNvPr id="9" name="Text 6"/>
          <p:cNvSpPr/>
          <p:nvPr/>
        </p:nvSpPr>
        <p:spPr>
          <a:xfrm>
            <a:off x="640080" y="1975104"/>
            <a:ext cx="4937760" cy="640080"/>
          </a:xfrm>
          <a:prstGeom prst="rect">
            <a:avLst/>
          </a:prstGeom>
          <a:noFill/>
          <a:ln/>
        </p:spPr>
        <p:txBody>
          <a:bodyPr wrap="square" lIns="0" tIns="0" rIns="0" bIns="0" rtlCol="0" anchor="ctr"/>
          <a:lstStyle/>
          <a:p>
            <a:pPr indent="0" marL="0">
              <a:lnSpc>
                <a:spcPts val="1700"/>
              </a:lnSpc>
              <a:buNone/>
            </a:pPr>
            <a:r>
              <a:rPr lang="en-US" sz="1250" dirty="0">
                <a:solidFill>
                  <a:srgbClr val="2E4258"/>
                </a:solidFill>
                <a:latin typeface="Inter" pitchFamily="34" charset="0"/>
                <a:ea typeface="Inter" pitchFamily="34" charset="-122"/>
                <a:cs typeface="Inter" pitchFamily="34" charset="-120"/>
              </a:rPr>
              <a:t>Ahora bien, ¿todos los amigos son iguales? ¿Con todos vamos a comer una vez por semana? ¿Vamos a jugar a la pelota con todos?</a:t>
            </a:r>
            <a:endParaRPr lang="en-US" sz="1250" dirty="0"/>
          </a:p>
        </p:txBody>
      </p:sp>
      <p:sp>
        <p:nvSpPr>
          <p:cNvPr id="10" name="Shape 7"/>
          <p:cNvSpPr/>
          <p:nvPr/>
        </p:nvSpPr>
        <p:spPr>
          <a:xfrm>
            <a:off x="603504" y="2724912"/>
            <a:ext cx="5029200" cy="658368"/>
          </a:xfrm>
          <a:prstGeom prst="roundRect">
            <a:avLst>
              <a:gd name="adj" fmla="val 12500"/>
            </a:avLst>
          </a:prstGeom>
          <a:solidFill>
            <a:srgbClr val="F3F3F3"/>
          </a:solidFill>
          <a:ln w="12700">
            <a:solidFill>
              <a:srgbClr val="F3F3F3"/>
            </a:solidFill>
            <a:prstDash val="solid"/>
          </a:ln>
        </p:spPr>
      </p:sp>
      <p:sp>
        <p:nvSpPr>
          <p:cNvPr id="11" name="Text 8"/>
          <p:cNvSpPr/>
          <p:nvPr/>
        </p:nvSpPr>
        <p:spPr>
          <a:xfrm>
            <a:off x="841248" y="2724912"/>
            <a:ext cx="4572000" cy="658368"/>
          </a:xfrm>
          <a:prstGeom prst="rect">
            <a:avLst/>
          </a:prstGeom>
          <a:noFill/>
          <a:ln/>
        </p:spPr>
        <p:txBody>
          <a:bodyPr wrap="square" lIns="0" tIns="0" rIns="0" bIns="0" rtlCol="0" anchor="ctr"/>
          <a:lstStyle/>
          <a:p>
            <a:pPr indent="0" marL="0">
              <a:lnSpc>
                <a:spcPts val="1600"/>
              </a:lnSpc>
              <a:buNone/>
            </a:pPr>
            <a:r>
              <a:rPr lang="en-US" sz="1300" b="1" dirty="0">
                <a:solidFill>
                  <a:srgbClr val="08407C"/>
                </a:solidFill>
                <a:latin typeface="Inter" pitchFamily="34" charset="0"/>
                <a:ea typeface="Inter" pitchFamily="34" charset="-122"/>
                <a:cs typeface="Inter" pitchFamily="34" charset="-120"/>
              </a:rPr>
              <a:t>Hay que redefinir el concepto de “amigo” cuando estamos trabajando.</a:t>
            </a:r>
            <a:endParaRPr lang="en-US" sz="1300" dirty="0"/>
          </a:p>
        </p:txBody>
      </p:sp>
      <p:sp>
        <p:nvSpPr>
          <p:cNvPr id="12" name="Shape 9"/>
          <p:cNvSpPr/>
          <p:nvPr/>
        </p:nvSpPr>
        <p:spPr>
          <a:xfrm>
            <a:off x="603504" y="3511296"/>
            <a:ext cx="5029200" cy="548640"/>
          </a:xfrm>
          <a:prstGeom prst="roundRect">
            <a:avLst>
              <a:gd name="adj" fmla="val 15000"/>
            </a:avLst>
          </a:prstGeom>
          <a:solidFill>
            <a:srgbClr val="7C8594"/>
          </a:solidFill>
          <a:ln w="12700">
            <a:solidFill>
              <a:srgbClr val="7C8594"/>
            </a:solidFill>
            <a:prstDash val="solid"/>
          </a:ln>
        </p:spPr>
      </p:sp>
      <p:sp>
        <p:nvSpPr>
          <p:cNvPr id="13" name="Text 10"/>
          <p:cNvSpPr/>
          <p:nvPr/>
        </p:nvSpPr>
        <p:spPr>
          <a:xfrm>
            <a:off x="841248" y="3511296"/>
            <a:ext cx="4572000" cy="548640"/>
          </a:xfrm>
          <a:prstGeom prst="rect">
            <a:avLst/>
          </a:prstGeom>
          <a:noFill/>
          <a:ln/>
        </p:spPr>
        <p:txBody>
          <a:bodyPr wrap="square" lIns="0" tIns="0" rIns="0" bIns="0" rtlCol="0" anchor="ctr"/>
          <a:lstStyle/>
          <a:p>
            <a:pPr indent="0" marL="0">
              <a:buNone/>
            </a:pPr>
            <a:r>
              <a:rPr lang="en-US" sz="1300" b="1" dirty="0">
                <a:solidFill>
                  <a:srgbClr val="FFFFFF"/>
                </a:solidFill>
                <a:latin typeface="Inter" pitchFamily="34" charset="0"/>
                <a:ea typeface="Inter" pitchFamily="34" charset="-122"/>
                <a:cs typeface="Inter" pitchFamily="34" charset="-120"/>
              </a:rPr>
              <a:t>Y, sobre todo, hay que sistematizarlo.</a:t>
            </a:r>
            <a:endParaRPr lang="en-US" sz="1300" dirty="0"/>
          </a:p>
        </p:txBody>
      </p:sp>
      <p:pic>
        <p:nvPicPr>
          <p:cNvPr id="14" name="Image 1" descr="/home/user/KrakRealEstate/capacitaciones/prospeccion/img/b_asado.png">    </p:cNvPr>
          <p:cNvPicPr>
            <a:picLocks noChangeAspect="1"/>
          </p:cNvPicPr>
          <p:nvPr/>
        </p:nvPicPr>
        <p:blipFill>
          <a:blip r:embed="rId3"/>
          <a:stretch>
            <a:fillRect/>
          </a:stretch>
        </p:blipFill>
        <p:spPr>
          <a:xfrm>
            <a:off x="5925312" y="1188720"/>
            <a:ext cx="2761488" cy="1840687"/>
          </a:xfrm>
          <a:prstGeom prst="rect">
            <a:avLst/>
          </a:prstGeom>
        </p:spPr>
      </p:pic>
      <p:sp>
        <p:nvSpPr>
          <p:cNvPr id="15" name="Shape 11"/>
          <p:cNvSpPr/>
          <p:nvPr/>
        </p:nvSpPr>
        <p:spPr>
          <a:xfrm>
            <a:off x="5925312" y="3163824"/>
            <a:ext cx="2761488" cy="896112"/>
          </a:xfrm>
          <a:prstGeom prst="roundRect">
            <a:avLst>
              <a:gd name="adj" fmla="val 9184"/>
            </a:avLst>
          </a:prstGeom>
          <a:solidFill>
            <a:srgbClr val="F3F3F3"/>
          </a:solidFill>
          <a:ln w="12700">
            <a:solidFill>
              <a:srgbClr val="F3F3F3"/>
            </a:solidFill>
            <a:prstDash val="solid"/>
          </a:ln>
        </p:spPr>
      </p:sp>
      <p:sp>
        <p:nvSpPr>
          <p:cNvPr id="16" name="Text 12"/>
          <p:cNvSpPr/>
          <p:nvPr/>
        </p:nvSpPr>
        <p:spPr>
          <a:xfrm>
            <a:off x="6126480" y="3163824"/>
            <a:ext cx="2395728" cy="896112"/>
          </a:xfrm>
          <a:prstGeom prst="rect">
            <a:avLst/>
          </a:prstGeom>
          <a:noFill/>
          <a:ln/>
        </p:spPr>
        <p:txBody>
          <a:bodyPr wrap="square" lIns="0" tIns="0" rIns="0" bIns="0" rtlCol="0" anchor="ctr"/>
          <a:lstStyle/>
          <a:p>
            <a:pPr indent="0" marL="0">
              <a:lnSpc>
                <a:spcPts val="1400"/>
              </a:lnSpc>
              <a:buNone/>
            </a:pPr>
            <a:r>
              <a:rPr lang="en-US" sz="1150" i="1" dirty="0">
                <a:solidFill>
                  <a:srgbClr val="2E4258"/>
                </a:solidFill>
                <a:latin typeface="Inter" pitchFamily="34" charset="0"/>
                <a:ea typeface="Inter" pitchFamily="34" charset="-122"/>
                <a:cs typeface="Inter" pitchFamily="34" charset="-120"/>
              </a:rPr>
              <a:t>El resto de nuestro proceso ya está sistematizado. ¿Por qué prospectar no?</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411480" cy="5143500"/>
          </a:xfrm>
          <a:prstGeom prst="rect">
            <a:avLst/>
          </a:prstGeom>
          <a:solidFill>
            <a:srgbClr val="4E586E"/>
          </a:solidFill>
          <a:ln w="12700">
            <a:solidFill>
              <a:srgbClr val="4E586E"/>
            </a:solidFill>
            <a:prstDash val="solid"/>
          </a:ln>
        </p:spPr>
      </p:sp>
      <p:sp>
        <p:nvSpPr>
          <p:cNvPr id="3" name="Shape 1"/>
          <p:cNvSpPr/>
          <p:nvPr/>
        </p:nvSpPr>
        <p:spPr>
          <a:xfrm>
            <a:off x="0" y="0"/>
            <a:ext cx="411480" cy="402336"/>
          </a:xfrm>
          <a:prstGeom prst="rect">
            <a:avLst/>
          </a:prstGeom>
          <a:solidFill>
            <a:srgbClr val="08407C"/>
          </a:solidFill>
          <a:ln w="12700">
            <a:solidFill>
              <a:srgbClr val="08407C"/>
            </a:solidFill>
            <a:prstDash val="solid"/>
          </a:ln>
        </p:spPr>
      </p:sp>
      <p:pic>
        <p:nvPicPr>
          <p:cNvPr id="4" name="Image 0" descr="/home/user/KrakRealEstate/capacitaciones/prospeccion/brand/iso_white.png">    </p:cNvPr>
          <p:cNvPicPr>
            <a:picLocks noChangeAspect="1"/>
          </p:cNvPicPr>
          <p:nvPr/>
        </p:nvPicPr>
        <p:blipFill>
          <a:blip r:embed="rId2"/>
          <a:stretch>
            <a:fillRect/>
          </a:stretch>
        </p:blipFill>
        <p:spPr>
          <a:xfrm>
            <a:off x="123444" y="68580"/>
            <a:ext cx="164592" cy="217627"/>
          </a:xfrm>
          <a:prstGeom prst="rect">
            <a:avLst/>
          </a:prstGeom>
        </p:spPr>
      </p:pic>
      <p:sp>
        <p:nvSpPr>
          <p:cNvPr id="5" name="Text 2"/>
          <p:cNvSpPr/>
          <p:nvPr/>
        </p:nvSpPr>
        <p:spPr>
          <a:xfrm>
            <a:off x="603504" y="256032"/>
            <a:ext cx="8083296" cy="475488"/>
          </a:xfrm>
          <a:prstGeom prst="rect">
            <a:avLst/>
          </a:prstGeom>
          <a:noFill/>
          <a:ln/>
        </p:spPr>
        <p:txBody>
          <a:bodyPr wrap="square" lIns="0" tIns="0" rIns="0" bIns="0" rtlCol="0" anchor="ctr"/>
          <a:lstStyle/>
          <a:p>
            <a:pPr indent="0" marL="0">
              <a:buNone/>
            </a:pPr>
            <a:r>
              <a:rPr lang="en-US" sz="2600" b="1" dirty="0">
                <a:solidFill>
                  <a:srgbClr val="08407C"/>
                </a:solidFill>
                <a:latin typeface="Inter" pitchFamily="34" charset="0"/>
                <a:ea typeface="Inter" pitchFamily="34" charset="-122"/>
                <a:cs typeface="Inter" pitchFamily="34" charset="-120"/>
              </a:rPr>
              <a:t>¿Por qué medir?</a:t>
            </a:r>
            <a:endParaRPr lang="en-US" sz="2600" dirty="0"/>
          </a:p>
        </p:txBody>
      </p:sp>
      <p:sp>
        <p:nvSpPr>
          <p:cNvPr id="6" name="Text 3"/>
          <p:cNvSpPr/>
          <p:nvPr/>
        </p:nvSpPr>
        <p:spPr>
          <a:xfrm>
            <a:off x="603504" y="749808"/>
            <a:ext cx="8083296" cy="274320"/>
          </a:xfrm>
          <a:prstGeom prst="rect">
            <a:avLst/>
          </a:prstGeom>
          <a:noFill/>
          <a:ln/>
        </p:spPr>
        <p:txBody>
          <a:bodyPr wrap="square" lIns="0" tIns="0" rIns="0" bIns="0" rtlCol="0" anchor="ctr"/>
          <a:lstStyle/>
          <a:p>
            <a:pPr indent="0" marL="0">
              <a:buNone/>
            </a:pPr>
            <a:r>
              <a:rPr lang="en-US" sz="1200" i="1" dirty="0">
                <a:solidFill>
                  <a:srgbClr val="6A7686"/>
                </a:solidFill>
                <a:latin typeface="Inter" pitchFamily="34" charset="0"/>
                <a:ea typeface="Inter" pitchFamily="34" charset="-122"/>
                <a:cs typeface="Inter" pitchFamily="34" charset="-120"/>
              </a:rPr>
              <a:t>La respuesta cambia por completo el sentido del registro.</a:t>
            </a:r>
            <a:endParaRPr lang="en-US" sz="1200" dirty="0"/>
          </a:p>
        </p:txBody>
      </p:sp>
      <p:sp>
        <p:nvSpPr>
          <p:cNvPr id="7" name="Shape 4"/>
          <p:cNvSpPr/>
          <p:nvPr/>
        </p:nvSpPr>
        <p:spPr>
          <a:xfrm>
            <a:off x="603504" y="1234440"/>
            <a:ext cx="3950208" cy="2487168"/>
          </a:xfrm>
          <a:prstGeom prst="roundRect">
            <a:avLst>
              <a:gd name="adj" fmla="val 3309"/>
            </a:avLst>
          </a:prstGeom>
          <a:solidFill>
            <a:srgbClr val="7C8594"/>
          </a:solidFill>
          <a:ln w="12700">
            <a:solidFill>
              <a:srgbClr val="7C8594"/>
            </a:solidFill>
            <a:prstDash val="solid"/>
          </a:ln>
        </p:spPr>
      </p:sp>
      <p:sp>
        <p:nvSpPr>
          <p:cNvPr id="8" name="Text 5"/>
          <p:cNvSpPr/>
          <p:nvPr/>
        </p:nvSpPr>
        <p:spPr>
          <a:xfrm>
            <a:off x="877824" y="1463040"/>
            <a:ext cx="3383280" cy="365760"/>
          </a:xfrm>
          <a:prstGeom prst="rect">
            <a:avLst/>
          </a:prstGeom>
          <a:noFill/>
          <a:ln/>
        </p:spPr>
        <p:txBody>
          <a:bodyPr wrap="square" lIns="0" tIns="0" rIns="0" bIns="0" rtlCol="0" anchor="ctr"/>
          <a:lstStyle/>
          <a:p>
            <a:pPr indent="0" marL="0">
              <a:buNone/>
            </a:pPr>
            <a:r>
              <a:rPr lang="en-US" sz="1800" b="1" dirty="0">
                <a:solidFill>
                  <a:srgbClr val="FFFFFF"/>
                </a:solidFill>
                <a:latin typeface="Inter" pitchFamily="34" charset="0"/>
                <a:ea typeface="Inter" pitchFamily="34" charset="-122"/>
                <a:cs typeface="Inter" pitchFamily="34" charset="-120"/>
              </a:rPr>
              <a:t>¿Para CONTROLAR?</a:t>
            </a:r>
            <a:endParaRPr lang="en-US" sz="1800" dirty="0"/>
          </a:p>
        </p:txBody>
      </p:sp>
      <p:sp>
        <p:nvSpPr>
          <p:cNvPr id="9" name="Shape 6"/>
          <p:cNvSpPr/>
          <p:nvPr/>
        </p:nvSpPr>
        <p:spPr>
          <a:xfrm>
            <a:off x="877824" y="1920240"/>
            <a:ext cx="731520" cy="402336"/>
          </a:xfrm>
          <a:prstGeom prst="roundRect">
            <a:avLst>
              <a:gd name="adj" fmla="val 20455"/>
            </a:avLst>
          </a:prstGeom>
          <a:solidFill>
            <a:srgbClr val="E74B3C"/>
          </a:solidFill>
          <a:ln w="12700">
            <a:solidFill>
              <a:srgbClr val="E74B3C"/>
            </a:solidFill>
            <a:prstDash val="solid"/>
          </a:ln>
        </p:spPr>
      </p:sp>
      <p:sp>
        <p:nvSpPr>
          <p:cNvPr id="10" name="Text 7"/>
          <p:cNvSpPr/>
          <p:nvPr/>
        </p:nvSpPr>
        <p:spPr>
          <a:xfrm>
            <a:off x="877824" y="1920240"/>
            <a:ext cx="731520"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NO</a:t>
            </a:r>
            <a:endParaRPr lang="en-US" sz="1400" dirty="0"/>
          </a:p>
        </p:txBody>
      </p:sp>
      <p:sp>
        <p:nvSpPr>
          <p:cNvPr id="11" name="Text 8"/>
          <p:cNvSpPr/>
          <p:nvPr/>
        </p:nvSpPr>
        <p:spPr>
          <a:xfrm>
            <a:off x="877824" y="2487168"/>
            <a:ext cx="3419856" cy="1188720"/>
          </a:xfrm>
          <a:prstGeom prst="rect">
            <a:avLst/>
          </a:prstGeom>
          <a:noFill/>
          <a:ln/>
        </p:spPr>
        <p:txBody>
          <a:bodyPr wrap="square" lIns="0" tIns="0" rIns="0" bIns="0" rtlCol="0" anchor="ctr"/>
          <a:lstStyle/>
          <a:p>
            <a:pPr indent="0" marL="0">
              <a:lnSpc>
                <a:spcPts val="1800"/>
              </a:lnSpc>
              <a:buNone/>
            </a:pPr>
            <a:r>
              <a:rPr lang="en-US" sz="1300" dirty="0">
                <a:solidFill>
                  <a:srgbClr val="E4E6E9"/>
                </a:solidFill>
                <a:latin typeface="Inter" pitchFamily="34" charset="0"/>
                <a:ea typeface="Inter" pitchFamily="34" charset="-122"/>
                <a:cs typeface="Inter" pitchFamily="34" charset="-120"/>
              </a:rPr>
              <a:t>Los agentes son comisionistas: no sirve controlarlos, solo sirve potenciarlos.</a:t>
            </a:r>
            <a:endParaRPr lang="en-US" sz="1300" dirty="0"/>
          </a:p>
        </p:txBody>
      </p:sp>
      <p:sp>
        <p:nvSpPr>
          <p:cNvPr id="12" name="Shape 9"/>
          <p:cNvSpPr/>
          <p:nvPr/>
        </p:nvSpPr>
        <p:spPr>
          <a:xfrm>
            <a:off x="4736592" y="1234440"/>
            <a:ext cx="3950208" cy="2487168"/>
          </a:xfrm>
          <a:prstGeom prst="roundRect">
            <a:avLst>
              <a:gd name="adj" fmla="val 3309"/>
            </a:avLst>
          </a:prstGeom>
          <a:solidFill>
            <a:srgbClr val="08407C"/>
          </a:solidFill>
          <a:ln w="12700">
            <a:solidFill>
              <a:srgbClr val="08407C"/>
            </a:solidFill>
            <a:prstDash val="solid"/>
          </a:ln>
        </p:spPr>
      </p:sp>
      <p:sp>
        <p:nvSpPr>
          <p:cNvPr id="13" name="Text 10"/>
          <p:cNvSpPr/>
          <p:nvPr/>
        </p:nvSpPr>
        <p:spPr>
          <a:xfrm>
            <a:off x="5010912" y="1463040"/>
            <a:ext cx="3383280" cy="365760"/>
          </a:xfrm>
          <a:prstGeom prst="rect">
            <a:avLst/>
          </a:prstGeom>
          <a:noFill/>
          <a:ln/>
        </p:spPr>
        <p:txBody>
          <a:bodyPr wrap="square" lIns="0" tIns="0" rIns="0" bIns="0" rtlCol="0" anchor="ctr"/>
          <a:lstStyle/>
          <a:p>
            <a:pPr indent="0" marL="0">
              <a:buNone/>
            </a:pPr>
            <a:r>
              <a:rPr lang="en-US" sz="1800" b="1" dirty="0">
                <a:solidFill>
                  <a:srgbClr val="FFFFFF"/>
                </a:solidFill>
                <a:latin typeface="Inter" pitchFamily="34" charset="0"/>
                <a:ea typeface="Inter" pitchFamily="34" charset="-122"/>
                <a:cs typeface="Inter" pitchFamily="34" charset="-120"/>
              </a:rPr>
              <a:t>¿Para CONCIENTIZAR?</a:t>
            </a:r>
            <a:endParaRPr lang="en-US" sz="1800" dirty="0"/>
          </a:p>
        </p:txBody>
      </p:sp>
      <p:sp>
        <p:nvSpPr>
          <p:cNvPr id="14" name="Shape 11"/>
          <p:cNvSpPr/>
          <p:nvPr/>
        </p:nvSpPr>
        <p:spPr>
          <a:xfrm>
            <a:off x="5010912" y="1920240"/>
            <a:ext cx="731520" cy="402336"/>
          </a:xfrm>
          <a:prstGeom prst="roundRect">
            <a:avLst>
              <a:gd name="adj" fmla="val 20455"/>
            </a:avLst>
          </a:prstGeom>
          <a:solidFill>
            <a:srgbClr val="26AE60"/>
          </a:solidFill>
          <a:ln w="12700">
            <a:solidFill>
              <a:srgbClr val="26AE60"/>
            </a:solidFill>
            <a:prstDash val="solid"/>
          </a:ln>
        </p:spPr>
      </p:sp>
      <p:sp>
        <p:nvSpPr>
          <p:cNvPr id="15" name="Text 12"/>
          <p:cNvSpPr/>
          <p:nvPr/>
        </p:nvSpPr>
        <p:spPr>
          <a:xfrm>
            <a:off x="5010912" y="1920240"/>
            <a:ext cx="731520"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SÍ</a:t>
            </a:r>
            <a:endParaRPr lang="en-US" sz="1400" dirty="0"/>
          </a:p>
        </p:txBody>
      </p:sp>
      <p:sp>
        <p:nvSpPr>
          <p:cNvPr id="16" name="Text 13"/>
          <p:cNvSpPr/>
          <p:nvPr/>
        </p:nvSpPr>
        <p:spPr>
          <a:xfrm>
            <a:off x="5010912" y="2487168"/>
            <a:ext cx="3419856" cy="1188720"/>
          </a:xfrm>
          <a:prstGeom prst="rect">
            <a:avLst/>
          </a:prstGeom>
          <a:noFill/>
          <a:ln/>
        </p:spPr>
        <p:txBody>
          <a:bodyPr wrap="square" lIns="0" tIns="0" rIns="0" bIns="0" rtlCol="0" anchor="ctr"/>
          <a:lstStyle/>
          <a:p>
            <a:pPr indent="0" marL="0">
              <a:lnSpc>
                <a:spcPts val="1800"/>
              </a:lnSpc>
              <a:buNone/>
            </a:pPr>
            <a:r>
              <a:rPr lang="en-US" sz="1300" dirty="0">
                <a:solidFill>
                  <a:srgbClr val="CDD8E4"/>
                </a:solidFill>
                <a:latin typeface="Inter" pitchFamily="34" charset="0"/>
                <a:ea typeface="Inter" pitchFamily="34" charset="-122"/>
                <a:cs typeface="Inter" pitchFamily="34" charset="-120"/>
              </a:rPr>
              <a:t>La conciencia es la perspectiva de nuestra realidad. A través de ella podemos orientar nuestras acciones y pensamientos para crear realidad.</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411480" cy="5143500"/>
          </a:xfrm>
          <a:prstGeom prst="rect">
            <a:avLst/>
          </a:prstGeom>
          <a:solidFill>
            <a:srgbClr val="4E586E"/>
          </a:solidFill>
          <a:ln w="12700">
            <a:solidFill>
              <a:srgbClr val="4E586E"/>
            </a:solidFill>
            <a:prstDash val="solid"/>
          </a:ln>
        </p:spPr>
      </p:sp>
      <p:sp>
        <p:nvSpPr>
          <p:cNvPr id="3" name="Shape 1"/>
          <p:cNvSpPr/>
          <p:nvPr/>
        </p:nvSpPr>
        <p:spPr>
          <a:xfrm>
            <a:off x="0" y="0"/>
            <a:ext cx="411480" cy="402336"/>
          </a:xfrm>
          <a:prstGeom prst="rect">
            <a:avLst/>
          </a:prstGeom>
          <a:solidFill>
            <a:srgbClr val="08407C"/>
          </a:solidFill>
          <a:ln w="12700">
            <a:solidFill>
              <a:srgbClr val="08407C"/>
            </a:solidFill>
            <a:prstDash val="solid"/>
          </a:ln>
        </p:spPr>
      </p:sp>
      <p:pic>
        <p:nvPicPr>
          <p:cNvPr id="4" name="Image 0" descr="/home/user/KrakRealEstate/capacitaciones/prospeccion/brand/iso_white.png">    </p:cNvPr>
          <p:cNvPicPr>
            <a:picLocks noChangeAspect="1"/>
          </p:cNvPicPr>
          <p:nvPr/>
        </p:nvPicPr>
        <p:blipFill>
          <a:blip r:embed="rId2"/>
          <a:stretch>
            <a:fillRect/>
          </a:stretch>
        </p:blipFill>
        <p:spPr>
          <a:xfrm>
            <a:off x="123444" y="68580"/>
            <a:ext cx="164592" cy="217627"/>
          </a:xfrm>
          <a:prstGeom prst="rect">
            <a:avLst/>
          </a:prstGeom>
        </p:spPr>
      </p:pic>
      <p:sp>
        <p:nvSpPr>
          <p:cNvPr id="5" name="Text 2"/>
          <p:cNvSpPr/>
          <p:nvPr/>
        </p:nvSpPr>
        <p:spPr>
          <a:xfrm>
            <a:off x="603504" y="256032"/>
            <a:ext cx="8083296" cy="475488"/>
          </a:xfrm>
          <a:prstGeom prst="rect">
            <a:avLst/>
          </a:prstGeom>
          <a:noFill/>
          <a:ln/>
        </p:spPr>
        <p:txBody>
          <a:bodyPr wrap="square" lIns="0" tIns="0" rIns="0" bIns="0" rtlCol="0" anchor="ctr"/>
          <a:lstStyle/>
          <a:p>
            <a:pPr indent="0" marL="0">
              <a:buNone/>
            </a:pPr>
            <a:r>
              <a:rPr lang="en-US" sz="2600" b="1" dirty="0">
                <a:solidFill>
                  <a:srgbClr val="08407C"/>
                </a:solidFill>
                <a:latin typeface="Inter" pitchFamily="34" charset="0"/>
                <a:ea typeface="Inter" pitchFamily="34" charset="-122"/>
                <a:cs typeface="Inter" pitchFamily="34" charset="-120"/>
              </a:rPr>
              <a:t>El deseo es equivalente a la acción</a:t>
            </a:r>
            <a:endParaRPr lang="en-US" sz="2600" dirty="0"/>
          </a:p>
        </p:txBody>
      </p:sp>
      <p:sp>
        <p:nvSpPr>
          <p:cNvPr id="6" name="Text 3"/>
          <p:cNvSpPr/>
          <p:nvPr/>
        </p:nvSpPr>
        <p:spPr>
          <a:xfrm>
            <a:off x="603504" y="749808"/>
            <a:ext cx="8083296" cy="274320"/>
          </a:xfrm>
          <a:prstGeom prst="rect">
            <a:avLst/>
          </a:prstGeom>
          <a:noFill/>
          <a:ln/>
        </p:spPr>
        <p:txBody>
          <a:bodyPr wrap="square" lIns="0" tIns="0" rIns="0" bIns="0" rtlCol="0" anchor="ctr"/>
          <a:lstStyle/>
          <a:p>
            <a:pPr indent="0" marL="0">
              <a:buNone/>
            </a:pPr>
            <a:r>
              <a:rPr lang="en-US" sz="1200" i="1" dirty="0">
                <a:solidFill>
                  <a:srgbClr val="6A7686"/>
                </a:solidFill>
                <a:latin typeface="Inter" pitchFamily="34" charset="0"/>
                <a:ea typeface="Inter" pitchFamily="34" charset="-122"/>
                <a:cs typeface="Inter" pitchFamily="34" charset="-120"/>
              </a:rPr>
              <a:t>El mundo está lleno de buenas intenciones.</a:t>
            </a:r>
            <a:endParaRPr lang="en-US" sz="1200" dirty="0"/>
          </a:p>
        </p:txBody>
      </p:sp>
      <p:sp>
        <p:nvSpPr>
          <p:cNvPr id="7" name="Shape 4"/>
          <p:cNvSpPr/>
          <p:nvPr/>
        </p:nvSpPr>
        <p:spPr>
          <a:xfrm>
            <a:off x="603504" y="1225296"/>
            <a:ext cx="2542032" cy="822960"/>
          </a:xfrm>
          <a:prstGeom prst="roundRect">
            <a:avLst>
              <a:gd name="adj" fmla="val 10000"/>
            </a:avLst>
          </a:prstGeom>
          <a:solidFill>
            <a:srgbClr val="F3F3F3"/>
          </a:solidFill>
          <a:ln w="12700">
            <a:solidFill>
              <a:srgbClr val="F3F3F3"/>
            </a:solidFill>
            <a:prstDash val="solid"/>
          </a:ln>
        </p:spPr>
      </p:sp>
      <p:sp>
        <p:nvSpPr>
          <p:cNvPr id="8" name="Text 5"/>
          <p:cNvSpPr/>
          <p:nvPr/>
        </p:nvSpPr>
        <p:spPr>
          <a:xfrm>
            <a:off x="786384" y="1225296"/>
            <a:ext cx="2194560" cy="822960"/>
          </a:xfrm>
          <a:prstGeom prst="rect">
            <a:avLst/>
          </a:prstGeom>
          <a:noFill/>
          <a:ln/>
        </p:spPr>
        <p:txBody>
          <a:bodyPr wrap="square" lIns="0" tIns="0" rIns="0" bIns="0" rtlCol="0" anchor="ctr"/>
          <a:lstStyle/>
          <a:p>
            <a:pPr algn="ctr" indent="0" marL="0">
              <a:lnSpc>
                <a:spcPts val="1600"/>
              </a:lnSpc>
              <a:buNone/>
            </a:pPr>
            <a:r>
              <a:rPr lang="en-US" sz="1300" i="1" dirty="0">
                <a:solidFill>
                  <a:srgbClr val="2E4258"/>
                </a:solidFill>
                <a:latin typeface="Inter" pitchFamily="34" charset="0"/>
                <a:ea typeface="Inter" pitchFamily="34" charset="-122"/>
                <a:cs typeface="Inter" pitchFamily="34" charset="-120"/>
              </a:rPr>
              <a:t>“Este año me recibo”</a:t>
            </a:r>
            <a:endParaRPr lang="en-US" sz="1300" dirty="0"/>
          </a:p>
        </p:txBody>
      </p:sp>
      <p:sp>
        <p:nvSpPr>
          <p:cNvPr id="9" name="Shape 6"/>
          <p:cNvSpPr/>
          <p:nvPr/>
        </p:nvSpPr>
        <p:spPr>
          <a:xfrm>
            <a:off x="3374136" y="1225296"/>
            <a:ext cx="2542032" cy="822960"/>
          </a:xfrm>
          <a:prstGeom prst="roundRect">
            <a:avLst>
              <a:gd name="adj" fmla="val 10000"/>
            </a:avLst>
          </a:prstGeom>
          <a:solidFill>
            <a:srgbClr val="F3F3F3"/>
          </a:solidFill>
          <a:ln w="12700">
            <a:solidFill>
              <a:srgbClr val="F3F3F3"/>
            </a:solidFill>
            <a:prstDash val="solid"/>
          </a:ln>
        </p:spPr>
      </p:sp>
      <p:sp>
        <p:nvSpPr>
          <p:cNvPr id="10" name="Text 7"/>
          <p:cNvSpPr/>
          <p:nvPr/>
        </p:nvSpPr>
        <p:spPr>
          <a:xfrm>
            <a:off x="3557016" y="1225296"/>
            <a:ext cx="2194560" cy="822960"/>
          </a:xfrm>
          <a:prstGeom prst="rect">
            <a:avLst/>
          </a:prstGeom>
          <a:noFill/>
          <a:ln/>
        </p:spPr>
        <p:txBody>
          <a:bodyPr wrap="square" lIns="0" tIns="0" rIns="0" bIns="0" rtlCol="0" anchor="ctr"/>
          <a:lstStyle/>
          <a:p>
            <a:pPr algn="ctr" indent="0" marL="0">
              <a:lnSpc>
                <a:spcPts val="1600"/>
              </a:lnSpc>
              <a:buNone/>
            </a:pPr>
            <a:r>
              <a:rPr lang="en-US" sz="1300" i="1" dirty="0">
                <a:solidFill>
                  <a:srgbClr val="2E4258"/>
                </a:solidFill>
                <a:latin typeface="Inter" pitchFamily="34" charset="0"/>
                <a:ea typeface="Inter" pitchFamily="34" charset="-122"/>
                <a:cs typeface="Inter" pitchFamily="34" charset="-120"/>
              </a:rPr>
              <a:t>“Quiero estar en forma”</a:t>
            </a:r>
            <a:endParaRPr lang="en-US" sz="1300" dirty="0"/>
          </a:p>
        </p:txBody>
      </p:sp>
      <p:sp>
        <p:nvSpPr>
          <p:cNvPr id="11" name="Shape 8"/>
          <p:cNvSpPr/>
          <p:nvPr/>
        </p:nvSpPr>
        <p:spPr>
          <a:xfrm>
            <a:off x="6144768" y="1225296"/>
            <a:ext cx="2542032" cy="822960"/>
          </a:xfrm>
          <a:prstGeom prst="roundRect">
            <a:avLst>
              <a:gd name="adj" fmla="val 10000"/>
            </a:avLst>
          </a:prstGeom>
          <a:solidFill>
            <a:srgbClr val="F3F3F3"/>
          </a:solidFill>
          <a:ln w="12700">
            <a:solidFill>
              <a:srgbClr val="F3F3F3"/>
            </a:solidFill>
            <a:prstDash val="solid"/>
          </a:ln>
        </p:spPr>
      </p:sp>
      <p:sp>
        <p:nvSpPr>
          <p:cNvPr id="12" name="Text 9"/>
          <p:cNvSpPr/>
          <p:nvPr/>
        </p:nvSpPr>
        <p:spPr>
          <a:xfrm>
            <a:off x="6327648" y="1225296"/>
            <a:ext cx="2194560" cy="822960"/>
          </a:xfrm>
          <a:prstGeom prst="rect">
            <a:avLst/>
          </a:prstGeom>
          <a:noFill/>
          <a:ln/>
        </p:spPr>
        <p:txBody>
          <a:bodyPr wrap="square" lIns="0" tIns="0" rIns="0" bIns="0" rtlCol="0" anchor="ctr"/>
          <a:lstStyle/>
          <a:p>
            <a:pPr algn="ctr" indent="0" marL="0">
              <a:lnSpc>
                <a:spcPts val="1600"/>
              </a:lnSpc>
              <a:buNone/>
            </a:pPr>
            <a:r>
              <a:rPr lang="en-US" sz="1300" i="1" dirty="0">
                <a:solidFill>
                  <a:srgbClr val="2E4258"/>
                </a:solidFill>
                <a:latin typeface="Inter" pitchFamily="34" charset="0"/>
                <a:ea typeface="Inter" pitchFamily="34" charset="-122"/>
                <a:cs typeface="Inter" pitchFamily="34" charset="-120"/>
              </a:rPr>
              <a:t>“Voy a ser el mejor en X cosa”</a:t>
            </a:r>
            <a:endParaRPr lang="en-US" sz="1300" dirty="0"/>
          </a:p>
        </p:txBody>
      </p:sp>
      <p:sp>
        <p:nvSpPr>
          <p:cNvPr id="13" name="Shape 10"/>
          <p:cNvSpPr/>
          <p:nvPr/>
        </p:nvSpPr>
        <p:spPr>
          <a:xfrm>
            <a:off x="603504" y="2286000"/>
            <a:ext cx="8083296" cy="1371600"/>
          </a:xfrm>
          <a:prstGeom prst="roundRect">
            <a:avLst>
              <a:gd name="adj" fmla="val 6000"/>
            </a:avLst>
          </a:prstGeom>
          <a:solidFill>
            <a:srgbClr val="08407C"/>
          </a:solidFill>
          <a:ln w="12700">
            <a:solidFill>
              <a:srgbClr val="08407C"/>
            </a:solidFill>
            <a:prstDash val="solid"/>
          </a:ln>
        </p:spPr>
      </p:sp>
      <p:sp>
        <p:nvSpPr>
          <p:cNvPr id="14" name="Text 11"/>
          <p:cNvSpPr/>
          <p:nvPr/>
        </p:nvSpPr>
        <p:spPr>
          <a:xfrm>
            <a:off x="1060704" y="2286000"/>
            <a:ext cx="7168896" cy="1371600"/>
          </a:xfrm>
          <a:prstGeom prst="rect">
            <a:avLst/>
          </a:prstGeom>
          <a:noFill/>
          <a:ln/>
        </p:spPr>
        <p:txBody>
          <a:bodyPr wrap="square" lIns="0" tIns="0" rIns="0" bIns="0" rtlCol="0" anchor="ctr"/>
          <a:lstStyle/>
          <a:p>
            <a:pPr algn="ctr" indent="0" marL="0">
              <a:lnSpc>
                <a:spcPts val="2400"/>
              </a:lnSpc>
              <a:buNone/>
            </a:pPr>
            <a:r>
              <a:rPr lang="en-US" sz="1700" b="1" dirty="0">
                <a:solidFill>
                  <a:srgbClr val="FFFFFF"/>
                </a:solidFill>
                <a:latin typeface="Inter" pitchFamily="34" charset="0"/>
                <a:ea typeface="Inter" pitchFamily="34" charset="-122"/>
                <a:cs typeface="Inter" pitchFamily="34" charset="-120"/>
              </a:rPr>
              <a:t>¿Estás entrenando lo suficiente? ¿Estás estudiando? ¿Estás comiendo como se debe? ¿Estás yendo todos los días al gimnasio?</a:t>
            </a:r>
            <a:endParaRPr lang="en-US" sz="1700" dirty="0"/>
          </a:p>
        </p:txBody>
      </p:sp>
      <p:sp>
        <p:nvSpPr>
          <p:cNvPr id="15" name="Shape 12"/>
          <p:cNvSpPr/>
          <p:nvPr/>
        </p:nvSpPr>
        <p:spPr>
          <a:xfrm>
            <a:off x="603504" y="3858768"/>
            <a:ext cx="8083296" cy="658368"/>
          </a:xfrm>
          <a:prstGeom prst="roundRect">
            <a:avLst>
              <a:gd name="adj" fmla="val 12500"/>
            </a:avLst>
          </a:prstGeom>
          <a:solidFill>
            <a:srgbClr val="7C8594"/>
          </a:solidFill>
          <a:ln w="12700">
            <a:solidFill>
              <a:srgbClr val="7C8594"/>
            </a:solidFill>
            <a:prstDash val="solid"/>
          </a:ln>
        </p:spPr>
      </p:sp>
      <p:sp>
        <p:nvSpPr>
          <p:cNvPr id="16" name="Text 13"/>
          <p:cNvSpPr/>
          <p:nvPr/>
        </p:nvSpPr>
        <p:spPr>
          <a:xfrm>
            <a:off x="841248" y="3904488"/>
            <a:ext cx="7626096" cy="201168"/>
          </a:xfrm>
          <a:prstGeom prst="rect">
            <a:avLst/>
          </a:prstGeom>
          <a:noFill/>
          <a:ln/>
        </p:spPr>
        <p:txBody>
          <a:bodyPr wrap="square" lIns="0" tIns="0" rIns="0" bIns="0" rtlCol="0" anchor="ctr"/>
          <a:lstStyle/>
          <a:p>
            <a:pPr indent="0" marL="0">
              <a:buNone/>
            </a:pPr>
            <a:r>
              <a:rPr lang="en-US" sz="900" b="1" spc="120" kern="0" dirty="0">
                <a:solidFill>
                  <a:srgbClr val="FFFFFF"/>
                </a:solidFill>
                <a:latin typeface="Inter" pitchFamily="34" charset="0"/>
                <a:ea typeface="Inter" pitchFamily="34" charset="-122"/>
                <a:cs typeface="Inter" pitchFamily="34" charset="-120"/>
              </a:rPr>
              <a:t>LA REGLA</a:t>
            </a:r>
            <a:endParaRPr lang="en-US" sz="900" dirty="0"/>
          </a:p>
        </p:txBody>
      </p:sp>
      <p:sp>
        <p:nvSpPr>
          <p:cNvPr id="17" name="Text 14"/>
          <p:cNvSpPr/>
          <p:nvPr/>
        </p:nvSpPr>
        <p:spPr>
          <a:xfrm>
            <a:off x="841248" y="4105656"/>
            <a:ext cx="7607808" cy="347472"/>
          </a:xfrm>
          <a:prstGeom prst="rect">
            <a:avLst/>
          </a:prstGeom>
          <a:noFill/>
          <a:ln/>
        </p:spPr>
        <p:txBody>
          <a:bodyPr wrap="square" lIns="0" tIns="0" rIns="0" bIns="0" rtlCol="0" anchor="ctr"/>
          <a:lstStyle/>
          <a:p>
            <a:pPr indent="0" marL="0">
              <a:lnSpc>
                <a:spcPts val="1400"/>
              </a:lnSpc>
              <a:buNone/>
            </a:pPr>
            <a:r>
              <a:rPr lang="en-US" sz="1100" dirty="0">
                <a:solidFill>
                  <a:srgbClr val="FFFFFF"/>
                </a:solidFill>
                <a:latin typeface="Inter" pitchFamily="34" charset="0"/>
                <a:ea typeface="Inter" pitchFamily="34" charset="-122"/>
                <a:cs typeface="Inter" pitchFamily="34" charset="-120"/>
              </a:rPr>
              <a:t>El deseo se mide en acciones, no en intenciones. Lo mismo vale para la prospección: no importa cuánto quieras facturar, importa a cuánta gente contactaste esta semana.</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411480" cy="5143500"/>
          </a:xfrm>
          <a:prstGeom prst="rect">
            <a:avLst/>
          </a:prstGeom>
          <a:solidFill>
            <a:srgbClr val="4E586E"/>
          </a:solidFill>
          <a:ln w="12700">
            <a:solidFill>
              <a:srgbClr val="4E586E"/>
            </a:solidFill>
            <a:prstDash val="solid"/>
          </a:ln>
        </p:spPr>
      </p:sp>
      <p:sp>
        <p:nvSpPr>
          <p:cNvPr id="3" name="Shape 1"/>
          <p:cNvSpPr/>
          <p:nvPr/>
        </p:nvSpPr>
        <p:spPr>
          <a:xfrm>
            <a:off x="0" y="0"/>
            <a:ext cx="411480" cy="402336"/>
          </a:xfrm>
          <a:prstGeom prst="rect">
            <a:avLst/>
          </a:prstGeom>
          <a:solidFill>
            <a:srgbClr val="08407C"/>
          </a:solidFill>
          <a:ln w="12700">
            <a:solidFill>
              <a:srgbClr val="08407C"/>
            </a:solidFill>
            <a:prstDash val="solid"/>
          </a:ln>
        </p:spPr>
      </p:sp>
      <p:pic>
        <p:nvPicPr>
          <p:cNvPr id="4" name="Image 0" descr="/home/user/KrakRealEstate/capacitaciones/prospeccion/brand/iso_white.png">    </p:cNvPr>
          <p:cNvPicPr>
            <a:picLocks noChangeAspect="1"/>
          </p:cNvPicPr>
          <p:nvPr/>
        </p:nvPicPr>
        <p:blipFill>
          <a:blip r:embed="rId2"/>
          <a:stretch>
            <a:fillRect/>
          </a:stretch>
        </p:blipFill>
        <p:spPr>
          <a:xfrm>
            <a:off x="123444" y="68580"/>
            <a:ext cx="164592" cy="217627"/>
          </a:xfrm>
          <a:prstGeom prst="rect">
            <a:avLst/>
          </a:prstGeom>
        </p:spPr>
      </p:pic>
      <p:sp>
        <p:nvSpPr>
          <p:cNvPr id="5" name="Text 2"/>
          <p:cNvSpPr/>
          <p:nvPr/>
        </p:nvSpPr>
        <p:spPr>
          <a:xfrm>
            <a:off x="603504" y="256032"/>
            <a:ext cx="8083296" cy="475488"/>
          </a:xfrm>
          <a:prstGeom prst="rect">
            <a:avLst/>
          </a:prstGeom>
          <a:noFill/>
          <a:ln/>
        </p:spPr>
        <p:txBody>
          <a:bodyPr wrap="square" lIns="0" tIns="0" rIns="0" bIns="0" rtlCol="0" anchor="ctr"/>
          <a:lstStyle/>
          <a:p>
            <a:pPr indent="0" marL="0">
              <a:buNone/>
            </a:pPr>
            <a:r>
              <a:rPr lang="en-US" sz="2600" b="1" dirty="0">
                <a:solidFill>
                  <a:srgbClr val="08407C"/>
                </a:solidFill>
                <a:latin typeface="Inter" pitchFamily="34" charset="0"/>
                <a:ea typeface="Inter" pitchFamily="34" charset="-122"/>
                <a:cs typeface="Inter" pitchFamily="34" charset="-120"/>
              </a:rPr>
              <a:t>Canales de prospección</a:t>
            </a:r>
            <a:endParaRPr lang="en-US" sz="2600" dirty="0"/>
          </a:p>
        </p:txBody>
      </p:sp>
      <p:sp>
        <p:nvSpPr>
          <p:cNvPr id="6" name="Text 3"/>
          <p:cNvSpPr/>
          <p:nvPr/>
        </p:nvSpPr>
        <p:spPr>
          <a:xfrm>
            <a:off x="603504" y="749808"/>
            <a:ext cx="8083296" cy="274320"/>
          </a:xfrm>
          <a:prstGeom prst="rect">
            <a:avLst/>
          </a:prstGeom>
          <a:noFill/>
          <a:ln/>
        </p:spPr>
        <p:txBody>
          <a:bodyPr wrap="square" lIns="0" tIns="0" rIns="0" bIns="0" rtlCol="0" anchor="ctr"/>
          <a:lstStyle/>
          <a:p>
            <a:pPr indent="0" marL="0">
              <a:buNone/>
            </a:pPr>
            <a:r>
              <a:rPr lang="en-US" sz="1200" i="1" dirty="0">
                <a:solidFill>
                  <a:srgbClr val="6A7686"/>
                </a:solidFill>
                <a:latin typeface="Inter" pitchFamily="34" charset="0"/>
                <a:ea typeface="Inter" pitchFamily="34" charset="-122"/>
                <a:cs typeface="Inter" pitchFamily="34" charset="-120"/>
              </a:rPr>
              <a:t>No comprás lo que no ves en la estantería.</a:t>
            </a:r>
            <a:endParaRPr lang="en-US" sz="1200" dirty="0"/>
          </a:p>
        </p:txBody>
      </p:sp>
      <p:sp>
        <p:nvSpPr>
          <p:cNvPr id="7" name="Shape 4"/>
          <p:cNvSpPr/>
          <p:nvPr/>
        </p:nvSpPr>
        <p:spPr>
          <a:xfrm>
            <a:off x="603504" y="1207008"/>
            <a:ext cx="3950208" cy="2834640"/>
          </a:xfrm>
          <a:prstGeom prst="roundRect">
            <a:avLst>
              <a:gd name="adj" fmla="val 2903"/>
            </a:avLst>
          </a:prstGeom>
          <a:solidFill>
            <a:srgbClr val="08407C"/>
          </a:solidFill>
          <a:ln w="12700">
            <a:solidFill>
              <a:srgbClr val="08407C"/>
            </a:solidFill>
            <a:prstDash val="solid"/>
          </a:ln>
        </p:spPr>
      </p:sp>
      <p:sp>
        <p:nvSpPr>
          <p:cNvPr id="8" name="Text 5"/>
          <p:cNvSpPr/>
          <p:nvPr/>
        </p:nvSpPr>
        <p:spPr>
          <a:xfrm>
            <a:off x="877824" y="1408176"/>
            <a:ext cx="3383280" cy="274320"/>
          </a:xfrm>
          <a:prstGeom prst="rect">
            <a:avLst/>
          </a:prstGeom>
          <a:noFill/>
          <a:ln/>
        </p:spPr>
        <p:txBody>
          <a:bodyPr wrap="square" lIns="0" tIns="0" rIns="0" bIns="0" rtlCol="0" anchor="ctr"/>
          <a:lstStyle/>
          <a:p>
            <a:pPr indent="0" marL="0">
              <a:buNone/>
            </a:pPr>
            <a:r>
              <a:rPr lang="en-US" sz="1200" b="1" spc="100" kern="0" dirty="0">
                <a:solidFill>
                  <a:srgbClr val="FFFFFF"/>
                </a:solidFill>
                <a:latin typeface="Inter" pitchFamily="34" charset="0"/>
                <a:ea typeface="Inter" pitchFamily="34" charset="-122"/>
                <a:cs typeface="Inter" pitchFamily="34" charset="-120"/>
              </a:rPr>
              <a:t>CANALES DIGITALES</a:t>
            </a:r>
            <a:endParaRPr lang="en-US" sz="1200" dirty="0"/>
          </a:p>
        </p:txBody>
      </p:sp>
      <p:sp>
        <p:nvSpPr>
          <p:cNvPr id="9" name="Shape 6"/>
          <p:cNvSpPr/>
          <p:nvPr/>
        </p:nvSpPr>
        <p:spPr>
          <a:xfrm>
            <a:off x="877824" y="1984248"/>
            <a:ext cx="146304" cy="146304"/>
          </a:xfrm>
          <a:prstGeom prst="roundRect">
            <a:avLst>
              <a:gd name="adj" fmla="val 312500"/>
            </a:avLst>
          </a:prstGeom>
          <a:solidFill>
            <a:srgbClr val="FFFFFF"/>
          </a:solidFill>
          <a:ln w="12700">
            <a:solidFill>
              <a:srgbClr val="FFFFFF"/>
            </a:solidFill>
            <a:prstDash val="solid"/>
          </a:ln>
        </p:spPr>
      </p:sp>
      <p:sp>
        <p:nvSpPr>
          <p:cNvPr id="10" name="Text 7"/>
          <p:cNvSpPr/>
          <p:nvPr/>
        </p:nvSpPr>
        <p:spPr>
          <a:xfrm>
            <a:off x="1152144" y="1828800"/>
            <a:ext cx="3200400" cy="457200"/>
          </a:xfrm>
          <a:prstGeom prst="rect">
            <a:avLst/>
          </a:prstGeom>
          <a:noFill/>
          <a:ln/>
        </p:spPr>
        <p:txBody>
          <a:bodyPr wrap="square" lIns="0" tIns="0" rIns="0" bIns="0" rtlCol="0" anchor="ctr"/>
          <a:lstStyle/>
          <a:p>
            <a:pPr indent="0" marL="0">
              <a:lnSpc>
                <a:spcPts val="1500"/>
              </a:lnSpc>
              <a:buNone/>
            </a:pPr>
            <a:r>
              <a:rPr lang="en-US" sz="1200" dirty="0">
                <a:solidFill>
                  <a:srgbClr val="CDD8E4"/>
                </a:solidFill>
                <a:latin typeface="Inter" pitchFamily="34" charset="0"/>
                <a:ea typeface="Inter" pitchFamily="34" charset="-122"/>
                <a:cs typeface="Inter" pitchFamily="34" charset="-120"/>
              </a:rPr>
              <a:t>Publicaciones en Zonaprop y MercadoLibre</a:t>
            </a:r>
            <a:endParaRPr lang="en-US" sz="1200" dirty="0"/>
          </a:p>
        </p:txBody>
      </p:sp>
      <p:sp>
        <p:nvSpPr>
          <p:cNvPr id="11" name="Shape 8"/>
          <p:cNvSpPr/>
          <p:nvPr/>
        </p:nvSpPr>
        <p:spPr>
          <a:xfrm>
            <a:off x="877824" y="2514600"/>
            <a:ext cx="146304" cy="146304"/>
          </a:xfrm>
          <a:prstGeom prst="roundRect">
            <a:avLst>
              <a:gd name="adj" fmla="val 312500"/>
            </a:avLst>
          </a:prstGeom>
          <a:solidFill>
            <a:srgbClr val="FFFFFF"/>
          </a:solidFill>
          <a:ln w="12700">
            <a:solidFill>
              <a:srgbClr val="FFFFFF"/>
            </a:solidFill>
            <a:prstDash val="solid"/>
          </a:ln>
        </p:spPr>
      </p:sp>
      <p:sp>
        <p:nvSpPr>
          <p:cNvPr id="12" name="Text 9"/>
          <p:cNvSpPr/>
          <p:nvPr/>
        </p:nvSpPr>
        <p:spPr>
          <a:xfrm>
            <a:off x="1152144" y="2359152"/>
            <a:ext cx="3200400" cy="457200"/>
          </a:xfrm>
          <a:prstGeom prst="rect">
            <a:avLst/>
          </a:prstGeom>
          <a:noFill/>
          <a:ln/>
        </p:spPr>
        <p:txBody>
          <a:bodyPr wrap="square" lIns="0" tIns="0" rIns="0" bIns="0" rtlCol="0" anchor="ctr"/>
          <a:lstStyle/>
          <a:p>
            <a:pPr indent="0" marL="0">
              <a:lnSpc>
                <a:spcPts val="1500"/>
              </a:lnSpc>
              <a:buNone/>
            </a:pPr>
            <a:r>
              <a:rPr lang="en-US" sz="1200" dirty="0">
                <a:solidFill>
                  <a:srgbClr val="CDD8E4"/>
                </a:solidFill>
                <a:latin typeface="Inter" pitchFamily="34" charset="0"/>
                <a:ea typeface="Inter" pitchFamily="34" charset="-122"/>
                <a:cs typeface="Inter" pitchFamily="34" charset="-120"/>
              </a:rPr>
              <a:t>Redes sociales: Facebook, Instagram, LinkedIn</a:t>
            </a:r>
            <a:endParaRPr lang="en-US" sz="1200" dirty="0"/>
          </a:p>
        </p:txBody>
      </p:sp>
      <p:sp>
        <p:nvSpPr>
          <p:cNvPr id="13" name="Shape 10"/>
          <p:cNvSpPr/>
          <p:nvPr/>
        </p:nvSpPr>
        <p:spPr>
          <a:xfrm>
            <a:off x="877824" y="3044952"/>
            <a:ext cx="146304" cy="146304"/>
          </a:xfrm>
          <a:prstGeom prst="roundRect">
            <a:avLst>
              <a:gd name="adj" fmla="val 312500"/>
            </a:avLst>
          </a:prstGeom>
          <a:solidFill>
            <a:srgbClr val="FFFFFF"/>
          </a:solidFill>
          <a:ln w="12700">
            <a:solidFill>
              <a:srgbClr val="FFFFFF"/>
            </a:solidFill>
            <a:prstDash val="solid"/>
          </a:ln>
        </p:spPr>
      </p:sp>
      <p:sp>
        <p:nvSpPr>
          <p:cNvPr id="14" name="Text 11"/>
          <p:cNvSpPr/>
          <p:nvPr/>
        </p:nvSpPr>
        <p:spPr>
          <a:xfrm>
            <a:off x="1152144" y="2889504"/>
            <a:ext cx="3200400" cy="457200"/>
          </a:xfrm>
          <a:prstGeom prst="rect">
            <a:avLst/>
          </a:prstGeom>
          <a:noFill/>
          <a:ln/>
        </p:spPr>
        <p:txBody>
          <a:bodyPr wrap="square" lIns="0" tIns="0" rIns="0" bIns="0" rtlCol="0" anchor="ctr"/>
          <a:lstStyle/>
          <a:p>
            <a:pPr indent="0" marL="0">
              <a:lnSpc>
                <a:spcPts val="1500"/>
              </a:lnSpc>
              <a:buNone/>
            </a:pPr>
            <a:r>
              <a:rPr lang="en-US" sz="1200" dirty="0">
                <a:solidFill>
                  <a:srgbClr val="CDD8E4"/>
                </a:solidFill>
                <a:latin typeface="Inter" pitchFamily="34" charset="0"/>
                <a:ea typeface="Inter" pitchFamily="34" charset="-122"/>
                <a:cs typeface="Inter" pitchFamily="34" charset="-120"/>
              </a:rPr>
              <a:t>WhatsApp Business y grupos especializados</a:t>
            </a:r>
            <a:endParaRPr lang="en-US" sz="1200" dirty="0"/>
          </a:p>
        </p:txBody>
      </p:sp>
      <p:sp>
        <p:nvSpPr>
          <p:cNvPr id="15" name="Shape 12"/>
          <p:cNvSpPr/>
          <p:nvPr/>
        </p:nvSpPr>
        <p:spPr>
          <a:xfrm>
            <a:off x="4736592" y="1207008"/>
            <a:ext cx="3950208" cy="2834640"/>
          </a:xfrm>
          <a:prstGeom prst="roundRect">
            <a:avLst>
              <a:gd name="adj" fmla="val 2903"/>
            </a:avLst>
          </a:prstGeom>
          <a:solidFill>
            <a:srgbClr val="7C8594"/>
          </a:solidFill>
          <a:ln w="12700">
            <a:solidFill>
              <a:srgbClr val="7C8594"/>
            </a:solidFill>
            <a:prstDash val="solid"/>
          </a:ln>
        </p:spPr>
      </p:sp>
      <p:sp>
        <p:nvSpPr>
          <p:cNvPr id="16" name="Text 13"/>
          <p:cNvSpPr/>
          <p:nvPr/>
        </p:nvSpPr>
        <p:spPr>
          <a:xfrm>
            <a:off x="5010912" y="1408176"/>
            <a:ext cx="3383280" cy="274320"/>
          </a:xfrm>
          <a:prstGeom prst="rect">
            <a:avLst/>
          </a:prstGeom>
          <a:noFill/>
          <a:ln/>
        </p:spPr>
        <p:txBody>
          <a:bodyPr wrap="square" lIns="0" tIns="0" rIns="0" bIns="0" rtlCol="0" anchor="ctr"/>
          <a:lstStyle/>
          <a:p>
            <a:pPr indent="0" marL="0">
              <a:buNone/>
            </a:pPr>
            <a:r>
              <a:rPr lang="en-US" sz="1200" b="1" spc="100" kern="0" dirty="0">
                <a:solidFill>
                  <a:srgbClr val="FFFFFF"/>
                </a:solidFill>
                <a:latin typeface="Inter" pitchFamily="34" charset="0"/>
                <a:ea typeface="Inter" pitchFamily="34" charset="-122"/>
                <a:cs typeface="Inter" pitchFamily="34" charset="-120"/>
              </a:rPr>
              <a:t>CANALES TRADICIONALES</a:t>
            </a:r>
            <a:endParaRPr lang="en-US" sz="1200" dirty="0"/>
          </a:p>
        </p:txBody>
      </p:sp>
      <p:sp>
        <p:nvSpPr>
          <p:cNvPr id="17" name="Shape 14"/>
          <p:cNvSpPr/>
          <p:nvPr/>
        </p:nvSpPr>
        <p:spPr>
          <a:xfrm>
            <a:off x="5010912" y="1984248"/>
            <a:ext cx="146304" cy="146304"/>
          </a:xfrm>
          <a:prstGeom prst="roundRect">
            <a:avLst>
              <a:gd name="adj" fmla="val 312500"/>
            </a:avLst>
          </a:prstGeom>
          <a:solidFill>
            <a:srgbClr val="FFFFFF"/>
          </a:solidFill>
          <a:ln w="12700">
            <a:solidFill>
              <a:srgbClr val="FFFFFF"/>
            </a:solidFill>
            <a:prstDash val="solid"/>
          </a:ln>
        </p:spPr>
      </p:sp>
      <p:sp>
        <p:nvSpPr>
          <p:cNvPr id="18" name="Text 15"/>
          <p:cNvSpPr/>
          <p:nvPr/>
        </p:nvSpPr>
        <p:spPr>
          <a:xfrm>
            <a:off x="5285232" y="1828800"/>
            <a:ext cx="3200400" cy="457200"/>
          </a:xfrm>
          <a:prstGeom prst="rect">
            <a:avLst/>
          </a:prstGeom>
          <a:noFill/>
          <a:ln/>
        </p:spPr>
        <p:txBody>
          <a:bodyPr wrap="square" lIns="0" tIns="0" rIns="0" bIns="0" rtlCol="0" anchor="ctr"/>
          <a:lstStyle/>
          <a:p>
            <a:pPr indent="0" marL="0">
              <a:lnSpc>
                <a:spcPts val="1500"/>
              </a:lnSpc>
              <a:buNone/>
            </a:pPr>
            <a:r>
              <a:rPr lang="en-US" sz="1200" dirty="0">
                <a:solidFill>
                  <a:srgbClr val="E4E6E9"/>
                </a:solidFill>
                <a:latin typeface="Inter" pitchFamily="34" charset="0"/>
                <a:ea typeface="Inter" pitchFamily="34" charset="-122"/>
                <a:cs typeface="Inter" pitchFamily="34" charset="-120"/>
              </a:rPr>
              <a:t>Carteles</a:t>
            </a:r>
            <a:endParaRPr lang="en-US" sz="1200" dirty="0"/>
          </a:p>
        </p:txBody>
      </p:sp>
      <p:sp>
        <p:nvSpPr>
          <p:cNvPr id="19" name="Shape 16"/>
          <p:cNvSpPr/>
          <p:nvPr/>
        </p:nvSpPr>
        <p:spPr>
          <a:xfrm>
            <a:off x="5010912" y="2514600"/>
            <a:ext cx="146304" cy="146304"/>
          </a:xfrm>
          <a:prstGeom prst="roundRect">
            <a:avLst>
              <a:gd name="adj" fmla="val 312500"/>
            </a:avLst>
          </a:prstGeom>
          <a:solidFill>
            <a:srgbClr val="FFFFFF"/>
          </a:solidFill>
          <a:ln w="12700">
            <a:solidFill>
              <a:srgbClr val="FFFFFF"/>
            </a:solidFill>
            <a:prstDash val="solid"/>
          </a:ln>
        </p:spPr>
      </p:sp>
      <p:sp>
        <p:nvSpPr>
          <p:cNvPr id="20" name="Text 17"/>
          <p:cNvSpPr/>
          <p:nvPr/>
        </p:nvSpPr>
        <p:spPr>
          <a:xfrm>
            <a:off x="5285232" y="2359152"/>
            <a:ext cx="3200400" cy="457200"/>
          </a:xfrm>
          <a:prstGeom prst="rect">
            <a:avLst/>
          </a:prstGeom>
          <a:noFill/>
          <a:ln/>
        </p:spPr>
        <p:txBody>
          <a:bodyPr wrap="square" lIns="0" tIns="0" rIns="0" bIns="0" rtlCol="0" anchor="ctr"/>
          <a:lstStyle/>
          <a:p>
            <a:pPr indent="0" marL="0">
              <a:lnSpc>
                <a:spcPts val="1500"/>
              </a:lnSpc>
              <a:buNone/>
            </a:pPr>
            <a:r>
              <a:rPr lang="en-US" sz="1200" dirty="0">
                <a:solidFill>
                  <a:srgbClr val="E4E6E9"/>
                </a:solidFill>
                <a:latin typeface="Inter" pitchFamily="34" charset="0"/>
                <a:ea typeface="Inter" pitchFamily="34" charset="-122"/>
                <a:cs typeface="Inter" pitchFamily="34" charset="-120"/>
              </a:rPr>
              <a:t>Recomendaciones</a:t>
            </a:r>
            <a:endParaRPr lang="en-US" sz="1200" dirty="0"/>
          </a:p>
        </p:txBody>
      </p:sp>
      <p:sp>
        <p:nvSpPr>
          <p:cNvPr id="21" name="Shape 18"/>
          <p:cNvSpPr/>
          <p:nvPr/>
        </p:nvSpPr>
        <p:spPr>
          <a:xfrm>
            <a:off x="5010912" y="3044952"/>
            <a:ext cx="146304" cy="146304"/>
          </a:xfrm>
          <a:prstGeom prst="roundRect">
            <a:avLst>
              <a:gd name="adj" fmla="val 312500"/>
            </a:avLst>
          </a:prstGeom>
          <a:solidFill>
            <a:srgbClr val="FFFFFF"/>
          </a:solidFill>
          <a:ln w="12700">
            <a:solidFill>
              <a:srgbClr val="FFFFFF"/>
            </a:solidFill>
            <a:prstDash val="solid"/>
          </a:ln>
        </p:spPr>
      </p:sp>
      <p:sp>
        <p:nvSpPr>
          <p:cNvPr id="22" name="Text 19"/>
          <p:cNvSpPr/>
          <p:nvPr/>
        </p:nvSpPr>
        <p:spPr>
          <a:xfrm>
            <a:off x="5285232" y="2889504"/>
            <a:ext cx="3200400" cy="457200"/>
          </a:xfrm>
          <a:prstGeom prst="rect">
            <a:avLst/>
          </a:prstGeom>
          <a:noFill/>
          <a:ln/>
        </p:spPr>
        <p:txBody>
          <a:bodyPr wrap="square" lIns="0" tIns="0" rIns="0" bIns="0" rtlCol="0" anchor="ctr"/>
          <a:lstStyle/>
          <a:p>
            <a:pPr indent="0" marL="0">
              <a:lnSpc>
                <a:spcPts val="1500"/>
              </a:lnSpc>
              <a:buNone/>
            </a:pPr>
            <a:r>
              <a:rPr lang="en-US" sz="1200" dirty="0">
                <a:solidFill>
                  <a:srgbClr val="E4E6E9"/>
                </a:solidFill>
                <a:latin typeface="Inter" pitchFamily="34" charset="0"/>
                <a:ea typeface="Inter" pitchFamily="34" charset="-122"/>
                <a:cs typeface="Inter" pitchFamily="34" charset="-120"/>
              </a:rPr>
              <a:t>Recorridas por zonas activas</a:t>
            </a:r>
            <a:endParaRPr lang="en-US" sz="1200" dirty="0"/>
          </a:p>
        </p:txBody>
      </p:sp>
      <p:sp>
        <p:nvSpPr>
          <p:cNvPr id="23" name="Shape 20"/>
          <p:cNvSpPr/>
          <p:nvPr/>
        </p:nvSpPr>
        <p:spPr>
          <a:xfrm>
            <a:off x="5010912" y="3575304"/>
            <a:ext cx="146304" cy="146304"/>
          </a:xfrm>
          <a:prstGeom prst="roundRect">
            <a:avLst>
              <a:gd name="adj" fmla="val 312500"/>
            </a:avLst>
          </a:prstGeom>
          <a:solidFill>
            <a:srgbClr val="FFFFFF"/>
          </a:solidFill>
          <a:ln w="12700">
            <a:solidFill>
              <a:srgbClr val="FFFFFF"/>
            </a:solidFill>
            <a:prstDash val="solid"/>
          </a:ln>
        </p:spPr>
      </p:sp>
      <p:sp>
        <p:nvSpPr>
          <p:cNvPr id="24" name="Text 21"/>
          <p:cNvSpPr/>
          <p:nvPr/>
        </p:nvSpPr>
        <p:spPr>
          <a:xfrm>
            <a:off x="5285232" y="3419856"/>
            <a:ext cx="3200400" cy="457200"/>
          </a:xfrm>
          <a:prstGeom prst="rect">
            <a:avLst/>
          </a:prstGeom>
          <a:noFill/>
          <a:ln/>
        </p:spPr>
        <p:txBody>
          <a:bodyPr wrap="square" lIns="0" tIns="0" rIns="0" bIns="0" rtlCol="0" anchor="ctr"/>
          <a:lstStyle/>
          <a:p>
            <a:pPr indent="0" marL="0">
              <a:lnSpc>
                <a:spcPts val="1500"/>
              </a:lnSpc>
              <a:buNone/>
            </a:pPr>
            <a:r>
              <a:rPr lang="en-US" sz="1200" dirty="0">
                <a:solidFill>
                  <a:srgbClr val="E4E6E9"/>
                </a:solidFill>
                <a:latin typeface="Inter" pitchFamily="34" charset="0"/>
                <a:ea typeface="Inter" pitchFamily="34" charset="-122"/>
                <a:cs typeface="Inter" pitchFamily="34" charset="-120"/>
              </a:rPr>
              <a:t>Visitas a vecinos o consorcios</a:t>
            </a:r>
            <a:endParaRPr lang="en-US" sz="1200" dirty="0"/>
          </a:p>
        </p:txBody>
      </p:sp>
      <p:sp>
        <p:nvSpPr>
          <p:cNvPr id="25" name="Shape 22"/>
          <p:cNvSpPr/>
          <p:nvPr/>
        </p:nvSpPr>
        <p:spPr>
          <a:xfrm>
            <a:off x="603504" y="4242816"/>
            <a:ext cx="8083296" cy="658368"/>
          </a:xfrm>
          <a:prstGeom prst="roundRect">
            <a:avLst>
              <a:gd name="adj" fmla="val 12500"/>
            </a:avLst>
          </a:prstGeom>
          <a:solidFill>
            <a:srgbClr val="08407C"/>
          </a:solidFill>
          <a:ln w="12700">
            <a:solidFill>
              <a:srgbClr val="08407C"/>
            </a:solidFill>
            <a:prstDash val="solid"/>
          </a:ln>
        </p:spPr>
      </p:sp>
      <p:sp>
        <p:nvSpPr>
          <p:cNvPr id="26" name="Text 23"/>
          <p:cNvSpPr/>
          <p:nvPr/>
        </p:nvSpPr>
        <p:spPr>
          <a:xfrm>
            <a:off x="841248" y="4288536"/>
            <a:ext cx="7626096" cy="201168"/>
          </a:xfrm>
          <a:prstGeom prst="rect">
            <a:avLst/>
          </a:prstGeom>
          <a:noFill/>
          <a:ln/>
        </p:spPr>
        <p:txBody>
          <a:bodyPr wrap="square" lIns="0" tIns="0" rIns="0" bIns="0" rtlCol="0" anchor="ctr"/>
          <a:lstStyle/>
          <a:p>
            <a:pPr indent="0" marL="0">
              <a:buNone/>
            </a:pPr>
            <a:r>
              <a:rPr lang="en-US" sz="900" b="1" spc="120" kern="0" dirty="0">
                <a:solidFill>
                  <a:srgbClr val="FFFFFF"/>
                </a:solidFill>
                <a:latin typeface="Inter" pitchFamily="34" charset="0"/>
                <a:ea typeface="Inter" pitchFamily="34" charset="-122"/>
                <a:cs typeface="Inter" pitchFamily="34" charset="-120"/>
              </a:rPr>
              <a:t>EL CRITERIO</a:t>
            </a:r>
            <a:endParaRPr lang="en-US" sz="900" dirty="0"/>
          </a:p>
        </p:txBody>
      </p:sp>
      <p:sp>
        <p:nvSpPr>
          <p:cNvPr id="27" name="Text 24"/>
          <p:cNvSpPr/>
          <p:nvPr/>
        </p:nvSpPr>
        <p:spPr>
          <a:xfrm>
            <a:off x="841248" y="4489704"/>
            <a:ext cx="7607808" cy="347472"/>
          </a:xfrm>
          <a:prstGeom prst="rect">
            <a:avLst/>
          </a:prstGeom>
          <a:noFill/>
          <a:ln/>
        </p:spPr>
        <p:txBody>
          <a:bodyPr wrap="square" lIns="0" tIns="0" rIns="0" bIns="0" rtlCol="0" anchor="ctr"/>
          <a:lstStyle/>
          <a:p>
            <a:pPr indent="0" marL="0">
              <a:lnSpc>
                <a:spcPts val="1400"/>
              </a:lnSpc>
              <a:buNone/>
            </a:pPr>
            <a:r>
              <a:rPr lang="en-US" sz="1100" dirty="0">
                <a:solidFill>
                  <a:srgbClr val="FFFFFF"/>
                </a:solidFill>
                <a:latin typeface="Inter" pitchFamily="34" charset="0"/>
                <a:ea typeface="Inter" pitchFamily="34" charset="-122"/>
                <a:cs typeface="Inter" pitchFamily="34" charset="-120"/>
              </a:rPr>
              <a:t>Si no estás en la estantería, no te eligen. Estar presente en un canal es la condición mínima para que alguien pueda pensar en vos.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411480" cy="5143500"/>
          </a:xfrm>
          <a:prstGeom prst="rect">
            <a:avLst/>
          </a:prstGeom>
          <a:solidFill>
            <a:srgbClr val="4E586E"/>
          </a:solidFill>
          <a:ln w="12700">
            <a:solidFill>
              <a:srgbClr val="4E586E"/>
            </a:solidFill>
            <a:prstDash val="solid"/>
          </a:ln>
        </p:spPr>
      </p:sp>
      <p:sp>
        <p:nvSpPr>
          <p:cNvPr id="3" name="Shape 1"/>
          <p:cNvSpPr/>
          <p:nvPr/>
        </p:nvSpPr>
        <p:spPr>
          <a:xfrm>
            <a:off x="0" y="0"/>
            <a:ext cx="411480" cy="402336"/>
          </a:xfrm>
          <a:prstGeom prst="rect">
            <a:avLst/>
          </a:prstGeom>
          <a:solidFill>
            <a:srgbClr val="08407C"/>
          </a:solidFill>
          <a:ln w="12700">
            <a:solidFill>
              <a:srgbClr val="08407C"/>
            </a:solidFill>
            <a:prstDash val="solid"/>
          </a:ln>
        </p:spPr>
      </p:sp>
      <p:pic>
        <p:nvPicPr>
          <p:cNvPr id="4" name="Image 0" descr="/home/user/KrakRealEstate/capacitaciones/prospeccion/brand/iso_white.png">    </p:cNvPr>
          <p:cNvPicPr>
            <a:picLocks noChangeAspect="1"/>
          </p:cNvPicPr>
          <p:nvPr/>
        </p:nvPicPr>
        <p:blipFill>
          <a:blip r:embed="rId2"/>
          <a:stretch>
            <a:fillRect/>
          </a:stretch>
        </p:blipFill>
        <p:spPr>
          <a:xfrm>
            <a:off x="123444" y="68580"/>
            <a:ext cx="164592" cy="217627"/>
          </a:xfrm>
          <a:prstGeom prst="rect">
            <a:avLst/>
          </a:prstGeom>
        </p:spPr>
      </p:pic>
      <p:sp>
        <p:nvSpPr>
          <p:cNvPr id="5" name="Text 2"/>
          <p:cNvSpPr/>
          <p:nvPr/>
        </p:nvSpPr>
        <p:spPr>
          <a:xfrm>
            <a:off x="603504" y="256032"/>
            <a:ext cx="8083296" cy="475488"/>
          </a:xfrm>
          <a:prstGeom prst="rect">
            <a:avLst/>
          </a:prstGeom>
          <a:noFill/>
          <a:ln/>
        </p:spPr>
        <p:txBody>
          <a:bodyPr wrap="square" lIns="0" tIns="0" rIns="0" bIns="0" rtlCol="0" anchor="ctr"/>
          <a:lstStyle/>
          <a:p>
            <a:pPr indent="0" marL="0">
              <a:buNone/>
            </a:pPr>
            <a:r>
              <a:rPr lang="en-US" sz="2600" b="1" dirty="0">
                <a:solidFill>
                  <a:srgbClr val="08407C"/>
                </a:solidFill>
                <a:latin typeface="Inter" pitchFamily="34" charset="0"/>
                <a:ea typeface="Inter" pitchFamily="34" charset="-122"/>
                <a:cs typeface="Inter" pitchFamily="34" charset="-120"/>
              </a:rPr>
              <a:t>Más canales</a:t>
            </a:r>
            <a:endParaRPr lang="en-US" sz="2600" dirty="0"/>
          </a:p>
        </p:txBody>
      </p:sp>
      <p:sp>
        <p:nvSpPr>
          <p:cNvPr id="6" name="Text 3"/>
          <p:cNvSpPr/>
          <p:nvPr/>
        </p:nvSpPr>
        <p:spPr>
          <a:xfrm>
            <a:off x="603504" y="749808"/>
            <a:ext cx="8083296" cy="274320"/>
          </a:xfrm>
          <a:prstGeom prst="rect">
            <a:avLst/>
          </a:prstGeom>
          <a:noFill/>
          <a:ln/>
        </p:spPr>
        <p:txBody>
          <a:bodyPr wrap="square" lIns="0" tIns="0" rIns="0" bIns="0" rtlCol="0" anchor="ctr"/>
          <a:lstStyle/>
          <a:p>
            <a:pPr indent="0" marL="0">
              <a:buNone/>
            </a:pPr>
            <a:r>
              <a:rPr lang="en-US" sz="1200" i="1" dirty="0">
                <a:solidFill>
                  <a:srgbClr val="6A7686"/>
                </a:solidFill>
                <a:latin typeface="Inter" pitchFamily="34" charset="0"/>
                <a:ea typeface="Inter" pitchFamily="34" charset="-122"/>
                <a:cs typeface="Inter" pitchFamily="34" charset="-120"/>
              </a:rPr>
              <a:t>Dos que rinden mucho y se usan poco.</a:t>
            </a:r>
            <a:endParaRPr lang="en-US" sz="1200" dirty="0"/>
          </a:p>
        </p:txBody>
      </p:sp>
      <p:sp>
        <p:nvSpPr>
          <p:cNvPr id="7" name="Shape 4"/>
          <p:cNvSpPr/>
          <p:nvPr/>
        </p:nvSpPr>
        <p:spPr>
          <a:xfrm>
            <a:off x="603504" y="1207008"/>
            <a:ext cx="8083296" cy="1371600"/>
          </a:xfrm>
          <a:prstGeom prst="roundRect">
            <a:avLst>
              <a:gd name="adj" fmla="val 6000"/>
            </a:avLst>
          </a:prstGeom>
          <a:solidFill>
            <a:srgbClr val="08407C"/>
          </a:solidFill>
          <a:ln w="12700">
            <a:solidFill>
              <a:srgbClr val="08407C"/>
            </a:solidFill>
            <a:prstDash val="solid"/>
          </a:ln>
        </p:spPr>
      </p:sp>
      <p:sp>
        <p:nvSpPr>
          <p:cNvPr id="8" name="Text 5"/>
          <p:cNvSpPr/>
          <p:nvPr/>
        </p:nvSpPr>
        <p:spPr>
          <a:xfrm>
            <a:off x="877824" y="1371600"/>
            <a:ext cx="3657600" cy="292608"/>
          </a:xfrm>
          <a:prstGeom prst="rect">
            <a:avLst/>
          </a:prstGeom>
          <a:noFill/>
          <a:ln/>
        </p:spPr>
        <p:txBody>
          <a:bodyPr wrap="square" lIns="0" tIns="0" rIns="0" bIns="0" rtlCol="0" anchor="ctr"/>
          <a:lstStyle/>
          <a:p>
            <a:pPr indent="0" marL="0">
              <a:buNone/>
            </a:pPr>
            <a:r>
              <a:rPr lang="en-US" sz="1600" b="1" dirty="0">
                <a:solidFill>
                  <a:srgbClr val="FFFFFF"/>
                </a:solidFill>
                <a:latin typeface="Inter" pitchFamily="34" charset="0"/>
                <a:ea typeface="Inter" pitchFamily="34" charset="-122"/>
                <a:cs typeface="Inter" pitchFamily="34" charset="-120"/>
              </a:rPr>
              <a:t>Networking estratégico</a:t>
            </a:r>
            <a:endParaRPr lang="en-US" sz="1600" dirty="0"/>
          </a:p>
        </p:txBody>
      </p:sp>
      <p:sp>
        <p:nvSpPr>
          <p:cNvPr id="9" name="Text 6"/>
          <p:cNvSpPr/>
          <p:nvPr/>
        </p:nvSpPr>
        <p:spPr>
          <a:xfrm>
            <a:off x="877824" y="1700784"/>
            <a:ext cx="3291840" cy="274320"/>
          </a:xfrm>
          <a:prstGeom prst="rect">
            <a:avLst/>
          </a:prstGeom>
          <a:noFill/>
          <a:ln/>
        </p:spPr>
        <p:txBody>
          <a:bodyPr wrap="square" lIns="0" tIns="0" rIns="0" bIns="0" rtlCol="0" anchor="ctr"/>
          <a:lstStyle/>
          <a:p>
            <a:pPr indent="0" marL="0">
              <a:buNone/>
            </a:pPr>
            <a:r>
              <a:rPr lang="en-US" sz="1150" dirty="0">
                <a:solidFill>
                  <a:srgbClr val="CDD8E4"/>
                </a:solidFill>
                <a:latin typeface="Inter" pitchFamily="34" charset="0"/>
                <a:ea typeface="Inter" pitchFamily="34" charset="-122"/>
                <a:cs typeface="Inter" pitchFamily="34" charset="-120"/>
              </a:rPr>
              <a:t>Pedir referidos de manera profesional.</a:t>
            </a:r>
            <a:endParaRPr lang="en-US" sz="1150" dirty="0"/>
          </a:p>
        </p:txBody>
      </p:sp>
      <p:sp>
        <p:nvSpPr>
          <p:cNvPr id="10" name="Shape 7"/>
          <p:cNvSpPr/>
          <p:nvPr/>
        </p:nvSpPr>
        <p:spPr>
          <a:xfrm>
            <a:off x="4261104" y="1426464"/>
            <a:ext cx="4206240" cy="932688"/>
          </a:xfrm>
          <a:prstGeom prst="roundRect">
            <a:avLst>
              <a:gd name="adj" fmla="val 8824"/>
            </a:avLst>
          </a:prstGeom>
          <a:solidFill>
            <a:srgbClr val="396696"/>
          </a:solidFill>
          <a:ln w="12700">
            <a:solidFill>
              <a:srgbClr val="396696"/>
            </a:solidFill>
            <a:prstDash val="solid"/>
          </a:ln>
        </p:spPr>
      </p:sp>
      <p:sp>
        <p:nvSpPr>
          <p:cNvPr id="11" name="Text 8"/>
          <p:cNvSpPr/>
          <p:nvPr/>
        </p:nvSpPr>
        <p:spPr>
          <a:xfrm>
            <a:off x="4480560" y="1426464"/>
            <a:ext cx="3767328" cy="932688"/>
          </a:xfrm>
          <a:prstGeom prst="rect">
            <a:avLst/>
          </a:prstGeom>
          <a:noFill/>
          <a:ln/>
        </p:spPr>
        <p:txBody>
          <a:bodyPr wrap="square" lIns="0" tIns="0" rIns="0" bIns="0" rtlCol="0" anchor="ctr"/>
          <a:lstStyle/>
          <a:p>
            <a:pPr indent="0" marL="0">
              <a:lnSpc>
                <a:spcPts val="1600"/>
              </a:lnSpc>
              <a:buNone/>
            </a:pPr>
            <a:r>
              <a:rPr lang="en-US" sz="1250" i="1" dirty="0">
                <a:solidFill>
                  <a:srgbClr val="FFFFFF"/>
                </a:solidFill>
                <a:latin typeface="Inter" pitchFamily="34" charset="0"/>
                <a:ea typeface="Inter" pitchFamily="34" charset="-122"/>
                <a:cs typeface="Inter" pitchFamily="34" charset="-120"/>
              </a:rPr>
              <a:t>“Si conocés a alguien que está pensando en vender, ¿me conectarías con él?”</a:t>
            </a:r>
            <a:endParaRPr lang="en-US" sz="1250" dirty="0"/>
          </a:p>
        </p:txBody>
      </p:sp>
      <p:sp>
        <p:nvSpPr>
          <p:cNvPr id="12" name="Shape 9"/>
          <p:cNvSpPr/>
          <p:nvPr/>
        </p:nvSpPr>
        <p:spPr>
          <a:xfrm>
            <a:off x="603504" y="2743200"/>
            <a:ext cx="8083296" cy="1371600"/>
          </a:xfrm>
          <a:prstGeom prst="roundRect">
            <a:avLst>
              <a:gd name="adj" fmla="val 6000"/>
            </a:avLst>
          </a:prstGeom>
          <a:solidFill>
            <a:srgbClr val="7C8594"/>
          </a:solidFill>
          <a:ln w="12700">
            <a:solidFill>
              <a:srgbClr val="7C8594"/>
            </a:solidFill>
            <a:prstDash val="solid"/>
          </a:ln>
        </p:spPr>
      </p:sp>
      <p:sp>
        <p:nvSpPr>
          <p:cNvPr id="13" name="Text 10"/>
          <p:cNvSpPr/>
          <p:nvPr/>
        </p:nvSpPr>
        <p:spPr>
          <a:xfrm>
            <a:off x="877824" y="2907792"/>
            <a:ext cx="3657600" cy="292608"/>
          </a:xfrm>
          <a:prstGeom prst="rect">
            <a:avLst/>
          </a:prstGeom>
          <a:noFill/>
          <a:ln/>
        </p:spPr>
        <p:txBody>
          <a:bodyPr wrap="square" lIns="0" tIns="0" rIns="0" bIns="0" rtlCol="0" anchor="ctr"/>
          <a:lstStyle/>
          <a:p>
            <a:pPr indent="0" marL="0">
              <a:buNone/>
            </a:pPr>
            <a:r>
              <a:rPr lang="en-US" sz="1600" b="1" dirty="0">
                <a:solidFill>
                  <a:srgbClr val="FFFFFF"/>
                </a:solidFill>
                <a:latin typeface="Inter" pitchFamily="34" charset="0"/>
                <a:ea typeface="Inter" pitchFamily="34" charset="-122"/>
                <a:cs typeface="Inter" pitchFamily="34" charset="-120"/>
              </a:rPr>
              <a:t>Base de datos (barrido)</a:t>
            </a:r>
            <a:endParaRPr lang="en-US" sz="1600" dirty="0"/>
          </a:p>
        </p:txBody>
      </p:sp>
      <p:sp>
        <p:nvSpPr>
          <p:cNvPr id="14" name="Text 11"/>
          <p:cNvSpPr/>
          <p:nvPr/>
        </p:nvSpPr>
        <p:spPr>
          <a:xfrm>
            <a:off x="877824" y="3236976"/>
            <a:ext cx="3291840" cy="457200"/>
          </a:xfrm>
          <a:prstGeom prst="rect">
            <a:avLst/>
          </a:prstGeom>
          <a:noFill/>
          <a:ln/>
        </p:spPr>
        <p:txBody>
          <a:bodyPr wrap="square" lIns="0" tIns="0" rIns="0" bIns="0" rtlCol="0" anchor="ctr"/>
          <a:lstStyle/>
          <a:p>
            <a:pPr indent="0" marL="0">
              <a:lnSpc>
                <a:spcPts val="1400"/>
              </a:lnSpc>
              <a:buNone/>
            </a:pPr>
            <a:r>
              <a:rPr lang="en-US" sz="1150" dirty="0">
                <a:solidFill>
                  <a:srgbClr val="E4E6E9"/>
                </a:solidFill>
                <a:latin typeface="Inter" pitchFamily="34" charset="0"/>
                <a:ea typeface="Inter" pitchFamily="34" charset="-122"/>
                <a:cs typeface="Inter" pitchFamily="34" charset="-120"/>
              </a:rPr>
              <a:t>Contactos que alguna vez hablaron con la empresa y no avanzaron.</a:t>
            </a:r>
            <a:endParaRPr lang="en-US" sz="1150" dirty="0"/>
          </a:p>
        </p:txBody>
      </p:sp>
      <p:sp>
        <p:nvSpPr>
          <p:cNvPr id="15" name="Shape 12"/>
          <p:cNvSpPr/>
          <p:nvPr/>
        </p:nvSpPr>
        <p:spPr>
          <a:xfrm>
            <a:off x="4261104" y="2962656"/>
            <a:ext cx="4206240" cy="932688"/>
          </a:xfrm>
          <a:prstGeom prst="roundRect">
            <a:avLst>
              <a:gd name="adj" fmla="val 8824"/>
            </a:avLst>
          </a:prstGeom>
          <a:solidFill>
            <a:srgbClr val="4E586E"/>
          </a:solidFill>
          <a:ln w="12700">
            <a:solidFill>
              <a:srgbClr val="4E586E"/>
            </a:solidFill>
            <a:prstDash val="solid"/>
          </a:ln>
        </p:spPr>
      </p:sp>
      <p:sp>
        <p:nvSpPr>
          <p:cNvPr id="16" name="Text 13"/>
          <p:cNvSpPr/>
          <p:nvPr/>
        </p:nvSpPr>
        <p:spPr>
          <a:xfrm>
            <a:off x="4480560" y="2962656"/>
            <a:ext cx="3767328" cy="932688"/>
          </a:xfrm>
          <a:prstGeom prst="rect">
            <a:avLst/>
          </a:prstGeom>
          <a:noFill/>
          <a:ln/>
        </p:spPr>
        <p:txBody>
          <a:bodyPr wrap="square" lIns="0" tIns="0" rIns="0" bIns="0" rtlCol="0" anchor="ctr"/>
          <a:lstStyle/>
          <a:p>
            <a:pPr indent="0" marL="0">
              <a:lnSpc>
                <a:spcPts val="1500"/>
              </a:lnSpc>
              <a:buNone/>
            </a:pPr>
            <a:r>
              <a:rPr lang="en-US" sz="1200" dirty="0">
                <a:solidFill>
                  <a:srgbClr val="FFFFFF"/>
                </a:solidFill>
                <a:latin typeface="Inter" pitchFamily="34" charset="0"/>
                <a:ea typeface="Inter" pitchFamily="34" charset="-122"/>
                <a:cs typeface="Inter" pitchFamily="34" charset="-120"/>
              </a:rPr>
              <a:t>Retomarlos con inteligencia puede generar oportunidades. Es el canal más barato que existe: ya están en la planilla.</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411480" cy="5143500"/>
          </a:xfrm>
          <a:prstGeom prst="rect">
            <a:avLst/>
          </a:prstGeom>
          <a:solidFill>
            <a:srgbClr val="4E586E"/>
          </a:solidFill>
          <a:ln w="12700">
            <a:solidFill>
              <a:srgbClr val="4E586E"/>
            </a:solidFill>
            <a:prstDash val="solid"/>
          </a:ln>
        </p:spPr>
      </p:sp>
      <p:sp>
        <p:nvSpPr>
          <p:cNvPr id="3" name="Shape 1"/>
          <p:cNvSpPr/>
          <p:nvPr/>
        </p:nvSpPr>
        <p:spPr>
          <a:xfrm>
            <a:off x="0" y="0"/>
            <a:ext cx="411480" cy="402336"/>
          </a:xfrm>
          <a:prstGeom prst="rect">
            <a:avLst/>
          </a:prstGeom>
          <a:solidFill>
            <a:srgbClr val="08407C"/>
          </a:solidFill>
          <a:ln w="12700">
            <a:solidFill>
              <a:srgbClr val="08407C"/>
            </a:solidFill>
            <a:prstDash val="solid"/>
          </a:ln>
        </p:spPr>
      </p:sp>
      <p:pic>
        <p:nvPicPr>
          <p:cNvPr id="4" name="Image 0" descr="/home/user/KrakRealEstate/capacitaciones/prospeccion/brand/iso_white.png">    </p:cNvPr>
          <p:cNvPicPr>
            <a:picLocks noChangeAspect="1"/>
          </p:cNvPicPr>
          <p:nvPr/>
        </p:nvPicPr>
        <p:blipFill>
          <a:blip r:embed="rId2"/>
          <a:stretch>
            <a:fillRect/>
          </a:stretch>
        </p:blipFill>
        <p:spPr>
          <a:xfrm>
            <a:off x="123444" y="68580"/>
            <a:ext cx="164592" cy="217627"/>
          </a:xfrm>
          <a:prstGeom prst="rect">
            <a:avLst/>
          </a:prstGeom>
        </p:spPr>
      </p:pic>
      <p:sp>
        <p:nvSpPr>
          <p:cNvPr id="5" name="Text 2"/>
          <p:cNvSpPr/>
          <p:nvPr/>
        </p:nvSpPr>
        <p:spPr>
          <a:xfrm>
            <a:off x="603504" y="256032"/>
            <a:ext cx="8083296" cy="475488"/>
          </a:xfrm>
          <a:prstGeom prst="rect">
            <a:avLst/>
          </a:prstGeom>
          <a:noFill/>
          <a:ln/>
        </p:spPr>
        <p:txBody>
          <a:bodyPr wrap="square" lIns="0" tIns="0" rIns="0" bIns="0" rtlCol="0" anchor="ctr"/>
          <a:lstStyle/>
          <a:p>
            <a:pPr indent="0" marL="0">
              <a:buNone/>
            </a:pPr>
            <a:r>
              <a:rPr lang="en-US" sz="2600" b="1" dirty="0">
                <a:solidFill>
                  <a:srgbClr val="08407C"/>
                </a:solidFill>
                <a:latin typeface="Inter" pitchFamily="34" charset="0"/>
                <a:ea typeface="Inter" pitchFamily="34" charset="-122"/>
                <a:cs typeface="Inter" pitchFamily="34" charset="-120"/>
              </a:rPr>
              <a:t>El límite: no es obsecuencia</a:t>
            </a:r>
            <a:endParaRPr lang="en-US" sz="2600" dirty="0"/>
          </a:p>
        </p:txBody>
      </p:sp>
      <p:sp>
        <p:nvSpPr>
          <p:cNvPr id="6" name="Text 3"/>
          <p:cNvSpPr/>
          <p:nvPr/>
        </p:nvSpPr>
        <p:spPr>
          <a:xfrm>
            <a:off x="603504" y="749808"/>
            <a:ext cx="8083296" cy="274320"/>
          </a:xfrm>
          <a:prstGeom prst="rect">
            <a:avLst/>
          </a:prstGeom>
          <a:noFill/>
          <a:ln/>
        </p:spPr>
        <p:txBody>
          <a:bodyPr wrap="square" lIns="0" tIns="0" rIns="0" bIns="0" rtlCol="0" anchor="ctr"/>
          <a:lstStyle/>
          <a:p>
            <a:pPr indent="0" marL="0">
              <a:buNone/>
            </a:pPr>
            <a:r>
              <a:rPr lang="en-US" sz="1200" i="1" dirty="0">
                <a:solidFill>
                  <a:srgbClr val="6A7686"/>
                </a:solidFill>
                <a:latin typeface="Inter" pitchFamily="34" charset="0"/>
                <a:ea typeface="Inter" pitchFamily="34" charset="-122"/>
                <a:cs typeface="Inter" pitchFamily="34" charset="-120"/>
              </a:rPr>
              <a:t>Dónde termina la relación profesional y empieza otra cosa.</a:t>
            </a:r>
            <a:endParaRPr lang="en-US" sz="1200" dirty="0"/>
          </a:p>
        </p:txBody>
      </p:sp>
      <p:sp>
        <p:nvSpPr>
          <p:cNvPr id="7" name="Shape 4"/>
          <p:cNvSpPr/>
          <p:nvPr/>
        </p:nvSpPr>
        <p:spPr>
          <a:xfrm>
            <a:off x="603504" y="1207008"/>
            <a:ext cx="4572000" cy="1554480"/>
          </a:xfrm>
          <a:prstGeom prst="roundRect">
            <a:avLst>
              <a:gd name="adj" fmla="val 5294"/>
            </a:avLst>
          </a:prstGeom>
          <a:solidFill>
            <a:srgbClr val="08407C"/>
          </a:solidFill>
          <a:ln w="12700">
            <a:solidFill>
              <a:srgbClr val="08407C"/>
            </a:solidFill>
            <a:prstDash val="solid"/>
          </a:ln>
        </p:spPr>
      </p:sp>
      <p:sp>
        <p:nvSpPr>
          <p:cNvPr id="8" name="Text 5"/>
          <p:cNvSpPr/>
          <p:nvPr/>
        </p:nvSpPr>
        <p:spPr>
          <a:xfrm>
            <a:off x="877824" y="1207008"/>
            <a:ext cx="4041648" cy="1554480"/>
          </a:xfrm>
          <a:prstGeom prst="rect">
            <a:avLst/>
          </a:prstGeom>
          <a:noFill/>
          <a:ln/>
        </p:spPr>
        <p:txBody>
          <a:bodyPr wrap="square" lIns="0" tIns="0" rIns="0" bIns="0" rtlCol="0" anchor="ctr"/>
          <a:lstStyle/>
          <a:p>
            <a:pPr indent="0" marL="0">
              <a:lnSpc>
                <a:spcPts val="2200"/>
              </a:lnSpc>
              <a:buNone/>
            </a:pPr>
            <a:r>
              <a:rPr lang="en-US" sz="1600" b="1" dirty="0">
                <a:solidFill>
                  <a:srgbClr val="FFFFFF"/>
                </a:solidFill>
                <a:latin typeface="Inter" pitchFamily="34" charset="0"/>
                <a:ea typeface="Inter" pitchFamily="34" charset="-122"/>
                <a:cs typeface="Inter" pitchFamily="34" charset="-120"/>
              </a:rPr>
              <a:t>Esto no tiene nada que ver con la obsecuencia, y no debemos caer en ella.</a:t>
            </a:r>
            <a:endParaRPr lang="en-US" sz="1600" dirty="0"/>
          </a:p>
        </p:txBody>
      </p:sp>
      <p:sp>
        <p:nvSpPr>
          <p:cNvPr id="9" name="Shape 6"/>
          <p:cNvSpPr/>
          <p:nvPr/>
        </p:nvSpPr>
        <p:spPr>
          <a:xfrm>
            <a:off x="603504" y="2926080"/>
            <a:ext cx="4572000" cy="1133856"/>
          </a:xfrm>
          <a:prstGeom prst="roundRect">
            <a:avLst>
              <a:gd name="adj" fmla="val 7258"/>
            </a:avLst>
          </a:prstGeom>
          <a:solidFill>
            <a:srgbClr val="F3F3F3"/>
          </a:solidFill>
          <a:ln w="12700">
            <a:solidFill>
              <a:srgbClr val="F3F3F3"/>
            </a:solidFill>
            <a:prstDash val="solid"/>
          </a:ln>
        </p:spPr>
      </p:sp>
      <p:sp>
        <p:nvSpPr>
          <p:cNvPr id="10" name="Text 7"/>
          <p:cNvSpPr/>
          <p:nvPr/>
        </p:nvSpPr>
        <p:spPr>
          <a:xfrm>
            <a:off x="877824" y="2926080"/>
            <a:ext cx="4041648" cy="1133856"/>
          </a:xfrm>
          <a:prstGeom prst="rect">
            <a:avLst/>
          </a:prstGeom>
          <a:noFill/>
          <a:ln/>
        </p:spPr>
        <p:txBody>
          <a:bodyPr wrap="square" lIns="0" tIns="0" rIns="0" bIns="0" rtlCol="0" anchor="ctr"/>
          <a:lstStyle/>
          <a:p>
            <a:pPr indent="0" marL="0">
              <a:lnSpc>
                <a:spcPts val="2100"/>
              </a:lnSpc>
              <a:buNone/>
            </a:pPr>
            <a:r>
              <a:rPr lang="en-US" sz="1600" b="1" dirty="0">
                <a:solidFill>
                  <a:srgbClr val="08407C"/>
                </a:solidFill>
                <a:latin typeface="Inter" pitchFamily="34" charset="0"/>
                <a:ea typeface="Inter" pitchFamily="34" charset="-122"/>
                <a:cs typeface="Inter" pitchFamily="34" charset="-120"/>
              </a:rPr>
              <a:t>Tenemos que ser profesionales de las relaciones públicas.</a:t>
            </a:r>
            <a:endParaRPr lang="en-US" sz="1600" dirty="0"/>
          </a:p>
        </p:txBody>
      </p:sp>
      <p:pic>
        <p:nvPicPr>
          <p:cNvPr id="11" name="Image 1" descr="/home/user/KrakRealEstate/capacitaciones/prospeccion/img/b_reunion.png">    </p:cNvPr>
          <p:cNvPicPr>
            <a:picLocks noChangeAspect="1"/>
          </p:cNvPicPr>
          <p:nvPr/>
        </p:nvPicPr>
        <p:blipFill>
          <a:blip r:embed="rId3"/>
          <a:stretch>
            <a:fillRect/>
          </a:stretch>
        </p:blipFill>
        <p:spPr>
          <a:xfrm>
            <a:off x="5413248" y="1572768"/>
            <a:ext cx="3273552" cy="176387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411480" cy="5143500"/>
          </a:xfrm>
          <a:prstGeom prst="rect">
            <a:avLst/>
          </a:prstGeom>
          <a:solidFill>
            <a:srgbClr val="4E586E"/>
          </a:solidFill>
          <a:ln w="12700">
            <a:solidFill>
              <a:srgbClr val="4E586E"/>
            </a:solidFill>
            <a:prstDash val="solid"/>
          </a:ln>
        </p:spPr>
      </p:sp>
      <p:sp>
        <p:nvSpPr>
          <p:cNvPr id="3" name="Shape 1"/>
          <p:cNvSpPr/>
          <p:nvPr/>
        </p:nvSpPr>
        <p:spPr>
          <a:xfrm>
            <a:off x="0" y="0"/>
            <a:ext cx="411480" cy="402336"/>
          </a:xfrm>
          <a:prstGeom prst="rect">
            <a:avLst/>
          </a:prstGeom>
          <a:solidFill>
            <a:srgbClr val="08407C"/>
          </a:solidFill>
          <a:ln w="12700">
            <a:solidFill>
              <a:srgbClr val="08407C"/>
            </a:solidFill>
            <a:prstDash val="solid"/>
          </a:ln>
        </p:spPr>
      </p:sp>
      <p:pic>
        <p:nvPicPr>
          <p:cNvPr id="4" name="Image 0" descr="/home/user/KrakRealEstate/capacitaciones/prospeccion/brand/iso_white.png">    </p:cNvPr>
          <p:cNvPicPr>
            <a:picLocks noChangeAspect="1"/>
          </p:cNvPicPr>
          <p:nvPr/>
        </p:nvPicPr>
        <p:blipFill>
          <a:blip r:embed="rId2"/>
          <a:stretch>
            <a:fillRect/>
          </a:stretch>
        </p:blipFill>
        <p:spPr>
          <a:xfrm>
            <a:off x="123444" y="68580"/>
            <a:ext cx="164592" cy="217627"/>
          </a:xfrm>
          <a:prstGeom prst="rect">
            <a:avLst/>
          </a:prstGeom>
        </p:spPr>
      </p:pic>
      <p:sp>
        <p:nvSpPr>
          <p:cNvPr id="5" name="Text 2"/>
          <p:cNvSpPr/>
          <p:nvPr/>
        </p:nvSpPr>
        <p:spPr>
          <a:xfrm>
            <a:off x="603504" y="256032"/>
            <a:ext cx="8083296" cy="475488"/>
          </a:xfrm>
          <a:prstGeom prst="rect">
            <a:avLst/>
          </a:prstGeom>
          <a:noFill/>
          <a:ln/>
        </p:spPr>
        <p:txBody>
          <a:bodyPr wrap="square" lIns="0" tIns="0" rIns="0" bIns="0" rtlCol="0" anchor="ctr"/>
          <a:lstStyle/>
          <a:p>
            <a:pPr indent="0" marL="0">
              <a:buNone/>
            </a:pPr>
            <a:r>
              <a:rPr lang="en-US" sz="2600" b="1" dirty="0">
                <a:solidFill>
                  <a:srgbClr val="08407C"/>
                </a:solidFill>
                <a:latin typeface="Inter" pitchFamily="34" charset="0"/>
                <a:ea typeface="Inter" pitchFamily="34" charset="-122"/>
                <a:cs typeface="Inter" pitchFamily="34" charset="-120"/>
              </a:rPr>
              <a:t>Calificación de los prospectos</a:t>
            </a:r>
            <a:endParaRPr lang="en-US" sz="2600" dirty="0"/>
          </a:p>
        </p:txBody>
      </p:sp>
      <p:sp>
        <p:nvSpPr>
          <p:cNvPr id="6" name="Text 3"/>
          <p:cNvSpPr/>
          <p:nvPr/>
        </p:nvSpPr>
        <p:spPr>
          <a:xfrm>
            <a:off x="603504" y="749808"/>
            <a:ext cx="8083296" cy="274320"/>
          </a:xfrm>
          <a:prstGeom prst="rect">
            <a:avLst/>
          </a:prstGeom>
          <a:noFill/>
          <a:ln/>
        </p:spPr>
        <p:txBody>
          <a:bodyPr wrap="square" lIns="0" tIns="0" rIns="0" bIns="0" rtlCol="0" anchor="ctr"/>
          <a:lstStyle/>
          <a:p>
            <a:pPr indent="0" marL="0">
              <a:buNone/>
            </a:pPr>
            <a:r>
              <a:rPr lang="en-US" sz="1200" i="1" dirty="0">
                <a:solidFill>
                  <a:srgbClr val="6A7686"/>
                </a:solidFill>
                <a:latin typeface="Inter" pitchFamily="34" charset="0"/>
                <a:ea typeface="Inter" pitchFamily="34" charset="-122"/>
                <a:cs typeface="Inter" pitchFamily="34" charset="-120"/>
              </a:rPr>
              <a:t>Técnica PATI: otra forma de medir para concientizar.</a:t>
            </a:r>
            <a:endParaRPr lang="en-US" sz="1200" dirty="0"/>
          </a:p>
        </p:txBody>
      </p:sp>
      <p:sp>
        <p:nvSpPr>
          <p:cNvPr id="7" name="Shape 4"/>
          <p:cNvSpPr/>
          <p:nvPr/>
        </p:nvSpPr>
        <p:spPr>
          <a:xfrm>
            <a:off x="6967728" y="292608"/>
            <a:ext cx="384048" cy="384048"/>
          </a:xfrm>
          <a:prstGeom prst="roundRect">
            <a:avLst>
              <a:gd name="adj" fmla="val 23810"/>
            </a:avLst>
          </a:prstGeom>
          <a:solidFill>
            <a:srgbClr val="08407C"/>
          </a:solidFill>
          <a:ln w="12700">
            <a:solidFill>
              <a:srgbClr val="08407C"/>
            </a:solidFill>
            <a:prstDash val="solid"/>
          </a:ln>
        </p:spPr>
      </p:sp>
      <p:sp>
        <p:nvSpPr>
          <p:cNvPr id="8" name="Text 5"/>
          <p:cNvSpPr/>
          <p:nvPr/>
        </p:nvSpPr>
        <p:spPr>
          <a:xfrm>
            <a:off x="6967728" y="29260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P</a:t>
            </a:r>
            <a:endParaRPr lang="en-US" sz="1200" dirty="0"/>
          </a:p>
        </p:txBody>
      </p:sp>
      <p:sp>
        <p:nvSpPr>
          <p:cNvPr id="9" name="Shape 6"/>
          <p:cNvSpPr/>
          <p:nvPr/>
        </p:nvSpPr>
        <p:spPr>
          <a:xfrm>
            <a:off x="7424928" y="292608"/>
            <a:ext cx="384048" cy="384048"/>
          </a:xfrm>
          <a:prstGeom prst="roundRect">
            <a:avLst>
              <a:gd name="adj" fmla="val 23810"/>
            </a:avLst>
          </a:prstGeom>
          <a:solidFill>
            <a:srgbClr val="DDE3EA"/>
          </a:solidFill>
          <a:ln w="12700">
            <a:solidFill>
              <a:srgbClr val="DDE3EA"/>
            </a:solidFill>
            <a:prstDash val="solid"/>
          </a:ln>
        </p:spPr>
      </p:sp>
      <p:sp>
        <p:nvSpPr>
          <p:cNvPr id="10" name="Text 7"/>
          <p:cNvSpPr/>
          <p:nvPr/>
        </p:nvSpPr>
        <p:spPr>
          <a:xfrm>
            <a:off x="7424928" y="292608"/>
            <a:ext cx="384048" cy="384048"/>
          </a:xfrm>
          <a:prstGeom prst="rect">
            <a:avLst/>
          </a:prstGeom>
          <a:noFill/>
          <a:ln/>
        </p:spPr>
        <p:txBody>
          <a:bodyPr wrap="square" lIns="0" tIns="0" rIns="0" bIns="0" rtlCol="0" anchor="ctr"/>
          <a:lstStyle/>
          <a:p>
            <a:pPr algn="ctr" indent="0" marL="0">
              <a:buNone/>
            </a:pPr>
            <a:r>
              <a:rPr lang="en-US" sz="1200" b="1" dirty="0">
                <a:solidFill>
                  <a:srgbClr val="6A7686"/>
                </a:solidFill>
                <a:latin typeface="Inter" pitchFamily="34" charset="0"/>
                <a:ea typeface="Inter" pitchFamily="34" charset="-122"/>
                <a:cs typeface="Inter" pitchFamily="34" charset="-120"/>
              </a:rPr>
              <a:t>A</a:t>
            </a:r>
            <a:endParaRPr lang="en-US" sz="1200" dirty="0"/>
          </a:p>
        </p:txBody>
      </p:sp>
      <p:sp>
        <p:nvSpPr>
          <p:cNvPr id="11" name="Shape 8"/>
          <p:cNvSpPr/>
          <p:nvPr/>
        </p:nvSpPr>
        <p:spPr>
          <a:xfrm>
            <a:off x="7882128" y="292608"/>
            <a:ext cx="384048" cy="384048"/>
          </a:xfrm>
          <a:prstGeom prst="roundRect">
            <a:avLst>
              <a:gd name="adj" fmla="val 23810"/>
            </a:avLst>
          </a:prstGeom>
          <a:solidFill>
            <a:srgbClr val="DDE3EA"/>
          </a:solidFill>
          <a:ln w="12700">
            <a:solidFill>
              <a:srgbClr val="DDE3EA"/>
            </a:solidFill>
            <a:prstDash val="solid"/>
          </a:ln>
        </p:spPr>
      </p:sp>
      <p:sp>
        <p:nvSpPr>
          <p:cNvPr id="12" name="Text 9"/>
          <p:cNvSpPr/>
          <p:nvPr/>
        </p:nvSpPr>
        <p:spPr>
          <a:xfrm>
            <a:off x="7882128" y="292608"/>
            <a:ext cx="384048" cy="384048"/>
          </a:xfrm>
          <a:prstGeom prst="rect">
            <a:avLst/>
          </a:prstGeom>
          <a:noFill/>
          <a:ln/>
        </p:spPr>
        <p:txBody>
          <a:bodyPr wrap="square" lIns="0" tIns="0" rIns="0" bIns="0" rtlCol="0" anchor="ctr"/>
          <a:lstStyle/>
          <a:p>
            <a:pPr algn="ctr" indent="0" marL="0">
              <a:buNone/>
            </a:pPr>
            <a:r>
              <a:rPr lang="en-US" sz="1200" b="1" dirty="0">
                <a:solidFill>
                  <a:srgbClr val="6A7686"/>
                </a:solidFill>
                <a:latin typeface="Inter" pitchFamily="34" charset="0"/>
                <a:ea typeface="Inter" pitchFamily="34" charset="-122"/>
                <a:cs typeface="Inter" pitchFamily="34" charset="-120"/>
              </a:rPr>
              <a:t>T</a:t>
            </a:r>
            <a:endParaRPr lang="en-US" sz="1200" dirty="0"/>
          </a:p>
        </p:txBody>
      </p:sp>
      <p:sp>
        <p:nvSpPr>
          <p:cNvPr id="13" name="Shape 10"/>
          <p:cNvSpPr/>
          <p:nvPr/>
        </p:nvSpPr>
        <p:spPr>
          <a:xfrm>
            <a:off x="8339328" y="292608"/>
            <a:ext cx="384048" cy="384048"/>
          </a:xfrm>
          <a:prstGeom prst="roundRect">
            <a:avLst>
              <a:gd name="adj" fmla="val 23810"/>
            </a:avLst>
          </a:prstGeom>
          <a:solidFill>
            <a:srgbClr val="DDE3EA"/>
          </a:solidFill>
          <a:ln w="12700">
            <a:solidFill>
              <a:srgbClr val="DDE3EA"/>
            </a:solidFill>
            <a:prstDash val="solid"/>
          </a:ln>
        </p:spPr>
      </p:sp>
      <p:sp>
        <p:nvSpPr>
          <p:cNvPr id="14" name="Text 11"/>
          <p:cNvSpPr/>
          <p:nvPr/>
        </p:nvSpPr>
        <p:spPr>
          <a:xfrm>
            <a:off x="8339328" y="292608"/>
            <a:ext cx="384048" cy="384048"/>
          </a:xfrm>
          <a:prstGeom prst="rect">
            <a:avLst/>
          </a:prstGeom>
          <a:noFill/>
          <a:ln/>
        </p:spPr>
        <p:txBody>
          <a:bodyPr wrap="square" lIns="0" tIns="0" rIns="0" bIns="0" rtlCol="0" anchor="ctr"/>
          <a:lstStyle/>
          <a:p>
            <a:pPr algn="ctr" indent="0" marL="0">
              <a:buNone/>
            </a:pPr>
            <a:r>
              <a:rPr lang="en-US" sz="1200" b="1" dirty="0">
                <a:solidFill>
                  <a:srgbClr val="6A7686"/>
                </a:solidFill>
                <a:latin typeface="Inter" pitchFamily="34" charset="0"/>
                <a:ea typeface="Inter" pitchFamily="34" charset="-122"/>
                <a:cs typeface="Inter" pitchFamily="34" charset="-120"/>
              </a:rPr>
              <a:t>I</a:t>
            </a:r>
            <a:endParaRPr lang="en-US" sz="1200" dirty="0"/>
          </a:p>
        </p:txBody>
      </p:sp>
      <p:sp>
        <p:nvSpPr>
          <p:cNvPr id="15" name="Shape 12"/>
          <p:cNvSpPr/>
          <p:nvPr/>
        </p:nvSpPr>
        <p:spPr>
          <a:xfrm>
            <a:off x="603504" y="1188720"/>
            <a:ext cx="2468880" cy="2697480"/>
          </a:xfrm>
          <a:prstGeom prst="roundRect">
            <a:avLst>
              <a:gd name="adj" fmla="val 3333"/>
            </a:avLst>
          </a:prstGeom>
          <a:solidFill>
            <a:srgbClr val="08407C"/>
          </a:solidFill>
          <a:ln w="12700">
            <a:solidFill>
              <a:srgbClr val="08407C"/>
            </a:solidFill>
            <a:prstDash val="solid"/>
          </a:ln>
        </p:spPr>
      </p:sp>
      <p:sp>
        <p:nvSpPr>
          <p:cNvPr id="16" name="Text 13"/>
          <p:cNvSpPr/>
          <p:nvPr/>
        </p:nvSpPr>
        <p:spPr>
          <a:xfrm>
            <a:off x="603504" y="1371600"/>
            <a:ext cx="2468880" cy="1188720"/>
          </a:xfrm>
          <a:prstGeom prst="rect">
            <a:avLst/>
          </a:prstGeom>
          <a:noFill/>
          <a:ln/>
        </p:spPr>
        <p:txBody>
          <a:bodyPr wrap="square" lIns="0" tIns="0" rIns="0" bIns="0" rtlCol="0" anchor="ctr"/>
          <a:lstStyle/>
          <a:p>
            <a:pPr algn="ctr" indent="0" marL="0">
              <a:buNone/>
            </a:pPr>
            <a:r>
              <a:rPr lang="en-US" sz="7200" b="1" dirty="0">
                <a:solidFill>
                  <a:srgbClr val="FFFFFF"/>
                </a:solidFill>
                <a:latin typeface="Inter" pitchFamily="34" charset="0"/>
                <a:ea typeface="Inter" pitchFamily="34" charset="-122"/>
                <a:cs typeface="Inter" pitchFamily="34" charset="-120"/>
              </a:rPr>
              <a:t>P</a:t>
            </a:r>
            <a:endParaRPr lang="en-US" sz="7200" dirty="0"/>
          </a:p>
        </p:txBody>
      </p:sp>
      <p:sp>
        <p:nvSpPr>
          <p:cNvPr id="17" name="Text 14"/>
          <p:cNvSpPr/>
          <p:nvPr/>
        </p:nvSpPr>
        <p:spPr>
          <a:xfrm>
            <a:off x="786384" y="2651760"/>
            <a:ext cx="2103120" cy="402336"/>
          </a:xfrm>
          <a:prstGeom prst="rect">
            <a:avLst/>
          </a:prstGeom>
          <a:noFill/>
          <a:ln/>
        </p:spPr>
        <p:txBody>
          <a:bodyPr wrap="square" lIns="0" tIns="0" rIns="0" bIns="0" rtlCol="0" anchor="ctr"/>
          <a:lstStyle/>
          <a:p>
            <a:pPr algn="ctr" indent="0" marL="0">
              <a:buNone/>
            </a:pPr>
            <a:r>
              <a:rPr lang="en-US" sz="1900" b="1" dirty="0">
                <a:solidFill>
                  <a:srgbClr val="FFFFFF"/>
                </a:solidFill>
                <a:latin typeface="Inter" pitchFamily="34" charset="0"/>
                <a:ea typeface="Inter" pitchFamily="34" charset="-122"/>
                <a:cs typeface="Inter" pitchFamily="34" charset="-120"/>
              </a:rPr>
              <a:t>Presupuesto</a:t>
            </a:r>
            <a:endParaRPr lang="en-US" sz="1900" dirty="0"/>
          </a:p>
        </p:txBody>
      </p:sp>
      <p:sp>
        <p:nvSpPr>
          <p:cNvPr id="18" name="Text 15"/>
          <p:cNvSpPr/>
          <p:nvPr/>
        </p:nvSpPr>
        <p:spPr>
          <a:xfrm>
            <a:off x="786384" y="3108960"/>
            <a:ext cx="2103120" cy="457200"/>
          </a:xfrm>
          <a:prstGeom prst="rect">
            <a:avLst/>
          </a:prstGeom>
          <a:noFill/>
          <a:ln/>
        </p:spPr>
        <p:txBody>
          <a:bodyPr wrap="square" lIns="0" tIns="0" rIns="0" bIns="0" rtlCol="0" anchor="t"/>
          <a:lstStyle/>
          <a:p>
            <a:pPr algn="ctr" indent="0" marL="0">
              <a:lnSpc>
                <a:spcPts val="1300"/>
              </a:lnSpc>
              <a:buNone/>
            </a:pPr>
            <a:r>
              <a:rPr lang="en-US" sz="1050" dirty="0">
                <a:solidFill>
                  <a:srgbClr val="CDD8E4"/>
                </a:solidFill>
                <a:latin typeface="Inter" pitchFamily="34" charset="0"/>
                <a:ea typeface="Inter" pitchFamily="34" charset="-122"/>
                <a:cs typeface="Inter" pitchFamily="34" charset="-120"/>
              </a:rPr>
              <a:t>Preguntas para calificar</a:t>
            </a:r>
            <a:endParaRPr lang="en-US" sz="1050" dirty="0"/>
          </a:p>
        </p:txBody>
      </p:sp>
      <p:sp>
        <p:nvSpPr>
          <p:cNvPr id="19" name="Shape 16"/>
          <p:cNvSpPr/>
          <p:nvPr/>
        </p:nvSpPr>
        <p:spPr>
          <a:xfrm>
            <a:off x="3346704" y="1284732"/>
            <a:ext cx="5340096" cy="457200"/>
          </a:xfrm>
          <a:prstGeom prst="roundRect">
            <a:avLst>
              <a:gd name="adj" fmla="val 18000"/>
            </a:avLst>
          </a:prstGeom>
          <a:solidFill>
            <a:srgbClr val="F3F3F3"/>
          </a:solidFill>
          <a:ln w="12700">
            <a:solidFill>
              <a:srgbClr val="F3F3F3"/>
            </a:solidFill>
            <a:prstDash val="solid"/>
          </a:ln>
        </p:spPr>
      </p:sp>
      <p:sp>
        <p:nvSpPr>
          <p:cNvPr id="20" name="Text 17"/>
          <p:cNvSpPr/>
          <p:nvPr/>
        </p:nvSpPr>
        <p:spPr>
          <a:xfrm>
            <a:off x="3566160" y="1284732"/>
            <a:ext cx="4937760" cy="457200"/>
          </a:xfrm>
          <a:prstGeom prst="rect">
            <a:avLst/>
          </a:prstGeom>
          <a:noFill/>
          <a:ln/>
        </p:spPr>
        <p:txBody>
          <a:bodyPr wrap="square" lIns="0" tIns="0" rIns="0" bIns="0" rtlCol="0" anchor="ctr"/>
          <a:lstStyle/>
          <a:p>
            <a:pPr indent="0" marL="0">
              <a:lnSpc>
                <a:spcPts val="1400"/>
              </a:lnSpc>
              <a:buNone/>
            </a:pPr>
            <a:r>
              <a:rPr lang="en-US" sz="1200" dirty="0">
                <a:solidFill>
                  <a:srgbClr val="2E4258"/>
                </a:solidFill>
                <a:latin typeface="Inter" pitchFamily="34" charset="0"/>
                <a:ea typeface="Inter" pitchFamily="34" charset="-122"/>
                <a:cs typeface="Inter" pitchFamily="34" charset="-120"/>
              </a:rPr>
              <a:t>¿Cuál es el valor esperado o aceptable para el cliente?</a:t>
            </a:r>
            <a:endParaRPr lang="en-US" sz="1200" dirty="0"/>
          </a:p>
        </p:txBody>
      </p:sp>
      <p:sp>
        <p:nvSpPr>
          <p:cNvPr id="21" name="Text 18"/>
          <p:cNvSpPr/>
          <p:nvPr/>
        </p:nvSpPr>
        <p:spPr>
          <a:xfrm>
            <a:off x="3566160" y="1796796"/>
            <a:ext cx="4937760" cy="457200"/>
          </a:xfrm>
          <a:prstGeom prst="rect">
            <a:avLst/>
          </a:prstGeom>
          <a:noFill/>
          <a:ln/>
        </p:spPr>
        <p:txBody>
          <a:bodyPr wrap="square" lIns="0" tIns="0" rIns="0" bIns="0" rtlCol="0" anchor="ctr"/>
          <a:lstStyle/>
          <a:p>
            <a:pPr indent="0" marL="0">
              <a:lnSpc>
                <a:spcPts val="1400"/>
              </a:lnSpc>
              <a:buNone/>
            </a:pPr>
            <a:r>
              <a:rPr lang="en-US" sz="1200" dirty="0">
                <a:solidFill>
                  <a:srgbClr val="2E4258"/>
                </a:solidFill>
                <a:latin typeface="Inter" pitchFamily="34" charset="0"/>
                <a:ea typeface="Inter" pitchFamily="34" charset="-122"/>
                <a:cs typeface="Inter" pitchFamily="34" charset="-120"/>
              </a:rPr>
              <a:t>¿Cuál es su idea de valores?</a:t>
            </a:r>
            <a:endParaRPr lang="en-US" sz="1200" dirty="0"/>
          </a:p>
        </p:txBody>
      </p:sp>
      <p:sp>
        <p:nvSpPr>
          <p:cNvPr id="22" name="Shape 19"/>
          <p:cNvSpPr/>
          <p:nvPr/>
        </p:nvSpPr>
        <p:spPr>
          <a:xfrm>
            <a:off x="3346704" y="2308860"/>
            <a:ext cx="5340096" cy="457200"/>
          </a:xfrm>
          <a:prstGeom prst="roundRect">
            <a:avLst>
              <a:gd name="adj" fmla="val 18000"/>
            </a:avLst>
          </a:prstGeom>
          <a:solidFill>
            <a:srgbClr val="F3F3F3"/>
          </a:solidFill>
          <a:ln w="12700">
            <a:solidFill>
              <a:srgbClr val="F3F3F3"/>
            </a:solidFill>
            <a:prstDash val="solid"/>
          </a:ln>
        </p:spPr>
      </p:sp>
      <p:sp>
        <p:nvSpPr>
          <p:cNvPr id="23" name="Text 20"/>
          <p:cNvSpPr/>
          <p:nvPr/>
        </p:nvSpPr>
        <p:spPr>
          <a:xfrm>
            <a:off x="3566160" y="2308860"/>
            <a:ext cx="4937760" cy="457200"/>
          </a:xfrm>
          <a:prstGeom prst="rect">
            <a:avLst/>
          </a:prstGeom>
          <a:noFill/>
          <a:ln/>
        </p:spPr>
        <p:txBody>
          <a:bodyPr wrap="square" lIns="0" tIns="0" rIns="0" bIns="0" rtlCol="0" anchor="ctr"/>
          <a:lstStyle/>
          <a:p>
            <a:pPr indent="0" marL="0">
              <a:lnSpc>
                <a:spcPts val="1400"/>
              </a:lnSpc>
              <a:buNone/>
            </a:pPr>
            <a:r>
              <a:rPr lang="en-US" sz="1200" dirty="0">
                <a:solidFill>
                  <a:srgbClr val="2E4258"/>
                </a:solidFill>
                <a:latin typeface="Inter" pitchFamily="34" charset="0"/>
                <a:ea typeface="Inter" pitchFamily="34" charset="-122"/>
                <a:cs typeface="Inter" pitchFamily="34" charset="-120"/>
              </a:rPr>
              <a:t>¿Forma de pago?</a:t>
            </a:r>
            <a:endParaRPr lang="en-US" sz="1200" dirty="0"/>
          </a:p>
        </p:txBody>
      </p:sp>
      <p:sp>
        <p:nvSpPr>
          <p:cNvPr id="24" name="Text 21"/>
          <p:cNvSpPr/>
          <p:nvPr/>
        </p:nvSpPr>
        <p:spPr>
          <a:xfrm>
            <a:off x="3566160" y="2820924"/>
            <a:ext cx="4937760" cy="457200"/>
          </a:xfrm>
          <a:prstGeom prst="rect">
            <a:avLst/>
          </a:prstGeom>
          <a:noFill/>
          <a:ln/>
        </p:spPr>
        <p:txBody>
          <a:bodyPr wrap="square" lIns="0" tIns="0" rIns="0" bIns="0" rtlCol="0" anchor="ctr"/>
          <a:lstStyle/>
          <a:p>
            <a:pPr indent="0" marL="0">
              <a:lnSpc>
                <a:spcPts val="1400"/>
              </a:lnSpc>
              <a:buNone/>
            </a:pPr>
            <a:r>
              <a:rPr lang="en-US" sz="1200" dirty="0">
                <a:solidFill>
                  <a:srgbClr val="2E4258"/>
                </a:solidFill>
                <a:latin typeface="Inter" pitchFamily="34" charset="0"/>
                <a:ea typeface="Inter" pitchFamily="34" charset="-122"/>
                <a:cs typeface="Inter" pitchFamily="34" charset="-120"/>
              </a:rPr>
              <a:t>¿En qué precio te gustaría vender?</a:t>
            </a:r>
            <a:endParaRPr lang="en-US" sz="1200" dirty="0"/>
          </a:p>
        </p:txBody>
      </p:sp>
      <p:sp>
        <p:nvSpPr>
          <p:cNvPr id="25" name="Shape 22"/>
          <p:cNvSpPr/>
          <p:nvPr/>
        </p:nvSpPr>
        <p:spPr>
          <a:xfrm>
            <a:off x="3346704" y="3332988"/>
            <a:ext cx="5340096" cy="457200"/>
          </a:xfrm>
          <a:prstGeom prst="roundRect">
            <a:avLst>
              <a:gd name="adj" fmla="val 18000"/>
            </a:avLst>
          </a:prstGeom>
          <a:solidFill>
            <a:srgbClr val="F3F3F3"/>
          </a:solidFill>
          <a:ln w="12700">
            <a:solidFill>
              <a:srgbClr val="F3F3F3"/>
            </a:solidFill>
            <a:prstDash val="solid"/>
          </a:ln>
        </p:spPr>
      </p:sp>
      <p:sp>
        <p:nvSpPr>
          <p:cNvPr id="26" name="Text 23"/>
          <p:cNvSpPr/>
          <p:nvPr/>
        </p:nvSpPr>
        <p:spPr>
          <a:xfrm>
            <a:off x="3566160" y="3332988"/>
            <a:ext cx="4937760" cy="457200"/>
          </a:xfrm>
          <a:prstGeom prst="rect">
            <a:avLst/>
          </a:prstGeom>
          <a:noFill/>
          <a:ln/>
        </p:spPr>
        <p:txBody>
          <a:bodyPr wrap="square" lIns="0" tIns="0" rIns="0" bIns="0" rtlCol="0" anchor="ctr"/>
          <a:lstStyle/>
          <a:p>
            <a:pPr indent="0" marL="0">
              <a:lnSpc>
                <a:spcPts val="1400"/>
              </a:lnSpc>
              <a:buNone/>
            </a:pPr>
            <a:r>
              <a:rPr lang="en-US" sz="1200" dirty="0">
                <a:solidFill>
                  <a:srgbClr val="2E4258"/>
                </a:solidFill>
                <a:latin typeface="Inter" pitchFamily="34" charset="0"/>
                <a:ea typeface="Inter" pitchFamily="34" charset="-122"/>
                <a:cs typeface="Inter" pitchFamily="34" charset="-120"/>
              </a:rPr>
              <a:t>¿Ese valor lo tasaste con alguien? ¿Cuándo?</a:t>
            </a:r>
            <a:endParaRPr lang="en-US" sz="1200" dirty="0"/>
          </a:p>
        </p:txBody>
      </p:sp>
      <p:sp>
        <p:nvSpPr>
          <p:cNvPr id="27" name="Shape 24"/>
          <p:cNvSpPr/>
          <p:nvPr/>
        </p:nvSpPr>
        <p:spPr>
          <a:xfrm>
            <a:off x="603504" y="4041648"/>
            <a:ext cx="8083296" cy="658368"/>
          </a:xfrm>
          <a:prstGeom prst="roundRect">
            <a:avLst>
              <a:gd name="adj" fmla="val 12500"/>
            </a:avLst>
          </a:prstGeom>
          <a:solidFill>
            <a:srgbClr val="08407C"/>
          </a:solidFill>
          <a:ln w="12700">
            <a:solidFill>
              <a:srgbClr val="08407C"/>
            </a:solidFill>
            <a:prstDash val="solid"/>
          </a:ln>
        </p:spPr>
      </p:sp>
      <p:sp>
        <p:nvSpPr>
          <p:cNvPr id="28" name="Text 25"/>
          <p:cNvSpPr/>
          <p:nvPr/>
        </p:nvSpPr>
        <p:spPr>
          <a:xfrm>
            <a:off x="841248" y="4087368"/>
            <a:ext cx="7626096" cy="201168"/>
          </a:xfrm>
          <a:prstGeom prst="rect">
            <a:avLst/>
          </a:prstGeom>
          <a:noFill/>
          <a:ln/>
        </p:spPr>
        <p:txBody>
          <a:bodyPr wrap="square" lIns="0" tIns="0" rIns="0" bIns="0" rtlCol="0" anchor="ctr"/>
          <a:lstStyle/>
          <a:p>
            <a:pPr indent="0" marL="0">
              <a:buNone/>
            </a:pPr>
            <a:r>
              <a:rPr lang="en-US" sz="900" b="1" spc="120" kern="0" dirty="0">
                <a:solidFill>
                  <a:srgbClr val="FFFFFF"/>
                </a:solidFill>
                <a:latin typeface="Inter" pitchFamily="34" charset="0"/>
                <a:ea typeface="Inter" pitchFamily="34" charset="-122"/>
                <a:cs typeface="Inter" pitchFamily="34" charset="-120"/>
              </a:rPr>
              <a:t>LA PREGUNTA DE FONDO</a:t>
            </a:r>
            <a:endParaRPr lang="en-US" sz="900" dirty="0"/>
          </a:p>
        </p:txBody>
      </p:sp>
      <p:sp>
        <p:nvSpPr>
          <p:cNvPr id="29" name="Text 26"/>
          <p:cNvSpPr/>
          <p:nvPr/>
        </p:nvSpPr>
        <p:spPr>
          <a:xfrm>
            <a:off x="841248" y="4288536"/>
            <a:ext cx="7607808" cy="347472"/>
          </a:xfrm>
          <a:prstGeom prst="rect">
            <a:avLst/>
          </a:prstGeom>
          <a:noFill/>
          <a:ln/>
        </p:spPr>
        <p:txBody>
          <a:bodyPr wrap="square" lIns="0" tIns="0" rIns="0" bIns="0" rtlCol="0" anchor="ctr"/>
          <a:lstStyle/>
          <a:p>
            <a:pPr indent="0" marL="0">
              <a:lnSpc>
                <a:spcPts val="1400"/>
              </a:lnSpc>
              <a:buNone/>
            </a:pPr>
            <a:r>
              <a:rPr lang="en-US" sz="1100" dirty="0">
                <a:solidFill>
                  <a:srgbClr val="FFFFFF"/>
                </a:solidFill>
                <a:latin typeface="Inter" pitchFamily="34" charset="0"/>
                <a:ea typeface="Inter" pitchFamily="34" charset="-122"/>
                <a:cs typeface="Inter" pitchFamily="34" charset="-120"/>
              </a:rPr>
              <a:t>¿Este cliente es consciente, o es un delirante y estoy perdiendo el tiempo?</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411480" cy="5143500"/>
          </a:xfrm>
          <a:prstGeom prst="rect">
            <a:avLst/>
          </a:prstGeom>
          <a:solidFill>
            <a:srgbClr val="4E586E"/>
          </a:solidFill>
          <a:ln w="12700">
            <a:solidFill>
              <a:srgbClr val="4E586E"/>
            </a:solidFill>
            <a:prstDash val="solid"/>
          </a:ln>
        </p:spPr>
      </p:sp>
      <p:sp>
        <p:nvSpPr>
          <p:cNvPr id="3" name="Shape 1"/>
          <p:cNvSpPr/>
          <p:nvPr/>
        </p:nvSpPr>
        <p:spPr>
          <a:xfrm>
            <a:off x="0" y="0"/>
            <a:ext cx="411480" cy="402336"/>
          </a:xfrm>
          <a:prstGeom prst="rect">
            <a:avLst/>
          </a:prstGeom>
          <a:solidFill>
            <a:srgbClr val="08407C"/>
          </a:solidFill>
          <a:ln w="12700">
            <a:solidFill>
              <a:srgbClr val="08407C"/>
            </a:solidFill>
            <a:prstDash val="solid"/>
          </a:ln>
        </p:spPr>
      </p:sp>
      <p:pic>
        <p:nvPicPr>
          <p:cNvPr id="4" name="Image 0" descr="/home/user/KrakRealEstate/capacitaciones/prospeccion/brand/iso_white.png">    </p:cNvPr>
          <p:cNvPicPr>
            <a:picLocks noChangeAspect="1"/>
          </p:cNvPicPr>
          <p:nvPr/>
        </p:nvPicPr>
        <p:blipFill>
          <a:blip r:embed="rId2"/>
          <a:stretch>
            <a:fillRect/>
          </a:stretch>
        </p:blipFill>
        <p:spPr>
          <a:xfrm>
            <a:off x="123444" y="68580"/>
            <a:ext cx="164592" cy="217627"/>
          </a:xfrm>
          <a:prstGeom prst="rect">
            <a:avLst/>
          </a:prstGeom>
        </p:spPr>
      </p:pic>
      <p:sp>
        <p:nvSpPr>
          <p:cNvPr id="5" name="Text 2"/>
          <p:cNvSpPr/>
          <p:nvPr/>
        </p:nvSpPr>
        <p:spPr>
          <a:xfrm>
            <a:off x="603504" y="256032"/>
            <a:ext cx="8083296" cy="475488"/>
          </a:xfrm>
          <a:prstGeom prst="rect">
            <a:avLst/>
          </a:prstGeom>
          <a:noFill/>
          <a:ln/>
        </p:spPr>
        <p:txBody>
          <a:bodyPr wrap="square" lIns="0" tIns="0" rIns="0" bIns="0" rtlCol="0" anchor="ctr"/>
          <a:lstStyle/>
          <a:p>
            <a:pPr indent="0" marL="0">
              <a:buNone/>
            </a:pPr>
            <a:r>
              <a:rPr lang="en-US" sz="2600" b="1" dirty="0">
                <a:solidFill>
                  <a:srgbClr val="08407C"/>
                </a:solidFill>
                <a:latin typeface="Inter" pitchFamily="34" charset="0"/>
                <a:ea typeface="Inter" pitchFamily="34" charset="-122"/>
                <a:cs typeface="Inter" pitchFamily="34" charset="-120"/>
              </a:rPr>
              <a:t>Calificación de los prospectos</a:t>
            </a:r>
            <a:endParaRPr lang="en-US" sz="2600" dirty="0"/>
          </a:p>
        </p:txBody>
      </p:sp>
      <p:sp>
        <p:nvSpPr>
          <p:cNvPr id="6" name="Text 3"/>
          <p:cNvSpPr/>
          <p:nvPr/>
        </p:nvSpPr>
        <p:spPr>
          <a:xfrm>
            <a:off x="603504" y="749808"/>
            <a:ext cx="8083296" cy="274320"/>
          </a:xfrm>
          <a:prstGeom prst="rect">
            <a:avLst/>
          </a:prstGeom>
          <a:noFill/>
          <a:ln/>
        </p:spPr>
        <p:txBody>
          <a:bodyPr wrap="square" lIns="0" tIns="0" rIns="0" bIns="0" rtlCol="0" anchor="ctr"/>
          <a:lstStyle/>
          <a:p>
            <a:pPr indent="0" marL="0">
              <a:buNone/>
            </a:pPr>
            <a:r>
              <a:rPr lang="en-US" sz="1200" i="1" dirty="0">
                <a:solidFill>
                  <a:srgbClr val="6A7686"/>
                </a:solidFill>
                <a:latin typeface="Inter" pitchFamily="34" charset="0"/>
                <a:ea typeface="Inter" pitchFamily="34" charset="-122"/>
                <a:cs typeface="Inter" pitchFamily="34" charset="-120"/>
              </a:rPr>
              <a:t>Técnica PATI: otra forma de medir para concientizar.</a:t>
            </a:r>
            <a:endParaRPr lang="en-US" sz="1200" dirty="0"/>
          </a:p>
        </p:txBody>
      </p:sp>
      <p:sp>
        <p:nvSpPr>
          <p:cNvPr id="7" name="Shape 4"/>
          <p:cNvSpPr/>
          <p:nvPr/>
        </p:nvSpPr>
        <p:spPr>
          <a:xfrm>
            <a:off x="6967728" y="292608"/>
            <a:ext cx="384048" cy="384048"/>
          </a:xfrm>
          <a:prstGeom prst="roundRect">
            <a:avLst>
              <a:gd name="adj" fmla="val 23810"/>
            </a:avLst>
          </a:prstGeom>
          <a:solidFill>
            <a:srgbClr val="DDE3EA"/>
          </a:solidFill>
          <a:ln w="12700">
            <a:solidFill>
              <a:srgbClr val="DDE3EA"/>
            </a:solidFill>
            <a:prstDash val="solid"/>
          </a:ln>
        </p:spPr>
      </p:sp>
      <p:sp>
        <p:nvSpPr>
          <p:cNvPr id="8" name="Text 5"/>
          <p:cNvSpPr/>
          <p:nvPr/>
        </p:nvSpPr>
        <p:spPr>
          <a:xfrm>
            <a:off x="6967728" y="292608"/>
            <a:ext cx="384048" cy="384048"/>
          </a:xfrm>
          <a:prstGeom prst="rect">
            <a:avLst/>
          </a:prstGeom>
          <a:noFill/>
          <a:ln/>
        </p:spPr>
        <p:txBody>
          <a:bodyPr wrap="square" lIns="0" tIns="0" rIns="0" bIns="0" rtlCol="0" anchor="ctr"/>
          <a:lstStyle/>
          <a:p>
            <a:pPr algn="ctr" indent="0" marL="0">
              <a:buNone/>
            </a:pPr>
            <a:r>
              <a:rPr lang="en-US" sz="1200" b="1" dirty="0">
                <a:solidFill>
                  <a:srgbClr val="6A7686"/>
                </a:solidFill>
                <a:latin typeface="Inter" pitchFamily="34" charset="0"/>
                <a:ea typeface="Inter" pitchFamily="34" charset="-122"/>
                <a:cs typeface="Inter" pitchFamily="34" charset="-120"/>
              </a:rPr>
              <a:t>P</a:t>
            </a:r>
            <a:endParaRPr lang="en-US" sz="1200" dirty="0"/>
          </a:p>
        </p:txBody>
      </p:sp>
      <p:sp>
        <p:nvSpPr>
          <p:cNvPr id="9" name="Shape 6"/>
          <p:cNvSpPr/>
          <p:nvPr/>
        </p:nvSpPr>
        <p:spPr>
          <a:xfrm>
            <a:off x="7424928" y="292608"/>
            <a:ext cx="384048" cy="384048"/>
          </a:xfrm>
          <a:prstGeom prst="roundRect">
            <a:avLst>
              <a:gd name="adj" fmla="val 23810"/>
            </a:avLst>
          </a:prstGeom>
          <a:solidFill>
            <a:srgbClr val="08407C"/>
          </a:solidFill>
          <a:ln w="12700">
            <a:solidFill>
              <a:srgbClr val="08407C"/>
            </a:solidFill>
            <a:prstDash val="solid"/>
          </a:ln>
        </p:spPr>
      </p:sp>
      <p:sp>
        <p:nvSpPr>
          <p:cNvPr id="10" name="Text 7"/>
          <p:cNvSpPr/>
          <p:nvPr/>
        </p:nvSpPr>
        <p:spPr>
          <a:xfrm>
            <a:off x="7424928" y="29260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a:t>
            </a:r>
            <a:endParaRPr lang="en-US" sz="1200" dirty="0"/>
          </a:p>
        </p:txBody>
      </p:sp>
      <p:sp>
        <p:nvSpPr>
          <p:cNvPr id="11" name="Shape 8"/>
          <p:cNvSpPr/>
          <p:nvPr/>
        </p:nvSpPr>
        <p:spPr>
          <a:xfrm>
            <a:off x="7882128" y="292608"/>
            <a:ext cx="384048" cy="384048"/>
          </a:xfrm>
          <a:prstGeom prst="roundRect">
            <a:avLst>
              <a:gd name="adj" fmla="val 23810"/>
            </a:avLst>
          </a:prstGeom>
          <a:solidFill>
            <a:srgbClr val="DDE3EA"/>
          </a:solidFill>
          <a:ln w="12700">
            <a:solidFill>
              <a:srgbClr val="DDE3EA"/>
            </a:solidFill>
            <a:prstDash val="solid"/>
          </a:ln>
        </p:spPr>
      </p:sp>
      <p:sp>
        <p:nvSpPr>
          <p:cNvPr id="12" name="Text 9"/>
          <p:cNvSpPr/>
          <p:nvPr/>
        </p:nvSpPr>
        <p:spPr>
          <a:xfrm>
            <a:off x="7882128" y="292608"/>
            <a:ext cx="384048" cy="384048"/>
          </a:xfrm>
          <a:prstGeom prst="rect">
            <a:avLst/>
          </a:prstGeom>
          <a:noFill/>
          <a:ln/>
        </p:spPr>
        <p:txBody>
          <a:bodyPr wrap="square" lIns="0" tIns="0" rIns="0" bIns="0" rtlCol="0" anchor="ctr"/>
          <a:lstStyle/>
          <a:p>
            <a:pPr algn="ctr" indent="0" marL="0">
              <a:buNone/>
            </a:pPr>
            <a:r>
              <a:rPr lang="en-US" sz="1200" b="1" dirty="0">
                <a:solidFill>
                  <a:srgbClr val="6A7686"/>
                </a:solidFill>
                <a:latin typeface="Inter" pitchFamily="34" charset="0"/>
                <a:ea typeface="Inter" pitchFamily="34" charset="-122"/>
                <a:cs typeface="Inter" pitchFamily="34" charset="-120"/>
              </a:rPr>
              <a:t>T</a:t>
            </a:r>
            <a:endParaRPr lang="en-US" sz="1200" dirty="0"/>
          </a:p>
        </p:txBody>
      </p:sp>
      <p:sp>
        <p:nvSpPr>
          <p:cNvPr id="13" name="Shape 10"/>
          <p:cNvSpPr/>
          <p:nvPr/>
        </p:nvSpPr>
        <p:spPr>
          <a:xfrm>
            <a:off x="8339328" y="292608"/>
            <a:ext cx="384048" cy="384048"/>
          </a:xfrm>
          <a:prstGeom prst="roundRect">
            <a:avLst>
              <a:gd name="adj" fmla="val 23810"/>
            </a:avLst>
          </a:prstGeom>
          <a:solidFill>
            <a:srgbClr val="DDE3EA"/>
          </a:solidFill>
          <a:ln w="12700">
            <a:solidFill>
              <a:srgbClr val="DDE3EA"/>
            </a:solidFill>
            <a:prstDash val="solid"/>
          </a:ln>
        </p:spPr>
      </p:sp>
      <p:sp>
        <p:nvSpPr>
          <p:cNvPr id="14" name="Text 11"/>
          <p:cNvSpPr/>
          <p:nvPr/>
        </p:nvSpPr>
        <p:spPr>
          <a:xfrm>
            <a:off x="8339328" y="292608"/>
            <a:ext cx="384048" cy="384048"/>
          </a:xfrm>
          <a:prstGeom prst="rect">
            <a:avLst/>
          </a:prstGeom>
          <a:noFill/>
          <a:ln/>
        </p:spPr>
        <p:txBody>
          <a:bodyPr wrap="square" lIns="0" tIns="0" rIns="0" bIns="0" rtlCol="0" anchor="ctr"/>
          <a:lstStyle/>
          <a:p>
            <a:pPr algn="ctr" indent="0" marL="0">
              <a:buNone/>
            </a:pPr>
            <a:r>
              <a:rPr lang="en-US" sz="1200" b="1" dirty="0">
                <a:solidFill>
                  <a:srgbClr val="6A7686"/>
                </a:solidFill>
                <a:latin typeface="Inter" pitchFamily="34" charset="0"/>
                <a:ea typeface="Inter" pitchFamily="34" charset="-122"/>
                <a:cs typeface="Inter" pitchFamily="34" charset="-120"/>
              </a:rPr>
              <a:t>I</a:t>
            </a:r>
            <a:endParaRPr lang="en-US" sz="1200" dirty="0"/>
          </a:p>
        </p:txBody>
      </p:sp>
      <p:sp>
        <p:nvSpPr>
          <p:cNvPr id="15" name="Shape 12"/>
          <p:cNvSpPr/>
          <p:nvPr/>
        </p:nvSpPr>
        <p:spPr>
          <a:xfrm>
            <a:off x="603504" y="1188720"/>
            <a:ext cx="2468880" cy="2697480"/>
          </a:xfrm>
          <a:prstGeom prst="roundRect">
            <a:avLst>
              <a:gd name="adj" fmla="val 3333"/>
            </a:avLst>
          </a:prstGeom>
          <a:solidFill>
            <a:srgbClr val="08407C"/>
          </a:solidFill>
          <a:ln w="12700">
            <a:solidFill>
              <a:srgbClr val="08407C"/>
            </a:solidFill>
            <a:prstDash val="solid"/>
          </a:ln>
        </p:spPr>
      </p:sp>
      <p:sp>
        <p:nvSpPr>
          <p:cNvPr id="16" name="Text 13"/>
          <p:cNvSpPr/>
          <p:nvPr/>
        </p:nvSpPr>
        <p:spPr>
          <a:xfrm>
            <a:off x="603504" y="1371600"/>
            <a:ext cx="2468880" cy="1188720"/>
          </a:xfrm>
          <a:prstGeom prst="rect">
            <a:avLst/>
          </a:prstGeom>
          <a:noFill/>
          <a:ln/>
        </p:spPr>
        <p:txBody>
          <a:bodyPr wrap="square" lIns="0" tIns="0" rIns="0" bIns="0" rtlCol="0" anchor="ctr"/>
          <a:lstStyle/>
          <a:p>
            <a:pPr algn="ctr" indent="0" marL="0">
              <a:buNone/>
            </a:pPr>
            <a:r>
              <a:rPr lang="en-US" sz="7200" b="1" dirty="0">
                <a:solidFill>
                  <a:srgbClr val="FFFFFF"/>
                </a:solidFill>
                <a:latin typeface="Inter" pitchFamily="34" charset="0"/>
                <a:ea typeface="Inter" pitchFamily="34" charset="-122"/>
                <a:cs typeface="Inter" pitchFamily="34" charset="-120"/>
              </a:rPr>
              <a:t>A</a:t>
            </a:r>
            <a:endParaRPr lang="en-US" sz="7200" dirty="0"/>
          </a:p>
        </p:txBody>
      </p:sp>
      <p:sp>
        <p:nvSpPr>
          <p:cNvPr id="17" name="Text 14"/>
          <p:cNvSpPr/>
          <p:nvPr/>
        </p:nvSpPr>
        <p:spPr>
          <a:xfrm>
            <a:off x="786384" y="2651760"/>
            <a:ext cx="2103120" cy="402336"/>
          </a:xfrm>
          <a:prstGeom prst="rect">
            <a:avLst/>
          </a:prstGeom>
          <a:noFill/>
          <a:ln/>
        </p:spPr>
        <p:txBody>
          <a:bodyPr wrap="square" lIns="0" tIns="0" rIns="0" bIns="0" rtlCol="0" anchor="ctr"/>
          <a:lstStyle/>
          <a:p>
            <a:pPr algn="ctr" indent="0" marL="0">
              <a:buNone/>
            </a:pPr>
            <a:r>
              <a:rPr lang="en-US" sz="1900" b="1" dirty="0">
                <a:solidFill>
                  <a:srgbClr val="FFFFFF"/>
                </a:solidFill>
                <a:latin typeface="Inter" pitchFamily="34" charset="0"/>
                <a:ea typeface="Inter" pitchFamily="34" charset="-122"/>
                <a:cs typeface="Inter" pitchFamily="34" charset="-120"/>
              </a:rPr>
              <a:t>Autoridad</a:t>
            </a:r>
            <a:endParaRPr lang="en-US" sz="1900" dirty="0"/>
          </a:p>
        </p:txBody>
      </p:sp>
      <p:sp>
        <p:nvSpPr>
          <p:cNvPr id="18" name="Text 15"/>
          <p:cNvSpPr/>
          <p:nvPr/>
        </p:nvSpPr>
        <p:spPr>
          <a:xfrm>
            <a:off x="786384" y="3108960"/>
            <a:ext cx="2103120" cy="457200"/>
          </a:xfrm>
          <a:prstGeom prst="rect">
            <a:avLst/>
          </a:prstGeom>
          <a:noFill/>
          <a:ln/>
        </p:spPr>
        <p:txBody>
          <a:bodyPr wrap="square" lIns="0" tIns="0" rIns="0" bIns="0" rtlCol="0" anchor="t"/>
          <a:lstStyle/>
          <a:p>
            <a:pPr algn="ctr" indent="0" marL="0">
              <a:lnSpc>
                <a:spcPts val="1300"/>
              </a:lnSpc>
              <a:buNone/>
            </a:pPr>
            <a:r>
              <a:rPr lang="en-US" sz="1050" dirty="0">
                <a:solidFill>
                  <a:srgbClr val="CDD8E4"/>
                </a:solidFill>
                <a:latin typeface="Inter" pitchFamily="34" charset="0"/>
                <a:ea typeface="Inter" pitchFamily="34" charset="-122"/>
                <a:cs typeface="Inter" pitchFamily="34" charset="-120"/>
              </a:rPr>
              <a:t>Preguntas para calificar</a:t>
            </a:r>
            <a:endParaRPr lang="en-US" sz="1050" dirty="0"/>
          </a:p>
        </p:txBody>
      </p:sp>
      <p:sp>
        <p:nvSpPr>
          <p:cNvPr id="19" name="Shape 16"/>
          <p:cNvSpPr/>
          <p:nvPr/>
        </p:nvSpPr>
        <p:spPr>
          <a:xfrm>
            <a:off x="3346704" y="1796796"/>
            <a:ext cx="5340096" cy="457200"/>
          </a:xfrm>
          <a:prstGeom prst="roundRect">
            <a:avLst>
              <a:gd name="adj" fmla="val 18000"/>
            </a:avLst>
          </a:prstGeom>
          <a:solidFill>
            <a:srgbClr val="F3F3F3"/>
          </a:solidFill>
          <a:ln w="12700">
            <a:solidFill>
              <a:srgbClr val="F3F3F3"/>
            </a:solidFill>
            <a:prstDash val="solid"/>
          </a:ln>
        </p:spPr>
      </p:sp>
      <p:sp>
        <p:nvSpPr>
          <p:cNvPr id="20" name="Text 17"/>
          <p:cNvSpPr/>
          <p:nvPr/>
        </p:nvSpPr>
        <p:spPr>
          <a:xfrm>
            <a:off x="3566160" y="1796796"/>
            <a:ext cx="4937760" cy="457200"/>
          </a:xfrm>
          <a:prstGeom prst="rect">
            <a:avLst/>
          </a:prstGeom>
          <a:noFill/>
          <a:ln/>
        </p:spPr>
        <p:txBody>
          <a:bodyPr wrap="square" lIns="0" tIns="0" rIns="0" bIns="0" rtlCol="0" anchor="ctr"/>
          <a:lstStyle/>
          <a:p>
            <a:pPr indent="0" marL="0">
              <a:lnSpc>
                <a:spcPts val="1400"/>
              </a:lnSpc>
              <a:buNone/>
            </a:pPr>
            <a:r>
              <a:rPr lang="en-US" sz="1200" dirty="0">
                <a:solidFill>
                  <a:srgbClr val="2E4258"/>
                </a:solidFill>
                <a:latin typeface="Inter" pitchFamily="34" charset="0"/>
                <a:ea typeface="Inter" pitchFamily="34" charset="-122"/>
                <a:cs typeface="Inter" pitchFamily="34" charset="-120"/>
              </a:rPr>
              <a:t>¿Puede decidir o necesita consenso con otros?</a:t>
            </a:r>
            <a:endParaRPr lang="en-US" sz="1200" dirty="0"/>
          </a:p>
        </p:txBody>
      </p:sp>
      <p:sp>
        <p:nvSpPr>
          <p:cNvPr id="21" name="Text 18"/>
          <p:cNvSpPr/>
          <p:nvPr/>
        </p:nvSpPr>
        <p:spPr>
          <a:xfrm>
            <a:off x="3566160" y="2308860"/>
            <a:ext cx="4937760" cy="457200"/>
          </a:xfrm>
          <a:prstGeom prst="rect">
            <a:avLst/>
          </a:prstGeom>
          <a:noFill/>
          <a:ln/>
        </p:spPr>
        <p:txBody>
          <a:bodyPr wrap="square" lIns="0" tIns="0" rIns="0" bIns="0" rtlCol="0" anchor="ctr"/>
          <a:lstStyle/>
          <a:p>
            <a:pPr indent="0" marL="0">
              <a:lnSpc>
                <a:spcPts val="1400"/>
              </a:lnSpc>
              <a:buNone/>
            </a:pPr>
            <a:r>
              <a:rPr lang="en-US" sz="1200" dirty="0">
                <a:solidFill>
                  <a:srgbClr val="2E4258"/>
                </a:solidFill>
                <a:latin typeface="Inter" pitchFamily="34" charset="0"/>
                <a:ea typeface="Inter" pitchFamily="34" charset="-122"/>
                <a:cs typeface="Inter" pitchFamily="34" charset="-120"/>
              </a:rPr>
              <a:t>¿Vos tomás la decisión o lo conversás con alguien más?</a:t>
            </a:r>
            <a:endParaRPr lang="en-US" sz="1200" dirty="0"/>
          </a:p>
        </p:txBody>
      </p:sp>
      <p:sp>
        <p:nvSpPr>
          <p:cNvPr id="22" name="Shape 19"/>
          <p:cNvSpPr/>
          <p:nvPr/>
        </p:nvSpPr>
        <p:spPr>
          <a:xfrm>
            <a:off x="3346704" y="2820924"/>
            <a:ext cx="5340096" cy="457200"/>
          </a:xfrm>
          <a:prstGeom prst="roundRect">
            <a:avLst>
              <a:gd name="adj" fmla="val 18000"/>
            </a:avLst>
          </a:prstGeom>
          <a:solidFill>
            <a:srgbClr val="F3F3F3"/>
          </a:solidFill>
          <a:ln w="12700">
            <a:solidFill>
              <a:srgbClr val="F3F3F3"/>
            </a:solidFill>
            <a:prstDash val="solid"/>
          </a:ln>
        </p:spPr>
      </p:sp>
      <p:sp>
        <p:nvSpPr>
          <p:cNvPr id="23" name="Text 20"/>
          <p:cNvSpPr/>
          <p:nvPr/>
        </p:nvSpPr>
        <p:spPr>
          <a:xfrm>
            <a:off x="3566160" y="2820924"/>
            <a:ext cx="4937760" cy="457200"/>
          </a:xfrm>
          <a:prstGeom prst="rect">
            <a:avLst/>
          </a:prstGeom>
          <a:noFill/>
          <a:ln/>
        </p:spPr>
        <p:txBody>
          <a:bodyPr wrap="square" lIns="0" tIns="0" rIns="0" bIns="0" rtlCol="0" anchor="ctr"/>
          <a:lstStyle/>
          <a:p>
            <a:pPr indent="0" marL="0">
              <a:lnSpc>
                <a:spcPts val="1400"/>
              </a:lnSpc>
              <a:buNone/>
            </a:pPr>
            <a:r>
              <a:rPr lang="en-US" sz="1200" dirty="0">
                <a:solidFill>
                  <a:srgbClr val="2E4258"/>
                </a:solidFill>
                <a:latin typeface="Inter" pitchFamily="34" charset="0"/>
                <a:ea typeface="Inter" pitchFamily="34" charset="-122"/>
                <a:cs typeface="Inter" pitchFamily="34" charset="-120"/>
              </a:rPr>
              <a:t>¿Están todos los herederos de acuerdo, o los copropietarios?</a:t>
            </a:r>
            <a:endParaRPr lang="en-US" sz="1200" dirty="0"/>
          </a:p>
        </p:txBody>
      </p:sp>
      <p:sp>
        <p:nvSpPr>
          <p:cNvPr id="24" name="Shape 21"/>
          <p:cNvSpPr/>
          <p:nvPr/>
        </p:nvSpPr>
        <p:spPr>
          <a:xfrm>
            <a:off x="603504" y="4041648"/>
            <a:ext cx="8083296" cy="658368"/>
          </a:xfrm>
          <a:prstGeom prst="roundRect">
            <a:avLst>
              <a:gd name="adj" fmla="val 12500"/>
            </a:avLst>
          </a:prstGeom>
          <a:solidFill>
            <a:srgbClr val="08407C"/>
          </a:solidFill>
          <a:ln w="12700">
            <a:solidFill>
              <a:srgbClr val="08407C"/>
            </a:solidFill>
            <a:prstDash val="solid"/>
          </a:ln>
        </p:spPr>
      </p:sp>
      <p:sp>
        <p:nvSpPr>
          <p:cNvPr id="25" name="Text 22"/>
          <p:cNvSpPr/>
          <p:nvPr/>
        </p:nvSpPr>
        <p:spPr>
          <a:xfrm>
            <a:off x="841248" y="4087368"/>
            <a:ext cx="7626096" cy="201168"/>
          </a:xfrm>
          <a:prstGeom prst="rect">
            <a:avLst/>
          </a:prstGeom>
          <a:noFill/>
          <a:ln/>
        </p:spPr>
        <p:txBody>
          <a:bodyPr wrap="square" lIns="0" tIns="0" rIns="0" bIns="0" rtlCol="0" anchor="ctr"/>
          <a:lstStyle/>
          <a:p>
            <a:pPr indent="0" marL="0">
              <a:buNone/>
            </a:pPr>
            <a:r>
              <a:rPr lang="en-US" sz="900" b="1" spc="120" kern="0" dirty="0">
                <a:solidFill>
                  <a:srgbClr val="FFFFFF"/>
                </a:solidFill>
                <a:latin typeface="Inter" pitchFamily="34" charset="0"/>
                <a:ea typeface="Inter" pitchFamily="34" charset="-122"/>
                <a:cs typeface="Inter" pitchFamily="34" charset="-120"/>
              </a:rPr>
              <a:t>LA PREGUNTA DE FONDO</a:t>
            </a:r>
            <a:endParaRPr lang="en-US" sz="900" dirty="0"/>
          </a:p>
        </p:txBody>
      </p:sp>
      <p:sp>
        <p:nvSpPr>
          <p:cNvPr id="26" name="Text 23"/>
          <p:cNvSpPr/>
          <p:nvPr/>
        </p:nvSpPr>
        <p:spPr>
          <a:xfrm>
            <a:off x="841248" y="4288536"/>
            <a:ext cx="7607808" cy="347472"/>
          </a:xfrm>
          <a:prstGeom prst="rect">
            <a:avLst/>
          </a:prstGeom>
          <a:noFill/>
          <a:ln/>
        </p:spPr>
        <p:txBody>
          <a:bodyPr wrap="square" lIns="0" tIns="0" rIns="0" bIns="0" rtlCol="0" anchor="ctr"/>
          <a:lstStyle/>
          <a:p>
            <a:pPr indent="0" marL="0">
              <a:lnSpc>
                <a:spcPts val="1400"/>
              </a:lnSpc>
              <a:buNone/>
            </a:pPr>
            <a:r>
              <a:rPr lang="en-US" sz="1100" dirty="0">
                <a:solidFill>
                  <a:srgbClr val="FFFFFF"/>
                </a:solidFill>
                <a:latin typeface="Inter" pitchFamily="34" charset="0"/>
                <a:ea typeface="Inter" pitchFamily="34" charset="-122"/>
                <a:cs typeface="Inter" pitchFamily="34" charset="-120"/>
              </a:rPr>
              <a:t>¿Estoy hablando con la persona correcta para crear influencia ética positiva?</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411480" cy="5143500"/>
          </a:xfrm>
          <a:prstGeom prst="rect">
            <a:avLst/>
          </a:prstGeom>
          <a:solidFill>
            <a:srgbClr val="4E586E"/>
          </a:solidFill>
          <a:ln w="12700">
            <a:solidFill>
              <a:srgbClr val="4E586E"/>
            </a:solidFill>
            <a:prstDash val="solid"/>
          </a:ln>
        </p:spPr>
      </p:sp>
      <p:sp>
        <p:nvSpPr>
          <p:cNvPr id="3" name="Shape 1"/>
          <p:cNvSpPr/>
          <p:nvPr/>
        </p:nvSpPr>
        <p:spPr>
          <a:xfrm>
            <a:off x="0" y="0"/>
            <a:ext cx="411480" cy="402336"/>
          </a:xfrm>
          <a:prstGeom prst="rect">
            <a:avLst/>
          </a:prstGeom>
          <a:solidFill>
            <a:srgbClr val="08407C"/>
          </a:solidFill>
          <a:ln w="12700">
            <a:solidFill>
              <a:srgbClr val="08407C"/>
            </a:solidFill>
            <a:prstDash val="solid"/>
          </a:ln>
        </p:spPr>
      </p:sp>
      <p:pic>
        <p:nvPicPr>
          <p:cNvPr id="4" name="Image 0" descr="/home/user/KrakRealEstate/capacitaciones/prospeccion/brand/iso_white.png">    </p:cNvPr>
          <p:cNvPicPr>
            <a:picLocks noChangeAspect="1"/>
          </p:cNvPicPr>
          <p:nvPr/>
        </p:nvPicPr>
        <p:blipFill>
          <a:blip r:embed="rId2"/>
          <a:stretch>
            <a:fillRect/>
          </a:stretch>
        </p:blipFill>
        <p:spPr>
          <a:xfrm>
            <a:off x="123444" y="68580"/>
            <a:ext cx="164592" cy="217627"/>
          </a:xfrm>
          <a:prstGeom prst="rect">
            <a:avLst/>
          </a:prstGeom>
        </p:spPr>
      </p:pic>
      <p:sp>
        <p:nvSpPr>
          <p:cNvPr id="5" name="Text 2"/>
          <p:cNvSpPr/>
          <p:nvPr/>
        </p:nvSpPr>
        <p:spPr>
          <a:xfrm>
            <a:off x="603504" y="256032"/>
            <a:ext cx="8083296" cy="475488"/>
          </a:xfrm>
          <a:prstGeom prst="rect">
            <a:avLst/>
          </a:prstGeom>
          <a:noFill/>
          <a:ln/>
        </p:spPr>
        <p:txBody>
          <a:bodyPr wrap="square" lIns="0" tIns="0" rIns="0" bIns="0" rtlCol="0" anchor="ctr"/>
          <a:lstStyle/>
          <a:p>
            <a:pPr indent="0" marL="0">
              <a:buNone/>
            </a:pPr>
            <a:r>
              <a:rPr lang="en-US" sz="2600" b="1" dirty="0">
                <a:solidFill>
                  <a:srgbClr val="08407C"/>
                </a:solidFill>
                <a:latin typeface="Inter" pitchFamily="34" charset="0"/>
                <a:ea typeface="Inter" pitchFamily="34" charset="-122"/>
                <a:cs typeface="Inter" pitchFamily="34" charset="-120"/>
              </a:rPr>
              <a:t>Calificación de los prospectos</a:t>
            </a:r>
            <a:endParaRPr lang="en-US" sz="2600" dirty="0"/>
          </a:p>
        </p:txBody>
      </p:sp>
      <p:sp>
        <p:nvSpPr>
          <p:cNvPr id="6" name="Text 3"/>
          <p:cNvSpPr/>
          <p:nvPr/>
        </p:nvSpPr>
        <p:spPr>
          <a:xfrm>
            <a:off x="603504" y="749808"/>
            <a:ext cx="8083296" cy="274320"/>
          </a:xfrm>
          <a:prstGeom prst="rect">
            <a:avLst/>
          </a:prstGeom>
          <a:noFill/>
          <a:ln/>
        </p:spPr>
        <p:txBody>
          <a:bodyPr wrap="square" lIns="0" tIns="0" rIns="0" bIns="0" rtlCol="0" anchor="ctr"/>
          <a:lstStyle/>
          <a:p>
            <a:pPr indent="0" marL="0">
              <a:buNone/>
            </a:pPr>
            <a:r>
              <a:rPr lang="en-US" sz="1200" i="1" dirty="0">
                <a:solidFill>
                  <a:srgbClr val="6A7686"/>
                </a:solidFill>
                <a:latin typeface="Inter" pitchFamily="34" charset="0"/>
                <a:ea typeface="Inter" pitchFamily="34" charset="-122"/>
                <a:cs typeface="Inter" pitchFamily="34" charset="-120"/>
              </a:rPr>
              <a:t>Técnica PATI: otra forma de medir para concientizar.</a:t>
            </a:r>
            <a:endParaRPr lang="en-US" sz="1200" dirty="0"/>
          </a:p>
        </p:txBody>
      </p:sp>
      <p:sp>
        <p:nvSpPr>
          <p:cNvPr id="7" name="Shape 4"/>
          <p:cNvSpPr/>
          <p:nvPr/>
        </p:nvSpPr>
        <p:spPr>
          <a:xfrm>
            <a:off x="6967728" y="292608"/>
            <a:ext cx="384048" cy="384048"/>
          </a:xfrm>
          <a:prstGeom prst="roundRect">
            <a:avLst>
              <a:gd name="adj" fmla="val 23810"/>
            </a:avLst>
          </a:prstGeom>
          <a:solidFill>
            <a:srgbClr val="DDE3EA"/>
          </a:solidFill>
          <a:ln w="12700">
            <a:solidFill>
              <a:srgbClr val="DDE3EA"/>
            </a:solidFill>
            <a:prstDash val="solid"/>
          </a:ln>
        </p:spPr>
      </p:sp>
      <p:sp>
        <p:nvSpPr>
          <p:cNvPr id="8" name="Text 5"/>
          <p:cNvSpPr/>
          <p:nvPr/>
        </p:nvSpPr>
        <p:spPr>
          <a:xfrm>
            <a:off x="6967728" y="292608"/>
            <a:ext cx="384048" cy="384048"/>
          </a:xfrm>
          <a:prstGeom prst="rect">
            <a:avLst/>
          </a:prstGeom>
          <a:noFill/>
          <a:ln/>
        </p:spPr>
        <p:txBody>
          <a:bodyPr wrap="square" lIns="0" tIns="0" rIns="0" bIns="0" rtlCol="0" anchor="ctr"/>
          <a:lstStyle/>
          <a:p>
            <a:pPr algn="ctr" indent="0" marL="0">
              <a:buNone/>
            </a:pPr>
            <a:r>
              <a:rPr lang="en-US" sz="1200" b="1" dirty="0">
                <a:solidFill>
                  <a:srgbClr val="6A7686"/>
                </a:solidFill>
                <a:latin typeface="Inter" pitchFamily="34" charset="0"/>
                <a:ea typeface="Inter" pitchFamily="34" charset="-122"/>
                <a:cs typeface="Inter" pitchFamily="34" charset="-120"/>
              </a:rPr>
              <a:t>P</a:t>
            </a:r>
            <a:endParaRPr lang="en-US" sz="1200" dirty="0"/>
          </a:p>
        </p:txBody>
      </p:sp>
      <p:sp>
        <p:nvSpPr>
          <p:cNvPr id="9" name="Shape 6"/>
          <p:cNvSpPr/>
          <p:nvPr/>
        </p:nvSpPr>
        <p:spPr>
          <a:xfrm>
            <a:off x="7424928" y="292608"/>
            <a:ext cx="384048" cy="384048"/>
          </a:xfrm>
          <a:prstGeom prst="roundRect">
            <a:avLst>
              <a:gd name="adj" fmla="val 23810"/>
            </a:avLst>
          </a:prstGeom>
          <a:solidFill>
            <a:srgbClr val="DDE3EA"/>
          </a:solidFill>
          <a:ln w="12700">
            <a:solidFill>
              <a:srgbClr val="DDE3EA"/>
            </a:solidFill>
            <a:prstDash val="solid"/>
          </a:ln>
        </p:spPr>
      </p:sp>
      <p:sp>
        <p:nvSpPr>
          <p:cNvPr id="10" name="Text 7"/>
          <p:cNvSpPr/>
          <p:nvPr/>
        </p:nvSpPr>
        <p:spPr>
          <a:xfrm>
            <a:off x="7424928" y="292608"/>
            <a:ext cx="384048" cy="384048"/>
          </a:xfrm>
          <a:prstGeom prst="rect">
            <a:avLst/>
          </a:prstGeom>
          <a:noFill/>
          <a:ln/>
        </p:spPr>
        <p:txBody>
          <a:bodyPr wrap="square" lIns="0" tIns="0" rIns="0" bIns="0" rtlCol="0" anchor="ctr"/>
          <a:lstStyle/>
          <a:p>
            <a:pPr algn="ctr" indent="0" marL="0">
              <a:buNone/>
            </a:pPr>
            <a:r>
              <a:rPr lang="en-US" sz="1200" b="1" dirty="0">
                <a:solidFill>
                  <a:srgbClr val="6A7686"/>
                </a:solidFill>
                <a:latin typeface="Inter" pitchFamily="34" charset="0"/>
                <a:ea typeface="Inter" pitchFamily="34" charset="-122"/>
                <a:cs typeface="Inter" pitchFamily="34" charset="-120"/>
              </a:rPr>
              <a:t>A</a:t>
            </a:r>
            <a:endParaRPr lang="en-US" sz="1200" dirty="0"/>
          </a:p>
        </p:txBody>
      </p:sp>
      <p:sp>
        <p:nvSpPr>
          <p:cNvPr id="11" name="Shape 8"/>
          <p:cNvSpPr/>
          <p:nvPr/>
        </p:nvSpPr>
        <p:spPr>
          <a:xfrm>
            <a:off x="7882128" y="292608"/>
            <a:ext cx="384048" cy="384048"/>
          </a:xfrm>
          <a:prstGeom prst="roundRect">
            <a:avLst>
              <a:gd name="adj" fmla="val 23810"/>
            </a:avLst>
          </a:prstGeom>
          <a:solidFill>
            <a:srgbClr val="08407C"/>
          </a:solidFill>
          <a:ln w="12700">
            <a:solidFill>
              <a:srgbClr val="08407C"/>
            </a:solidFill>
            <a:prstDash val="solid"/>
          </a:ln>
        </p:spPr>
      </p:sp>
      <p:sp>
        <p:nvSpPr>
          <p:cNvPr id="12" name="Text 9"/>
          <p:cNvSpPr/>
          <p:nvPr/>
        </p:nvSpPr>
        <p:spPr>
          <a:xfrm>
            <a:off x="7882128" y="29260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T</a:t>
            </a:r>
            <a:endParaRPr lang="en-US" sz="1200" dirty="0"/>
          </a:p>
        </p:txBody>
      </p:sp>
      <p:sp>
        <p:nvSpPr>
          <p:cNvPr id="13" name="Shape 10"/>
          <p:cNvSpPr/>
          <p:nvPr/>
        </p:nvSpPr>
        <p:spPr>
          <a:xfrm>
            <a:off x="8339328" y="292608"/>
            <a:ext cx="384048" cy="384048"/>
          </a:xfrm>
          <a:prstGeom prst="roundRect">
            <a:avLst>
              <a:gd name="adj" fmla="val 23810"/>
            </a:avLst>
          </a:prstGeom>
          <a:solidFill>
            <a:srgbClr val="DDE3EA"/>
          </a:solidFill>
          <a:ln w="12700">
            <a:solidFill>
              <a:srgbClr val="DDE3EA"/>
            </a:solidFill>
            <a:prstDash val="solid"/>
          </a:ln>
        </p:spPr>
      </p:sp>
      <p:sp>
        <p:nvSpPr>
          <p:cNvPr id="14" name="Text 11"/>
          <p:cNvSpPr/>
          <p:nvPr/>
        </p:nvSpPr>
        <p:spPr>
          <a:xfrm>
            <a:off x="8339328" y="292608"/>
            <a:ext cx="384048" cy="384048"/>
          </a:xfrm>
          <a:prstGeom prst="rect">
            <a:avLst/>
          </a:prstGeom>
          <a:noFill/>
          <a:ln/>
        </p:spPr>
        <p:txBody>
          <a:bodyPr wrap="square" lIns="0" tIns="0" rIns="0" bIns="0" rtlCol="0" anchor="ctr"/>
          <a:lstStyle/>
          <a:p>
            <a:pPr algn="ctr" indent="0" marL="0">
              <a:buNone/>
            </a:pPr>
            <a:r>
              <a:rPr lang="en-US" sz="1200" b="1" dirty="0">
                <a:solidFill>
                  <a:srgbClr val="6A7686"/>
                </a:solidFill>
                <a:latin typeface="Inter" pitchFamily="34" charset="0"/>
                <a:ea typeface="Inter" pitchFamily="34" charset="-122"/>
                <a:cs typeface="Inter" pitchFamily="34" charset="-120"/>
              </a:rPr>
              <a:t>I</a:t>
            </a:r>
            <a:endParaRPr lang="en-US" sz="1200" dirty="0"/>
          </a:p>
        </p:txBody>
      </p:sp>
      <p:sp>
        <p:nvSpPr>
          <p:cNvPr id="15" name="Shape 12"/>
          <p:cNvSpPr/>
          <p:nvPr/>
        </p:nvSpPr>
        <p:spPr>
          <a:xfrm>
            <a:off x="603504" y="1188720"/>
            <a:ext cx="2468880" cy="2697480"/>
          </a:xfrm>
          <a:prstGeom prst="roundRect">
            <a:avLst>
              <a:gd name="adj" fmla="val 3333"/>
            </a:avLst>
          </a:prstGeom>
          <a:solidFill>
            <a:srgbClr val="08407C"/>
          </a:solidFill>
          <a:ln w="12700">
            <a:solidFill>
              <a:srgbClr val="08407C"/>
            </a:solidFill>
            <a:prstDash val="solid"/>
          </a:ln>
        </p:spPr>
      </p:sp>
      <p:sp>
        <p:nvSpPr>
          <p:cNvPr id="16" name="Text 13"/>
          <p:cNvSpPr/>
          <p:nvPr/>
        </p:nvSpPr>
        <p:spPr>
          <a:xfrm>
            <a:off x="603504" y="1371600"/>
            <a:ext cx="2468880" cy="1188720"/>
          </a:xfrm>
          <a:prstGeom prst="rect">
            <a:avLst/>
          </a:prstGeom>
          <a:noFill/>
          <a:ln/>
        </p:spPr>
        <p:txBody>
          <a:bodyPr wrap="square" lIns="0" tIns="0" rIns="0" bIns="0" rtlCol="0" anchor="ctr"/>
          <a:lstStyle/>
          <a:p>
            <a:pPr algn="ctr" indent="0" marL="0">
              <a:buNone/>
            </a:pPr>
            <a:r>
              <a:rPr lang="en-US" sz="7200" b="1" dirty="0">
                <a:solidFill>
                  <a:srgbClr val="FFFFFF"/>
                </a:solidFill>
                <a:latin typeface="Inter" pitchFamily="34" charset="0"/>
                <a:ea typeface="Inter" pitchFamily="34" charset="-122"/>
                <a:cs typeface="Inter" pitchFamily="34" charset="-120"/>
              </a:rPr>
              <a:t>T</a:t>
            </a:r>
            <a:endParaRPr lang="en-US" sz="7200" dirty="0"/>
          </a:p>
        </p:txBody>
      </p:sp>
      <p:sp>
        <p:nvSpPr>
          <p:cNvPr id="17" name="Text 14"/>
          <p:cNvSpPr/>
          <p:nvPr/>
        </p:nvSpPr>
        <p:spPr>
          <a:xfrm>
            <a:off x="786384" y="2651760"/>
            <a:ext cx="2103120" cy="402336"/>
          </a:xfrm>
          <a:prstGeom prst="rect">
            <a:avLst/>
          </a:prstGeom>
          <a:noFill/>
          <a:ln/>
        </p:spPr>
        <p:txBody>
          <a:bodyPr wrap="square" lIns="0" tIns="0" rIns="0" bIns="0" rtlCol="0" anchor="ctr"/>
          <a:lstStyle/>
          <a:p>
            <a:pPr algn="ctr" indent="0" marL="0">
              <a:buNone/>
            </a:pPr>
            <a:r>
              <a:rPr lang="en-US" sz="1900" b="1" dirty="0">
                <a:solidFill>
                  <a:srgbClr val="FFFFFF"/>
                </a:solidFill>
                <a:latin typeface="Inter" pitchFamily="34" charset="0"/>
                <a:ea typeface="Inter" pitchFamily="34" charset="-122"/>
                <a:cs typeface="Inter" pitchFamily="34" charset="-120"/>
              </a:rPr>
              <a:t>Tiempo</a:t>
            </a:r>
            <a:endParaRPr lang="en-US" sz="1900" dirty="0"/>
          </a:p>
        </p:txBody>
      </p:sp>
      <p:sp>
        <p:nvSpPr>
          <p:cNvPr id="18" name="Text 15"/>
          <p:cNvSpPr/>
          <p:nvPr/>
        </p:nvSpPr>
        <p:spPr>
          <a:xfrm>
            <a:off x="786384" y="3108960"/>
            <a:ext cx="2103120" cy="457200"/>
          </a:xfrm>
          <a:prstGeom prst="rect">
            <a:avLst/>
          </a:prstGeom>
          <a:noFill/>
          <a:ln/>
        </p:spPr>
        <p:txBody>
          <a:bodyPr wrap="square" lIns="0" tIns="0" rIns="0" bIns="0" rtlCol="0" anchor="t"/>
          <a:lstStyle/>
          <a:p>
            <a:pPr algn="ctr" indent="0" marL="0">
              <a:lnSpc>
                <a:spcPts val="1300"/>
              </a:lnSpc>
              <a:buNone/>
            </a:pPr>
            <a:r>
              <a:rPr lang="en-US" sz="1050" dirty="0">
                <a:solidFill>
                  <a:srgbClr val="CDD8E4"/>
                </a:solidFill>
                <a:latin typeface="Inter" pitchFamily="34" charset="0"/>
                <a:ea typeface="Inter" pitchFamily="34" charset="-122"/>
                <a:cs typeface="Inter" pitchFamily="34" charset="-120"/>
              </a:rPr>
              <a:t>Preguntas para calificar</a:t>
            </a:r>
            <a:endParaRPr lang="en-US" sz="1050" dirty="0"/>
          </a:p>
        </p:txBody>
      </p:sp>
      <p:sp>
        <p:nvSpPr>
          <p:cNvPr id="19" name="Shape 16"/>
          <p:cNvSpPr/>
          <p:nvPr/>
        </p:nvSpPr>
        <p:spPr>
          <a:xfrm>
            <a:off x="3346704" y="1796796"/>
            <a:ext cx="5340096" cy="457200"/>
          </a:xfrm>
          <a:prstGeom prst="roundRect">
            <a:avLst>
              <a:gd name="adj" fmla="val 18000"/>
            </a:avLst>
          </a:prstGeom>
          <a:solidFill>
            <a:srgbClr val="F3F3F3"/>
          </a:solidFill>
          <a:ln w="12700">
            <a:solidFill>
              <a:srgbClr val="F3F3F3"/>
            </a:solidFill>
            <a:prstDash val="solid"/>
          </a:ln>
        </p:spPr>
      </p:sp>
      <p:sp>
        <p:nvSpPr>
          <p:cNvPr id="20" name="Text 17"/>
          <p:cNvSpPr/>
          <p:nvPr/>
        </p:nvSpPr>
        <p:spPr>
          <a:xfrm>
            <a:off x="3566160" y="1796796"/>
            <a:ext cx="4937760" cy="457200"/>
          </a:xfrm>
          <a:prstGeom prst="rect">
            <a:avLst/>
          </a:prstGeom>
          <a:noFill/>
          <a:ln/>
        </p:spPr>
        <p:txBody>
          <a:bodyPr wrap="square" lIns="0" tIns="0" rIns="0" bIns="0" rtlCol="0" anchor="ctr"/>
          <a:lstStyle/>
          <a:p>
            <a:pPr indent="0" marL="0">
              <a:lnSpc>
                <a:spcPts val="1400"/>
              </a:lnSpc>
              <a:buNone/>
            </a:pPr>
            <a:r>
              <a:rPr lang="en-US" sz="1200" dirty="0">
                <a:solidFill>
                  <a:srgbClr val="2E4258"/>
                </a:solidFill>
                <a:latin typeface="Inter" pitchFamily="34" charset="0"/>
                <a:ea typeface="Inter" pitchFamily="34" charset="-122"/>
                <a:cs typeface="Inter" pitchFamily="34" charset="-120"/>
              </a:rPr>
              <a:t>¿Cuándo quiere concretar la operación?</a:t>
            </a:r>
            <a:endParaRPr lang="en-US" sz="1200" dirty="0"/>
          </a:p>
        </p:txBody>
      </p:sp>
      <p:sp>
        <p:nvSpPr>
          <p:cNvPr id="21" name="Text 18"/>
          <p:cNvSpPr/>
          <p:nvPr/>
        </p:nvSpPr>
        <p:spPr>
          <a:xfrm>
            <a:off x="3566160" y="2308860"/>
            <a:ext cx="4937760" cy="457200"/>
          </a:xfrm>
          <a:prstGeom prst="rect">
            <a:avLst/>
          </a:prstGeom>
          <a:noFill/>
          <a:ln/>
        </p:spPr>
        <p:txBody>
          <a:bodyPr wrap="square" lIns="0" tIns="0" rIns="0" bIns="0" rtlCol="0" anchor="ctr"/>
          <a:lstStyle/>
          <a:p>
            <a:pPr indent="0" marL="0">
              <a:lnSpc>
                <a:spcPts val="1400"/>
              </a:lnSpc>
              <a:buNone/>
            </a:pPr>
            <a:r>
              <a:rPr lang="en-US" sz="1200" dirty="0">
                <a:solidFill>
                  <a:srgbClr val="2E4258"/>
                </a:solidFill>
                <a:latin typeface="Inter" pitchFamily="34" charset="0"/>
                <a:ea typeface="Inter" pitchFamily="34" charset="-122"/>
                <a:cs typeface="Inter" pitchFamily="34" charset="-120"/>
              </a:rPr>
              <a:t>¿Hay alguna urgencia para vender?</a:t>
            </a:r>
            <a:endParaRPr lang="en-US" sz="1200" dirty="0"/>
          </a:p>
        </p:txBody>
      </p:sp>
      <p:sp>
        <p:nvSpPr>
          <p:cNvPr id="22" name="Shape 19"/>
          <p:cNvSpPr/>
          <p:nvPr/>
        </p:nvSpPr>
        <p:spPr>
          <a:xfrm>
            <a:off x="3346704" y="2820924"/>
            <a:ext cx="5340096" cy="457200"/>
          </a:xfrm>
          <a:prstGeom prst="roundRect">
            <a:avLst>
              <a:gd name="adj" fmla="val 18000"/>
            </a:avLst>
          </a:prstGeom>
          <a:solidFill>
            <a:srgbClr val="F3F3F3"/>
          </a:solidFill>
          <a:ln w="12700">
            <a:solidFill>
              <a:srgbClr val="F3F3F3"/>
            </a:solidFill>
            <a:prstDash val="solid"/>
          </a:ln>
        </p:spPr>
      </p:sp>
      <p:sp>
        <p:nvSpPr>
          <p:cNvPr id="23" name="Text 20"/>
          <p:cNvSpPr/>
          <p:nvPr/>
        </p:nvSpPr>
        <p:spPr>
          <a:xfrm>
            <a:off x="3566160" y="2820924"/>
            <a:ext cx="4937760" cy="457200"/>
          </a:xfrm>
          <a:prstGeom prst="rect">
            <a:avLst/>
          </a:prstGeom>
          <a:noFill/>
          <a:ln/>
        </p:spPr>
        <p:txBody>
          <a:bodyPr wrap="square" lIns="0" tIns="0" rIns="0" bIns="0" rtlCol="0" anchor="ctr"/>
          <a:lstStyle/>
          <a:p>
            <a:pPr indent="0" marL="0">
              <a:lnSpc>
                <a:spcPts val="1400"/>
              </a:lnSpc>
              <a:buNone/>
            </a:pPr>
            <a:r>
              <a:rPr lang="en-US" sz="1200" dirty="0">
                <a:solidFill>
                  <a:srgbClr val="2E4258"/>
                </a:solidFill>
                <a:latin typeface="Inter" pitchFamily="34" charset="0"/>
                <a:ea typeface="Inter" pitchFamily="34" charset="-122"/>
                <a:cs typeface="Inter" pitchFamily="34" charset="-120"/>
              </a:rPr>
              <a:t>¿Te gustaría que esto se resuelva antes de que termine el año?</a:t>
            </a:r>
            <a:endParaRPr lang="en-US" sz="1200" dirty="0"/>
          </a:p>
        </p:txBody>
      </p:sp>
      <p:sp>
        <p:nvSpPr>
          <p:cNvPr id="24" name="Shape 21"/>
          <p:cNvSpPr/>
          <p:nvPr/>
        </p:nvSpPr>
        <p:spPr>
          <a:xfrm>
            <a:off x="603504" y="4041648"/>
            <a:ext cx="8083296" cy="658368"/>
          </a:xfrm>
          <a:prstGeom prst="roundRect">
            <a:avLst>
              <a:gd name="adj" fmla="val 12500"/>
            </a:avLst>
          </a:prstGeom>
          <a:solidFill>
            <a:srgbClr val="08407C"/>
          </a:solidFill>
          <a:ln w="12700">
            <a:solidFill>
              <a:srgbClr val="08407C"/>
            </a:solidFill>
            <a:prstDash val="solid"/>
          </a:ln>
        </p:spPr>
      </p:sp>
      <p:sp>
        <p:nvSpPr>
          <p:cNvPr id="25" name="Text 22"/>
          <p:cNvSpPr/>
          <p:nvPr/>
        </p:nvSpPr>
        <p:spPr>
          <a:xfrm>
            <a:off x="841248" y="4087368"/>
            <a:ext cx="7626096" cy="201168"/>
          </a:xfrm>
          <a:prstGeom prst="rect">
            <a:avLst/>
          </a:prstGeom>
          <a:noFill/>
          <a:ln/>
        </p:spPr>
        <p:txBody>
          <a:bodyPr wrap="square" lIns="0" tIns="0" rIns="0" bIns="0" rtlCol="0" anchor="ctr"/>
          <a:lstStyle/>
          <a:p>
            <a:pPr indent="0" marL="0">
              <a:buNone/>
            </a:pPr>
            <a:r>
              <a:rPr lang="en-US" sz="900" b="1" spc="120" kern="0" dirty="0">
                <a:solidFill>
                  <a:srgbClr val="FFFFFF"/>
                </a:solidFill>
                <a:latin typeface="Inter" pitchFamily="34" charset="0"/>
                <a:ea typeface="Inter" pitchFamily="34" charset="-122"/>
                <a:cs typeface="Inter" pitchFamily="34" charset="-120"/>
              </a:rPr>
              <a:t>LA PREGUNTA DE FONDO</a:t>
            </a:r>
            <a:endParaRPr lang="en-US" sz="900" dirty="0"/>
          </a:p>
        </p:txBody>
      </p:sp>
      <p:sp>
        <p:nvSpPr>
          <p:cNvPr id="26" name="Text 23"/>
          <p:cNvSpPr/>
          <p:nvPr/>
        </p:nvSpPr>
        <p:spPr>
          <a:xfrm>
            <a:off x="841248" y="4288536"/>
            <a:ext cx="7607808" cy="347472"/>
          </a:xfrm>
          <a:prstGeom prst="rect">
            <a:avLst/>
          </a:prstGeom>
          <a:noFill/>
          <a:ln/>
        </p:spPr>
        <p:txBody>
          <a:bodyPr wrap="square" lIns="0" tIns="0" rIns="0" bIns="0" rtlCol="0" anchor="ctr"/>
          <a:lstStyle/>
          <a:p>
            <a:pPr indent="0" marL="0">
              <a:lnSpc>
                <a:spcPts val="1400"/>
              </a:lnSpc>
              <a:buNone/>
            </a:pPr>
            <a:r>
              <a:rPr lang="en-US" sz="1100" dirty="0">
                <a:solidFill>
                  <a:srgbClr val="FFFFFF"/>
                </a:solidFill>
                <a:latin typeface="Inter" pitchFamily="34" charset="0"/>
                <a:ea typeface="Inter" pitchFamily="34" charset="-122"/>
                <a:cs typeface="Inter" pitchFamily="34" charset="-120"/>
              </a:rPr>
              <a:t>La valoración del tiempo es un excelente indicador de las necesidades del cliente.</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411480" cy="5143500"/>
          </a:xfrm>
          <a:prstGeom prst="rect">
            <a:avLst/>
          </a:prstGeom>
          <a:solidFill>
            <a:srgbClr val="4E586E"/>
          </a:solidFill>
          <a:ln w="12700">
            <a:solidFill>
              <a:srgbClr val="4E586E"/>
            </a:solidFill>
            <a:prstDash val="solid"/>
          </a:ln>
        </p:spPr>
      </p:sp>
      <p:sp>
        <p:nvSpPr>
          <p:cNvPr id="3" name="Shape 1"/>
          <p:cNvSpPr/>
          <p:nvPr/>
        </p:nvSpPr>
        <p:spPr>
          <a:xfrm>
            <a:off x="0" y="0"/>
            <a:ext cx="411480" cy="402336"/>
          </a:xfrm>
          <a:prstGeom prst="rect">
            <a:avLst/>
          </a:prstGeom>
          <a:solidFill>
            <a:srgbClr val="08407C"/>
          </a:solidFill>
          <a:ln w="12700">
            <a:solidFill>
              <a:srgbClr val="08407C"/>
            </a:solidFill>
            <a:prstDash val="solid"/>
          </a:ln>
        </p:spPr>
      </p:sp>
      <p:pic>
        <p:nvPicPr>
          <p:cNvPr id="4" name="Image 0" descr="/home/user/KrakRealEstate/capacitaciones/prospeccion/brand/iso_white.png">    </p:cNvPr>
          <p:cNvPicPr>
            <a:picLocks noChangeAspect="1"/>
          </p:cNvPicPr>
          <p:nvPr/>
        </p:nvPicPr>
        <p:blipFill>
          <a:blip r:embed="rId2"/>
          <a:stretch>
            <a:fillRect/>
          </a:stretch>
        </p:blipFill>
        <p:spPr>
          <a:xfrm>
            <a:off x="123444" y="68580"/>
            <a:ext cx="164592" cy="217627"/>
          </a:xfrm>
          <a:prstGeom prst="rect">
            <a:avLst/>
          </a:prstGeom>
        </p:spPr>
      </p:pic>
      <p:sp>
        <p:nvSpPr>
          <p:cNvPr id="5" name="Text 2"/>
          <p:cNvSpPr/>
          <p:nvPr/>
        </p:nvSpPr>
        <p:spPr>
          <a:xfrm>
            <a:off x="603504" y="256032"/>
            <a:ext cx="8083296" cy="475488"/>
          </a:xfrm>
          <a:prstGeom prst="rect">
            <a:avLst/>
          </a:prstGeom>
          <a:noFill/>
          <a:ln/>
        </p:spPr>
        <p:txBody>
          <a:bodyPr wrap="square" lIns="0" tIns="0" rIns="0" bIns="0" rtlCol="0" anchor="ctr"/>
          <a:lstStyle/>
          <a:p>
            <a:pPr indent="0" marL="0">
              <a:buNone/>
            </a:pPr>
            <a:r>
              <a:rPr lang="en-US" sz="2600" b="1" dirty="0">
                <a:solidFill>
                  <a:srgbClr val="08407C"/>
                </a:solidFill>
                <a:latin typeface="Inter" pitchFamily="34" charset="0"/>
                <a:ea typeface="Inter" pitchFamily="34" charset="-122"/>
                <a:cs typeface="Inter" pitchFamily="34" charset="-120"/>
              </a:rPr>
              <a:t>Calificación de los prospectos</a:t>
            </a:r>
            <a:endParaRPr lang="en-US" sz="2600" dirty="0"/>
          </a:p>
        </p:txBody>
      </p:sp>
      <p:sp>
        <p:nvSpPr>
          <p:cNvPr id="6" name="Text 3"/>
          <p:cNvSpPr/>
          <p:nvPr/>
        </p:nvSpPr>
        <p:spPr>
          <a:xfrm>
            <a:off x="603504" y="749808"/>
            <a:ext cx="8083296" cy="274320"/>
          </a:xfrm>
          <a:prstGeom prst="rect">
            <a:avLst/>
          </a:prstGeom>
          <a:noFill/>
          <a:ln/>
        </p:spPr>
        <p:txBody>
          <a:bodyPr wrap="square" lIns="0" tIns="0" rIns="0" bIns="0" rtlCol="0" anchor="ctr"/>
          <a:lstStyle/>
          <a:p>
            <a:pPr indent="0" marL="0">
              <a:buNone/>
            </a:pPr>
            <a:r>
              <a:rPr lang="en-US" sz="1200" i="1" dirty="0">
                <a:solidFill>
                  <a:srgbClr val="6A7686"/>
                </a:solidFill>
                <a:latin typeface="Inter" pitchFamily="34" charset="0"/>
                <a:ea typeface="Inter" pitchFamily="34" charset="-122"/>
                <a:cs typeface="Inter" pitchFamily="34" charset="-120"/>
              </a:rPr>
              <a:t>Técnica PATI: otra forma de medir para concientizar.</a:t>
            </a:r>
            <a:endParaRPr lang="en-US" sz="1200" dirty="0"/>
          </a:p>
        </p:txBody>
      </p:sp>
      <p:sp>
        <p:nvSpPr>
          <p:cNvPr id="7" name="Shape 4"/>
          <p:cNvSpPr/>
          <p:nvPr/>
        </p:nvSpPr>
        <p:spPr>
          <a:xfrm>
            <a:off x="6967728" y="292608"/>
            <a:ext cx="384048" cy="384048"/>
          </a:xfrm>
          <a:prstGeom prst="roundRect">
            <a:avLst>
              <a:gd name="adj" fmla="val 23810"/>
            </a:avLst>
          </a:prstGeom>
          <a:solidFill>
            <a:srgbClr val="DDE3EA"/>
          </a:solidFill>
          <a:ln w="12700">
            <a:solidFill>
              <a:srgbClr val="DDE3EA"/>
            </a:solidFill>
            <a:prstDash val="solid"/>
          </a:ln>
        </p:spPr>
      </p:sp>
      <p:sp>
        <p:nvSpPr>
          <p:cNvPr id="8" name="Text 5"/>
          <p:cNvSpPr/>
          <p:nvPr/>
        </p:nvSpPr>
        <p:spPr>
          <a:xfrm>
            <a:off x="6967728" y="292608"/>
            <a:ext cx="384048" cy="384048"/>
          </a:xfrm>
          <a:prstGeom prst="rect">
            <a:avLst/>
          </a:prstGeom>
          <a:noFill/>
          <a:ln/>
        </p:spPr>
        <p:txBody>
          <a:bodyPr wrap="square" lIns="0" tIns="0" rIns="0" bIns="0" rtlCol="0" anchor="ctr"/>
          <a:lstStyle/>
          <a:p>
            <a:pPr algn="ctr" indent="0" marL="0">
              <a:buNone/>
            </a:pPr>
            <a:r>
              <a:rPr lang="en-US" sz="1200" b="1" dirty="0">
                <a:solidFill>
                  <a:srgbClr val="6A7686"/>
                </a:solidFill>
                <a:latin typeface="Inter" pitchFamily="34" charset="0"/>
                <a:ea typeface="Inter" pitchFamily="34" charset="-122"/>
                <a:cs typeface="Inter" pitchFamily="34" charset="-120"/>
              </a:rPr>
              <a:t>P</a:t>
            </a:r>
            <a:endParaRPr lang="en-US" sz="1200" dirty="0"/>
          </a:p>
        </p:txBody>
      </p:sp>
      <p:sp>
        <p:nvSpPr>
          <p:cNvPr id="9" name="Shape 6"/>
          <p:cNvSpPr/>
          <p:nvPr/>
        </p:nvSpPr>
        <p:spPr>
          <a:xfrm>
            <a:off x="7424928" y="292608"/>
            <a:ext cx="384048" cy="384048"/>
          </a:xfrm>
          <a:prstGeom prst="roundRect">
            <a:avLst>
              <a:gd name="adj" fmla="val 23810"/>
            </a:avLst>
          </a:prstGeom>
          <a:solidFill>
            <a:srgbClr val="DDE3EA"/>
          </a:solidFill>
          <a:ln w="12700">
            <a:solidFill>
              <a:srgbClr val="DDE3EA"/>
            </a:solidFill>
            <a:prstDash val="solid"/>
          </a:ln>
        </p:spPr>
      </p:sp>
      <p:sp>
        <p:nvSpPr>
          <p:cNvPr id="10" name="Text 7"/>
          <p:cNvSpPr/>
          <p:nvPr/>
        </p:nvSpPr>
        <p:spPr>
          <a:xfrm>
            <a:off x="7424928" y="292608"/>
            <a:ext cx="384048" cy="384048"/>
          </a:xfrm>
          <a:prstGeom prst="rect">
            <a:avLst/>
          </a:prstGeom>
          <a:noFill/>
          <a:ln/>
        </p:spPr>
        <p:txBody>
          <a:bodyPr wrap="square" lIns="0" tIns="0" rIns="0" bIns="0" rtlCol="0" anchor="ctr"/>
          <a:lstStyle/>
          <a:p>
            <a:pPr algn="ctr" indent="0" marL="0">
              <a:buNone/>
            </a:pPr>
            <a:r>
              <a:rPr lang="en-US" sz="1200" b="1" dirty="0">
                <a:solidFill>
                  <a:srgbClr val="6A7686"/>
                </a:solidFill>
                <a:latin typeface="Inter" pitchFamily="34" charset="0"/>
                <a:ea typeface="Inter" pitchFamily="34" charset="-122"/>
                <a:cs typeface="Inter" pitchFamily="34" charset="-120"/>
              </a:rPr>
              <a:t>A</a:t>
            </a:r>
            <a:endParaRPr lang="en-US" sz="1200" dirty="0"/>
          </a:p>
        </p:txBody>
      </p:sp>
      <p:sp>
        <p:nvSpPr>
          <p:cNvPr id="11" name="Shape 8"/>
          <p:cNvSpPr/>
          <p:nvPr/>
        </p:nvSpPr>
        <p:spPr>
          <a:xfrm>
            <a:off x="7882128" y="292608"/>
            <a:ext cx="384048" cy="384048"/>
          </a:xfrm>
          <a:prstGeom prst="roundRect">
            <a:avLst>
              <a:gd name="adj" fmla="val 23810"/>
            </a:avLst>
          </a:prstGeom>
          <a:solidFill>
            <a:srgbClr val="DDE3EA"/>
          </a:solidFill>
          <a:ln w="12700">
            <a:solidFill>
              <a:srgbClr val="DDE3EA"/>
            </a:solidFill>
            <a:prstDash val="solid"/>
          </a:ln>
        </p:spPr>
      </p:sp>
      <p:sp>
        <p:nvSpPr>
          <p:cNvPr id="12" name="Text 9"/>
          <p:cNvSpPr/>
          <p:nvPr/>
        </p:nvSpPr>
        <p:spPr>
          <a:xfrm>
            <a:off x="7882128" y="292608"/>
            <a:ext cx="384048" cy="384048"/>
          </a:xfrm>
          <a:prstGeom prst="rect">
            <a:avLst/>
          </a:prstGeom>
          <a:noFill/>
          <a:ln/>
        </p:spPr>
        <p:txBody>
          <a:bodyPr wrap="square" lIns="0" tIns="0" rIns="0" bIns="0" rtlCol="0" anchor="ctr"/>
          <a:lstStyle/>
          <a:p>
            <a:pPr algn="ctr" indent="0" marL="0">
              <a:buNone/>
            </a:pPr>
            <a:r>
              <a:rPr lang="en-US" sz="1200" b="1" dirty="0">
                <a:solidFill>
                  <a:srgbClr val="6A7686"/>
                </a:solidFill>
                <a:latin typeface="Inter" pitchFamily="34" charset="0"/>
                <a:ea typeface="Inter" pitchFamily="34" charset="-122"/>
                <a:cs typeface="Inter" pitchFamily="34" charset="-120"/>
              </a:rPr>
              <a:t>T</a:t>
            </a:r>
            <a:endParaRPr lang="en-US" sz="1200" dirty="0"/>
          </a:p>
        </p:txBody>
      </p:sp>
      <p:sp>
        <p:nvSpPr>
          <p:cNvPr id="13" name="Shape 10"/>
          <p:cNvSpPr/>
          <p:nvPr/>
        </p:nvSpPr>
        <p:spPr>
          <a:xfrm>
            <a:off x="8339328" y="292608"/>
            <a:ext cx="384048" cy="384048"/>
          </a:xfrm>
          <a:prstGeom prst="roundRect">
            <a:avLst>
              <a:gd name="adj" fmla="val 23810"/>
            </a:avLst>
          </a:prstGeom>
          <a:solidFill>
            <a:srgbClr val="08407C"/>
          </a:solidFill>
          <a:ln w="12700">
            <a:solidFill>
              <a:srgbClr val="08407C"/>
            </a:solidFill>
            <a:prstDash val="solid"/>
          </a:ln>
        </p:spPr>
      </p:sp>
      <p:sp>
        <p:nvSpPr>
          <p:cNvPr id="14" name="Text 11"/>
          <p:cNvSpPr/>
          <p:nvPr/>
        </p:nvSpPr>
        <p:spPr>
          <a:xfrm>
            <a:off x="8339328" y="29260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I</a:t>
            </a:r>
            <a:endParaRPr lang="en-US" sz="1200" dirty="0"/>
          </a:p>
        </p:txBody>
      </p:sp>
      <p:sp>
        <p:nvSpPr>
          <p:cNvPr id="15" name="Shape 12"/>
          <p:cNvSpPr/>
          <p:nvPr/>
        </p:nvSpPr>
        <p:spPr>
          <a:xfrm>
            <a:off x="603504" y="1188720"/>
            <a:ext cx="2468880" cy="2697480"/>
          </a:xfrm>
          <a:prstGeom prst="roundRect">
            <a:avLst>
              <a:gd name="adj" fmla="val 3333"/>
            </a:avLst>
          </a:prstGeom>
          <a:solidFill>
            <a:srgbClr val="08407C"/>
          </a:solidFill>
          <a:ln w="12700">
            <a:solidFill>
              <a:srgbClr val="08407C"/>
            </a:solidFill>
            <a:prstDash val="solid"/>
          </a:ln>
        </p:spPr>
      </p:sp>
      <p:sp>
        <p:nvSpPr>
          <p:cNvPr id="16" name="Text 13"/>
          <p:cNvSpPr/>
          <p:nvPr/>
        </p:nvSpPr>
        <p:spPr>
          <a:xfrm>
            <a:off x="603504" y="1371600"/>
            <a:ext cx="2468880" cy="1188720"/>
          </a:xfrm>
          <a:prstGeom prst="rect">
            <a:avLst/>
          </a:prstGeom>
          <a:noFill/>
          <a:ln/>
        </p:spPr>
        <p:txBody>
          <a:bodyPr wrap="square" lIns="0" tIns="0" rIns="0" bIns="0" rtlCol="0" anchor="ctr"/>
          <a:lstStyle/>
          <a:p>
            <a:pPr algn="ctr" indent="0" marL="0">
              <a:buNone/>
            </a:pPr>
            <a:r>
              <a:rPr lang="en-US" sz="7200" b="1" dirty="0">
                <a:solidFill>
                  <a:srgbClr val="FFFFFF"/>
                </a:solidFill>
                <a:latin typeface="Inter" pitchFamily="34" charset="0"/>
                <a:ea typeface="Inter" pitchFamily="34" charset="-122"/>
                <a:cs typeface="Inter" pitchFamily="34" charset="-120"/>
              </a:rPr>
              <a:t>I</a:t>
            </a:r>
            <a:endParaRPr lang="en-US" sz="7200" dirty="0"/>
          </a:p>
        </p:txBody>
      </p:sp>
      <p:sp>
        <p:nvSpPr>
          <p:cNvPr id="17" name="Text 14"/>
          <p:cNvSpPr/>
          <p:nvPr/>
        </p:nvSpPr>
        <p:spPr>
          <a:xfrm>
            <a:off x="786384" y="2651760"/>
            <a:ext cx="2103120" cy="402336"/>
          </a:xfrm>
          <a:prstGeom prst="rect">
            <a:avLst/>
          </a:prstGeom>
          <a:noFill/>
          <a:ln/>
        </p:spPr>
        <p:txBody>
          <a:bodyPr wrap="square" lIns="0" tIns="0" rIns="0" bIns="0" rtlCol="0" anchor="ctr"/>
          <a:lstStyle/>
          <a:p>
            <a:pPr algn="ctr" indent="0" marL="0">
              <a:buNone/>
            </a:pPr>
            <a:r>
              <a:rPr lang="en-US" sz="1900" b="1" dirty="0">
                <a:solidFill>
                  <a:srgbClr val="FFFFFF"/>
                </a:solidFill>
                <a:latin typeface="Inter" pitchFamily="34" charset="0"/>
                <a:ea typeface="Inter" pitchFamily="34" charset="-122"/>
                <a:cs typeface="Inter" pitchFamily="34" charset="-120"/>
              </a:rPr>
              <a:t>Interés</a:t>
            </a:r>
            <a:endParaRPr lang="en-US" sz="1900" dirty="0"/>
          </a:p>
        </p:txBody>
      </p:sp>
      <p:sp>
        <p:nvSpPr>
          <p:cNvPr id="18" name="Text 15"/>
          <p:cNvSpPr/>
          <p:nvPr/>
        </p:nvSpPr>
        <p:spPr>
          <a:xfrm>
            <a:off x="786384" y="3108960"/>
            <a:ext cx="2103120" cy="457200"/>
          </a:xfrm>
          <a:prstGeom prst="rect">
            <a:avLst/>
          </a:prstGeom>
          <a:noFill/>
          <a:ln/>
        </p:spPr>
        <p:txBody>
          <a:bodyPr wrap="square" lIns="0" tIns="0" rIns="0" bIns="0" rtlCol="0" anchor="t"/>
          <a:lstStyle/>
          <a:p>
            <a:pPr algn="ctr" indent="0" marL="0">
              <a:lnSpc>
                <a:spcPts val="1300"/>
              </a:lnSpc>
              <a:buNone/>
            </a:pPr>
            <a:r>
              <a:rPr lang="en-US" sz="1050" dirty="0">
                <a:solidFill>
                  <a:srgbClr val="CDD8E4"/>
                </a:solidFill>
                <a:latin typeface="Inter" pitchFamily="34" charset="0"/>
                <a:ea typeface="Inter" pitchFamily="34" charset="-122"/>
                <a:cs typeface="Inter" pitchFamily="34" charset="-120"/>
              </a:rPr>
              <a:t>Preguntas para calificar</a:t>
            </a:r>
            <a:endParaRPr lang="en-US" sz="1050" dirty="0"/>
          </a:p>
        </p:txBody>
      </p:sp>
      <p:sp>
        <p:nvSpPr>
          <p:cNvPr id="19" name="Shape 16"/>
          <p:cNvSpPr/>
          <p:nvPr/>
        </p:nvSpPr>
        <p:spPr>
          <a:xfrm>
            <a:off x="3346704" y="1796796"/>
            <a:ext cx="5340096" cy="457200"/>
          </a:xfrm>
          <a:prstGeom prst="roundRect">
            <a:avLst>
              <a:gd name="adj" fmla="val 18000"/>
            </a:avLst>
          </a:prstGeom>
          <a:solidFill>
            <a:srgbClr val="F3F3F3"/>
          </a:solidFill>
          <a:ln w="12700">
            <a:solidFill>
              <a:srgbClr val="F3F3F3"/>
            </a:solidFill>
            <a:prstDash val="solid"/>
          </a:ln>
        </p:spPr>
      </p:sp>
      <p:sp>
        <p:nvSpPr>
          <p:cNvPr id="20" name="Text 17"/>
          <p:cNvSpPr/>
          <p:nvPr/>
        </p:nvSpPr>
        <p:spPr>
          <a:xfrm>
            <a:off x="3566160" y="1796796"/>
            <a:ext cx="4937760" cy="457200"/>
          </a:xfrm>
          <a:prstGeom prst="rect">
            <a:avLst/>
          </a:prstGeom>
          <a:noFill/>
          <a:ln/>
        </p:spPr>
        <p:txBody>
          <a:bodyPr wrap="square" lIns="0" tIns="0" rIns="0" bIns="0" rtlCol="0" anchor="ctr"/>
          <a:lstStyle/>
          <a:p>
            <a:pPr indent="0" marL="0">
              <a:lnSpc>
                <a:spcPts val="1400"/>
              </a:lnSpc>
              <a:buNone/>
            </a:pPr>
            <a:r>
              <a:rPr lang="en-US" sz="1200" dirty="0">
                <a:solidFill>
                  <a:srgbClr val="2E4258"/>
                </a:solidFill>
                <a:latin typeface="Inter" pitchFamily="34" charset="0"/>
                <a:ea typeface="Inter" pitchFamily="34" charset="-122"/>
                <a:cs typeface="Inter" pitchFamily="34" charset="-120"/>
              </a:rPr>
              <a:t>¿Qué tan real y prioritaria es su voluntad de avanzar?</a:t>
            </a:r>
            <a:endParaRPr lang="en-US" sz="1200" dirty="0"/>
          </a:p>
        </p:txBody>
      </p:sp>
      <p:sp>
        <p:nvSpPr>
          <p:cNvPr id="21" name="Text 18"/>
          <p:cNvSpPr/>
          <p:nvPr/>
        </p:nvSpPr>
        <p:spPr>
          <a:xfrm>
            <a:off x="3566160" y="2308860"/>
            <a:ext cx="4937760" cy="457200"/>
          </a:xfrm>
          <a:prstGeom prst="rect">
            <a:avLst/>
          </a:prstGeom>
          <a:noFill/>
          <a:ln/>
        </p:spPr>
        <p:txBody>
          <a:bodyPr wrap="square" lIns="0" tIns="0" rIns="0" bIns="0" rtlCol="0" anchor="ctr"/>
          <a:lstStyle/>
          <a:p>
            <a:pPr indent="0" marL="0">
              <a:lnSpc>
                <a:spcPts val="1400"/>
              </a:lnSpc>
              <a:buNone/>
            </a:pPr>
            <a:r>
              <a:rPr lang="en-US" sz="1200" dirty="0">
                <a:solidFill>
                  <a:srgbClr val="2E4258"/>
                </a:solidFill>
                <a:latin typeface="Inter" pitchFamily="34" charset="0"/>
                <a:ea typeface="Inter" pitchFamily="34" charset="-122"/>
                <a:cs typeface="Inter" pitchFamily="34" charset="-120"/>
              </a:rPr>
              <a:t>¿Qué te lleva a vender ahora?</a:t>
            </a:r>
            <a:endParaRPr lang="en-US" sz="1200" dirty="0"/>
          </a:p>
        </p:txBody>
      </p:sp>
      <p:sp>
        <p:nvSpPr>
          <p:cNvPr id="22" name="Shape 19"/>
          <p:cNvSpPr/>
          <p:nvPr/>
        </p:nvSpPr>
        <p:spPr>
          <a:xfrm>
            <a:off x="3346704" y="2820924"/>
            <a:ext cx="5340096" cy="457200"/>
          </a:xfrm>
          <a:prstGeom prst="roundRect">
            <a:avLst>
              <a:gd name="adj" fmla="val 18000"/>
            </a:avLst>
          </a:prstGeom>
          <a:solidFill>
            <a:srgbClr val="F3F3F3"/>
          </a:solidFill>
          <a:ln w="12700">
            <a:solidFill>
              <a:srgbClr val="F3F3F3"/>
            </a:solidFill>
            <a:prstDash val="solid"/>
          </a:ln>
        </p:spPr>
      </p:sp>
      <p:sp>
        <p:nvSpPr>
          <p:cNvPr id="23" name="Text 20"/>
          <p:cNvSpPr/>
          <p:nvPr/>
        </p:nvSpPr>
        <p:spPr>
          <a:xfrm>
            <a:off x="3566160" y="2820924"/>
            <a:ext cx="4937760" cy="457200"/>
          </a:xfrm>
          <a:prstGeom prst="rect">
            <a:avLst/>
          </a:prstGeom>
          <a:noFill/>
          <a:ln/>
        </p:spPr>
        <p:txBody>
          <a:bodyPr wrap="square" lIns="0" tIns="0" rIns="0" bIns="0" rtlCol="0" anchor="ctr"/>
          <a:lstStyle/>
          <a:p>
            <a:pPr indent="0" marL="0">
              <a:lnSpc>
                <a:spcPts val="1400"/>
              </a:lnSpc>
              <a:buNone/>
            </a:pPr>
            <a:r>
              <a:rPr lang="en-US" sz="1200" dirty="0">
                <a:solidFill>
                  <a:srgbClr val="2E4258"/>
                </a:solidFill>
                <a:latin typeface="Inter" pitchFamily="34" charset="0"/>
                <a:ea typeface="Inter" pitchFamily="34" charset="-122"/>
                <a:cs typeface="Inter" pitchFamily="34" charset="-120"/>
              </a:rPr>
              <a:t>¿Lo ves como una opción concreta o lo estás tanteando?</a:t>
            </a:r>
            <a:endParaRPr lang="en-US" sz="1200" dirty="0"/>
          </a:p>
        </p:txBody>
      </p:sp>
      <p:sp>
        <p:nvSpPr>
          <p:cNvPr id="24" name="Shape 21"/>
          <p:cNvSpPr/>
          <p:nvPr/>
        </p:nvSpPr>
        <p:spPr>
          <a:xfrm>
            <a:off x="603504" y="4041648"/>
            <a:ext cx="8083296" cy="658368"/>
          </a:xfrm>
          <a:prstGeom prst="roundRect">
            <a:avLst>
              <a:gd name="adj" fmla="val 12500"/>
            </a:avLst>
          </a:prstGeom>
          <a:solidFill>
            <a:srgbClr val="08407C"/>
          </a:solidFill>
          <a:ln w="12700">
            <a:solidFill>
              <a:srgbClr val="08407C"/>
            </a:solidFill>
            <a:prstDash val="solid"/>
          </a:ln>
        </p:spPr>
      </p:sp>
      <p:sp>
        <p:nvSpPr>
          <p:cNvPr id="25" name="Text 22"/>
          <p:cNvSpPr/>
          <p:nvPr/>
        </p:nvSpPr>
        <p:spPr>
          <a:xfrm>
            <a:off x="841248" y="4087368"/>
            <a:ext cx="7626096" cy="201168"/>
          </a:xfrm>
          <a:prstGeom prst="rect">
            <a:avLst/>
          </a:prstGeom>
          <a:noFill/>
          <a:ln/>
        </p:spPr>
        <p:txBody>
          <a:bodyPr wrap="square" lIns="0" tIns="0" rIns="0" bIns="0" rtlCol="0" anchor="ctr"/>
          <a:lstStyle/>
          <a:p>
            <a:pPr indent="0" marL="0">
              <a:buNone/>
            </a:pPr>
            <a:r>
              <a:rPr lang="en-US" sz="900" b="1" spc="120" kern="0" dirty="0">
                <a:solidFill>
                  <a:srgbClr val="FFFFFF"/>
                </a:solidFill>
                <a:latin typeface="Inter" pitchFamily="34" charset="0"/>
                <a:ea typeface="Inter" pitchFamily="34" charset="-122"/>
                <a:cs typeface="Inter" pitchFamily="34" charset="-120"/>
              </a:rPr>
              <a:t>LA PREGUNTA DE FONDO</a:t>
            </a:r>
            <a:endParaRPr lang="en-US" sz="900" dirty="0"/>
          </a:p>
        </p:txBody>
      </p:sp>
      <p:sp>
        <p:nvSpPr>
          <p:cNvPr id="26" name="Text 23"/>
          <p:cNvSpPr/>
          <p:nvPr/>
        </p:nvSpPr>
        <p:spPr>
          <a:xfrm>
            <a:off x="841248" y="4288536"/>
            <a:ext cx="7607808" cy="347472"/>
          </a:xfrm>
          <a:prstGeom prst="rect">
            <a:avLst/>
          </a:prstGeom>
          <a:noFill/>
          <a:ln/>
        </p:spPr>
        <p:txBody>
          <a:bodyPr wrap="square" lIns="0" tIns="0" rIns="0" bIns="0" rtlCol="0" anchor="ctr"/>
          <a:lstStyle/>
          <a:p>
            <a:pPr indent="0" marL="0">
              <a:lnSpc>
                <a:spcPts val="1400"/>
              </a:lnSpc>
              <a:buNone/>
            </a:pPr>
            <a:r>
              <a:rPr lang="en-US" sz="1100" dirty="0">
                <a:solidFill>
                  <a:srgbClr val="FFFFFF"/>
                </a:solidFill>
                <a:latin typeface="Inter" pitchFamily="34" charset="0"/>
                <a:ea typeface="Inter" pitchFamily="34" charset="-122"/>
                <a:cs typeface="Inter" pitchFamily="34" charset="-120"/>
              </a:rPr>
              <a:t>El interés declarado no alcanza: lo que confirma la intención es si ya hizo algo al respecto.</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411480" cy="5143500"/>
          </a:xfrm>
          <a:prstGeom prst="rect">
            <a:avLst/>
          </a:prstGeom>
          <a:solidFill>
            <a:srgbClr val="4E586E"/>
          </a:solidFill>
          <a:ln w="12700">
            <a:solidFill>
              <a:srgbClr val="4E586E"/>
            </a:solidFill>
            <a:prstDash val="solid"/>
          </a:ln>
        </p:spPr>
      </p:sp>
      <p:sp>
        <p:nvSpPr>
          <p:cNvPr id="3" name="Shape 1"/>
          <p:cNvSpPr/>
          <p:nvPr/>
        </p:nvSpPr>
        <p:spPr>
          <a:xfrm>
            <a:off x="0" y="0"/>
            <a:ext cx="411480" cy="402336"/>
          </a:xfrm>
          <a:prstGeom prst="rect">
            <a:avLst/>
          </a:prstGeom>
          <a:solidFill>
            <a:srgbClr val="08407C"/>
          </a:solidFill>
          <a:ln w="12700">
            <a:solidFill>
              <a:srgbClr val="08407C"/>
            </a:solidFill>
            <a:prstDash val="solid"/>
          </a:ln>
        </p:spPr>
      </p:sp>
      <p:pic>
        <p:nvPicPr>
          <p:cNvPr id="4" name="Image 0" descr="/home/user/KrakRealEstate/capacitaciones/prospeccion/brand/iso_white.png">    </p:cNvPr>
          <p:cNvPicPr>
            <a:picLocks noChangeAspect="1"/>
          </p:cNvPicPr>
          <p:nvPr/>
        </p:nvPicPr>
        <p:blipFill>
          <a:blip r:embed="rId2"/>
          <a:stretch>
            <a:fillRect/>
          </a:stretch>
        </p:blipFill>
        <p:spPr>
          <a:xfrm>
            <a:off x="123444" y="68580"/>
            <a:ext cx="164592" cy="217627"/>
          </a:xfrm>
          <a:prstGeom prst="rect">
            <a:avLst/>
          </a:prstGeom>
        </p:spPr>
      </p:pic>
      <p:sp>
        <p:nvSpPr>
          <p:cNvPr id="5" name="Text 2"/>
          <p:cNvSpPr/>
          <p:nvPr/>
        </p:nvSpPr>
        <p:spPr>
          <a:xfrm>
            <a:off x="603504" y="256032"/>
            <a:ext cx="8083296" cy="475488"/>
          </a:xfrm>
          <a:prstGeom prst="rect">
            <a:avLst/>
          </a:prstGeom>
          <a:noFill/>
          <a:ln/>
        </p:spPr>
        <p:txBody>
          <a:bodyPr wrap="square" lIns="0" tIns="0" rIns="0" bIns="0" rtlCol="0" anchor="ctr"/>
          <a:lstStyle/>
          <a:p>
            <a:pPr indent="0" marL="0">
              <a:buNone/>
            </a:pPr>
            <a:r>
              <a:rPr lang="en-US" sz="2600" b="1" dirty="0">
                <a:solidFill>
                  <a:srgbClr val="08407C"/>
                </a:solidFill>
                <a:latin typeface="Inter" pitchFamily="34" charset="0"/>
                <a:ea typeface="Inter" pitchFamily="34" charset="-122"/>
                <a:cs typeface="Inter" pitchFamily="34" charset="-120"/>
              </a:rPr>
              <a:t>Dejen de negociar el precio del éxito</a:t>
            </a:r>
            <a:endParaRPr lang="en-US" sz="2600" dirty="0"/>
          </a:p>
        </p:txBody>
      </p:sp>
      <p:sp>
        <p:nvSpPr>
          <p:cNvPr id="6" name="Text 3"/>
          <p:cNvSpPr/>
          <p:nvPr/>
        </p:nvSpPr>
        <p:spPr>
          <a:xfrm>
            <a:off x="603504" y="749808"/>
            <a:ext cx="8083296" cy="274320"/>
          </a:xfrm>
          <a:prstGeom prst="rect">
            <a:avLst/>
          </a:prstGeom>
          <a:noFill/>
          <a:ln/>
        </p:spPr>
        <p:txBody>
          <a:bodyPr wrap="square" lIns="0" tIns="0" rIns="0" bIns="0" rtlCol="0" anchor="ctr"/>
          <a:lstStyle/>
          <a:p>
            <a:pPr indent="0" marL="0">
              <a:buNone/>
            </a:pPr>
            <a:r>
              <a:rPr lang="en-US" sz="1200" i="1" dirty="0">
                <a:solidFill>
                  <a:srgbClr val="6A7686"/>
                </a:solidFill>
                <a:latin typeface="Inter" pitchFamily="34" charset="0"/>
                <a:ea typeface="Inter" pitchFamily="34" charset="-122"/>
                <a:cs typeface="Inter" pitchFamily="34" charset="-120"/>
              </a:rPr>
              <a:t>No caigan en el engaño.</a:t>
            </a:r>
            <a:endParaRPr lang="en-US" sz="1200" dirty="0"/>
          </a:p>
        </p:txBody>
      </p:sp>
      <p:sp>
        <p:nvSpPr>
          <p:cNvPr id="7" name="Shape 4"/>
          <p:cNvSpPr/>
          <p:nvPr/>
        </p:nvSpPr>
        <p:spPr>
          <a:xfrm>
            <a:off x="603504" y="1188720"/>
            <a:ext cx="8083296" cy="1207008"/>
          </a:xfrm>
          <a:prstGeom prst="roundRect">
            <a:avLst>
              <a:gd name="adj" fmla="val 6818"/>
            </a:avLst>
          </a:prstGeom>
          <a:solidFill>
            <a:srgbClr val="08407C"/>
          </a:solidFill>
          <a:ln w="12700">
            <a:solidFill>
              <a:srgbClr val="08407C"/>
            </a:solidFill>
            <a:prstDash val="solid"/>
          </a:ln>
        </p:spPr>
      </p:sp>
      <p:sp>
        <p:nvSpPr>
          <p:cNvPr id="8" name="Text 5"/>
          <p:cNvSpPr/>
          <p:nvPr/>
        </p:nvSpPr>
        <p:spPr>
          <a:xfrm>
            <a:off x="969264" y="1188720"/>
            <a:ext cx="7351776" cy="1207008"/>
          </a:xfrm>
          <a:prstGeom prst="rect">
            <a:avLst/>
          </a:prstGeom>
          <a:noFill/>
          <a:ln/>
        </p:spPr>
        <p:txBody>
          <a:bodyPr wrap="square" lIns="0" tIns="0" rIns="0" bIns="0" rtlCol="0" anchor="ctr"/>
          <a:lstStyle/>
          <a:p>
            <a:pPr algn="ctr" indent="0" marL="0">
              <a:lnSpc>
                <a:spcPts val="2000"/>
              </a:lnSpc>
              <a:buNone/>
            </a:pPr>
            <a:r>
              <a:rPr lang="en-US" sz="1350" dirty="0">
                <a:solidFill>
                  <a:srgbClr val="FFFFFF"/>
                </a:solidFill>
                <a:latin typeface="Inter" pitchFamily="34" charset="0"/>
                <a:ea typeface="Inter" pitchFamily="34" charset="-122"/>
                <a:cs typeface="Inter" pitchFamily="34" charset="-120"/>
              </a:rPr>
              <a:t>No es uno el que no quiere hacer lo que se debe: es la comodidad del cuerpo la que nos empuja a no hacerlo. El cuerpo es material, como un cigarrillo o una torta. ¿La materia te puede dominar?</a:t>
            </a:r>
            <a:endParaRPr lang="en-US" sz="1350" dirty="0"/>
          </a:p>
        </p:txBody>
      </p:sp>
      <p:sp>
        <p:nvSpPr>
          <p:cNvPr id="9" name="Shape 6"/>
          <p:cNvSpPr/>
          <p:nvPr/>
        </p:nvSpPr>
        <p:spPr>
          <a:xfrm>
            <a:off x="603504" y="2542032"/>
            <a:ext cx="8083296" cy="1207008"/>
          </a:xfrm>
          <a:prstGeom prst="roundRect">
            <a:avLst>
              <a:gd name="adj" fmla="val 6818"/>
            </a:avLst>
          </a:prstGeom>
          <a:solidFill>
            <a:srgbClr val="7C8594"/>
          </a:solidFill>
          <a:ln w="12700">
            <a:solidFill>
              <a:srgbClr val="7C8594"/>
            </a:solidFill>
            <a:prstDash val="solid"/>
          </a:ln>
        </p:spPr>
      </p:sp>
      <p:sp>
        <p:nvSpPr>
          <p:cNvPr id="10" name="Text 7"/>
          <p:cNvSpPr/>
          <p:nvPr/>
        </p:nvSpPr>
        <p:spPr>
          <a:xfrm>
            <a:off x="969264" y="2542032"/>
            <a:ext cx="7351776" cy="1207008"/>
          </a:xfrm>
          <a:prstGeom prst="rect">
            <a:avLst/>
          </a:prstGeom>
          <a:noFill/>
          <a:ln/>
        </p:spPr>
        <p:txBody>
          <a:bodyPr wrap="square" lIns="0" tIns="0" rIns="0" bIns="0" rtlCol="0" anchor="ctr"/>
          <a:lstStyle/>
          <a:p>
            <a:pPr algn="ctr" indent="0" marL="0">
              <a:lnSpc>
                <a:spcPts val="2000"/>
              </a:lnSpc>
              <a:buNone/>
            </a:pPr>
            <a:r>
              <a:rPr lang="en-US" sz="1350" dirty="0">
                <a:solidFill>
                  <a:srgbClr val="FFFFFF"/>
                </a:solidFill>
                <a:latin typeface="Inter" pitchFamily="34" charset="0"/>
                <a:ea typeface="Inter" pitchFamily="34" charset="-122"/>
                <a:cs typeface="Inter" pitchFamily="34" charset="-120"/>
              </a:rPr>
              <a:t>Hasta que no encuentren el combustible que convierte sus deseos en acción, no va a haber curso, capacitación, carrera, profesor, socio, pareja ni colega que les haga el puente al éxito: la realización es personal, no compartida.</a:t>
            </a:r>
            <a:endParaRPr lang="en-US" sz="1350" dirty="0"/>
          </a:p>
        </p:txBody>
      </p:sp>
      <p:sp>
        <p:nvSpPr>
          <p:cNvPr id="11" name="Shape 8"/>
          <p:cNvSpPr/>
          <p:nvPr/>
        </p:nvSpPr>
        <p:spPr>
          <a:xfrm>
            <a:off x="603504" y="3913632"/>
            <a:ext cx="8083296" cy="658368"/>
          </a:xfrm>
          <a:prstGeom prst="roundRect">
            <a:avLst>
              <a:gd name="adj" fmla="val 12500"/>
            </a:avLst>
          </a:prstGeom>
          <a:solidFill>
            <a:srgbClr val="08407C"/>
          </a:solidFill>
          <a:ln w="12700">
            <a:solidFill>
              <a:srgbClr val="08407C"/>
            </a:solidFill>
            <a:prstDash val="solid"/>
          </a:ln>
        </p:spPr>
      </p:sp>
      <p:sp>
        <p:nvSpPr>
          <p:cNvPr id="12" name="Text 9"/>
          <p:cNvSpPr/>
          <p:nvPr/>
        </p:nvSpPr>
        <p:spPr>
          <a:xfrm>
            <a:off x="841248" y="3959352"/>
            <a:ext cx="7626096" cy="201168"/>
          </a:xfrm>
          <a:prstGeom prst="rect">
            <a:avLst/>
          </a:prstGeom>
          <a:noFill/>
          <a:ln/>
        </p:spPr>
        <p:txBody>
          <a:bodyPr wrap="square" lIns="0" tIns="0" rIns="0" bIns="0" rtlCol="0" anchor="ctr"/>
          <a:lstStyle/>
          <a:p>
            <a:pPr indent="0" marL="0">
              <a:buNone/>
            </a:pPr>
            <a:r>
              <a:rPr lang="en-US" sz="900" b="1" spc="120" kern="0" dirty="0">
                <a:solidFill>
                  <a:srgbClr val="FFFFFF"/>
                </a:solidFill>
                <a:latin typeface="Inter" pitchFamily="34" charset="0"/>
                <a:ea typeface="Inter" pitchFamily="34" charset="-122"/>
                <a:cs typeface="Inter" pitchFamily="34" charset="-120"/>
              </a:rPr>
              <a:t>EL CIERRE</a:t>
            </a:r>
            <a:endParaRPr lang="en-US" sz="900" dirty="0"/>
          </a:p>
        </p:txBody>
      </p:sp>
      <p:sp>
        <p:nvSpPr>
          <p:cNvPr id="13" name="Text 10"/>
          <p:cNvSpPr/>
          <p:nvPr/>
        </p:nvSpPr>
        <p:spPr>
          <a:xfrm>
            <a:off x="841248" y="4160520"/>
            <a:ext cx="7607808" cy="347472"/>
          </a:xfrm>
          <a:prstGeom prst="rect">
            <a:avLst/>
          </a:prstGeom>
          <a:noFill/>
          <a:ln/>
        </p:spPr>
        <p:txBody>
          <a:bodyPr wrap="square" lIns="0" tIns="0" rIns="0" bIns="0" rtlCol="0" anchor="ctr"/>
          <a:lstStyle/>
          <a:p>
            <a:pPr indent="0" marL="0">
              <a:lnSpc>
                <a:spcPts val="1400"/>
              </a:lnSpc>
              <a:buNone/>
            </a:pPr>
            <a:r>
              <a:rPr lang="en-US" sz="1100" dirty="0">
                <a:solidFill>
                  <a:srgbClr val="FFFFFF"/>
                </a:solidFill>
                <a:latin typeface="Inter" pitchFamily="34" charset="0"/>
                <a:ea typeface="Inter" pitchFamily="34" charset="-122"/>
                <a:cs typeface="Inter" pitchFamily="34" charset="-120"/>
              </a:rPr>
              <a:t>El camino del éxito comienza en la soledad.</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user/KrakRealEstate/capacitaciones/prospeccion/brand/logo_stack.png">    </p:cNvPr>
          <p:cNvPicPr>
            <a:picLocks noChangeAspect="1"/>
          </p:cNvPicPr>
          <p:nvPr/>
        </p:nvPicPr>
        <p:blipFill>
          <a:blip r:embed="rId2"/>
          <a:stretch>
            <a:fillRect/>
          </a:stretch>
        </p:blipFill>
        <p:spPr>
          <a:xfrm>
            <a:off x="7315200" y="411480"/>
            <a:ext cx="859536" cy="1463040"/>
          </a:xfrm>
          <a:prstGeom prst="rect">
            <a:avLst/>
          </a:prstGeom>
        </p:spPr>
      </p:pic>
      <p:sp>
        <p:nvSpPr>
          <p:cNvPr id="3" name="Text 0"/>
          <p:cNvSpPr/>
          <p:nvPr/>
        </p:nvSpPr>
        <p:spPr>
          <a:xfrm>
            <a:off x="749808" y="1874520"/>
            <a:ext cx="5943600" cy="658368"/>
          </a:xfrm>
          <a:prstGeom prst="rect">
            <a:avLst/>
          </a:prstGeom>
          <a:noFill/>
          <a:ln/>
        </p:spPr>
        <p:txBody>
          <a:bodyPr wrap="square" lIns="0" tIns="0" rIns="0" bIns="0" rtlCol="0" anchor="ctr"/>
          <a:lstStyle/>
          <a:p>
            <a:pPr indent="0" marL="0">
              <a:buNone/>
            </a:pPr>
            <a:r>
              <a:rPr lang="en-US" sz="3800" b="1" dirty="0">
                <a:solidFill>
                  <a:srgbClr val="08407C"/>
                </a:solidFill>
                <a:latin typeface="Inter" pitchFamily="34" charset="0"/>
                <a:ea typeface="Inter" pitchFamily="34" charset="-122"/>
                <a:cs typeface="Inter" pitchFamily="34" charset="-120"/>
              </a:rPr>
              <a:t>Muchas gracias.</a:t>
            </a:r>
            <a:endParaRPr lang="en-US" sz="3800" dirty="0"/>
          </a:p>
        </p:txBody>
      </p:sp>
      <p:sp>
        <p:nvSpPr>
          <p:cNvPr id="4" name="Text 1"/>
          <p:cNvSpPr/>
          <p:nvPr/>
        </p:nvSpPr>
        <p:spPr>
          <a:xfrm>
            <a:off x="777240" y="2606040"/>
            <a:ext cx="6035040" cy="329184"/>
          </a:xfrm>
          <a:prstGeom prst="rect">
            <a:avLst/>
          </a:prstGeom>
          <a:noFill/>
          <a:ln/>
        </p:spPr>
        <p:txBody>
          <a:bodyPr wrap="square" lIns="0" tIns="0" rIns="0" bIns="0" rtlCol="0" anchor="ctr"/>
          <a:lstStyle/>
          <a:p>
            <a:pPr indent="0" marL="0">
              <a:buNone/>
            </a:pPr>
            <a:r>
              <a:rPr lang="en-US" sz="1500" dirty="0">
                <a:solidFill>
                  <a:srgbClr val="4E586E"/>
                </a:solidFill>
                <a:latin typeface="Inter" pitchFamily="34" charset="0"/>
                <a:ea typeface="Inter" pitchFamily="34" charset="-122"/>
                <a:cs typeface="Inter" pitchFamily="34" charset="-120"/>
              </a:rPr>
              <a:t>Sin prospectos no hay oportunidades, y sin oportunidades no hay cierres.</a:t>
            </a:r>
            <a:endParaRPr lang="en-US" sz="1500" dirty="0"/>
          </a:p>
        </p:txBody>
      </p:sp>
      <p:sp>
        <p:nvSpPr>
          <p:cNvPr id="5" name="Text 2"/>
          <p:cNvSpPr/>
          <p:nvPr/>
        </p:nvSpPr>
        <p:spPr>
          <a:xfrm>
            <a:off x="777240" y="4224528"/>
            <a:ext cx="7498080" cy="274320"/>
          </a:xfrm>
          <a:prstGeom prst="rect">
            <a:avLst/>
          </a:prstGeom>
          <a:noFill/>
          <a:ln/>
        </p:spPr>
        <p:txBody>
          <a:bodyPr wrap="square" lIns="0" tIns="0" rIns="0" bIns="0" rtlCol="0" anchor="ctr"/>
          <a:lstStyle/>
          <a:p>
            <a:pPr indent="0" marL="0">
              <a:buNone/>
            </a:pPr>
            <a:r>
              <a:rPr lang="en-US" sz="950" dirty="0">
                <a:solidFill>
                  <a:srgbClr val="6A7686"/>
                </a:solidFill>
                <a:latin typeface="Inter" pitchFamily="34" charset="0"/>
                <a:ea typeface="Inter" pitchFamily="34" charset="-122"/>
                <a:cs typeface="Inter" pitchFamily="34" charset="-120"/>
              </a:rPr>
              <a:t>Capacitaciones Krak Real Estate · Técnicas Avanzadas de Prospección Inmobiliaria</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Técnicas Avanzadas de Prospección Inmobiliaria</dc:title>
  <dc:subject>PptxGenJS Presentation</dc:subject>
  <dc:creator>Krak Real Estate</dc:creator>
  <cp:lastModifiedBy>Krak Real Estate</cp:lastModifiedBy>
  <cp:revision>1</cp:revision>
  <dcterms:created xsi:type="dcterms:W3CDTF">2026-09-08T13:27:34Z</dcterms:created>
  <dcterms:modified xsi:type="dcterms:W3CDTF">2026-09-08T13:27:34Z</dcterms:modified>
</cp:coreProperties>
</file>