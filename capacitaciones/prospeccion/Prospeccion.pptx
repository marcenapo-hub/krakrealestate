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La prospección es el trabajo que alimenta todo lo demás: sin prospectos no hay tasaciones y sin tasaciones no hay captaciones.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embudo ordena todo el trabajo comercial. Cada paso alimenta al siguiente y ninguno se puede saltear: una agenda sin prospección se queda sin tasaciones en dos meses, y sin tasaciones no hay nada para captar ni producir.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corto plazo paga este trimestre; el largo plazo paga el año que viene. Si se hace solo uno de los dos el embudo se corta: sin corto plazo no se llega a fin de mes, sin largo plazo no hay negocio en dos años. Y lo que sostiene a los dos es sistematizarlos, no la inspiración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leerlas todas en voz alta. Conviene detenerse en las dos que más rinden y menos se usan: dueño vende, porque convierte un “no” en una recomendación, y las alianzas profesionales, porque un escribano o un abogado de sucesiones ve la operación antes que nadie.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cinco no dan resultado inmediato y por eso son las primeras que se abandonan cuando aparece una urgencia. Son, sin embargo, las que hacen que dentro de dos años haya negocio sin salir a buscarlo.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la pregunta en el aire unos segundos y escuchar dos o tres respuestas de la sala antes de pasar a la siguiente. La respuesta pierde toda su fuerza si se muestra junto con la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concepto que ordena toda la prospección: si el producto somos nosotros, entonces cada contacto —incluso el que no compra— es una muestra gratis del producto. De ahí se desprende directamente la diapositiva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condensar y no leer la lista: el criterio es sobrio, cuidado y coherente con el cliente que se va a ver. La actitud pesa más que la ropa. Y el punto del recuadro azul es el que más incomoda: el cliente busca el nombre del agente en Instagram antes de la primera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planilla es el activo de esta capacitación: se comparte para hacer copia y se completa. Las dos columnas que más se usan son “¿qué tan cercano?”, que dice dónde invertir tiempo, y “último contacto”, que avisa a quién hay que retomar. Un clasificador con diez filas se sigue usando; uno vacío no se abre nunca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contenido. El proceso posterior a la prospección ya está sistematizado en la agencia; el cuello de botella está siempre en la entrada del embudo. Por eso el desafío no es aprender a vender: es no dejar nunca de alimentar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el Clasificador de Relaciones queda disponible para hacer copia y que el compromiso mínimo es cargarlo con los primeros contactos esta misma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rakRealEstate/capacitaciones/prospeccion/brand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777240"/>
            <a:ext cx="1847088" cy="8211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12140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Capacitaciones Krak Real Estate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48716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Prospección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3977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primer eslabón del proceso de captación.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 de captación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embudo de tres pasos.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508760"/>
            <a:ext cx="3017520" cy="1920240"/>
          </a:xfrm>
          <a:prstGeom prst="rightArrow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1508760"/>
            <a:ext cx="23536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Prospección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840480" y="1691640"/>
            <a:ext cx="2468880" cy="1554480"/>
          </a:xfrm>
          <a:prstGeom prst="rightArrow">
            <a:avLst/>
          </a:prstGeom>
          <a:solidFill>
            <a:srgbClr val="7C8594"/>
          </a:solidFill>
          <a:ln w="12700">
            <a:solidFill>
              <a:srgbClr val="7C85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1691640"/>
            <a:ext cx="19257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Tasación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37960" y="1828800"/>
            <a:ext cx="2148840" cy="1280160"/>
          </a:xfrm>
          <a:prstGeom prst="rightArrow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828800"/>
            <a:ext cx="1676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Captación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producción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" y="4041648"/>
            <a:ext cx="8083296" cy="658368"/>
          </a:xfrm>
          <a:prstGeom prst="roundRect">
            <a:avLst>
              <a:gd name="adj" fmla="val 125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087368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IMPORTA EL ORDEN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" y="428853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prospección es el único eslabón que depende enteramente del agente. La tasación depende del mercado y la captación del cliente: prospectar depende solo de si se hizo o no.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Prospección: dos tipos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Según el horizonte en que devuelve resultados.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170432"/>
            <a:ext cx="5074920" cy="457200"/>
          </a:xfrm>
          <a:prstGeom prst="roundRect">
            <a:avLst>
              <a:gd name="adj" fmla="val 180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1704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CORTO PLAZO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" y="1737360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73736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geográfico masivo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91256" y="1737360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73736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demográfico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" y="2322576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32257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geográfico personalizado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91256" y="2322576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232257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Dueño vende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" y="2907792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290779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Publicidad digital orgánica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91256" y="2907792"/>
            <a:ext cx="2487168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37560" y="290779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 en grupos de colegas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" y="3529584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35295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Alianzas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883664" y="35295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Estratégicas  ·  Profesionales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053328" y="1170432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7C8594"/>
          </a:solidFill>
          <a:ln w="12700">
            <a:solidFill>
              <a:srgbClr val="7C859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11704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LARGO PLAZO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53328" y="1737360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9632" y="17373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Prensa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53328" y="2249424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9632" y="224942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53328" y="2761488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9632" y="27614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53328" y="3273552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32735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de valor en redes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053328" y="3785616"/>
            <a:ext cx="2633472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99632" y="37856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Publicidad tradicional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03504" y="4334256"/>
            <a:ext cx="8083296" cy="658368"/>
          </a:xfrm>
          <a:prstGeom prst="roundRect">
            <a:avLst>
              <a:gd name="adj" fmla="val 125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1248" y="4379976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CLAVE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41248" y="4581144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Sistematizar el proceso.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Prospección: estrategias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 cada táctica de corto plazo, en una línea.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170432"/>
            <a:ext cx="8083296" cy="493776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19786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geográfico masivo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140817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Repartir tarjetas, un brochure o una carta a los vecinos de la zona.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74650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geográfico personalizado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195681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Timbrear y presentarse personalmente.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" y="2267712"/>
            <a:ext cx="8083296" cy="493776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29514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Publicidad digital orgánica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250545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Comunicar por redes sociales, sin pauta.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284378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 en grupos de colegas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305409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Foros, grupos de WhatsApp, LinkedIn.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" y="3364992"/>
            <a:ext cx="8083296" cy="493776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9242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Farming demográfico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360273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segmentación: amigos del colegio, del gimnasio, del club.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394106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Dueño vende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415137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Aportar valor para que quien no va a ser tu cliente te recomiende. “Esta gente sabe”.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" y="4462272"/>
            <a:ext cx="8083296" cy="493776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48970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Alianzas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22960" y="4700016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Estratégicas: encargados, colegas, desarrolladores. Profesionales: abogados, contadores, escribanos.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Prospección: estrategias de campo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trabajo de relación que sostiene todo lo anterior.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18872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353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Círculo de influencia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773936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Familiares y amigos cercanos son los primeros a quienes pedir referencias.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4136" y="118872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7C8594"/>
          </a:solidFill>
          <a:ln w="12700">
            <a:solidFill>
              <a:srgbClr val="7C85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3592" y="1353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Conocer más gente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93592" y="1773936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4E6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Tomarse en serio la siembra de relaciones.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44768" y="118872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1353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de contenido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64224" y="1773936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ser personalizado: el valor crea una marca personal y, en consecuencia, un recuerdo.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" y="2761488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7C8594"/>
          </a:solidFill>
          <a:ln w="12700">
            <a:solidFill>
              <a:srgbClr val="7C85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926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digital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334670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4E6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Agregar valor en redes sociales.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74136" y="2761488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93592" y="2926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eventos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593592" y="334670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Invitar a comer, invitar a jugar un deporte.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" y="4370832"/>
            <a:ext cx="8083296" cy="658368"/>
          </a:xfrm>
          <a:prstGeom prst="roundRect">
            <a:avLst>
              <a:gd name="adj" fmla="val 125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4416552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" y="4617720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siembra no se mide en captaciones este mes: se mide en conversaciones nuevas por semana.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prospectar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conceptos, y el primero es una pregunta.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" y="118872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 es el producto que vendemos?</a:t>
            </a:r>
            <a:endParaRPr lang="en-US" sz="2400" dirty="0"/>
          </a:p>
        </p:txBody>
      </p:sp>
      <p:pic>
        <p:nvPicPr>
          <p:cNvPr id="8" name="Image 1" descr="/home/user/KrakRealEstate/capacitaciones/prospeccion/img/a_liv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74520"/>
            <a:ext cx="3566160" cy="1899209"/>
          </a:xfrm>
          <a:prstGeom prst="rect">
            <a:avLst/>
          </a:prstGeom>
        </p:spPr>
      </p:pic>
      <p:pic>
        <p:nvPicPr>
          <p:cNvPr id="9" name="Image 2" descr="/home/user/KrakRealEstate/capacitaciones/prospeccion/img/a_llav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874520"/>
            <a:ext cx="2852928" cy="1901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 propiedad?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212080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¿El servicio?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prospectar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respuesta.</a:t>
            </a:r>
            <a:endParaRPr lang="en-US" sz="1200" dirty="0"/>
          </a:p>
        </p:txBody>
      </p:sp>
      <p:pic>
        <p:nvPicPr>
          <p:cNvPr id="7" name="Image 1" descr="/home/user/KrakRealEstate/capacitaciones/prospeccion/img/a_apret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188720"/>
            <a:ext cx="4133088" cy="233080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01184" y="1188720"/>
            <a:ext cx="3785616" cy="2331720"/>
          </a:xfrm>
          <a:prstGeom prst="roundRect">
            <a:avLst>
              <a:gd name="adj" fmla="val 3529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38928" y="1389888"/>
            <a:ext cx="3346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vendemos a nosotros prestando el servicio que el cliente necesita.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138928" y="2542032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D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solamente el servicio: es la experiencia de usuario que le damos al cliente.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" y="3712464"/>
            <a:ext cx="8083296" cy="658368"/>
          </a:xfrm>
          <a:prstGeom prst="roundRect">
            <a:avLst>
              <a:gd name="adj" fmla="val 125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" y="3758184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SE LLEVA EL CLIENTE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41248" y="395935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propiedad la puede ver en cualquier portal. Lo que no puede comparar es cómo lo trataron, cuánto tardaron en responderle y qué tan acompañado se sintió en la operación.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imagen lo es todo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Pensar en la experiencia del usuario con el producto.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170432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252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Vestimenta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14447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Traje o conjunto de saco y pantalón; con buen clima, camisa de calidad. Traje sastre, vestido formal o blusa con falda o pantalón. Zapatos limpios y en buen estado.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" y="1956816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116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Higiene personal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22311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Cabello limpio y arreglado, uñas cuidadas, perfume o colonia en uso moderado.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" y="2743200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7980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Accesorios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30175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Relojes, joyas y bolsos discretos y de buena calidad. Conviene llevar un portafolio o una carpeta elegante para los documentos.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" y="3529584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5844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Estilo y actitud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38039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Apariencia ordenada y pulcra, sin estilos llamativos ni informales. Más allá del aspecto: seguridad, amabilidad y postura profesional.</a:t>
            </a:r>
            <a:endParaRPr lang="en-US" sz="950" dirty="0"/>
          </a:p>
        </p:txBody>
      </p:sp>
      <p:pic>
        <p:nvPicPr>
          <p:cNvPr id="19" name="Image 1" descr="/home/user/KrakRealEstate/capacitaciones/prospeccion/img/a_perf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70432"/>
            <a:ext cx="2011680" cy="223845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3547872"/>
            <a:ext cx="2377440" cy="786384"/>
          </a:xfrm>
          <a:prstGeom prst="roundRect">
            <a:avLst>
              <a:gd name="adj" fmla="val 10465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73952" y="3547872"/>
            <a:ext cx="2084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perfiles en redes sociales también son nuestra imagen.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Sistematizar el proceso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calificar a los contactos?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133856"/>
            <a:ext cx="8083296" cy="530352"/>
          </a:xfrm>
          <a:prstGeom prst="roundRect">
            <a:avLst>
              <a:gd name="adj" fmla="val 15517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133856"/>
            <a:ext cx="7626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puede mejorar ni escalar lo que no se puede medir.</a:t>
            </a:r>
            <a:endParaRPr lang="en-US" sz="1500" dirty="0"/>
          </a:p>
        </p:txBody>
      </p:sp>
      <p:pic>
        <p:nvPicPr>
          <p:cNvPr id="9" name="Image 1" descr="/home/user/KrakRealEstate/capacitaciones/prospeccion/img/a_clasificad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10512"/>
            <a:ext cx="8083296" cy="20391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" y="3931920"/>
            <a:ext cx="1883664" cy="1024128"/>
          </a:xfrm>
          <a:prstGeom prst="roundRect">
            <a:avLst>
              <a:gd name="adj" fmla="val 803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68096" y="4224528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Amigo es el valor base: todos arrancan ahí. Después, familiar, profesional y colega.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670048" y="3931920"/>
            <a:ext cx="1883664" cy="1024128"/>
          </a:xfrm>
          <a:prstGeom prst="roundRect">
            <a:avLst>
              <a:gd name="adj" fmla="val 803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3464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Relación de conocimiento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834640" y="4224528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 o mentor. Comprende la relación de valor entre las partes.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736592" y="3931920"/>
            <a:ext cx="1883664" cy="1024128"/>
          </a:xfrm>
          <a:prstGeom prst="roundRect">
            <a:avLst>
              <a:gd name="adj" fmla="val 803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01184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tan cercano?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01184" y="4224528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el tono de la comunicación y dónde hay que trabajar.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803136" y="3931920"/>
            <a:ext cx="1883664" cy="1024128"/>
          </a:xfrm>
          <a:prstGeom prst="roundRect">
            <a:avLst>
              <a:gd name="adj" fmla="val 803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67728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Probable acción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967728" y="4224528"/>
            <a:ext cx="1627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2E4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 recomienda siempre · solo si se lo pedís · aún no te recomendaría.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E586E"/>
          </a:solidFill>
          <a:ln w="12700">
            <a:solidFill>
              <a:srgbClr val="4E5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402336"/>
          </a:xfrm>
          <a:prstGeom prst="rect">
            <a:avLst/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pic>
        <p:nvPicPr>
          <p:cNvPr id="4" name="Image 0" descr="/home/user/KrakRealEstate/capacitaciones/prospeccion/brand/is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164592" cy="217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256032"/>
            <a:ext cx="8083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 final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" y="7498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importancia de la prospección.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" y="1280160"/>
            <a:ext cx="8083296" cy="1371600"/>
          </a:xfrm>
          <a:prstGeom prst="roundRect">
            <a:avLst>
              <a:gd name="adj" fmla="val 6000"/>
            </a:avLst>
          </a:prstGeom>
          <a:solidFill>
            <a:srgbClr val="08407C"/>
          </a:solidFill>
          <a:ln w="12700">
            <a:solidFill>
              <a:srgbClr val="084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280160"/>
            <a:ext cx="7351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sistematizamos el proceso de venta y la propiedad está bien tasada, sin dudas se va a vender.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" y="2816352"/>
            <a:ext cx="8083296" cy="1463040"/>
          </a:xfrm>
          <a:prstGeom prst="roundRect">
            <a:avLst>
              <a:gd name="adj" fmla="val 5625"/>
            </a:avLst>
          </a:prstGeom>
          <a:solidFill>
            <a:srgbClr val="7C8594"/>
          </a:solidFill>
          <a:ln w="12700">
            <a:solidFill>
              <a:srgbClr val="7C85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2816352"/>
            <a:ext cx="7351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desafío es seguir alimentando ese proceso con prospecciones. Es lo que marca la diferencia entre los agentes buenos y los muy buenos.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rakRealEstate/capacitaciones/prospeccion/brand/logo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1480"/>
            <a:ext cx="859536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8745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4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Muchas gracias.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77240" y="26060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prospectos no hay oportunidades, y sin oportunidades no hay cierres.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4224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Capacitaciones Krak Real Estate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Prospección</dc:title>
  <dc:subject>PptxGenJS Presentation</dc:subject>
  <dc:creator>Krak Real Estate</dc:creator>
  <cp:lastModifiedBy>Krak Real Estate</cp:lastModifiedBy>
  <cp:revision>1</cp:revision>
  <dcterms:created xsi:type="dcterms:W3CDTF">2026-09-08T13:30:10Z</dcterms:created>
  <dcterms:modified xsi:type="dcterms:W3CDTF">2026-09-08T13:30:10Z</dcterms:modified>
</cp:coreProperties>
</file>