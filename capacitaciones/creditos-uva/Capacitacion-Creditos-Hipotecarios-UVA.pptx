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(30 segundos). No leer la slide.
Arrancar con esto: "Esto no es una clase de economía. Es una herramienta de venta.
En 30 minutos van a entender el producto lo suficiente como para tener mejores
conversaciones y no perder operaciones por no saber qué contestar."
Aclarar de entrada las dos reglas de la capacitación:
1. Todos los números concretos tienen fecha. Se desactualizan. Los conceptos no.
2. Nosotros no somos asesores financieros. Explicamos el producto y derivamos.
   Esa frase se repite tres veces a lo largo de la charla, a propósito.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MINUTOS. Slide de enganche: hacer levantar la mano de verdad, esperar.
Datos y de dónde salen (fecha de corte 19/09/2026):
· Escrituras CABA julio 2026: ~6.051 traslativas de dominio, ~950 con hipoteca.
  Fuente: Colegio de Escribanos de CABA, citado en el análisis de Inmobiliarios.com.
  Ojo: no todas esas hipotecas son bancarias, también hay peer-to-peer.
· Stock hipotecario / PBI: ~2% en Argentina. Comparaciones (Chile ~27%, EE.UU. hasta 75%)
  mencionadas por el ministro de Economía en el anuncio del programa.
· Programa de $2 billones: anuncio oficial de 2026. Detalle en la slide 14.
El mensaje, dicho con todas las letras: hay muchísima más gente preguntando que
créditos otorgados. Eso significa que la mayoría de esas conversaciones se pierde.
Muchas se pierden porque del otro lado no hay nadie que sepa contestar.
NO decir que el crédito 'está para todos'. No lo está. Son cientos o algunos miles
de operaciones frente a millones de personas que querrían comprar. Sé honesto con eso:
la sala lo sabe y perdés credibilidad si lo exagerás.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Es la slide que baja la ansiedad de la sala.
El miedo más común del cliente —y de muchos vendedores— es creer que 'la casa es
del banco hasta que termines de pagar'. Es falso. La escritura traslativa de dominio
va a nombre del comprador en el mismo acto. Lo que el banco inscribe es un derecho
real de garantía sobre el inmueble. Si el comprador paga, esa hipoteca se cancela
y listo. Si deja de pagar, el banco puede ejecutar — pero eso es el final de un
camino largo, no el punto de partida.
Dos puntos operativos que conviene marcar acá:
· TASACIÓN: el banco presta sobre el valor de tasación, no sobre el precio pactado.
  Si la tasación da más bajo, el comprador tiene que poner la diferencia. Esto rompe
  operaciones y es de las cosas que más conviene anticipar.
· PROPIEDAD APTA CRÉDITO: título perfecto, sin deudas, planos en regla, sin ocupantes.
  Si la propiedad tiene un problema registral, la operación se cae o se demora meses.
  Un caso real contado en las entrevistas: llegaron a la escribanía y descubrieron que
  la propiedad ya tenía una hipoteca previa sin cancelar.
GASTOS: variables según jurisdicción y según si aplica alguna exención por vivienda
única. Como orden de magnitud se mencionan entre 6% y 9% del valor de la propiedad
(comisión ~4%, escribanía ~1% y algo, sellos e impuestos, gastos administrativos).
Decirlo como rango y aclarar que hay que verificarlo caso por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Vocabulario. Ir rápido por las cinco definiciones y frenar en el gráfico.
El gráfico de la derecha explica solo algo que después ahorra diez minutos de
discusión: en sistema francés la cuota se reparte entre interés y capital, y esa
proporción cambia con el tiempo. Al principio pagás casi todo interés.
Los porcentajes del gráfico son los de nuestro ejemplo (50.000 UVA, 240 meses,
UVA + 7%): mes 1 → 75% interés, mes 120 → mitad y mitad, mes 240 → casi todo capital.
Cambian si cambia la tasa o el plazo. Son ilustrativos, no una tabla universal.
Anticipar la queja clásica: 'pagué un año y la deuda no bajó nada'. En parte es por
esto —al principio amortizás poco— y en parte es por la actualización UVA, que vemos
en las slides 8 y 10. Son dos efectos distintos que la gente mezcla.
AMORTIZACIÓN es la palabra clave de toda la capacitación. Si se llevan una sola,
que sea esta: parte de la cuota es gasto (interés) y parte es patrimonio (capital).
Un alquiler, en cambio, es 100% gasto.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Slide conceptual. Es la que hace que el UVA deje de parecer una trampa.
MÉTODO: preguntar a la sala '¿por qué les parece que ningún banco presta a tasa fija
a 20 años en Argentina?' y esperar. Que lo digan ellos. Se fija mucho mejor.
El descalce de plazos fue exactamente el diagnóstico que dio el ministro de Economía
al anunciar el programa de 2026: los bancos se fondean a un día o a 30 días y les
piden prestar a 25 años. Por eso el programa oficial ataca el fondeo (plazos fijos
largos del FGS en los bancos) y no la demanda.
SER HONESTO CON EL COSTADO INCÓMODO: el UVA no elimina el riesgo de inflación,
lo reasigna. El banco se lo saca de encima y se lo pasa al comprador. Eso es
literalmente lo que pasó entre 2018 y 2023 y es el origen de todo el conflicto
político alrededor de los créditos UVA. Si vos no lo decís, el cliente lo va a leer
en cualquier nota y vas a perder credibilidad.
La formulación que conviene: el riesgo real no es la inflación. Es que la inflación
le gane al sueldo de esa persona en particular. Esa frase vuelve tres veces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Contexto histórico. No es relleno: es lo que explica la resistencia del cliente.
El dato de los ~130.000 créditos UVA del período 2016–2019 sale de la entrevista a un
desarrollador en uno de los videos de referencia. Tomarlo como orden de magnitud.
LO IMPORTANTE DE ESTA SLIDE es el hito 4. Cuando un cliente dice 'no quiero saber
nada con el UVA', casi siempre está pensando en 2018–2023. Tiene razón en algo:
hubo gente que la pasó muy mal. Lo que pasó fue que el salario real cayó fuerte
mientras la cuota seguía ajustando por inflación.
NO discutirle al cliente que eso pasó. Sí ubicarlo: el problema no fue el instrumento
en abstracto, fue la relación entre la cuota y el ingreso de esa familia en ese
período. Y aclarar que hoy la decisión hay que tomarla mirando el caso concreto,
no la historia.
Un matiz que vale la pena tener: la morosidad de la cartera hipotecaria del sistema
es baja —se menciona alrededor de 1,6%— aun después de todo ese período. La gente
hace un esfuerzo enorme por no perder la casa. Eso no invalida el drama individual,
pero ordena la magnitud del fenómeno.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CUIDADO CON EL VALOR DE LA UVA. El número de esta slide es de referencia al
19/09/2026 y proviene de fuentes que citan al BCRA. ANTES DE DICTAR la capacitación,
entrá a bcra.gob.ar y actualizalo. Es el único dato del deck que cambia todos los días.
Si lo decís desactualizado frente a un cliente informado, perdés autoridad.
Como referencia de cuánto se mueve: a comienzos de enero de 2026 la UVA rondaba
los $1.709 y hacia mediados de 2026 estaba cerca de $1.931. La escalada es el
mecanismo funcionando, no una anomalía.
CONTEXTO DE INFLACIÓN (agosto 2026, INDEC): 1,7% mensual, 33,5% interanual.
Actualizar también esto. Y NO pronosticar inflación futura: no es nuestro trabajo,
no tenemos cómo saberlo y si nos equivocamos frente a un cliente el costo es alto.
EL REZAGO de ~45 días vale explicarlo porque genera confusión: el cliente ve que la
inflación bajó y no entiende por qué su cuota sigue subiendo fuerte. La respuesta es
que la UVA de este mes está trayendo la inflación de mes y medio atrás.
La comparación con Chile ayuda: allá existe desde hace décadas una unidad indexada
equivalente y se usa con normalidad para créditos y depósitos. No es un invento
argentino ni una trampa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y son dos minutos bien gastados. Esta es LA diapositiva de la charla.
MÉTODO: contar la analogía completa y después pedirle a alguien de la sala que la
repita con sus propias palabras. Si la puede repetir, la va a poder usar con un
cliente. Si no, repetirla una vez más. No avanzar hasta que alguien la diga bien.
Por qué funciona: separa limpiamente las dos cosas que la gente mezcla —la cantidad
que debe (baja) y el precio de esa unidad (sube)—. Es el mismo fenómeno que ver el
precio del alquiler subir todos los años: no es que uno alquile más metros.
Para grabación de video: esta es la slide para dejar unos segundos de silencio
después de decirlo. Que respire.
SI ALGUIEN PREGUNTA por qué el banco no te lo cobra en pesos directamente: porque
entonces el banco asumiría todo el riesgo de inflación de 20 años y, para cubrirse,
tendría que cobrar una tasa inicial impagable. Volvemos a la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REGLA INNEGOCIABLE DE ESTA SLIDE: el 6% es ilustrativo. Como referencia de rango,
al 19/09/2026 se veían líneas aproximadamente entre UVA + 6% y UVA + 11% según la
entidad, el destino del crédito y si se acredita el sueldo en el banco. Algunos
ejemplos que se mencionaban en ese momento: Banco Nación en torno a UVA + 6%,
Banco Ciudad con una línea en UVA + 7,5%.
CHEQUEAR ANTES DE CADA CAPACITACIÓN. Y jamás decirle un número a un cliente como si
fuera la tasa que va a conseguir: eso lo define el banco mirando su carpeta.
Un matiz útil: la tasa promedio OFRECIDA en el mercado y la tasa que efectivamente
terminan pagando los créditos otorgados no son la misma. Los que se concretan suelen
concentrarse en las líneas más baratas, porque la gente elige.
SI ALGUIEN PREGUNTA '¿UVA + 7,5% no es carísimo?', ver la slide 15 (mitos). Ahí está
el razonamiento completo con la comparación contra el costo de endeudamiento del país.
Mencionar el COSTO FINANCIERO TOTAL (CFT): la tasa no es lo único. Seguros de vida e
incendio, gastos administrativos y comisiones entran en el CFT. Comparar líneas por
la tasa nominal y no por el CFT lleva a conclusiones equivocadas.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Slide de guion: estas tres frases hay que saberlas de memoria.
Es la pregunta que efectivamente reciben los que ya tienen un crédito UVA: 'vengo
pagando hace un año y debo más que cuando empecé'. Y es literalmente cierto en pesos.
Negarlo es el peor error posible.
Hay que separar TRES efectos que el cliente vive como uno solo:
1. Al principio amortizás poco porque en sistema francés casi todo es interés (slide 4).
2. La actualización UVA sube el valor en pesos de lo que queda (slide 8).
3. Su propio sueldo subió o no subió al mismo ritmo — y eso es lo que realmente duele.
LA FRASE 3 ES LA IMPORTANTE. Que la cuota pase de $800.000 a $970.000 no dice nada
por sí solo. Dice todo si el ingreso pasó de $3.200.000 a $3.900.000 — o si no se movió.
Llevar siempre la conversación a la relación cuota/ingreso.
LÍMITE DE NUESTRO ROL: hasta acá llegamos. Si el cliente quiere saber si le conviene,
si le conviene precancelar, o qué va a pasar con la inflación, eso es el banco o su
contador. Nosotros explicamos el producto. No somos asesores financieros.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Hacer la cuenta EN VIVO. Que vean la división en pantalla.
TODO ES HIPOTÉTICO y el cartel rojo está para que nadie de la sala anote estos números
como si fueran reales. Decirlo en voz alta además de mostrarlo. El tipo de cambio, el
valor de la UVA y la tasa son supuestos elegidos para que la cuenta sea limpia.
La cuota de 387,64 UVA sale de la fórmula de sistema francés con 50.000 UVA, 240
meses y 7% anual (0,5833% mensual). No hace falta mostrar la fórmula; si alguien
pregunta, es la cuota constante estándar de cualquier simulador.
GASTOS: el 6%–9% es un rango, no un número. Depende de la jurisdicción, de si hay
exención de sellos por vivienda única hasta cierto monto, de si hay comisión
inmobiliaria y de los honorarios del escribano que designe el banco. Como referencia
de composición: comisión ~4%, escribanía ~1% y algo, más sellos e impuestos.
Con exenciones se acerca a 6%–7%; sin exenciones, más cerca de 9%.
PUNTO COMERCIAL IMPORTANTE: el comprador necesita más efectivo del que cree. Sobre
una propiedad de USD 100.000 con 75% financiado no alcanza con USD 25.000: hay que
sumar los gastos. Anticipar esto evita operaciones que se caen a mitad de camino.
COMPARACIÓN OPCIONAL, si la sala está enganchada: el ejemplo oficial del anuncio de
2026 usaba una propiedad de ~USD 106.000 con un préstamo de ~USD 80.000 a 25 años
en UVA + 7%, con una cuota estimada de ~$865.000 y un ingreso requerido de ~$3.460.000
(tomando la cuota como 25% del ingreso). Mismo orden de magnitud que nuestro ejemplo.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ES EL CLÍMAX DE LA CAPACITACIÓN. Bajar el ritmo.
MÉTODO: mostrar la tabla, leer la fila 'Deuda en UVA' (bajó), leer la fila 'Deuda en
pesos' (subió 17%), y QUEDARSE CALLADO unos segundos. Dejar que la sala procese la
contradicción aparente. Recién ahí explicar. Si lo explicás enseguida, se pierde.
Para grabación de video: acá va el silencio más largo del deck.
De dónde salen los números (todos derivados de los supuestos de la slide 11):
· UVA mes 12 = $2.100 × 1,015^12 = $2.511.
· Deuda en UVA tras 12 cuotas de sistema francés: 48.810 UVA.
· Deuda en pesos = 48.810 × $2.511 = ~$122,5 millones.
· Cuota = 387,64 UVA × $2.511 = ~$973.000.
El 1,5% mensual es un supuesto elegido para el ejercicio. NO es un pronóstico.
Si alguien pregunta qué va a pasar con la inflación: no lo sabemos y no opinamos.
EL CIERRE DE LA SLIDE, textual: 'lo que decide si esto es un problema no está en esta
tabla'. Si el ingreso de esa familia subió 20% en el año, la cuota pesa MENOS que
antes aunque el número sea más grande. Si el ingreso no se movió, pesa más.
Esa es toda la película del crédito UVA en una frase.
SI ALGUIEN SE ASUSTA: recordar que el alquiler también sube, y sube sin que quede
nada. Lo vemos en la slide 15. Pero no minimizar: el riesgo es real y es asimétrico.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Es la slide más operativa y la que más preguntas genera.
LA REGLA DE ORO DE ESTA SLIDE: los porcentajes de la columna derecha son RANGOS
OBSERVADOS, no reglas. 'Suele ir de 70% a 80%' no es lo mismo que 'te prestan el 80%'.
Si un vendedor le dice a un cliente 'te prestan el 80%' y el banco le presta el 70%,
la operación se cae y la culpa es nuestra. Decir siempre 'depende del banco'.
SCORE: es un puntaje de comportamiento crediticio dentro del sistema financiero.
En la escala que se mencionaba en las entrevistas llega a ~999 puntos, y valores de
870, 900 o 920 son habituales en alguien ordenado. Lo que destrabó el acceso en la
última etapa fue que los bancos bajaran el mínimo exigido (de ~909 a ~870 en el caso
comentado). No es una escala oficial única: cada entidad la usa a su manera.
MONOTRIBUTISTAS: no es que 'no califican'. El banco necesita ver ingresos. La categoría
de monotributo es el proxy. Suelen pedir antigüedad (se mencionan ~2 años) y mirar el
historial: recategorizarse para arriba el mes anterior a pedir el crédito no funciona,
porque puede tomarse la categoría más baja del último año.
CODEUDORES: se pueden sumar ingresos de pareja, padres o hermanos. Cuánto computa
cada uno lo define la entidad. Es de las palancas más útiles y menos conocidas.
MINI CASO PARA LA SALA (2 minutos, opcional si el tiempo aprieta):
Sofía y Damián, 32 y 34 años. Ella en relación de dependencia, él monotributista
categoría D hace tres años. Tienen ahorros por el equivalente al 25% de la propiedad
que miran. Él está pagando la cuota de un auto. Preguntar a la sala: ¿son candidatos?
¿Qué le preguntarían primero? La respuesta que buscamos: sí, pero conviene ver si
puede cancelar el auto antes, y hay que contar los gastos de escrituración aparte
de ese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MINUTOS. Slide de actualidad: es la más perecedera del deck.
REVISAR ANTES DE CADA DICTADO. Si ya salieron las líneas concretas de los bancos,
esta slide hay que actualizarla o reemplazarla por las condiciones reales.
Cómo funciona el mecanismo, para explicarlo si preguntan: el FGS coloca plazos fijos
largos (de 1 a 5 años) en los bancos mediante licitaciones. Eso les resuelve
parcialmente el descalce de plazos de la slide 5. A cambio, el banco se compromete
a no prestar por encima de UVA + 7,5%. Las tasas mínimas que pide el FGS por ese
fondeo son de UVA + 2,5% a un año y UVA + 4,5% a cinco años.
MAGNITUD: se anunció una primera licitación del orden de $200.000 millones y una
estimación oficial de 17.000 a 18.000 familias alcanzadas por el total del programa.
Es relevante para un mercado hipotecario chico, pero es chico frente a la demanda.
No vender esto como que 'ahora todos acceden'.
EL DETALLE DE 'PRIMERA VIVIENDA': varias líneas vigentes exigen 'vivienda única de
ocupación permanente', que es más restrictivo. Si el programa efectivamente usa
'primera vivienda', abre el juego a más gente. Todavía hay que ver cómo lo
instrumenta cada banco. No afirmarlo como un hecho cerrado.
HONESTIDAD SOBRE LA FUENTE: estos números vienen del anuncio oficial. Lo que NO
tenemos confirmado es cómo lo va a implementar cada entidad. Esa distinción hay
que trasladarla al cliente tal cual.
Si alguien abre el debate político sobre usar fondos del FGS: no entramos. Es una
discusión legítima y no es nuestro tema. Nosotros informamos sobre el producto.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MINUTOS. Formato participativo: leer el mito, que voten a mano alzada, después mostrar.
MITO 2 EN DETALLE, porque es el que más se discute. El razonamiento completo:
· Un TIPS —bono del Tesoro de EE.UU. protegido contra inflación— a 10 años rendía
  alrededor de 2,35%. Ese es el precio de que alguien te preste plata indexada sin
  ningún riesgo de crédito.
· El riesgo país argentino rondaba los 511 puntos básicos, o sea 5,11 puntos
  porcentuales por encima.
· 2,35% + 5,11% ≈ 7,46%. Ese sería, a grandes rasgos, el costo real al que se
  endeudaría Argentina como país en un instrumento indexado comparable.
Que una familia consiga algo parecido —gracias a que hay una garantía hipotecaria
detrás— no es financieramente absurdo. Datos de referencia a agosto/septiembre 2026;
cambian, así que si citás el número decí la fecha.
ESTO NO SIGNIFICA que le convenga a esa persona. Una cosa es que la tasa tenga lógica
de mercado y otra muy distinta es que a Juan le convenga tomarla. Dejarlo dicho.
MITO 4: acá está el mejor argumento comercial de toda la capacitación, y es honesto.
Si alguien paga $900.000 de alquiler, gasta $900.000. Si paga $900.000 de cuota,
una parte —al principio chica— reduce su deuda. Es ahorro forzoso. Para muchas
familias de clase media es la única forma en que efectivamente acumulan patrimonio.
EL CONTRAARGUMENTO HONESTO, que conviene conocer: alguien disciplinado podría alquilar
e invertir la diferencia y terminar mejor. Es cierto. Muy poca gente lo sostiene 20
años. Si el cliente lo plantea, reconocerlo en vez de discutirlo.
SI SALE EL TEMA DEL RIESGO, no esquivarlo: el peor escenario es perder el ingreso y
tener que vender en un mal momento. Y con apalancamiento duele más: si comprás con
20% propio y la propiedad cae 20%, en términos simples te comiste todo el anticipo.
Dato útil: ante una dificultad, lo primero es hablar con el banco y buscar
reestructurar, no dejar de pagar. Al banco tampoco le sirve ejecutar.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MINUTOS. Método: mostrar solo la columna izquierda, pedir que la sala reformule,
y recién después mostrar la derecha. Se fija mucho mejor que si la leen hecha.
POR QUÉ IMPORTA, dicho sin vueltas: si un vendedor le promete a un cliente una tasa,
una cuota o una aprobación, y después no se cumple, el problema vuelve a la
inmobiliaria. No es una cuestión de estilo: es de exposición.
Las tres reformulaciones tienen la misma lógica: dar información verificable, poner
la decisión del lado del cliente y el veredicto del lado del banco.
LA TERCERA ES LA MÁS IMPORTANTE porque cubre los dos extremos. Tan malo es decir
'el UVA es un robo' —te quedás sin la operación y sin credibilidad— como decir 'no
tiene riesgo', que es falso. La formulación honesta nombra el riesgo real y lo hace
medible: cuánto pesa la cuota sobre el ingreso.
CERRAR CON LA REGLA DEL ROL. Es la tercera vez que se dice en la charla y es a
propósito. Nosotros no somos asesores financieros ni productores de seguros ni
oficiales de crédito. Somos los que entienden el producto lo suficiente como para
que la conversación no se muera y para derivar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MINUTO. No agregar contenido nuevo. Leerlas y repartir el cheat sheet impreso.
Si hay tiempo, pedir que cada uno diga en voz alta cuál se lleva. Obliga a elegir
y fija el contenido mejor que cualquier resumen.
Recordar el cierre operativo: el material completo —guion, ejemplo paso a paso,
preguntas frecuentes y cheat sheet— está disponible aparte. Esta capacitación es
la versión de 30 minutos, no el material de referencia.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FECHA DE CORTE: 19/09/2026. Decirla en voz alta al abrir y al cerrar.
QUÉ HAY QUE VERIFICAR ANTES DE VOLVER A DICTAR ESTA CAPACITACIÓN:
1. Valor de la UVA → bcra.gob.ar. Cambia todos los días hábiles.
2. IPC del último mes → indec.gob.ar.
3. Tasas y condiciones de las líneas vigentes → sitio de cada banco.
4. Estado del programa oficial: si ya salieron las líneas concretas, la slide 14
   cambia por completo.
SOBRE LAS FUENTES, con honestidad: las cifras del programa provienen del anuncio
oficial. Los datos de mercado (escrituras, precios, rentas, score, prácticas de los
bancos) provienen de análisis del sector y de entrevistas con gente que trabaja en
bancos y en desarrollo inmobiliario. Son fuentes serias pero secundarias: si un dato
va a usarse para decidir algo, verificarlo en la fuente primaria.
LO QUE ESTA CAPACITACIÓN NO HACE, y hay que sostenerlo:
· No recomienda tomar ni no tomar un crédito.
· No pronostica inflación, dólar ni precios de propiedades.
· No afirma condiciones bancarias como si fueran universales.
· No convierte a nadie en asesor financiero.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KrakRealEstate/capacitaciones/creditos-uva/brand/logo_white.png">    </p:cNvPr>
          <p:cNvPicPr>
            <a:picLocks noChangeAspect="1"/>
          </p:cNvPicPr>
          <p:nvPr/>
        </p:nvPicPr>
        <p:blipFill>
          <a:blip r:embed="rId2"/>
          <a:stretch>
            <a:fillRect/>
          </a:stretch>
        </p:blipFill>
        <p:spPr>
          <a:xfrm>
            <a:off x="658368" y="777240"/>
            <a:ext cx="1847088" cy="821131"/>
          </a:xfrm>
          <a:prstGeom prst="rect">
            <a:avLst/>
          </a:prstGeom>
        </p:spPr>
      </p:pic>
      <p:sp>
        <p:nvSpPr>
          <p:cNvPr id="3" name="Text 0"/>
          <p:cNvSpPr/>
          <p:nvPr/>
        </p:nvSpPr>
        <p:spPr>
          <a:xfrm>
            <a:off x="658368" y="2121408"/>
            <a:ext cx="6858000" cy="310896"/>
          </a:xfrm>
          <a:prstGeom prst="rect">
            <a:avLst/>
          </a:prstGeom>
          <a:noFill/>
          <a:ln/>
        </p:spPr>
        <p:txBody>
          <a:bodyPr wrap="square" lIns="0" tIns="0" rIns="0" bIns="0" rtlCol="0" anchor="ctr"/>
          <a:lstStyle/>
          <a:p>
            <a:pPr indent="0" marL="0">
              <a:buNone/>
            </a:pPr>
            <a:r>
              <a:rPr lang="en-US" sz="1500" dirty="0">
                <a:solidFill>
                  <a:srgbClr val="FFFFFF"/>
                </a:solidFill>
                <a:latin typeface="Inter" pitchFamily="34" charset="0"/>
                <a:ea typeface="Inter" pitchFamily="34" charset="-122"/>
                <a:cs typeface="Inter" pitchFamily="34" charset="-120"/>
              </a:rPr>
              <a:t>Capacitaciones Krak Real Estate</a:t>
            </a:r>
            <a:endParaRPr lang="en-US" sz="1500" dirty="0"/>
          </a:p>
        </p:txBody>
      </p:sp>
      <p:sp>
        <p:nvSpPr>
          <p:cNvPr id="4" name="Text 1"/>
          <p:cNvSpPr/>
          <p:nvPr/>
        </p:nvSpPr>
        <p:spPr>
          <a:xfrm>
            <a:off x="640080" y="2487168"/>
            <a:ext cx="7955280" cy="1371600"/>
          </a:xfrm>
          <a:prstGeom prst="rect">
            <a:avLst/>
          </a:prstGeom>
          <a:noFill/>
          <a:ln/>
        </p:spPr>
        <p:txBody>
          <a:bodyPr wrap="square" lIns="0" tIns="0" rIns="0" bIns="0" rtlCol="0" anchor="t"/>
          <a:lstStyle/>
          <a:p>
            <a:pPr indent="0" marL="0">
              <a:lnSpc>
                <a:spcPts val="4800"/>
              </a:lnSpc>
              <a:buNone/>
            </a:pPr>
            <a:r>
              <a:rPr lang="en-US" sz="4000" b="1" dirty="0">
                <a:solidFill>
                  <a:srgbClr val="FFFFFF"/>
                </a:solidFill>
                <a:latin typeface="Inter" pitchFamily="34" charset="0"/>
                <a:ea typeface="Inter" pitchFamily="34" charset="-122"/>
                <a:cs typeface="Inter" pitchFamily="34" charset="-120"/>
              </a:rPr>
              <a:t>Créditos</a:t>
            </a:r>
            <a:endParaRPr lang="en-US" sz="4000" dirty="0"/>
          </a:p>
          <a:p>
            <a:pPr indent="0" marL="0">
              <a:lnSpc>
                <a:spcPts val="4800"/>
              </a:lnSpc>
              <a:buNone/>
            </a:pPr>
            <a:r>
              <a:rPr lang="en-US" sz="4000" b="1" dirty="0">
                <a:solidFill>
                  <a:srgbClr val="FFFFFF"/>
                </a:solidFill>
                <a:latin typeface="Inter" pitchFamily="34" charset="0"/>
                <a:ea typeface="Inter" pitchFamily="34" charset="-122"/>
                <a:cs typeface="Inter" pitchFamily="34" charset="-120"/>
              </a:rPr>
              <a:t>Hipotecarios UVA</a:t>
            </a:r>
            <a:endParaRPr lang="en-US" sz="4000" dirty="0"/>
          </a:p>
        </p:txBody>
      </p:sp>
      <p:sp>
        <p:nvSpPr>
          <p:cNvPr id="5" name="Text 2"/>
          <p:cNvSpPr/>
          <p:nvPr/>
        </p:nvSpPr>
        <p:spPr>
          <a:xfrm>
            <a:off x="658368" y="3977640"/>
            <a:ext cx="6949440" cy="365760"/>
          </a:xfrm>
          <a:prstGeom prst="rect">
            <a:avLst/>
          </a:prstGeom>
          <a:noFill/>
          <a:ln/>
        </p:spPr>
        <p:txBody>
          <a:bodyPr wrap="square" lIns="0" tIns="0" rIns="0" bIns="0" rtlCol="0" anchor="ctr"/>
          <a:lstStyle/>
          <a:p>
            <a:pPr indent="0" marL="0">
              <a:buNone/>
            </a:pPr>
            <a:r>
              <a:rPr lang="en-US" sz="1250" dirty="0">
                <a:solidFill>
                  <a:srgbClr val="D9E4F0"/>
                </a:solidFill>
                <a:latin typeface="Inter" pitchFamily="34" charset="0"/>
                <a:ea typeface="Inter" pitchFamily="34" charset="-122"/>
                <a:cs typeface="Inter" pitchFamily="34" charset="-120"/>
              </a:rPr>
              <a:t>Cómo funciona y cómo hablar de esto con un cliente  ·  30 min  ·  Datos al 19/09/2026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El tema ya está en la mesa</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Levanten la mano: ¿a cuántos les preguntaron por crédito este mes?</a:t>
            </a:r>
            <a:endParaRPr lang="en-US" sz="1200" dirty="0"/>
          </a:p>
        </p:txBody>
      </p:sp>
      <p:sp>
        <p:nvSpPr>
          <p:cNvPr id="7" name="Shape 4"/>
          <p:cNvSpPr/>
          <p:nvPr/>
        </p:nvSpPr>
        <p:spPr>
          <a:xfrm>
            <a:off x="603504" y="1188720"/>
            <a:ext cx="2572512" cy="1609344"/>
          </a:xfrm>
          <a:prstGeom prst="roundRect">
            <a:avLst>
              <a:gd name="adj" fmla="val 5114"/>
            </a:avLst>
          </a:prstGeom>
          <a:solidFill>
            <a:srgbClr val="08407C"/>
          </a:solidFill>
          <a:ln w="12700">
            <a:solidFill>
              <a:srgbClr val="08407C"/>
            </a:solidFill>
            <a:prstDash val="solid"/>
          </a:ln>
        </p:spPr>
      </p:sp>
      <p:sp>
        <p:nvSpPr>
          <p:cNvPr id="8" name="Text 5"/>
          <p:cNvSpPr/>
          <p:nvPr/>
        </p:nvSpPr>
        <p:spPr>
          <a:xfrm>
            <a:off x="786384" y="1335024"/>
            <a:ext cx="2206752" cy="566928"/>
          </a:xfrm>
          <a:prstGeom prst="rect">
            <a:avLst/>
          </a:prstGeom>
          <a:noFill/>
          <a:ln/>
        </p:spPr>
        <p:txBody>
          <a:bodyPr wrap="square" lIns="0" tIns="0" rIns="0" bIns="0" rtlCol="0" anchor="ctr"/>
          <a:lstStyle/>
          <a:p>
            <a:pPr indent="0" marL="0">
              <a:buNone/>
            </a:pPr>
            <a:r>
              <a:rPr lang="en-US" sz="3000" b="1" dirty="0">
                <a:solidFill>
                  <a:srgbClr val="FFFFFF"/>
                </a:solidFill>
                <a:latin typeface="Inter" pitchFamily="34" charset="0"/>
                <a:ea typeface="Inter" pitchFamily="34" charset="-122"/>
                <a:cs typeface="Inter" pitchFamily="34" charset="-120"/>
              </a:rPr>
              <a:t>~950</a:t>
            </a:r>
            <a:endParaRPr lang="en-US" sz="3000" dirty="0"/>
          </a:p>
        </p:txBody>
      </p:sp>
      <p:sp>
        <p:nvSpPr>
          <p:cNvPr id="9" name="Text 6"/>
          <p:cNvSpPr/>
          <p:nvPr/>
        </p:nvSpPr>
        <p:spPr>
          <a:xfrm>
            <a:off x="786384" y="1901952"/>
            <a:ext cx="2206752" cy="219456"/>
          </a:xfrm>
          <a:prstGeom prst="rect">
            <a:avLst/>
          </a:prstGeom>
          <a:noFill/>
          <a:ln/>
        </p:spPr>
        <p:txBody>
          <a:bodyPr wrap="square" lIns="0" tIns="0" rIns="0" bIns="0" rtlCol="0" anchor="ctr"/>
          <a:lstStyle/>
          <a:p>
            <a:pPr indent="0" marL="0">
              <a:buNone/>
            </a:pPr>
            <a:r>
              <a:rPr lang="en-US" sz="850" b="1" spc="100" kern="0" dirty="0">
                <a:solidFill>
                  <a:srgbClr val="FFFFFF"/>
                </a:solidFill>
                <a:latin typeface="Inter" pitchFamily="34" charset="0"/>
                <a:ea typeface="Inter" pitchFamily="34" charset="-122"/>
                <a:cs typeface="Inter" pitchFamily="34" charset="-120"/>
              </a:rPr>
              <a:t>CON HIPOTECA · CABA · JUL 2026</a:t>
            </a:r>
            <a:endParaRPr lang="en-US" sz="850" dirty="0"/>
          </a:p>
        </p:txBody>
      </p:sp>
      <p:sp>
        <p:nvSpPr>
          <p:cNvPr id="10" name="Text 7"/>
          <p:cNvSpPr/>
          <p:nvPr/>
        </p:nvSpPr>
        <p:spPr>
          <a:xfrm>
            <a:off x="786384" y="2139696"/>
            <a:ext cx="2206752" cy="548640"/>
          </a:xfrm>
          <a:prstGeom prst="rect">
            <a:avLst/>
          </a:prstGeom>
          <a:noFill/>
          <a:ln/>
        </p:spPr>
        <p:txBody>
          <a:bodyPr wrap="square" lIns="0" tIns="0" rIns="0" bIns="0" rtlCol="0" anchor="t"/>
          <a:lstStyle/>
          <a:p>
            <a:pPr indent="0" marL="0">
              <a:lnSpc>
                <a:spcPts val="1150"/>
              </a:lnSpc>
              <a:buNone/>
            </a:pPr>
            <a:r>
              <a:rPr lang="en-US" sz="950" dirty="0">
                <a:solidFill>
                  <a:srgbClr val="CDD8E4"/>
                </a:solidFill>
                <a:latin typeface="Inter" pitchFamily="34" charset="0"/>
                <a:ea typeface="Inter" pitchFamily="34" charset="-122"/>
                <a:cs typeface="Inter" pitchFamily="34" charset="-120"/>
              </a:rPr>
              <a:t>Sobre ~6.051 escrituras totales. Una de cada seis operaciones pasa por un crédito.</a:t>
            </a:r>
            <a:endParaRPr lang="en-US" sz="950" dirty="0"/>
          </a:p>
        </p:txBody>
      </p:sp>
      <p:sp>
        <p:nvSpPr>
          <p:cNvPr id="11" name="Shape 8"/>
          <p:cNvSpPr/>
          <p:nvPr/>
        </p:nvSpPr>
        <p:spPr>
          <a:xfrm>
            <a:off x="3358896" y="1188720"/>
            <a:ext cx="2572512" cy="1609344"/>
          </a:xfrm>
          <a:prstGeom prst="roundRect">
            <a:avLst>
              <a:gd name="adj" fmla="val 5114"/>
            </a:avLst>
          </a:prstGeom>
          <a:solidFill>
            <a:srgbClr val="4E586E"/>
          </a:solidFill>
          <a:ln w="12700">
            <a:solidFill>
              <a:srgbClr val="4E586E"/>
            </a:solidFill>
            <a:prstDash val="solid"/>
          </a:ln>
        </p:spPr>
      </p:sp>
      <p:sp>
        <p:nvSpPr>
          <p:cNvPr id="12" name="Text 9"/>
          <p:cNvSpPr/>
          <p:nvPr/>
        </p:nvSpPr>
        <p:spPr>
          <a:xfrm>
            <a:off x="3541776" y="1335024"/>
            <a:ext cx="2206752" cy="566928"/>
          </a:xfrm>
          <a:prstGeom prst="rect">
            <a:avLst/>
          </a:prstGeom>
          <a:noFill/>
          <a:ln/>
        </p:spPr>
        <p:txBody>
          <a:bodyPr wrap="square" lIns="0" tIns="0" rIns="0" bIns="0" rtlCol="0" anchor="ctr"/>
          <a:lstStyle/>
          <a:p>
            <a:pPr indent="0" marL="0">
              <a:buNone/>
            </a:pPr>
            <a:r>
              <a:rPr lang="en-US" sz="3000" b="1" dirty="0">
                <a:solidFill>
                  <a:srgbClr val="FFFFFF"/>
                </a:solidFill>
                <a:latin typeface="Inter" pitchFamily="34" charset="0"/>
                <a:ea typeface="Inter" pitchFamily="34" charset="-122"/>
                <a:cs typeface="Inter" pitchFamily="34" charset="-120"/>
              </a:rPr>
              <a:t>2%</a:t>
            </a:r>
            <a:endParaRPr lang="en-US" sz="3000" dirty="0"/>
          </a:p>
        </p:txBody>
      </p:sp>
      <p:sp>
        <p:nvSpPr>
          <p:cNvPr id="13" name="Text 10"/>
          <p:cNvSpPr/>
          <p:nvPr/>
        </p:nvSpPr>
        <p:spPr>
          <a:xfrm>
            <a:off x="3541776" y="1901952"/>
            <a:ext cx="2206752" cy="219456"/>
          </a:xfrm>
          <a:prstGeom prst="rect">
            <a:avLst/>
          </a:prstGeom>
          <a:noFill/>
          <a:ln/>
        </p:spPr>
        <p:txBody>
          <a:bodyPr wrap="square" lIns="0" tIns="0" rIns="0" bIns="0" rtlCol="0" anchor="ctr"/>
          <a:lstStyle/>
          <a:p>
            <a:pPr indent="0" marL="0">
              <a:buNone/>
            </a:pPr>
            <a:r>
              <a:rPr lang="en-US" sz="850" b="1" spc="100" kern="0" dirty="0">
                <a:solidFill>
                  <a:srgbClr val="FFFFFF"/>
                </a:solidFill>
                <a:latin typeface="Inter" pitchFamily="34" charset="0"/>
                <a:ea typeface="Inter" pitchFamily="34" charset="-122"/>
                <a:cs typeface="Inter" pitchFamily="34" charset="-120"/>
              </a:rPr>
              <a:t>STOCK HIPOTECARIO / PBI</a:t>
            </a:r>
            <a:endParaRPr lang="en-US" sz="850" dirty="0"/>
          </a:p>
        </p:txBody>
      </p:sp>
      <p:sp>
        <p:nvSpPr>
          <p:cNvPr id="14" name="Text 11"/>
          <p:cNvSpPr/>
          <p:nvPr/>
        </p:nvSpPr>
        <p:spPr>
          <a:xfrm>
            <a:off x="3541776" y="2139696"/>
            <a:ext cx="2206752" cy="548640"/>
          </a:xfrm>
          <a:prstGeom prst="rect">
            <a:avLst/>
          </a:prstGeom>
          <a:noFill/>
          <a:ln/>
        </p:spPr>
        <p:txBody>
          <a:bodyPr wrap="square" lIns="0" tIns="0" rIns="0" bIns="0" rtlCol="0" anchor="t"/>
          <a:lstStyle/>
          <a:p>
            <a:pPr indent="0" marL="0">
              <a:lnSpc>
                <a:spcPts val="1150"/>
              </a:lnSpc>
              <a:buNone/>
            </a:pPr>
            <a:r>
              <a:rPr lang="en-US" sz="950" dirty="0">
                <a:solidFill>
                  <a:srgbClr val="CDD8E4"/>
                </a:solidFill>
                <a:latin typeface="Inter" pitchFamily="34" charset="0"/>
                <a:ea typeface="Inter" pitchFamily="34" charset="-122"/>
                <a:cs typeface="Inter" pitchFamily="34" charset="-120"/>
              </a:rPr>
              <a:t>Chile ronda el 27% y Estados Unidos llegó al 75%. El margen de crecimiento es enorme.</a:t>
            </a:r>
            <a:endParaRPr lang="en-US" sz="950" dirty="0"/>
          </a:p>
        </p:txBody>
      </p:sp>
      <p:sp>
        <p:nvSpPr>
          <p:cNvPr id="15" name="Shape 12"/>
          <p:cNvSpPr/>
          <p:nvPr/>
        </p:nvSpPr>
        <p:spPr>
          <a:xfrm>
            <a:off x="6114288" y="1188720"/>
            <a:ext cx="2572512" cy="1609344"/>
          </a:xfrm>
          <a:prstGeom prst="roundRect">
            <a:avLst>
              <a:gd name="adj" fmla="val 5114"/>
            </a:avLst>
          </a:prstGeom>
          <a:solidFill>
            <a:srgbClr val="7C8594"/>
          </a:solidFill>
          <a:ln w="12700">
            <a:solidFill>
              <a:srgbClr val="7C8594"/>
            </a:solidFill>
            <a:prstDash val="solid"/>
          </a:ln>
        </p:spPr>
      </p:sp>
      <p:sp>
        <p:nvSpPr>
          <p:cNvPr id="16" name="Text 13"/>
          <p:cNvSpPr/>
          <p:nvPr/>
        </p:nvSpPr>
        <p:spPr>
          <a:xfrm>
            <a:off x="6297168" y="1335024"/>
            <a:ext cx="2206752" cy="566928"/>
          </a:xfrm>
          <a:prstGeom prst="rect">
            <a:avLst/>
          </a:prstGeom>
          <a:noFill/>
          <a:ln/>
        </p:spPr>
        <p:txBody>
          <a:bodyPr wrap="square" lIns="0" tIns="0" rIns="0" bIns="0" rtlCol="0" anchor="ctr"/>
          <a:lstStyle/>
          <a:p>
            <a:pPr indent="0" marL="0">
              <a:buNone/>
            </a:pPr>
            <a:r>
              <a:rPr lang="en-US" sz="3000" b="1" dirty="0">
                <a:solidFill>
                  <a:srgbClr val="FFFFFF"/>
                </a:solidFill>
                <a:latin typeface="Inter" pitchFamily="34" charset="0"/>
                <a:ea typeface="Inter" pitchFamily="34" charset="-122"/>
                <a:cs typeface="Inter" pitchFamily="34" charset="-120"/>
              </a:rPr>
              <a:t>$2 bill.</a:t>
            </a:r>
            <a:endParaRPr lang="en-US" sz="3000" dirty="0"/>
          </a:p>
        </p:txBody>
      </p:sp>
      <p:sp>
        <p:nvSpPr>
          <p:cNvPr id="17" name="Text 14"/>
          <p:cNvSpPr/>
          <p:nvPr/>
        </p:nvSpPr>
        <p:spPr>
          <a:xfrm>
            <a:off x="6297168" y="1901952"/>
            <a:ext cx="2206752" cy="219456"/>
          </a:xfrm>
          <a:prstGeom prst="rect">
            <a:avLst/>
          </a:prstGeom>
          <a:noFill/>
          <a:ln/>
        </p:spPr>
        <p:txBody>
          <a:bodyPr wrap="square" lIns="0" tIns="0" rIns="0" bIns="0" rtlCol="0" anchor="ctr"/>
          <a:lstStyle/>
          <a:p>
            <a:pPr indent="0" marL="0">
              <a:buNone/>
            </a:pPr>
            <a:r>
              <a:rPr lang="en-US" sz="850" b="1" spc="100" kern="0" dirty="0">
                <a:solidFill>
                  <a:srgbClr val="FFFFFF"/>
                </a:solidFill>
                <a:latin typeface="Inter" pitchFamily="34" charset="0"/>
                <a:ea typeface="Inter" pitchFamily="34" charset="-122"/>
                <a:cs typeface="Inter" pitchFamily="34" charset="-120"/>
              </a:rPr>
              <a:t>PROGRAMA OFICIAL 2026</a:t>
            </a:r>
            <a:endParaRPr lang="en-US" sz="850" dirty="0"/>
          </a:p>
        </p:txBody>
      </p:sp>
      <p:sp>
        <p:nvSpPr>
          <p:cNvPr id="18" name="Text 15"/>
          <p:cNvSpPr/>
          <p:nvPr/>
        </p:nvSpPr>
        <p:spPr>
          <a:xfrm>
            <a:off x="6297168" y="2139696"/>
            <a:ext cx="2206752" cy="548640"/>
          </a:xfrm>
          <a:prstGeom prst="rect">
            <a:avLst/>
          </a:prstGeom>
          <a:noFill/>
          <a:ln/>
        </p:spPr>
        <p:txBody>
          <a:bodyPr wrap="square" lIns="0" tIns="0" rIns="0" bIns="0" rtlCol="0" anchor="t"/>
          <a:lstStyle/>
          <a:p>
            <a:pPr indent="0" marL="0">
              <a:lnSpc>
                <a:spcPts val="1150"/>
              </a:lnSpc>
              <a:buNone/>
            </a:pPr>
            <a:r>
              <a:rPr lang="en-US" sz="950" dirty="0">
                <a:solidFill>
                  <a:srgbClr val="E4E6E9"/>
                </a:solidFill>
                <a:latin typeface="Inter" pitchFamily="34" charset="0"/>
                <a:ea typeface="Inter" pitchFamily="34" charset="-122"/>
                <a:cs typeface="Inter" pitchFamily="34" charset="-120"/>
              </a:rPr>
              <a:t>Estimación oficial: entre 17.000 y 18.000 familias. Lo vemos en detalle más adelante.</a:t>
            </a:r>
            <a:endParaRPr lang="en-US" sz="950" dirty="0"/>
          </a:p>
        </p:txBody>
      </p:sp>
      <p:sp>
        <p:nvSpPr>
          <p:cNvPr id="19" name="Shape 16"/>
          <p:cNvSpPr/>
          <p:nvPr/>
        </p:nvSpPr>
        <p:spPr>
          <a:xfrm>
            <a:off x="603504" y="2871216"/>
            <a:ext cx="8083296" cy="1097280"/>
          </a:xfrm>
          <a:prstGeom prst="roundRect">
            <a:avLst>
              <a:gd name="adj" fmla="val 7500"/>
            </a:avLst>
          </a:prstGeom>
          <a:solidFill>
            <a:srgbClr val="F3F3F3"/>
          </a:solidFill>
          <a:ln w="12700">
            <a:solidFill>
              <a:srgbClr val="F3F3F3"/>
            </a:solidFill>
            <a:prstDash val="solid"/>
          </a:ln>
        </p:spPr>
      </p:sp>
      <p:sp>
        <p:nvSpPr>
          <p:cNvPr id="20" name="Text 17"/>
          <p:cNvSpPr/>
          <p:nvPr/>
        </p:nvSpPr>
        <p:spPr>
          <a:xfrm>
            <a:off x="804672" y="3035808"/>
            <a:ext cx="7680960" cy="182880"/>
          </a:xfrm>
          <a:prstGeom prst="rect">
            <a:avLst/>
          </a:prstGeom>
          <a:noFill/>
          <a:ln/>
        </p:spPr>
        <p:txBody>
          <a:bodyPr wrap="square" lIns="0" tIns="0" rIns="0" bIns="0" rtlCol="0" anchor="ctr"/>
          <a:lstStyle/>
          <a:p>
            <a:pPr indent="0" marL="0">
              <a:buNone/>
            </a:pPr>
            <a:r>
              <a:rPr lang="en-US" sz="850" b="1" spc="110" kern="0" dirty="0">
                <a:solidFill>
                  <a:srgbClr val="6A7686"/>
                </a:solidFill>
                <a:latin typeface="Inter" pitchFamily="34" charset="0"/>
                <a:ea typeface="Inter" pitchFamily="34" charset="-122"/>
                <a:cs typeface="Inter" pitchFamily="34" charset="-120"/>
              </a:rPr>
              <a:t>EL PUNTO DE LA DIAPOSITIVA</a:t>
            </a:r>
            <a:endParaRPr lang="en-US" sz="850" dirty="0"/>
          </a:p>
        </p:txBody>
      </p:sp>
      <p:sp>
        <p:nvSpPr>
          <p:cNvPr id="21" name="Text 18"/>
          <p:cNvSpPr/>
          <p:nvPr/>
        </p:nvSpPr>
        <p:spPr>
          <a:xfrm>
            <a:off x="804672" y="3255264"/>
            <a:ext cx="7680960" cy="274320"/>
          </a:xfrm>
          <a:prstGeom prst="rect">
            <a:avLst/>
          </a:prstGeom>
          <a:noFill/>
          <a:ln/>
        </p:spPr>
        <p:txBody>
          <a:bodyPr wrap="square" lIns="0" tIns="0" rIns="0" bIns="0" rtlCol="0" anchor="ctr"/>
          <a:lstStyle/>
          <a:p>
            <a:pPr indent="0" marL="0">
              <a:lnSpc>
                <a:spcPts val="1495"/>
              </a:lnSpc>
              <a:buNone/>
            </a:pPr>
            <a:r>
              <a:rPr lang="en-US" sz="1300" b="1" dirty="0">
                <a:solidFill>
                  <a:srgbClr val="08407C"/>
                </a:solidFill>
                <a:latin typeface="Inter" pitchFamily="34" charset="0"/>
                <a:ea typeface="Inter" pitchFamily="34" charset="-122"/>
                <a:cs typeface="Inter" pitchFamily="34" charset="-120"/>
              </a:rPr>
              <a:t>La demanda sobra. Lo que falta es oferta de crédito — y gente que sepa explicarlo.</a:t>
            </a:r>
            <a:endParaRPr lang="en-US" sz="1300" dirty="0"/>
          </a:p>
        </p:txBody>
      </p:sp>
      <p:sp>
        <p:nvSpPr>
          <p:cNvPr id="22" name="Text 19"/>
          <p:cNvSpPr/>
          <p:nvPr/>
        </p:nvSpPr>
        <p:spPr>
          <a:xfrm>
            <a:off x="804672" y="3584448"/>
            <a:ext cx="7680960" cy="237744"/>
          </a:xfrm>
          <a:prstGeom prst="rect">
            <a:avLst/>
          </a:prstGeom>
          <a:noFill/>
          <a:ln/>
        </p:spPr>
        <p:txBody>
          <a:bodyPr wrap="square" lIns="0" tIns="0" rIns="0" bIns="0" rtlCol="0" anchor="t"/>
          <a:lstStyle/>
          <a:p>
            <a:pPr indent="0" marL="0">
              <a:lnSpc>
                <a:spcPts val="1344"/>
              </a:lnSpc>
              <a:buNone/>
            </a:pPr>
            <a:r>
              <a:rPr lang="en-US" sz="1050" dirty="0">
                <a:solidFill>
                  <a:srgbClr val="2E4258"/>
                </a:solidFill>
                <a:latin typeface="Inter" pitchFamily="34" charset="0"/>
                <a:ea typeface="Inter" pitchFamily="34" charset="-122"/>
                <a:cs typeface="Inter" pitchFamily="34" charset="-120"/>
              </a:rPr>
              <a:t>Cada línea nueva genera miles de consultas y termina en cientos de créditos. El cuello de botella no es el interés del comprador: es cuántas carpetas procesa el sistema y cuántos llegan bien preparados.</a:t>
            </a:r>
            <a:endParaRPr lang="en-US" sz="1050" dirty="0"/>
          </a:p>
        </p:txBody>
      </p:sp>
      <p:sp>
        <p:nvSpPr>
          <p:cNvPr id="23" name="Shape 20"/>
          <p:cNvSpPr/>
          <p:nvPr/>
        </p:nvSpPr>
        <p:spPr>
          <a:xfrm>
            <a:off x="603504" y="4041648"/>
            <a:ext cx="8083296" cy="658368"/>
          </a:xfrm>
          <a:prstGeom prst="roundRect">
            <a:avLst>
              <a:gd name="adj" fmla="val 12500"/>
            </a:avLst>
          </a:prstGeom>
          <a:solidFill>
            <a:srgbClr val="08407C"/>
          </a:solidFill>
          <a:ln w="12700">
            <a:solidFill>
              <a:srgbClr val="08407C"/>
            </a:solidFill>
            <a:prstDash val="solid"/>
          </a:ln>
        </p:spPr>
      </p:sp>
      <p:sp>
        <p:nvSpPr>
          <p:cNvPr id="24" name="Text 21"/>
          <p:cNvSpPr/>
          <p:nvPr/>
        </p:nvSpPr>
        <p:spPr>
          <a:xfrm>
            <a:off x="841248" y="408736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SI NO SABÉS CONTESTAR, LA CONVERSACIÓN SE MUERE AHÍ</a:t>
            </a:r>
            <a:endParaRPr lang="en-US" sz="900" dirty="0"/>
          </a:p>
        </p:txBody>
      </p:sp>
      <p:sp>
        <p:nvSpPr>
          <p:cNvPr id="25" name="Text 22"/>
          <p:cNvSpPr/>
          <p:nvPr/>
        </p:nvSpPr>
        <p:spPr>
          <a:xfrm>
            <a:off x="841248" y="428853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No hace falta ser experto en finanzas. Alcanza con entender el producto lo suficiente como para sostener la charla y derivar bien.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Qué es un crédito hipotecario</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Seis actores, un solo circuito. Nadie pierde la propiedad por tomar un crédito.</a:t>
            </a:r>
            <a:endParaRPr lang="en-US" sz="1200" dirty="0"/>
          </a:p>
        </p:txBody>
      </p:sp>
      <p:sp>
        <p:nvSpPr>
          <p:cNvPr id="7" name="Shape 4"/>
          <p:cNvSpPr/>
          <p:nvPr/>
        </p:nvSpPr>
        <p:spPr>
          <a:xfrm>
            <a:off x="603504" y="1188720"/>
            <a:ext cx="2584704" cy="1170432"/>
          </a:xfrm>
          <a:prstGeom prst="roundRect">
            <a:avLst>
              <a:gd name="adj" fmla="val 7031"/>
            </a:avLst>
          </a:prstGeom>
          <a:solidFill>
            <a:srgbClr val="08407C"/>
          </a:solidFill>
          <a:ln w="12700">
            <a:solidFill>
              <a:srgbClr val="08407C"/>
            </a:solidFill>
            <a:prstDash val="solid"/>
          </a:ln>
        </p:spPr>
      </p:sp>
      <p:sp>
        <p:nvSpPr>
          <p:cNvPr id="8" name="Text 5"/>
          <p:cNvSpPr/>
          <p:nvPr/>
        </p:nvSpPr>
        <p:spPr>
          <a:xfrm>
            <a:off x="804672" y="1353312"/>
            <a:ext cx="2182368" cy="182880"/>
          </a:xfrm>
          <a:prstGeom prst="rect">
            <a:avLst/>
          </a:prstGeom>
          <a:noFill/>
          <a:ln/>
        </p:spPr>
        <p:txBody>
          <a:bodyPr wrap="square" lIns="0" tIns="0" rIns="0" bIns="0" rtlCol="0" anchor="ctr"/>
          <a:lstStyle/>
          <a:p>
            <a:pPr indent="0" marL="0">
              <a:buNone/>
            </a:pPr>
            <a:r>
              <a:rPr lang="en-US" sz="850" b="1" spc="110" kern="0" dirty="0">
                <a:solidFill>
                  <a:srgbClr val="CDD8E4"/>
                </a:solidFill>
                <a:latin typeface="Inter" pitchFamily="34" charset="0"/>
                <a:ea typeface="Inter" pitchFamily="34" charset="-122"/>
                <a:cs typeface="Inter" pitchFamily="34" charset="-120"/>
              </a:rPr>
              <a:t>COMPRADOR</a:t>
            </a:r>
            <a:endParaRPr lang="en-US" sz="850" dirty="0"/>
          </a:p>
        </p:txBody>
      </p:sp>
      <p:sp>
        <p:nvSpPr>
          <p:cNvPr id="9" name="Text 6"/>
          <p:cNvSpPr/>
          <p:nvPr/>
        </p:nvSpPr>
        <p:spPr>
          <a:xfrm>
            <a:off x="804672" y="1572768"/>
            <a:ext cx="2182368" cy="640080"/>
          </a:xfrm>
          <a:prstGeom prst="rect">
            <a:avLst/>
          </a:prstGeom>
          <a:noFill/>
          <a:ln/>
        </p:spPr>
        <p:txBody>
          <a:bodyPr wrap="square" lIns="0" tIns="0" rIns="0" bIns="0" rtlCol="0" anchor="t"/>
          <a:lstStyle/>
          <a:p>
            <a:pPr indent="0" marL="0">
              <a:lnSpc>
                <a:spcPts val="1280"/>
              </a:lnSpc>
              <a:buNone/>
            </a:pPr>
            <a:r>
              <a:rPr lang="en-US" sz="1000" dirty="0">
                <a:solidFill>
                  <a:srgbClr val="CDD8E4"/>
                </a:solidFill>
                <a:latin typeface="Inter" pitchFamily="34" charset="0"/>
                <a:ea typeface="Inter" pitchFamily="34" charset="-122"/>
                <a:cs typeface="Inter" pitchFamily="34" charset="-120"/>
              </a:rPr>
              <a:t>Pone el anticipo, toma la deuda y firma la escritura a su nombre.</a:t>
            </a:r>
            <a:endParaRPr lang="en-US" sz="1000" dirty="0"/>
          </a:p>
        </p:txBody>
      </p:sp>
      <p:sp>
        <p:nvSpPr>
          <p:cNvPr id="10" name="Shape 7"/>
          <p:cNvSpPr/>
          <p:nvPr/>
        </p:nvSpPr>
        <p:spPr>
          <a:xfrm>
            <a:off x="3352800" y="1188720"/>
            <a:ext cx="2584704" cy="1170432"/>
          </a:xfrm>
          <a:prstGeom prst="roundRect">
            <a:avLst>
              <a:gd name="adj" fmla="val 7031"/>
            </a:avLst>
          </a:prstGeom>
          <a:solidFill>
            <a:srgbClr val="4E586E"/>
          </a:solidFill>
          <a:ln w="12700">
            <a:solidFill>
              <a:srgbClr val="4E586E"/>
            </a:solidFill>
            <a:prstDash val="solid"/>
          </a:ln>
        </p:spPr>
      </p:sp>
      <p:sp>
        <p:nvSpPr>
          <p:cNvPr id="11" name="Text 8"/>
          <p:cNvSpPr/>
          <p:nvPr/>
        </p:nvSpPr>
        <p:spPr>
          <a:xfrm>
            <a:off x="3553968" y="1353312"/>
            <a:ext cx="2182368" cy="182880"/>
          </a:xfrm>
          <a:prstGeom prst="rect">
            <a:avLst/>
          </a:prstGeom>
          <a:noFill/>
          <a:ln/>
        </p:spPr>
        <p:txBody>
          <a:bodyPr wrap="square" lIns="0" tIns="0" rIns="0" bIns="0" rtlCol="0" anchor="ctr"/>
          <a:lstStyle/>
          <a:p>
            <a:pPr indent="0" marL="0">
              <a:buNone/>
            </a:pPr>
            <a:r>
              <a:rPr lang="en-US" sz="850" b="1" spc="110" kern="0" dirty="0">
                <a:solidFill>
                  <a:srgbClr val="CDD8E4"/>
                </a:solidFill>
                <a:latin typeface="Inter" pitchFamily="34" charset="0"/>
                <a:ea typeface="Inter" pitchFamily="34" charset="-122"/>
                <a:cs typeface="Inter" pitchFamily="34" charset="-120"/>
              </a:rPr>
              <a:t>BANCO</a:t>
            </a:r>
            <a:endParaRPr lang="en-US" sz="850" dirty="0"/>
          </a:p>
        </p:txBody>
      </p:sp>
      <p:sp>
        <p:nvSpPr>
          <p:cNvPr id="12" name="Text 9"/>
          <p:cNvSpPr/>
          <p:nvPr/>
        </p:nvSpPr>
        <p:spPr>
          <a:xfrm>
            <a:off x="3553968" y="1572768"/>
            <a:ext cx="2182368" cy="640080"/>
          </a:xfrm>
          <a:prstGeom prst="rect">
            <a:avLst/>
          </a:prstGeom>
          <a:noFill/>
          <a:ln/>
        </p:spPr>
        <p:txBody>
          <a:bodyPr wrap="square" lIns="0" tIns="0" rIns="0" bIns="0" rtlCol="0" anchor="t"/>
          <a:lstStyle/>
          <a:p>
            <a:pPr indent="0" marL="0">
              <a:lnSpc>
                <a:spcPts val="1280"/>
              </a:lnSpc>
              <a:buNone/>
            </a:pPr>
            <a:r>
              <a:rPr lang="en-US" sz="1000" dirty="0">
                <a:solidFill>
                  <a:srgbClr val="CDD8E4"/>
                </a:solidFill>
                <a:latin typeface="Inter" pitchFamily="34" charset="0"/>
                <a:ea typeface="Inter" pitchFamily="34" charset="-122"/>
                <a:cs typeface="Inter" pitchFamily="34" charset="-120"/>
              </a:rPr>
              <a:t>Presta el dinero e inscribe una hipoteca como garantía. No es dueño.</a:t>
            </a:r>
            <a:endParaRPr lang="en-US" sz="1000" dirty="0"/>
          </a:p>
        </p:txBody>
      </p:sp>
      <p:sp>
        <p:nvSpPr>
          <p:cNvPr id="13" name="Shape 10"/>
          <p:cNvSpPr/>
          <p:nvPr/>
        </p:nvSpPr>
        <p:spPr>
          <a:xfrm>
            <a:off x="6102096" y="1188720"/>
            <a:ext cx="2584704" cy="1170432"/>
          </a:xfrm>
          <a:prstGeom prst="roundRect">
            <a:avLst>
              <a:gd name="adj" fmla="val 7031"/>
            </a:avLst>
          </a:prstGeom>
          <a:solidFill>
            <a:srgbClr val="7C8594"/>
          </a:solidFill>
          <a:ln w="12700">
            <a:solidFill>
              <a:srgbClr val="7C8594"/>
            </a:solidFill>
            <a:prstDash val="solid"/>
          </a:ln>
        </p:spPr>
      </p:sp>
      <p:sp>
        <p:nvSpPr>
          <p:cNvPr id="14" name="Text 11"/>
          <p:cNvSpPr/>
          <p:nvPr/>
        </p:nvSpPr>
        <p:spPr>
          <a:xfrm>
            <a:off x="6303264" y="1353312"/>
            <a:ext cx="2182368" cy="182880"/>
          </a:xfrm>
          <a:prstGeom prst="rect">
            <a:avLst/>
          </a:prstGeom>
          <a:noFill/>
          <a:ln/>
        </p:spPr>
        <p:txBody>
          <a:bodyPr wrap="square" lIns="0" tIns="0" rIns="0" bIns="0" rtlCol="0" anchor="ctr"/>
          <a:lstStyle/>
          <a:p>
            <a:pPr indent="0" marL="0">
              <a:buNone/>
            </a:pPr>
            <a:r>
              <a:rPr lang="en-US" sz="850" b="1" spc="110" kern="0" dirty="0">
                <a:solidFill>
                  <a:srgbClr val="E4E6E9"/>
                </a:solidFill>
                <a:latin typeface="Inter" pitchFamily="34" charset="0"/>
                <a:ea typeface="Inter" pitchFamily="34" charset="-122"/>
                <a:cs typeface="Inter" pitchFamily="34" charset="-120"/>
              </a:rPr>
              <a:t>VENDEDOR</a:t>
            </a:r>
            <a:endParaRPr lang="en-US" sz="850" dirty="0"/>
          </a:p>
        </p:txBody>
      </p:sp>
      <p:sp>
        <p:nvSpPr>
          <p:cNvPr id="15" name="Text 12"/>
          <p:cNvSpPr/>
          <p:nvPr/>
        </p:nvSpPr>
        <p:spPr>
          <a:xfrm>
            <a:off x="6303264" y="1572768"/>
            <a:ext cx="2182368" cy="640080"/>
          </a:xfrm>
          <a:prstGeom prst="rect">
            <a:avLst/>
          </a:prstGeom>
          <a:noFill/>
          <a:ln/>
        </p:spPr>
        <p:txBody>
          <a:bodyPr wrap="square" lIns="0" tIns="0" rIns="0" bIns="0" rtlCol="0" anchor="t"/>
          <a:lstStyle/>
          <a:p>
            <a:pPr indent="0" marL="0">
              <a:lnSpc>
                <a:spcPts val="1280"/>
              </a:lnSpc>
              <a:buNone/>
            </a:pPr>
            <a:r>
              <a:rPr lang="en-US" sz="1000" dirty="0">
                <a:solidFill>
                  <a:srgbClr val="E4E6E9"/>
                </a:solidFill>
                <a:latin typeface="Inter" pitchFamily="34" charset="0"/>
                <a:ea typeface="Inter" pitchFamily="34" charset="-122"/>
                <a:cs typeface="Inter" pitchFamily="34" charset="-120"/>
              </a:rPr>
              <a:t>Cobra el 100% en el acto de escritura, como en cualquier operación.</a:t>
            </a:r>
            <a:endParaRPr lang="en-US" sz="1000" dirty="0"/>
          </a:p>
        </p:txBody>
      </p:sp>
      <p:sp>
        <p:nvSpPr>
          <p:cNvPr id="16" name="Shape 13"/>
          <p:cNvSpPr/>
          <p:nvPr/>
        </p:nvSpPr>
        <p:spPr>
          <a:xfrm>
            <a:off x="603504" y="2505456"/>
            <a:ext cx="2584704" cy="1170432"/>
          </a:xfrm>
          <a:prstGeom prst="roundRect">
            <a:avLst>
              <a:gd name="adj" fmla="val 7031"/>
            </a:avLst>
          </a:prstGeom>
          <a:solidFill>
            <a:srgbClr val="F3F3F3"/>
          </a:solidFill>
          <a:ln w="12700">
            <a:solidFill>
              <a:srgbClr val="F3F3F3"/>
            </a:solidFill>
            <a:prstDash val="solid"/>
          </a:ln>
        </p:spPr>
      </p:sp>
      <p:sp>
        <p:nvSpPr>
          <p:cNvPr id="17" name="Text 14"/>
          <p:cNvSpPr/>
          <p:nvPr/>
        </p:nvSpPr>
        <p:spPr>
          <a:xfrm>
            <a:off x="804672" y="2670048"/>
            <a:ext cx="2182368" cy="182880"/>
          </a:xfrm>
          <a:prstGeom prst="rect">
            <a:avLst/>
          </a:prstGeom>
          <a:noFill/>
          <a:ln/>
        </p:spPr>
        <p:txBody>
          <a:bodyPr wrap="square" lIns="0" tIns="0" rIns="0" bIns="0" rtlCol="0" anchor="ctr"/>
          <a:lstStyle/>
          <a:p>
            <a:pPr indent="0" marL="0">
              <a:buNone/>
            </a:pPr>
            <a:r>
              <a:rPr lang="en-US" sz="850" b="1" spc="110" kern="0" dirty="0">
                <a:solidFill>
                  <a:srgbClr val="6A7686"/>
                </a:solidFill>
                <a:latin typeface="Inter" pitchFamily="34" charset="0"/>
                <a:ea typeface="Inter" pitchFamily="34" charset="-122"/>
                <a:cs typeface="Inter" pitchFamily="34" charset="-120"/>
              </a:rPr>
              <a:t>TASADOR</a:t>
            </a:r>
            <a:endParaRPr lang="en-US" sz="850" dirty="0"/>
          </a:p>
        </p:txBody>
      </p:sp>
      <p:sp>
        <p:nvSpPr>
          <p:cNvPr id="18" name="Text 15"/>
          <p:cNvSpPr/>
          <p:nvPr/>
        </p:nvSpPr>
        <p:spPr>
          <a:xfrm>
            <a:off x="804672" y="2889504"/>
            <a:ext cx="2182368" cy="640080"/>
          </a:xfrm>
          <a:prstGeom prst="rect">
            <a:avLst/>
          </a:prstGeom>
          <a:noFill/>
          <a:ln/>
        </p:spPr>
        <p:txBody>
          <a:bodyPr wrap="square" lIns="0" tIns="0" rIns="0" bIns="0" rtlCol="0" anchor="t"/>
          <a:lstStyle/>
          <a:p>
            <a:pPr indent="0" marL="0">
              <a:lnSpc>
                <a:spcPts val="1280"/>
              </a:lnSpc>
              <a:buNone/>
            </a:pPr>
            <a:r>
              <a:rPr lang="en-US" sz="1000" dirty="0">
                <a:solidFill>
                  <a:srgbClr val="2E4258"/>
                </a:solidFill>
                <a:latin typeface="Inter" pitchFamily="34" charset="0"/>
                <a:ea typeface="Inter" pitchFamily="34" charset="-122"/>
                <a:cs typeface="Inter" pitchFamily="34" charset="-120"/>
              </a:rPr>
              <a:t>Define el valor que el banco toma como referencia. Puede no coincidir con el precio.</a:t>
            </a:r>
            <a:endParaRPr lang="en-US" sz="1000" dirty="0"/>
          </a:p>
        </p:txBody>
      </p:sp>
      <p:sp>
        <p:nvSpPr>
          <p:cNvPr id="19" name="Shape 16"/>
          <p:cNvSpPr/>
          <p:nvPr/>
        </p:nvSpPr>
        <p:spPr>
          <a:xfrm>
            <a:off x="3352800" y="2505456"/>
            <a:ext cx="2584704" cy="1170432"/>
          </a:xfrm>
          <a:prstGeom prst="roundRect">
            <a:avLst>
              <a:gd name="adj" fmla="val 7031"/>
            </a:avLst>
          </a:prstGeom>
          <a:solidFill>
            <a:srgbClr val="F3F3F3"/>
          </a:solidFill>
          <a:ln w="12700">
            <a:solidFill>
              <a:srgbClr val="F3F3F3"/>
            </a:solidFill>
            <a:prstDash val="solid"/>
          </a:ln>
        </p:spPr>
      </p:sp>
      <p:sp>
        <p:nvSpPr>
          <p:cNvPr id="20" name="Text 17"/>
          <p:cNvSpPr/>
          <p:nvPr/>
        </p:nvSpPr>
        <p:spPr>
          <a:xfrm>
            <a:off x="3553968" y="2670048"/>
            <a:ext cx="2182368" cy="182880"/>
          </a:xfrm>
          <a:prstGeom prst="rect">
            <a:avLst/>
          </a:prstGeom>
          <a:noFill/>
          <a:ln/>
        </p:spPr>
        <p:txBody>
          <a:bodyPr wrap="square" lIns="0" tIns="0" rIns="0" bIns="0" rtlCol="0" anchor="ctr"/>
          <a:lstStyle/>
          <a:p>
            <a:pPr indent="0" marL="0">
              <a:buNone/>
            </a:pPr>
            <a:r>
              <a:rPr lang="en-US" sz="850" b="1" spc="110" kern="0" dirty="0">
                <a:solidFill>
                  <a:srgbClr val="6A7686"/>
                </a:solidFill>
                <a:latin typeface="Inter" pitchFamily="34" charset="0"/>
                <a:ea typeface="Inter" pitchFamily="34" charset="-122"/>
                <a:cs typeface="Inter" pitchFamily="34" charset="-120"/>
              </a:rPr>
              <a:t>ESCRIBANO</a:t>
            </a:r>
            <a:endParaRPr lang="en-US" sz="850" dirty="0"/>
          </a:p>
        </p:txBody>
      </p:sp>
      <p:sp>
        <p:nvSpPr>
          <p:cNvPr id="21" name="Text 18"/>
          <p:cNvSpPr/>
          <p:nvPr/>
        </p:nvSpPr>
        <p:spPr>
          <a:xfrm>
            <a:off x="3553968" y="2889504"/>
            <a:ext cx="2182368" cy="640080"/>
          </a:xfrm>
          <a:prstGeom prst="rect">
            <a:avLst/>
          </a:prstGeom>
          <a:noFill/>
          <a:ln/>
        </p:spPr>
        <p:txBody>
          <a:bodyPr wrap="square" lIns="0" tIns="0" rIns="0" bIns="0" rtlCol="0" anchor="t"/>
          <a:lstStyle/>
          <a:p>
            <a:pPr indent="0" marL="0">
              <a:lnSpc>
                <a:spcPts val="1280"/>
              </a:lnSpc>
              <a:buNone/>
            </a:pPr>
            <a:r>
              <a:rPr lang="en-US" sz="1000" dirty="0">
                <a:solidFill>
                  <a:srgbClr val="2E4258"/>
                </a:solidFill>
                <a:latin typeface="Inter" pitchFamily="34" charset="0"/>
                <a:ea typeface="Inter" pitchFamily="34" charset="-122"/>
                <a:cs typeface="Inter" pitchFamily="34" charset="-120"/>
              </a:rPr>
              <a:t>Suele designarlo el banco. Escritura y constitución de hipoteca en el mismo acto.</a:t>
            </a:r>
            <a:endParaRPr lang="en-US" sz="1000" dirty="0"/>
          </a:p>
        </p:txBody>
      </p:sp>
      <p:sp>
        <p:nvSpPr>
          <p:cNvPr id="22" name="Shape 19"/>
          <p:cNvSpPr/>
          <p:nvPr/>
        </p:nvSpPr>
        <p:spPr>
          <a:xfrm>
            <a:off x="6102096" y="2505456"/>
            <a:ext cx="2584704" cy="1170432"/>
          </a:xfrm>
          <a:prstGeom prst="roundRect">
            <a:avLst>
              <a:gd name="adj" fmla="val 7031"/>
            </a:avLst>
          </a:prstGeom>
          <a:solidFill>
            <a:srgbClr val="F3F3F3"/>
          </a:solidFill>
          <a:ln w="12700">
            <a:solidFill>
              <a:srgbClr val="F3F3F3"/>
            </a:solidFill>
            <a:prstDash val="solid"/>
          </a:ln>
        </p:spPr>
      </p:sp>
      <p:sp>
        <p:nvSpPr>
          <p:cNvPr id="23" name="Text 20"/>
          <p:cNvSpPr/>
          <p:nvPr/>
        </p:nvSpPr>
        <p:spPr>
          <a:xfrm>
            <a:off x="6303264" y="2670048"/>
            <a:ext cx="2182368" cy="182880"/>
          </a:xfrm>
          <a:prstGeom prst="rect">
            <a:avLst/>
          </a:prstGeom>
          <a:noFill/>
          <a:ln/>
        </p:spPr>
        <p:txBody>
          <a:bodyPr wrap="square" lIns="0" tIns="0" rIns="0" bIns="0" rtlCol="0" anchor="ctr"/>
          <a:lstStyle/>
          <a:p>
            <a:pPr indent="0" marL="0">
              <a:buNone/>
            </a:pPr>
            <a:r>
              <a:rPr lang="en-US" sz="850" b="1" spc="110" kern="0" dirty="0">
                <a:solidFill>
                  <a:srgbClr val="6A7686"/>
                </a:solidFill>
                <a:latin typeface="Inter" pitchFamily="34" charset="0"/>
                <a:ea typeface="Inter" pitchFamily="34" charset="-122"/>
                <a:cs typeface="Inter" pitchFamily="34" charset="-120"/>
              </a:rPr>
              <a:t>SEGURO</a:t>
            </a:r>
            <a:endParaRPr lang="en-US" sz="850" dirty="0"/>
          </a:p>
        </p:txBody>
      </p:sp>
      <p:sp>
        <p:nvSpPr>
          <p:cNvPr id="24" name="Text 21"/>
          <p:cNvSpPr/>
          <p:nvPr/>
        </p:nvSpPr>
        <p:spPr>
          <a:xfrm>
            <a:off x="6303264" y="2889504"/>
            <a:ext cx="2182368" cy="640080"/>
          </a:xfrm>
          <a:prstGeom prst="rect">
            <a:avLst/>
          </a:prstGeom>
          <a:noFill/>
          <a:ln/>
        </p:spPr>
        <p:txBody>
          <a:bodyPr wrap="square" lIns="0" tIns="0" rIns="0" bIns="0" rtlCol="0" anchor="t"/>
          <a:lstStyle/>
          <a:p>
            <a:pPr indent="0" marL="0">
              <a:lnSpc>
                <a:spcPts val="1280"/>
              </a:lnSpc>
              <a:buNone/>
            </a:pPr>
            <a:r>
              <a:rPr lang="en-US" sz="1000" dirty="0">
                <a:solidFill>
                  <a:srgbClr val="2E4258"/>
                </a:solidFill>
                <a:latin typeface="Inter" pitchFamily="34" charset="0"/>
                <a:ea typeface="Inter" pitchFamily="34" charset="-122"/>
                <a:cs typeface="Inter" pitchFamily="34" charset="-120"/>
              </a:rPr>
              <a:t>De vida y de incendio, obligatorios. Entran dentro del costo financiero total.</a:t>
            </a:r>
            <a:endParaRPr lang="en-US" sz="1000" dirty="0"/>
          </a:p>
        </p:txBody>
      </p:sp>
      <p:sp>
        <p:nvSpPr>
          <p:cNvPr id="25" name="Shape 22"/>
          <p:cNvSpPr/>
          <p:nvPr/>
        </p:nvSpPr>
        <p:spPr>
          <a:xfrm>
            <a:off x="603504" y="3950208"/>
            <a:ext cx="8083296" cy="658368"/>
          </a:xfrm>
          <a:prstGeom prst="roundRect">
            <a:avLst>
              <a:gd name="adj" fmla="val 12500"/>
            </a:avLst>
          </a:prstGeom>
          <a:solidFill>
            <a:srgbClr val="08407C"/>
          </a:solidFill>
          <a:ln w="12700">
            <a:solidFill>
              <a:srgbClr val="08407C"/>
            </a:solidFill>
            <a:prstDash val="solid"/>
          </a:ln>
        </p:spPr>
      </p:sp>
      <p:sp>
        <p:nvSpPr>
          <p:cNvPr id="26" name="Text 23"/>
          <p:cNvSpPr/>
          <p:nvPr/>
        </p:nvSpPr>
        <p:spPr>
          <a:xfrm>
            <a:off x="841248" y="399592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EL MIEDO QUE HAY QUE DESACTIVAR PRIMERO</a:t>
            </a:r>
            <a:endParaRPr lang="en-US" sz="900" dirty="0"/>
          </a:p>
        </p:txBody>
      </p:sp>
      <p:sp>
        <p:nvSpPr>
          <p:cNvPr id="27" name="Text 24"/>
          <p:cNvSpPr/>
          <p:nvPr/>
        </p:nvSpPr>
        <p:spPr>
          <a:xfrm>
            <a:off x="841248" y="419709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La escritura va a nombre del comprador desde el día uno. El banco solo inscribe una hipoteca: es una garantía, no una copropiedad.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Las cinco palabras que hay que saber</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Con estas cinco alcanza para sostener el 90% de las conversaciones.</a:t>
            </a:r>
            <a:endParaRPr lang="en-US" sz="1200" dirty="0"/>
          </a:p>
        </p:txBody>
      </p:sp>
      <p:sp>
        <p:nvSpPr>
          <p:cNvPr id="7" name="Shape 4"/>
          <p:cNvSpPr/>
          <p:nvPr/>
        </p:nvSpPr>
        <p:spPr>
          <a:xfrm>
            <a:off x="603504" y="1188720"/>
            <a:ext cx="4590288" cy="512064"/>
          </a:xfrm>
          <a:prstGeom prst="roundRect">
            <a:avLst>
              <a:gd name="adj" fmla="val 16071"/>
            </a:avLst>
          </a:prstGeom>
          <a:solidFill>
            <a:srgbClr val="F3F3F3"/>
          </a:solidFill>
          <a:ln w="12700">
            <a:solidFill>
              <a:srgbClr val="F3F3F3"/>
            </a:solidFill>
            <a:prstDash val="solid"/>
          </a:ln>
        </p:spPr>
      </p:sp>
      <p:sp>
        <p:nvSpPr>
          <p:cNvPr id="8" name="Text 5"/>
          <p:cNvSpPr/>
          <p:nvPr/>
        </p:nvSpPr>
        <p:spPr>
          <a:xfrm>
            <a:off x="822960" y="1216152"/>
            <a:ext cx="4133088" cy="219456"/>
          </a:xfrm>
          <a:prstGeom prst="rect">
            <a:avLst/>
          </a:prstGeom>
          <a:noFill/>
          <a:ln/>
        </p:spPr>
        <p:txBody>
          <a:bodyPr wrap="square" lIns="0" tIns="0" rIns="0" bIns="0" rtlCol="0" anchor="ctr"/>
          <a:lstStyle/>
          <a:p>
            <a:pPr indent="0" marL="0">
              <a:buNone/>
            </a:pPr>
            <a:r>
              <a:rPr lang="en-US" sz="1100" b="1" spc="50" kern="0" dirty="0">
                <a:solidFill>
                  <a:srgbClr val="08407C"/>
                </a:solidFill>
                <a:latin typeface="Inter" pitchFamily="34" charset="0"/>
                <a:ea typeface="Inter" pitchFamily="34" charset="-122"/>
                <a:cs typeface="Inter" pitchFamily="34" charset="-120"/>
              </a:rPr>
              <a:t>CAPITAL</a:t>
            </a:r>
            <a:endParaRPr lang="en-US" sz="1100" dirty="0"/>
          </a:p>
        </p:txBody>
      </p:sp>
      <p:sp>
        <p:nvSpPr>
          <p:cNvPr id="9" name="Text 6"/>
          <p:cNvSpPr/>
          <p:nvPr/>
        </p:nvSpPr>
        <p:spPr>
          <a:xfrm>
            <a:off x="822960" y="1426464"/>
            <a:ext cx="4133088" cy="256032"/>
          </a:xfrm>
          <a:prstGeom prst="rect">
            <a:avLst/>
          </a:prstGeom>
          <a:noFill/>
          <a:ln/>
        </p:spPr>
        <p:txBody>
          <a:bodyPr wrap="square" lIns="0" tIns="0" rIns="0" bIns="0" rtlCol="0" anchor="ctr"/>
          <a:lstStyle/>
          <a:p>
            <a:pPr indent="0" marL="0">
              <a:lnSpc>
                <a:spcPts val="1100"/>
              </a:lnSpc>
              <a:buNone/>
            </a:pPr>
            <a:r>
              <a:rPr lang="en-US" sz="950" dirty="0">
                <a:solidFill>
                  <a:srgbClr val="2E4258"/>
                </a:solidFill>
                <a:latin typeface="Inter" pitchFamily="34" charset="0"/>
                <a:ea typeface="Inter" pitchFamily="34" charset="-122"/>
                <a:cs typeface="Inter" pitchFamily="34" charset="-120"/>
              </a:rPr>
              <a:t>Lo que te prestan. En un crédito UVA se expresa en UVA, no en pesos.</a:t>
            </a:r>
            <a:endParaRPr lang="en-US" sz="950" dirty="0"/>
          </a:p>
        </p:txBody>
      </p:sp>
      <p:sp>
        <p:nvSpPr>
          <p:cNvPr id="10" name="Text 7"/>
          <p:cNvSpPr/>
          <p:nvPr/>
        </p:nvSpPr>
        <p:spPr>
          <a:xfrm>
            <a:off x="822960" y="1783080"/>
            <a:ext cx="4133088" cy="219456"/>
          </a:xfrm>
          <a:prstGeom prst="rect">
            <a:avLst/>
          </a:prstGeom>
          <a:noFill/>
          <a:ln/>
        </p:spPr>
        <p:txBody>
          <a:bodyPr wrap="square" lIns="0" tIns="0" rIns="0" bIns="0" rtlCol="0" anchor="ctr"/>
          <a:lstStyle/>
          <a:p>
            <a:pPr indent="0" marL="0">
              <a:buNone/>
            </a:pPr>
            <a:r>
              <a:rPr lang="en-US" sz="1100" b="1" spc="50" kern="0" dirty="0">
                <a:solidFill>
                  <a:srgbClr val="08407C"/>
                </a:solidFill>
                <a:latin typeface="Inter" pitchFamily="34" charset="0"/>
                <a:ea typeface="Inter" pitchFamily="34" charset="-122"/>
                <a:cs typeface="Inter" pitchFamily="34" charset="-120"/>
              </a:rPr>
              <a:t>TASA</a:t>
            </a:r>
            <a:endParaRPr lang="en-US" sz="1100" dirty="0"/>
          </a:p>
        </p:txBody>
      </p:sp>
      <p:sp>
        <p:nvSpPr>
          <p:cNvPr id="11" name="Text 8"/>
          <p:cNvSpPr/>
          <p:nvPr/>
        </p:nvSpPr>
        <p:spPr>
          <a:xfrm>
            <a:off x="822960" y="1993392"/>
            <a:ext cx="4133088" cy="256032"/>
          </a:xfrm>
          <a:prstGeom prst="rect">
            <a:avLst/>
          </a:prstGeom>
          <a:noFill/>
          <a:ln/>
        </p:spPr>
        <p:txBody>
          <a:bodyPr wrap="square" lIns="0" tIns="0" rIns="0" bIns="0" rtlCol="0" anchor="ctr"/>
          <a:lstStyle/>
          <a:p>
            <a:pPr indent="0" marL="0">
              <a:lnSpc>
                <a:spcPts val="1100"/>
              </a:lnSpc>
              <a:buNone/>
            </a:pPr>
            <a:r>
              <a:rPr lang="en-US" sz="950" dirty="0">
                <a:solidFill>
                  <a:srgbClr val="2E4258"/>
                </a:solidFill>
                <a:latin typeface="Inter" pitchFamily="34" charset="0"/>
                <a:ea typeface="Inter" pitchFamily="34" charset="-122"/>
                <a:cs typeface="Inter" pitchFamily="34" charset="-120"/>
              </a:rPr>
              <a:t>El interés real anual sobre el saldo. Es el «más algo» de UVA + 6%.</a:t>
            </a:r>
            <a:endParaRPr lang="en-US" sz="950" dirty="0"/>
          </a:p>
        </p:txBody>
      </p:sp>
      <p:sp>
        <p:nvSpPr>
          <p:cNvPr id="12" name="Shape 9"/>
          <p:cNvSpPr/>
          <p:nvPr/>
        </p:nvSpPr>
        <p:spPr>
          <a:xfrm>
            <a:off x="603504" y="2322576"/>
            <a:ext cx="4590288" cy="512064"/>
          </a:xfrm>
          <a:prstGeom prst="roundRect">
            <a:avLst>
              <a:gd name="adj" fmla="val 16071"/>
            </a:avLst>
          </a:prstGeom>
          <a:solidFill>
            <a:srgbClr val="F3F3F3"/>
          </a:solidFill>
          <a:ln w="12700">
            <a:solidFill>
              <a:srgbClr val="F3F3F3"/>
            </a:solidFill>
            <a:prstDash val="solid"/>
          </a:ln>
        </p:spPr>
      </p:sp>
      <p:sp>
        <p:nvSpPr>
          <p:cNvPr id="13" name="Text 10"/>
          <p:cNvSpPr/>
          <p:nvPr/>
        </p:nvSpPr>
        <p:spPr>
          <a:xfrm>
            <a:off x="822960" y="2350008"/>
            <a:ext cx="4133088" cy="219456"/>
          </a:xfrm>
          <a:prstGeom prst="rect">
            <a:avLst/>
          </a:prstGeom>
          <a:noFill/>
          <a:ln/>
        </p:spPr>
        <p:txBody>
          <a:bodyPr wrap="square" lIns="0" tIns="0" rIns="0" bIns="0" rtlCol="0" anchor="ctr"/>
          <a:lstStyle/>
          <a:p>
            <a:pPr indent="0" marL="0">
              <a:buNone/>
            </a:pPr>
            <a:r>
              <a:rPr lang="en-US" sz="1100" b="1" spc="50" kern="0" dirty="0">
                <a:solidFill>
                  <a:srgbClr val="08407C"/>
                </a:solidFill>
                <a:latin typeface="Inter" pitchFamily="34" charset="0"/>
                <a:ea typeface="Inter" pitchFamily="34" charset="-122"/>
                <a:cs typeface="Inter" pitchFamily="34" charset="-120"/>
              </a:rPr>
              <a:t>PLAZO</a:t>
            </a:r>
            <a:endParaRPr lang="en-US" sz="1100" dirty="0"/>
          </a:p>
        </p:txBody>
      </p:sp>
      <p:sp>
        <p:nvSpPr>
          <p:cNvPr id="14" name="Text 11"/>
          <p:cNvSpPr/>
          <p:nvPr/>
        </p:nvSpPr>
        <p:spPr>
          <a:xfrm>
            <a:off x="822960" y="2560320"/>
            <a:ext cx="4133088" cy="256032"/>
          </a:xfrm>
          <a:prstGeom prst="rect">
            <a:avLst/>
          </a:prstGeom>
          <a:noFill/>
          <a:ln/>
        </p:spPr>
        <p:txBody>
          <a:bodyPr wrap="square" lIns="0" tIns="0" rIns="0" bIns="0" rtlCol="0" anchor="ctr"/>
          <a:lstStyle/>
          <a:p>
            <a:pPr indent="0" marL="0">
              <a:lnSpc>
                <a:spcPts val="1100"/>
              </a:lnSpc>
              <a:buNone/>
            </a:pPr>
            <a:r>
              <a:rPr lang="en-US" sz="950" dirty="0">
                <a:solidFill>
                  <a:srgbClr val="2E4258"/>
                </a:solidFill>
                <a:latin typeface="Inter" pitchFamily="34" charset="0"/>
                <a:ea typeface="Inter" pitchFamily="34" charset="-122"/>
                <a:cs typeface="Inter" pitchFamily="34" charset="-120"/>
              </a:rPr>
              <a:t>En cuántos meses se devuelve. Más plazo, menos cuota, más interés.</a:t>
            </a:r>
            <a:endParaRPr lang="en-US" sz="950" dirty="0"/>
          </a:p>
        </p:txBody>
      </p:sp>
      <p:sp>
        <p:nvSpPr>
          <p:cNvPr id="15" name="Text 12"/>
          <p:cNvSpPr/>
          <p:nvPr/>
        </p:nvSpPr>
        <p:spPr>
          <a:xfrm>
            <a:off x="822960" y="2916936"/>
            <a:ext cx="4133088" cy="219456"/>
          </a:xfrm>
          <a:prstGeom prst="rect">
            <a:avLst/>
          </a:prstGeom>
          <a:noFill/>
          <a:ln/>
        </p:spPr>
        <p:txBody>
          <a:bodyPr wrap="square" lIns="0" tIns="0" rIns="0" bIns="0" rtlCol="0" anchor="ctr"/>
          <a:lstStyle/>
          <a:p>
            <a:pPr indent="0" marL="0">
              <a:buNone/>
            </a:pPr>
            <a:r>
              <a:rPr lang="en-US" sz="1100" b="1" spc="50" kern="0" dirty="0">
                <a:solidFill>
                  <a:srgbClr val="08407C"/>
                </a:solidFill>
                <a:latin typeface="Inter" pitchFamily="34" charset="0"/>
                <a:ea typeface="Inter" pitchFamily="34" charset="-122"/>
                <a:cs typeface="Inter" pitchFamily="34" charset="-120"/>
              </a:rPr>
              <a:t>CUOTA</a:t>
            </a:r>
            <a:endParaRPr lang="en-US" sz="1100" dirty="0"/>
          </a:p>
        </p:txBody>
      </p:sp>
      <p:sp>
        <p:nvSpPr>
          <p:cNvPr id="16" name="Text 13"/>
          <p:cNvSpPr/>
          <p:nvPr/>
        </p:nvSpPr>
        <p:spPr>
          <a:xfrm>
            <a:off x="822960" y="3127248"/>
            <a:ext cx="4133088" cy="256032"/>
          </a:xfrm>
          <a:prstGeom prst="rect">
            <a:avLst/>
          </a:prstGeom>
          <a:noFill/>
          <a:ln/>
        </p:spPr>
        <p:txBody>
          <a:bodyPr wrap="square" lIns="0" tIns="0" rIns="0" bIns="0" rtlCol="0" anchor="ctr"/>
          <a:lstStyle/>
          <a:p>
            <a:pPr indent="0" marL="0">
              <a:lnSpc>
                <a:spcPts val="1100"/>
              </a:lnSpc>
              <a:buNone/>
            </a:pPr>
            <a:r>
              <a:rPr lang="en-US" sz="950" dirty="0">
                <a:solidFill>
                  <a:srgbClr val="2E4258"/>
                </a:solidFill>
                <a:latin typeface="Inter" pitchFamily="34" charset="0"/>
                <a:ea typeface="Inter" pitchFamily="34" charset="-122"/>
                <a:cs typeface="Inter" pitchFamily="34" charset="-120"/>
              </a:rPr>
              <a:t>Lo que se paga por mes. En UVA es casi fija; en pesos, no.</a:t>
            </a:r>
            <a:endParaRPr lang="en-US" sz="950" dirty="0"/>
          </a:p>
        </p:txBody>
      </p:sp>
      <p:sp>
        <p:nvSpPr>
          <p:cNvPr id="17" name="Shape 14"/>
          <p:cNvSpPr/>
          <p:nvPr/>
        </p:nvSpPr>
        <p:spPr>
          <a:xfrm>
            <a:off x="603504" y="3456432"/>
            <a:ext cx="4590288" cy="512064"/>
          </a:xfrm>
          <a:prstGeom prst="roundRect">
            <a:avLst>
              <a:gd name="adj" fmla="val 16071"/>
            </a:avLst>
          </a:prstGeom>
          <a:solidFill>
            <a:srgbClr val="F3F3F3"/>
          </a:solidFill>
          <a:ln w="12700">
            <a:solidFill>
              <a:srgbClr val="F3F3F3"/>
            </a:solidFill>
            <a:prstDash val="solid"/>
          </a:ln>
        </p:spPr>
      </p:sp>
      <p:sp>
        <p:nvSpPr>
          <p:cNvPr id="18" name="Text 15"/>
          <p:cNvSpPr/>
          <p:nvPr/>
        </p:nvSpPr>
        <p:spPr>
          <a:xfrm>
            <a:off x="822960" y="3483864"/>
            <a:ext cx="4133088" cy="219456"/>
          </a:xfrm>
          <a:prstGeom prst="rect">
            <a:avLst/>
          </a:prstGeom>
          <a:noFill/>
          <a:ln/>
        </p:spPr>
        <p:txBody>
          <a:bodyPr wrap="square" lIns="0" tIns="0" rIns="0" bIns="0" rtlCol="0" anchor="ctr"/>
          <a:lstStyle/>
          <a:p>
            <a:pPr indent="0" marL="0">
              <a:buNone/>
            </a:pPr>
            <a:r>
              <a:rPr lang="en-US" sz="1100" b="1" spc="50" kern="0" dirty="0">
                <a:solidFill>
                  <a:srgbClr val="08407C"/>
                </a:solidFill>
                <a:latin typeface="Inter" pitchFamily="34" charset="0"/>
                <a:ea typeface="Inter" pitchFamily="34" charset="-122"/>
                <a:cs typeface="Inter" pitchFamily="34" charset="-120"/>
              </a:rPr>
              <a:t>AMORTIZACIÓN</a:t>
            </a:r>
            <a:endParaRPr lang="en-US" sz="1100" dirty="0"/>
          </a:p>
        </p:txBody>
      </p:sp>
      <p:sp>
        <p:nvSpPr>
          <p:cNvPr id="19" name="Text 16"/>
          <p:cNvSpPr/>
          <p:nvPr/>
        </p:nvSpPr>
        <p:spPr>
          <a:xfrm>
            <a:off x="822960" y="3694176"/>
            <a:ext cx="4133088" cy="256032"/>
          </a:xfrm>
          <a:prstGeom prst="rect">
            <a:avLst/>
          </a:prstGeom>
          <a:noFill/>
          <a:ln/>
        </p:spPr>
        <p:txBody>
          <a:bodyPr wrap="square" lIns="0" tIns="0" rIns="0" bIns="0" rtlCol="0" anchor="ctr"/>
          <a:lstStyle/>
          <a:p>
            <a:pPr indent="0" marL="0">
              <a:lnSpc>
                <a:spcPts val="1100"/>
              </a:lnSpc>
              <a:buNone/>
            </a:pPr>
            <a:r>
              <a:rPr lang="en-US" sz="950" dirty="0">
                <a:solidFill>
                  <a:srgbClr val="2E4258"/>
                </a:solidFill>
                <a:latin typeface="Inter" pitchFamily="34" charset="0"/>
                <a:ea typeface="Inter" pitchFamily="34" charset="-122"/>
                <a:cs typeface="Inter" pitchFamily="34" charset="-120"/>
              </a:rPr>
              <a:t>La parte de la cuota que reduce la deuda. El resto es interés.</a:t>
            </a:r>
            <a:endParaRPr lang="en-US" sz="950" dirty="0"/>
          </a:p>
        </p:txBody>
      </p:sp>
      <p:sp>
        <p:nvSpPr>
          <p:cNvPr id="20" name="Shape 17"/>
          <p:cNvSpPr/>
          <p:nvPr/>
        </p:nvSpPr>
        <p:spPr>
          <a:xfrm>
            <a:off x="5394960" y="1188720"/>
            <a:ext cx="3291840" cy="2834640"/>
          </a:xfrm>
          <a:prstGeom prst="roundRect">
            <a:avLst>
              <a:gd name="adj" fmla="val 2903"/>
            </a:avLst>
          </a:prstGeom>
          <a:solidFill>
            <a:srgbClr val="08407C"/>
          </a:solidFill>
          <a:ln w="12700">
            <a:solidFill>
              <a:srgbClr val="08407C"/>
            </a:solidFill>
            <a:prstDash val="solid"/>
          </a:ln>
        </p:spPr>
      </p:sp>
      <p:sp>
        <p:nvSpPr>
          <p:cNvPr id="21" name="Text 18"/>
          <p:cNvSpPr/>
          <p:nvPr/>
        </p:nvSpPr>
        <p:spPr>
          <a:xfrm>
            <a:off x="5596128" y="1316736"/>
            <a:ext cx="2889504" cy="182880"/>
          </a:xfrm>
          <a:prstGeom prst="rect">
            <a:avLst/>
          </a:prstGeom>
          <a:noFill/>
          <a:ln/>
        </p:spPr>
        <p:txBody>
          <a:bodyPr wrap="square" lIns="0" tIns="0" rIns="0" bIns="0" rtlCol="0" anchor="ctr"/>
          <a:lstStyle/>
          <a:p>
            <a:pPr indent="0" marL="0">
              <a:buNone/>
            </a:pPr>
            <a:r>
              <a:rPr lang="en-US" sz="850" b="1" spc="110" kern="0" dirty="0">
                <a:solidFill>
                  <a:srgbClr val="CDD8E4"/>
                </a:solidFill>
                <a:latin typeface="Inter" pitchFamily="34" charset="0"/>
                <a:ea typeface="Inter" pitchFamily="34" charset="-122"/>
                <a:cs typeface="Inter" pitchFamily="34" charset="-120"/>
              </a:rPr>
              <a:t>SISTEMA FRANCÉS</a:t>
            </a:r>
            <a:endParaRPr lang="en-US" sz="850" dirty="0"/>
          </a:p>
        </p:txBody>
      </p:sp>
      <p:sp>
        <p:nvSpPr>
          <p:cNvPr id="22" name="Text 19"/>
          <p:cNvSpPr/>
          <p:nvPr/>
        </p:nvSpPr>
        <p:spPr>
          <a:xfrm>
            <a:off x="5596128" y="1517904"/>
            <a:ext cx="2889504" cy="237744"/>
          </a:xfrm>
          <a:prstGeom prst="rect">
            <a:avLst/>
          </a:prstGeom>
          <a:noFill/>
          <a:ln/>
        </p:spPr>
        <p:txBody>
          <a:bodyPr wrap="square" lIns="0" tIns="0" rIns="0" bIns="0" rtlCol="0" anchor="ctr"/>
          <a:lstStyle/>
          <a:p>
            <a:pPr indent="0" marL="0">
              <a:buNone/>
            </a:pPr>
            <a:r>
              <a:rPr lang="en-US" sz="1250" b="1" dirty="0">
                <a:solidFill>
                  <a:srgbClr val="FFFFFF"/>
                </a:solidFill>
                <a:latin typeface="Inter" pitchFamily="34" charset="0"/>
                <a:ea typeface="Inter" pitchFamily="34" charset="-122"/>
                <a:cs typeface="Inter" pitchFamily="34" charset="-120"/>
              </a:rPr>
              <a:t>Cómo se reparte cada cuota</a:t>
            </a:r>
            <a:endParaRPr lang="en-US" sz="1250" dirty="0"/>
          </a:p>
        </p:txBody>
      </p:sp>
      <p:sp>
        <p:nvSpPr>
          <p:cNvPr id="23" name="Text 20"/>
          <p:cNvSpPr/>
          <p:nvPr/>
        </p:nvSpPr>
        <p:spPr>
          <a:xfrm>
            <a:off x="5596128" y="1883664"/>
            <a:ext cx="713232" cy="219456"/>
          </a:xfrm>
          <a:prstGeom prst="rect">
            <a:avLst/>
          </a:prstGeom>
          <a:noFill/>
          <a:ln/>
        </p:spPr>
        <p:txBody>
          <a:bodyPr wrap="square" lIns="0" tIns="0" rIns="0" bIns="0" rtlCol="0" anchor="ctr"/>
          <a:lstStyle/>
          <a:p>
            <a:pPr indent="0" marL="0">
              <a:buNone/>
            </a:pPr>
            <a:r>
              <a:rPr lang="en-US" sz="950" b="1" dirty="0">
                <a:solidFill>
                  <a:srgbClr val="FFFFFF"/>
                </a:solidFill>
                <a:latin typeface="Inter" pitchFamily="34" charset="0"/>
                <a:ea typeface="Inter" pitchFamily="34" charset="-122"/>
                <a:cs typeface="Inter" pitchFamily="34" charset="-120"/>
              </a:rPr>
              <a:t>Mes 1</a:t>
            </a:r>
            <a:endParaRPr lang="en-US" sz="950" dirty="0"/>
          </a:p>
        </p:txBody>
      </p:sp>
      <p:sp>
        <p:nvSpPr>
          <p:cNvPr id="24" name="Shape 21"/>
          <p:cNvSpPr/>
          <p:nvPr/>
        </p:nvSpPr>
        <p:spPr>
          <a:xfrm>
            <a:off x="6327648" y="1911096"/>
            <a:ext cx="1618488" cy="182880"/>
          </a:xfrm>
          <a:prstGeom prst="rect">
            <a:avLst/>
          </a:prstGeom>
          <a:solidFill>
            <a:srgbClr val="9CB2CA"/>
          </a:solidFill>
          <a:ln w="12700">
            <a:solidFill>
              <a:srgbClr val="9CB2CA"/>
            </a:solidFill>
            <a:prstDash val="solid"/>
          </a:ln>
        </p:spPr>
      </p:sp>
      <p:sp>
        <p:nvSpPr>
          <p:cNvPr id="25" name="Shape 22"/>
          <p:cNvSpPr/>
          <p:nvPr/>
        </p:nvSpPr>
        <p:spPr>
          <a:xfrm>
            <a:off x="7946136" y="1911096"/>
            <a:ext cx="539496" cy="182880"/>
          </a:xfrm>
          <a:prstGeom prst="rect">
            <a:avLst/>
          </a:prstGeom>
          <a:solidFill>
            <a:srgbClr val="26AE60"/>
          </a:solidFill>
          <a:ln w="12700">
            <a:solidFill>
              <a:srgbClr val="26AE60"/>
            </a:solidFill>
            <a:prstDash val="solid"/>
          </a:ln>
        </p:spPr>
      </p:sp>
      <p:sp>
        <p:nvSpPr>
          <p:cNvPr id="26" name="Text 23"/>
          <p:cNvSpPr/>
          <p:nvPr/>
        </p:nvSpPr>
        <p:spPr>
          <a:xfrm>
            <a:off x="6327648" y="2121408"/>
            <a:ext cx="2157984" cy="182880"/>
          </a:xfrm>
          <a:prstGeom prst="rect">
            <a:avLst/>
          </a:prstGeom>
          <a:noFill/>
          <a:ln/>
        </p:spPr>
        <p:txBody>
          <a:bodyPr wrap="square" lIns="0" tIns="0" rIns="0" bIns="0" rtlCol="0" anchor="ctr"/>
          <a:lstStyle/>
          <a:p>
            <a:pPr indent="0" marL="0">
              <a:buNone/>
            </a:pPr>
            <a:r>
              <a:rPr lang="en-US" sz="850" dirty="0">
                <a:solidFill>
                  <a:srgbClr val="CDD8E4"/>
                </a:solidFill>
                <a:latin typeface="Inter" pitchFamily="34" charset="0"/>
                <a:ea typeface="Inter" pitchFamily="34" charset="-122"/>
                <a:cs typeface="Inter" pitchFamily="34" charset="-120"/>
              </a:rPr>
              <a:t>75% interés  ·  25% capital</a:t>
            </a:r>
            <a:endParaRPr lang="en-US" sz="850" dirty="0"/>
          </a:p>
        </p:txBody>
      </p:sp>
      <p:sp>
        <p:nvSpPr>
          <p:cNvPr id="27" name="Text 24"/>
          <p:cNvSpPr/>
          <p:nvPr/>
        </p:nvSpPr>
        <p:spPr>
          <a:xfrm>
            <a:off x="5596128" y="2487168"/>
            <a:ext cx="713232" cy="219456"/>
          </a:xfrm>
          <a:prstGeom prst="rect">
            <a:avLst/>
          </a:prstGeom>
          <a:noFill/>
          <a:ln/>
        </p:spPr>
        <p:txBody>
          <a:bodyPr wrap="square" lIns="0" tIns="0" rIns="0" bIns="0" rtlCol="0" anchor="ctr"/>
          <a:lstStyle/>
          <a:p>
            <a:pPr indent="0" marL="0">
              <a:buNone/>
            </a:pPr>
            <a:r>
              <a:rPr lang="en-US" sz="950" b="1" dirty="0">
                <a:solidFill>
                  <a:srgbClr val="FFFFFF"/>
                </a:solidFill>
                <a:latin typeface="Inter" pitchFamily="34" charset="0"/>
                <a:ea typeface="Inter" pitchFamily="34" charset="-122"/>
                <a:cs typeface="Inter" pitchFamily="34" charset="-120"/>
              </a:rPr>
              <a:t>Mes 120</a:t>
            </a:r>
            <a:endParaRPr lang="en-US" sz="950" dirty="0"/>
          </a:p>
        </p:txBody>
      </p:sp>
      <p:sp>
        <p:nvSpPr>
          <p:cNvPr id="28" name="Shape 25"/>
          <p:cNvSpPr/>
          <p:nvPr/>
        </p:nvSpPr>
        <p:spPr>
          <a:xfrm>
            <a:off x="6327648" y="2514600"/>
            <a:ext cx="1078992" cy="182880"/>
          </a:xfrm>
          <a:prstGeom prst="rect">
            <a:avLst/>
          </a:prstGeom>
          <a:solidFill>
            <a:srgbClr val="9CB2CA"/>
          </a:solidFill>
          <a:ln w="12700">
            <a:solidFill>
              <a:srgbClr val="9CB2CA"/>
            </a:solidFill>
            <a:prstDash val="solid"/>
          </a:ln>
        </p:spPr>
      </p:sp>
      <p:sp>
        <p:nvSpPr>
          <p:cNvPr id="29" name="Shape 26"/>
          <p:cNvSpPr/>
          <p:nvPr/>
        </p:nvSpPr>
        <p:spPr>
          <a:xfrm>
            <a:off x="7406640" y="2514600"/>
            <a:ext cx="1078992" cy="182880"/>
          </a:xfrm>
          <a:prstGeom prst="rect">
            <a:avLst/>
          </a:prstGeom>
          <a:solidFill>
            <a:srgbClr val="26AE60"/>
          </a:solidFill>
          <a:ln w="12700">
            <a:solidFill>
              <a:srgbClr val="26AE60"/>
            </a:solidFill>
            <a:prstDash val="solid"/>
          </a:ln>
        </p:spPr>
      </p:sp>
      <p:sp>
        <p:nvSpPr>
          <p:cNvPr id="30" name="Text 27"/>
          <p:cNvSpPr/>
          <p:nvPr/>
        </p:nvSpPr>
        <p:spPr>
          <a:xfrm>
            <a:off x="6327648" y="2724912"/>
            <a:ext cx="2157984" cy="182880"/>
          </a:xfrm>
          <a:prstGeom prst="rect">
            <a:avLst/>
          </a:prstGeom>
          <a:noFill/>
          <a:ln/>
        </p:spPr>
        <p:txBody>
          <a:bodyPr wrap="square" lIns="0" tIns="0" rIns="0" bIns="0" rtlCol="0" anchor="ctr"/>
          <a:lstStyle/>
          <a:p>
            <a:pPr indent="0" marL="0">
              <a:buNone/>
            </a:pPr>
            <a:r>
              <a:rPr lang="en-US" sz="850" dirty="0">
                <a:solidFill>
                  <a:srgbClr val="CDD8E4"/>
                </a:solidFill>
                <a:latin typeface="Inter" pitchFamily="34" charset="0"/>
                <a:ea typeface="Inter" pitchFamily="34" charset="-122"/>
                <a:cs typeface="Inter" pitchFamily="34" charset="-120"/>
              </a:rPr>
              <a:t>50% interés  ·  50% capital</a:t>
            </a:r>
            <a:endParaRPr lang="en-US" sz="850" dirty="0"/>
          </a:p>
        </p:txBody>
      </p:sp>
      <p:sp>
        <p:nvSpPr>
          <p:cNvPr id="31" name="Text 28"/>
          <p:cNvSpPr/>
          <p:nvPr/>
        </p:nvSpPr>
        <p:spPr>
          <a:xfrm>
            <a:off x="5596128" y="3090672"/>
            <a:ext cx="713232" cy="219456"/>
          </a:xfrm>
          <a:prstGeom prst="rect">
            <a:avLst/>
          </a:prstGeom>
          <a:noFill/>
          <a:ln/>
        </p:spPr>
        <p:txBody>
          <a:bodyPr wrap="square" lIns="0" tIns="0" rIns="0" bIns="0" rtlCol="0" anchor="ctr"/>
          <a:lstStyle/>
          <a:p>
            <a:pPr indent="0" marL="0">
              <a:buNone/>
            </a:pPr>
            <a:r>
              <a:rPr lang="en-US" sz="950" b="1" dirty="0">
                <a:solidFill>
                  <a:srgbClr val="FFFFFF"/>
                </a:solidFill>
                <a:latin typeface="Inter" pitchFamily="34" charset="0"/>
                <a:ea typeface="Inter" pitchFamily="34" charset="-122"/>
                <a:cs typeface="Inter" pitchFamily="34" charset="-120"/>
              </a:rPr>
              <a:t>Mes 240</a:t>
            </a:r>
            <a:endParaRPr lang="en-US" sz="950" dirty="0"/>
          </a:p>
        </p:txBody>
      </p:sp>
      <p:sp>
        <p:nvSpPr>
          <p:cNvPr id="32" name="Shape 29"/>
          <p:cNvSpPr/>
          <p:nvPr/>
        </p:nvSpPr>
        <p:spPr>
          <a:xfrm>
            <a:off x="6327648" y="3118104"/>
            <a:ext cx="21580" cy="182880"/>
          </a:xfrm>
          <a:prstGeom prst="rect">
            <a:avLst/>
          </a:prstGeom>
          <a:solidFill>
            <a:srgbClr val="9CB2CA"/>
          </a:solidFill>
          <a:ln w="12700">
            <a:solidFill>
              <a:srgbClr val="9CB2CA"/>
            </a:solidFill>
            <a:prstDash val="solid"/>
          </a:ln>
        </p:spPr>
      </p:sp>
      <p:sp>
        <p:nvSpPr>
          <p:cNvPr id="33" name="Shape 30"/>
          <p:cNvSpPr/>
          <p:nvPr/>
        </p:nvSpPr>
        <p:spPr>
          <a:xfrm>
            <a:off x="6349228" y="3118104"/>
            <a:ext cx="2136404" cy="182880"/>
          </a:xfrm>
          <a:prstGeom prst="rect">
            <a:avLst/>
          </a:prstGeom>
          <a:solidFill>
            <a:srgbClr val="26AE60"/>
          </a:solidFill>
          <a:ln w="12700">
            <a:solidFill>
              <a:srgbClr val="26AE60"/>
            </a:solidFill>
            <a:prstDash val="solid"/>
          </a:ln>
        </p:spPr>
      </p:sp>
      <p:sp>
        <p:nvSpPr>
          <p:cNvPr id="34" name="Text 31"/>
          <p:cNvSpPr/>
          <p:nvPr/>
        </p:nvSpPr>
        <p:spPr>
          <a:xfrm>
            <a:off x="6327648" y="3328416"/>
            <a:ext cx="2157984" cy="182880"/>
          </a:xfrm>
          <a:prstGeom prst="rect">
            <a:avLst/>
          </a:prstGeom>
          <a:noFill/>
          <a:ln/>
        </p:spPr>
        <p:txBody>
          <a:bodyPr wrap="square" lIns="0" tIns="0" rIns="0" bIns="0" rtlCol="0" anchor="ctr"/>
          <a:lstStyle/>
          <a:p>
            <a:pPr indent="0" marL="0">
              <a:buNone/>
            </a:pPr>
            <a:r>
              <a:rPr lang="en-US" sz="850" dirty="0">
                <a:solidFill>
                  <a:srgbClr val="CDD8E4"/>
                </a:solidFill>
                <a:latin typeface="Inter" pitchFamily="34" charset="0"/>
                <a:ea typeface="Inter" pitchFamily="34" charset="-122"/>
                <a:cs typeface="Inter" pitchFamily="34" charset="-120"/>
              </a:rPr>
              <a:t>1% interés  ·  99% capital</a:t>
            </a:r>
            <a:endParaRPr lang="en-US" sz="850" dirty="0"/>
          </a:p>
        </p:txBody>
      </p:sp>
      <p:sp>
        <p:nvSpPr>
          <p:cNvPr id="35" name="Text 32"/>
          <p:cNvSpPr/>
          <p:nvPr/>
        </p:nvSpPr>
        <p:spPr>
          <a:xfrm>
            <a:off x="5596128" y="3675888"/>
            <a:ext cx="2889504" cy="274320"/>
          </a:xfrm>
          <a:prstGeom prst="rect">
            <a:avLst/>
          </a:prstGeom>
          <a:noFill/>
          <a:ln/>
        </p:spPr>
        <p:txBody>
          <a:bodyPr wrap="square" lIns="0" tIns="0" rIns="0" bIns="0" rtlCol="0" anchor="ctr"/>
          <a:lstStyle/>
          <a:p>
            <a:pPr indent="0" marL="0">
              <a:lnSpc>
                <a:spcPts val="1100"/>
              </a:lnSpc>
              <a:buNone/>
            </a:pPr>
            <a:r>
              <a:rPr lang="en-US" sz="900" i="1" dirty="0">
                <a:solidFill>
                  <a:srgbClr val="CDD8E4"/>
                </a:solidFill>
                <a:latin typeface="Inter" pitchFamily="34" charset="0"/>
                <a:ea typeface="Inter" pitchFamily="34" charset="-122"/>
                <a:cs typeface="Inter" pitchFamily="34" charset="-120"/>
              </a:rPr>
              <a:t>Al principio casi todo es interés. Por eso al año de pagar la deuda bajó poco.</a:t>
            </a:r>
            <a:endParaRPr lang="en-US" sz="900" dirty="0"/>
          </a:p>
        </p:txBody>
      </p:sp>
      <p:sp>
        <p:nvSpPr>
          <p:cNvPr id="36" name="Shape 33"/>
          <p:cNvSpPr/>
          <p:nvPr/>
        </p:nvSpPr>
        <p:spPr>
          <a:xfrm>
            <a:off x="603504" y="4133088"/>
            <a:ext cx="8083296" cy="658368"/>
          </a:xfrm>
          <a:prstGeom prst="roundRect">
            <a:avLst>
              <a:gd name="adj" fmla="val 12500"/>
            </a:avLst>
          </a:prstGeom>
          <a:solidFill>
            <a:srgbClr val="4E586E"/>
          </a:solidFill>
          <a:ln w="12700">
            <a:solidFill>
              <a:srgbClr val="4E586E"/>
            </a:solidFill>
            <a:prstDash val="solid"/>
          </a:ln>
        </p:spPr>
      </p:sp>
      <p:sp>
        <p:nvSpPr>
          <p:cNvPr id="37" name="Text 34"/>
          <p:cNvSpPr/>
          <p:nvPr/>
        </p:nvSpPr>
        <p:spPr>
          <a:xfrm>
            <a:off x="841248" y="417880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OJO CON ESTA CONFUSIÓN</a:t>
            </a:r>
            <a:endParaRPr lang="en-US" sz="900" dirty="0"/>
          </a:p>
        </p:txBody>
      </p:sp>
      <p:sp>
        <p:nvSpPr>
          <p:cNvPr id="38" name="Text 35"/>
          <p:cNvSpPr/>
          <p:nvPr/>
        </p:nvSpPr>
        <p:spPr>
          <a:xfrm>
            <a:off x="841248" y="437997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«Cuota casi fija» es cierto en UVA, no en pesos. Es la distinción que ordena toda la charla que viene.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¿Por qué no hay crédito a tasa fija a 20 años?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Preguntarlo a la sala antes de mostrar la respuesta.</a:t>
            </a:r>
            <a:endParaRPr lang="en-US" sz="1200" dirty="0"/>
          </a:p>
        </p:txBody>
      </p:sp>
      <p:sp>
        <p:nvSpPr>
          <p:cNvPr id="7" name="Shape 4"/>
          <p:cNvSpPr/>
          <p:nvPr/>
        </p:nvSpPr>
        <p:spPr>
          <a:xfrm>
            <a:off x="603504" y="1188720"/>
            <a:ext cx="2572512" cy="1371600"/>
          </a:xfrm>
          <a:prstGeom prst="roundRect">
            <a:avLst>
              <a:gd name="adj" fmla="val 6000"/>
            </a:avLst>
          </a:prstGeom>
          <a:solidFill>
            <a:srgbClr val="08407C"/>
          </a:solidFill>
          <a:ln w="12700">
            <a:solidFill>
              <a:srgbClr val="08407C"/>
            </a:solidFill>
            <a:prstDash val="solid"/>
          </a:ln>
        </p:spPr>
      </p:sp>
      <p:sp>
        <p:nvSpPr>
          <p:cNvPr id="8" name="Text 5"/>
          <p:cNvSpPr/>
          <p:nvPr/>
        </p:nvSpPr>
        <p:spPr>
          <a:xfrm>
            <a:off x="804672" y="1353312"/>
            <a:ext cx="2170176" cy="182880"/>
          </a:xfrm>
          <a:prstGeom prst="rect">
            <a:avLst/>
          </a:prstGeom>
          <a:noFill/>
          <a:ln/>
        </p:spPr>
        <p:txBody>
          <a:bodyPr wrap="square" lIns="0" tIns="0" rIns="0" bIns="0" rtlCol="0" anchor="ctr"/>
          <a:lstStyle/>
          <a:p>
            <a:pPr indent="0" marL="0">
              <a:buNone/>
            </a:pPr>
            <a:r>
              <a:rPr lang="en-US" sz="850" b="1" spc="110" kern="0" dirty="0">
                <a:solidFill>
                  <a:srgbClr val="CDD8E4"/>
                </a:solidFill>
                <a:latin typeface="Inter" pitchFamily="34" charset="0"/>
                <a:ea typeface="Inter" pitchFamily="34" charset="-122"/>
                <a:cs typeface="Inter" pitchFamily="34" charset="-120"/>
              </a:rPr>
              <a:t>DE DÓNDE SACA LA PLATA</a:t>
            </a:r>
            <a:endParaRPr lang="en-US" sz="850" dirty="0"/>
          </a:p>
        </p:txBody>
      </p:sp>
      <p:sp>
        <p:nvSpPr>
          <p:cNvPr id="9" name="Text 6"/>
          <p:cNvSpPr/>
          <p:nvPr/>
        </p:nvSpPr>
        <p:spPr>
          <a:xfrm>
            <a:off x="804672" y="1572768"/>
            <a:ext cx="2170176" cy="274320"/>
          </a:xfrm>
          <a:prstGeom prst="rect">
            <a:avLst/>
          </a:prstGeom>
          <a:noFill/>
          <a:ln/>
        </p:spPr>
        <p:txBody>
          <a:bodyPr wrap="square" lIns="0" tIns="0" rIns="0" bIns="0" rtlCol="0" anchor="ctr"/>
          <a:lstStyle/>
          <a:p>
            <a:pPr indent="0" marL="0">
              <a:lnSpc>
                <a:spcPts val="1495"/>
              </a:lnSpc>
              <a:buNone/>
            </a:pPr>
            <a:r>
              <a:rPr lang="en-US" sz="1300" b="1" dirty="0">
                <a:solidFill>
                  <a:srgbClr val="FFFFFF"/>
                </a:solidFill>
                <a:latin typeface="Inter" pitchFamily="34" charset="0"/>
                <a:ea typeface="Inter" pitchFamily="34" charset="-122"/>
                <a:cs typeface="Inter" pitchFamily="34" charset="-120"/>
              </a:rPr>
              <a:t>Depósitos a 1–30 días</a:t>
            </a:r>
            <a:endParaRPr lang="en-US" sz="1300" dirty="0"/>
          </a:p>
        </p:txBody>
      </p:sp>
      <p:sp>
        <p:nvSpPr>
          <p:cNvPr id="10" name="Text 7"/>
          <p:cNvSpPr/>
          <p:nvPr/>
        </p:nvSpPr>
        <p:spPr>
          <a:xfrm>
            <a:off x="804672" y="1901952"/>
            <a:ext cx="2170176" cy="512064"/>
          </a:xfrm>
          <a:prstGeom prst="rect">
            <a:avLst/>
          </a:prstGeom>
          <a:noFill/>
          <a:ln/>
        </p:spPr>
        <p:txBody>
          <a:bodyPr wrap="square" lIns="0" tIns="0" rIns="0" bIns="0" rtlCol="0" anchor="t"/>
          <a:lstStyle/>
          <a:p>
            <a:pPr indent="0" marL="0">
              <a:lnSpc>
                <a:spcPts val="1344"/>
              </a:lnSpc>
              <a:buNone/>
            </a:pPr>
            <a:r>
              <a:rPr lang="en-US" sz="1050" dirty="0">
                <a:solidFill>
                  <a:srgbClr val="CDD8E4"/>
                </a:solidFill>
                <a:latin typeface="Inter" pitchFamily="34" charset="0"/>
                <a:ea typeface="Inter" pitchFamily="34" charset="-122"/>
                <a:cs typeface="Inter" pitchFamily="34" charset="-120"/>
              </a:rPr>
              <a:t>Cajas de ahorro, cuentas corrientes y plazos fijos cortos. Es el fondeo que realmente tiene.</a:t>
            </a:r>
            <a:endParaRPr lang="en-US" sz="1050" dirty="0"/>
          </a:p>
        </p:txBody>
      </p:sp>
      <p:sp>
        <p:nvSpPr>
          <p:cNvPr id="11" name="Shape 8"/>
          <p:cNvSpPr/>
          <p:nvPr/>
        </p:nvSpPr>
        <p:spPr>
          <a:xfrm>
            <a:off x="3358896" y="1188720"/>
            <a:ext cx="2572512" cy="1371600"/>
          </a:xfrm>
          <a:prstGeom prst="roundRect">
            <a:avLst>
              <a:gd name="adj" fmla="val 6000"/>
            </a:avLst>
          </a:prstGeom>
          <a:solidFill>
            <a:srgbClr val="4E586E"/>
          </a:solidFill>
          <a:ln w="12700">
            <a:solidFill>
              <a:srgbClr val="4E586E"/>
            </a:solidFill>
            <a:prstDash val="solid"/>
          </a:ln>
        </p:spPr>
      </p:sp>
      <p:sp>
        <p:nvSpPr>
          <p:cNvPr id="12" name="Text 9"/>
          <p:cNvSpPr/>
          <p:nvPr/>
        </p:nvSpPr>
        <p:spPr>
          <a:xfrm>
            <a:off x="3560064" y="1353312"/>
            <a:ext cx="2170176" cy="182880"/>
          </a:xfrm>
          <a:prstGeom prst="rect">
            <a:avLst/>
          </a:prstGeom>
          <a:noFill/>
          <a:ln/>
        </p:spPr>
        <p:txBody>
          <a:bodyPr wrap="square" lIns="0" tIns="0" rIns="0" bIns="0" rtlCol="0" anchor="ctr"/>
          <a:lstStyle/>
          <a:p>
            <a:pPr indent="0" marL="0">
              <a:buNone/>
            </a:pPr>
            <a:r>
              <a:rPr lang="en-US" sz="850" b="1" spc="110" kern="0" dirty="0">
                <a:solidFill>
                  <a:srgbClr val="CDD8E4"/>
                </a:solidFill>
                <a:latin typeface="Inter" pitchFamily="34" charset="0"/>
                <a:ea typeface="Inter" pitchFamily="34" charset="-122"/>
                <a:cs typeface="Inter" pitchFamily="34" charset="-120"/>
              </a:rPr>
              <a:t>QUÉ LE PIDEN QUE PRESTE</a:t>
            </a:r>
            <a:endParaRPr lang="en-US" sz="850" dirty="0"/>
          </a:p>
        </p:txBody>
      </p:sp>
      <p:sp>
        <p:nvSpPr>
          <p:cNvPr id="13" name="Text 10"/>
          <p:cNvSpPr/>
          <p:nvPr/>
        </p:nvSpPr>
        <p:spPr>
          <a:xfrm>
            <a:off x="3560064" y="1572768"/>
            <a:ext cx="2170176" cy="274320"/>
          </a:xfrm>
          <a:prstGeom prst="rect">
            <a:avLst/>
          </a:prstGeom>
          <a:noFill/>
          <a:ln/>
        </p:spPr>
        <p:txBody>
          <a:bodyPr wrap="square" lIns="0" tIns="0" rIns="0" bIns="0" rtlCol="0" anchor="ctr"/>
          <a:lstStyle/>
          <a:p>
            <a:pPr indent="0" marL="0">
              <a:lnSpc>
                <a:spcPts val="1495"/>
              </a:lnSpc>
              <a:buNone/>
            </a:pPr>
            <a:r>
              <a:rPr lang="en-US" sz="1300" b="1" dirty="0">
                <a:solidFill>
                  <a:srgbClr val="FFFFFF"/>
                </a:solidFill>
                <a:latin typeface="Inter" pitchFamily="34" charset="0"/>
                <a:ea typeface="Inter" pitchFamily="34" charset="-122"/>
                <a:cs typeface="Inter" pitchFamily="34" charset="-120"/>
              </a:rPr>
              <a:t>Créditos a 15–30 años</a:t>
            </a:r>
            <a:endParaRPr lang="en-US" sz="1300" dirty="0"/>
          </a:p>
        </p:txBody>
      </p:sp>
      <p:sp>
        <p:nvSpPr>
          <p:cNvPr id="14" name="Text 11"/>
          <p:cNvSpPr/>
          <p:nvPr/>
        </p:nvSpPr>
        <p:spPr>
          <a:xfrm>
            <a:off x="3560064" y="1901952"/>
            <a:ext cx="2170176" cy="512064"/>
          </a:xfrm>
          <a:prstGeom prst="rect">
            <a:avLst/>
          </a:prstGeom>
          <a:noFill/>
          <a:ln/>
        </p:spPr>
        <p:txBody>
          <a:bodyPr wrap="square" lIns="0" tIns="0" rIns="0" bIns="0" rtlCol="0" anchor="t"/>
          <a:lstStyle/>
          <a:p>
            <a:pPr indent="0" marL="0">
              <a:lnSpc>
                <a:spcPts val="1344"/>
              </a:lnSpc>
              <a:buNone/>
            </a:pPr>
            <a:r>
              <a:rPr lang="en-US" sz="1050" dirty="0">
                <a:solidFill>
                  <a:srgbClr val="CDD8E4"/>
                </a:solidFill>
                <a:latin typeface="Inter" pitchFamily="34" charset="0"/>
                <a:ea typeface="Inter" pitchFamily="34" charset="-122"/>
                <a:cs typeface="Inter" pitchFamily="34" charset="-120"/>
              </a:rPr>
              <a:t>Un hipotecario es el préstamo más largo que da un banco minorista.</a:t>
            </a:r>
            <a:endParaRPr lang="en-US" sz="1050" dirty="0"/>
          </a:p>
        </p:txBody>
      </p:sp>
      <p:sp>
        <p:nvSpPr>
          <p:cNvPr id="15" name="Shape 12"/>
          <p:cNvSpPr/>
          <p:nvPr/>
        </p:nvSpPr>
        <p:spPr>
          <a:xfrm>
            <a:off x="6114288" y="1188720"/>
            <a:ext cx="2572512" cy="1371600"/>
          </a:xfrm>
          <a:prstGeom prst="roundRect">
            <a:avLst>
              <a:gd name="adj" fmla="val 6000"/>
            </a:avLst>
          </a:prstGeom>
          <a:solidFill>
            <a:srgbClr val="7C8594"/>
          </a:solidFill>
          <a:ln w="12700">
            <a:solidFill>
              <a:srgbClr val="7C8594"/>
            </a:solidFill>
            <a:prstDash val="solid"/>
          </a:ln>
        </p:spPr>
      </p:sp>
      <p:sp>
        <p:nvSpPr>
          <p:cNvPr id="16" name="Text 13"/>
          <p:cNvSpPr/>
          <p:nvPr/>
        </p:nvSpPr>
        <p:spPr>
          <a:xfrm>
            <a:off x="6315456" y="1353312"/>
            <a:ext cx="2170176" cy="182880"/>
          </a:xfrm>
          <a:prstGeom prst="rect">
            <a:avLst/>
          </a:prstGeom>
          <a:noFill/>
          <a:ln/>
        </p:spPr>
        <p:txBody>
          <a:bodyPr wrap="square" lIns="0" tIns="0" rIns="0" bIns="0" rtlCol="0" anchor="ctr"/>
          <a:lstStyle/>
          <a:p>
            <a:pPr indent="0" marL="0">
              <a:buNone/>
            </a:pPr>
            <a:r>
              <a:rPr lang="en-US" sz="850" b="1" spc="110" kern="0" dirty="0">
                <a:solidFill>
                  <a:srgbClr val="E4E6E9"/>
                </a:solidFill>
                <a:latin typeface="Inter" pitchFamily="34" charset="0"/>
                <a:ea typeface="Inter" pitchFamily="34" charset="-122"/>
                <a:cs typeface="Inter" pitchFamily="34" charset="-120"/>
              </a:rPr>
              <a:t>EL PROBLEMA</a:t>
            </a:r>
            <a:endParaRPr lang="en-US" sz="850" dirty="0"/>
          </a:p>
        </p:txBody>
      </p:sp>
      <p:sp>
        <p:nvSpPr>
          <p:cNvPr id="17" name="Text 14"/>
          <p:cNvSpPr/>
          <p:nvPr/>
        </p:nvSpPr>
        <p:spPr>
          <a:xfrm>
            <a:off x="6315456" y="1572768"/>
            <a:ext cx="2170176" cy="274320"/>
          </a:xfrm>
          <a:prstGeom prst="rect">
            <a:avLst/>
          </a:prstGeom>
          <a:noFill/>
          <a:ln/>
        </p:spPr>
        <p:txBody>
          <a:bodyPr wrap="square" lIns="0" tIns="0" rIns="0" bIns="0" rtlCol="0" anchor="ctr"/>
          <a:lstStyle/>
          <a:p>
            <a:pPr indent="0" marL="0">
              <a:lnSpc>
                <a:spcPts val="1495"/>
              </a:lnSpc>
              <a:buNone/>
            </a:pPr>
            <a:r>
              <a:rPr lang="en-US" sz="1300" b="1" dirty="0">
                <a:solidFill>
                  <a:srgbClr val="FFFFFF"/>
                </a:solidFill>
                <a:latin typeface="Inter" pitchFamily="34" charset="0"/>
                <a:ea typeface="Inter" pitchFamily="34" charset="-122"/>
                <a:cs typeface="Inter" pitchFamily="34" charset="-120"/>
              </a:rPr>
              <a:t>Descalce de plazos</a:t>
            </a:r>
            <a:endParaRPr lang="en-US" sz="1300" dirty="0"/>
          </a:p>
        </p:txBody>
      </p:sp>
      <p:sp>
        <p:nvSpPr>
          <p:cNvPr id="18" name="Text 15"/>
          <p:cNvSpPr/>
          <p:nvPr/>
        </p:nvSpPr>
        <p:spPr>
          <a:xfrm>
            <a:off x="6315456" y="1901952"/>
            <a:ext cx="2170176" cy="512064"/>
          </a:xfrm>
          <a:prstGeom prst="rect">
            <a:avLst/>
          </a:prstGeom>
          <a:noFill/>
          <a:ln/>
        </p:spPr>
        <p:txBody>
          <a:bodyPr wrap="square" lIns="0" tIns="0" rIns="0" bIns="0" rtlCol="0" anchor="t"/>
          <a:lstStyle/>
          <a:p>
            <a:pPr indent="0" marL="0">
              <a:lnSpc>
                <a:spcPts val="1344"/>
              </a:lnSpc>
              <a:buNone/>
            </a:pPr>
            <a:r>
              <a:rPr lang="en-US" sz="1050" dirty="0">
                <a:solidFill>
                  <a:srgbClr val="E4E6E9"/>
                </a:solidFill>
                <a:latin typeface="Inter" pitchFamily="34" charset="0"/>
                <a:ea typeface="Inter" pitchFamily="34" charset="-122"/>
                <a:cs typeface="Inter" pitchFamily="34" charset="-120"/>
              </a:rPr>
              <a:t>Prestar a 25 años con fondeo a 30 días. Por eso el crédito nunca se desarrolló acá.</a:t>
            </a:r>
            <a:endParaRPr lang="en-US" sz="1050" dirty="0"/>
          </a:p>
        </p:txBody>
      </p:sp>
      <p:sp>
        <p:nvSpPr>
          <p:cNvPr id="19" name="Shape 16"/>
          <p:cNvSpPr/>
          <p:nvPr/>
        </p:nvSpPr>
        <p:spPr>
          <a:xfrm>
            <a:off x="603504" y="2706624"/>
            <a:ext cx="8083296" cy="1225296"/>
          </a:xfrm>
          <a:prstGeom prst="roundRect">
            <a:avLst>
              <a:gd name="adj" fmla="val 6716"/>
            </a:avLst>
          </a:prstGeom>
          <a:solidFill>
            <a:srgbClr val="F3F3F3"/>
          </a:solidFill>
          <a:ln w="12700">
            <a:solidFill>
              <a:srgbClr val="F3F3F3"/>
            </a:solidFill>
            <a:prstDash val="solid"/>
          </a:ln>
        </p:spPr>
      </p:sp>
      <p:sp>
        <p:nvSpPr>
          <p:cNvPr id="20" name="Text 17"/>
          <p:cNvSpPr/>
          <p:nvPr/>
        </p:nvSpPr>
        <p:spPr>
          <a:xfrm>
            <a:off x="804672" y="2871216"/>
            <a:ext cx="7680960" cy="182880"/>
          </a:xfrm>
          <a:prstGeom prst="rect">
            <a:avLst/>
          </a:prstGeom>
          <a:noFill/>
          <a:ln/>
        </p:spPr>
        <p:txBody>
          <a:bodyPr wrap="square" lIns="0" tIns="0" rIns="0" bIns="0" rtlCol="0" anchor="ctr"/>
          <a:lstStyle/>
          <a:p>
            <a:pPr indent="0" marL="0">
              <a:buNone/>
            </a:pPr>
            <a:r>
              <a:rPr lang="en-US" sz="850" b="1" spc="110" kern="0" dirty="0">
                <a:solidFill>
                  <a:srgbClr val="6A7686"/>
                </a:solidFill>
                <a:latin typeface="Inter" pitchFamily="34" charset="0"/>
                <a:ea typeface="Inter" pitchFamily="34" charset="-122"/>
                <a:cs typeface="Inter" pitchFamily="34" charset="-120"/>
              </a:rPr>
              <a:t>LA RESPUESTA</a:t>
            </a:r>
            <a:endParaRPr lang="en-US" sz="850" dirty="0"/>
          </a:p>
        </p:txBody>
      </p:sp>
      <p:sp>
        <p:nvSpPr>
          <p:cNvPr id="21" name="Text 18"/>
          <p:cNvSpPr/>
          <p:nvPr/>
        </p:nvSpPr>
        <p:spPr>
          <a:xfrm>
            <a:off x="804672" y="3090672"/>
            <a:ext cx="7680960" cy="274320"/>
          </a:xfrm>
          <a:prstGeom prst="rect">
            <a:avLst/>
          </a:prstGeom>
          <a:noFill/>
          <a:ln/>
        </p:spPr>
        <p:txBody>
          <a:bodyPr wrap="square" lIns="0" tIns="0" rIns="0" bIns="0" rtlCol="0" anchor="ctr"/>
          <a:lstStyle/>
          <a:p>
            <a:pPr indent="0" marL="0">
              <a:lnSpc>
                <a:spcPts val="1495"/>
              </a:lnSpc>
              <a:buNone/>
            </a:pPr>
            <a:r>
              <a:rPr lang="en-US" sz="1300" b="1" dirty="0">
                <a:solidFill>
                  <a:srgbClr val="08407C"/>
                </a:solidFill>
                <a:latin typeface="Inter" pitchFamily="34" charset="0"/>
                <a:ea typeface="Inter" pitchFamily="34" charset="-122"/>
                <a:cs typeface="Inter" pitchFamily="34" charset="-120"/>
              </a:rPr>
              <a:t>Con inflación alta, una tasa fija que cubra el riesgo daría una cuota inicial impagable.</a:t>
            </a:r>
            <a:endParaRPr lang="en-US" sz="1300" dirty="0"/>
          </a:p>
        </p:txBody>
      </p:sp>
      <p:sp>
        <p:nvSpPr>
          <p:cNvPr id="22" name="Text 19"/>
          <p:cNvSpPr/>
          <p:nvPr/>
        </p:nvSpPr>
        <p:spPr>
          <a:xfrm>
            <a:off x="804672" y="3419856"/>
            <a:ext cx="7680960" cy="365760"/>
          </a:xfrm>
          <a:prstGeom prst="rect">
            <a:avLst/>
          </a:prstGeom>
          <a:noFill/>
          <a:ln/>
        </p:spPr>
        <p:txBody>
          <a:bodyPr wrap="square" lIns="0" tIns="0" rIns="0" bIns="0" rtlCol="0" anchor="t"/>
          <a:lstStyle/>
          <a:p>
            <a:pPr indent="0" marL="0">
              <a:lnSpc>
                <a:spcPts val="1344"/>
              </a:lnSpc>
              <a:buNone/>
            </a:pPr>
            <a:r>
              <a:rPr lang="en-US" sz="1050" dirty="0">
                <a:solidFill>
                  <a:srgbClr val="2E4258"/>
                </a:solidFill>
                <a:latin typeface="Inter" pitchFamily="34" charset="0"/>
                <a:ea typeface="Inter" pitchFamily="34" charset="-122"/>
                <a:cs typeface="Inter" pitchFamily="34" charset="-120"/>
              </a:rPr>
              <a:t>El banco tendría que cargar en esa tasa todo lo que puede pasar en 20 años, y la cuota del primer año se vuelve imposible. El UVA parte el problema en dos: la actualización por inflación por un lado, el interés real por el otro.</a:t>
            </a:r>
            <a:endParaRPr lang="en-US" sz="1050" dirty="0"/>
          </a:p>
        </p:txBody>
      </p:sp>
      <p:sp>
        <p:nvSpPr>
          <p:cNvPr id="23" name="Shape 20"/>
          <p:cNvSpPr/>
          <p:nvPr/>
        </p:nvSpPr>
        <p:spPr>
          <a:xfrm>
            <a:off x="603504" y="4041648"/>
            <a:ext cx="8083296" cy="658368"/>
          </a:xfrm>
          <a:prstGeom prst="roundRect">
            <a:avLst>
              <a:gd name="adj" fmla="val 12500"/>
            </a:avLst>
          </a:prstGeom>
          <a:solidFill>
            <a:srgbClr val="08407C"/>
          </a:solidFill>
          <a:ln w="12700">
            <a:solidFill>
              <a:srgbClr val="08407C"/>
            </a:solidFill>
            <a:prstDash val="solid"/>
          </a:ln>
        </p:spPr>
      </p:sp>
      <p:sp>
        <p:nvSpPr>
          <p:cNvPr id="24" name="Text 21"/>
          <p:cNvSpPr/>
          <p:nvPr/>
        </p:nvSpPr>
        <p:spPr>
          <a:xfrm>
            <a:off x="841248" y="408736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DECILO ASÍ, SIN ADORNO</a:t>
            </a:r>
            <a:endParaRPr lang="en-US" sz="900" dirty="0"/>
          </a:p>
        </p:txBody>
      </p:sp>
      <p:sp>
        <p:nvSpPr>
          <p:cNvPr id="25" name="Text 22"/>
          <p:cNvSpPr/>
          <p:nvPr/>
        </p:nvSpPr>
        <p:spPr>
          <a:xfrm>
            <a:off x="841248" y="428853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El UVA no es un truco para perjudicar a nadie: es lo que hace que la cuota del primer año sea pagable. A cambio, el riesgo de que la inflación le gane al sueldo queda del lado del comprador.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Cómo llegamos hasta acá</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Cinco hitos. La lección está en el cuarto.</a:t>
            </a:r>
            <a:endParaRPr lang="en-US" sz="1200" dirty="0"/>
          </a:p>
        </p:txBody>
      </p:sp>
      <p:sp>
        <p:nvSpPr>
          <p:cNvPr id="7" name="Shape 4"/>
          <p:cNvSpPr/>
          <p:nvPr/>
        </p:nvSpPr>
        <p:spPr>
          <a:xfrm>
            <a:off x="603504" y="1207008"/>
            <a:ext cx="1517904" cy="384048"/>
          </a:xfrm>
          <a:prstGeom prst="roundRect">
            <a:avLst>
              <a:gd name="adj" fmla="val 21429"/>
            </a:avLst>
          </a:prstGeom>
          <a:solidFill>
            <a:srgbClr val="4E586E"/>
          </a:solidFill>
          <a:ln w="12700">
            <a:solidFill>
              <a:srgbClr val="4E586E"/>
            </a:solidFill>
            <a:prstDash val="solid"/>
          </a:ln>
        </p:spPr>
      </p:sp>
      <p:sp>
        <p:nvSpPr>
          <p:cNvPr id="8" name="Text 5"/>
          <p:cNvSpPr/>
          <p:nvPr/>
        </p:nvSpPr>
        <p:spPr>
          <a:xfrm>
            <a:off x="603504" y="1207008"/>
            <a:ext cx="1517904"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1991–2001</a:t>
            </a:r>
            <a:endParaRPr lang="en-US" sz="1050" dirty="0"/>
          </a:p>
        </p:txBody>
      </p:sp>
      <p:sp>
        <p:nvSpPr>
          <p:cNvPr id="9" name="Shape 6"/>
          <p:cNvSpPr/>
          <p:nvPr/>
        </p:nvSpPr>
        <p:spPr>
          <a:xfrm>
            <a:off x="603504" y="1645920"/>
            <a:ext cx="1517904" cy="1773936"/>
          </a:xfrm>
          <a:prstGeom prst="roundRect">
            <a:avLst>
              <a:gd name="adj" fmla="val 5422"/>
            </a:avLst>
          </a:prstGeom>
          <a:solidFill>
            <a:srgbClr val="F3F3F3"/>
          </a:solidFill>
          <a:ln w="12700">
            <a:solidFill>
              <a:srgbClr val="F3F3F3"/>
            </a:solidFill>
            <a:prstDash val="solid"/>
          </a:ln>
        </p:spPr>
      </p:sp>
      <p:sp>
        <p:nvSpPr>
          <p:cNvPr id="10" name="Text 7"/>
          <p:cNvSpPr/>
          <p:nvPr/>
        </p:nvSpPr>
        <p:spPr>
          <a:xfrm>
            <a:off x="731520" y="1737360"/>
            <a:ext cx="1261872" cy="457200"/>
          </a:xfrm>
          <a:prstGeom prst="rect">
            <a:avLst/>
          </a:prstGeom>
          <a:noFill/>
          <a:ln/>
        </p:spPr>
        <p:txBody>
          <a:bodyPr wrap="square" lIns="0" tIns="0" rIns="0" bIns="0" rtlCol="0" anchor="ctr"/>
          <a:lstStyle/>
          <a:p>
            <a:pPr algn="ctr" indent="0" marL="0">
              <a:lnSpc>
                <a:spcPts val="1300"/>
              </a:lnSpc>
              <a:buNone/>
            </a:pPr>
            <a:r>
              <a:rPr lang="en-US" sz="1150" b="1" dirty="0">
                <a:solidFill>
                  <a:srgbClr val="08407C"/>
                </a:solidFill>
                <a:latin typeface="Inter" pitchFamily="34" charset="0"/>
                <a:ea typeface="Inter" pitchFamily="34" charset="-122"/>
                <a:cs typeface="Inter" pitchFamily="34" charset="-120"/>
              </a:rPr>
              <a:t>Convertibilidad</a:t>
            </a:r>
            <a:endParaRPr lang="en-US" sz="1150" dirty="0"/>
          </a:p>
        </p:txBody>
      </p:sp>
      <p:sp>
        <p:nvSpPr>
          <p:cNvPr id="11" name="Text 8"/>
          <p:cNvSpPr/>
          <p:nvPr/>
        </p:nvSpPr>
        <p:spPr>
          <a:xfrm>
            <a:off x="731520" y="2231136"/>
            <a:ext cx="1261872" cy="1097280"/>
          </a:xfrm>
          <a:prstGeom prst="rect">
            <a:avLst/>
          </a:prstGeom>
          <a:noFill/>
          <a:ln/>
        </p:spPr>
        <p:txBody>
          <a:bodyPr wrap="square" lIns="0" tIns="0" rIns="0" bIns="0" rtlCol="0" anchor="t"/>
          <a:lstStyle/>
          <a:p>
            <a:pPr algn="ctr" indent="0" marL="0">
              <a:lnSpc>
                <a:spcPts val="1100"/>
              </a:lnSpc>
              <a:buNone/>
            </a:pPr>
            <a:r>
              <a:rPr lang="en-US" sz="900" dirty="0">
                <a:solidFill>
                  <a:srgbClr val="2E4258"/>
                </a:solidFill>
                <a:latin typeface="Inter" pitchFamily="34" charset="0"/>
                <a:ea typeface="Inter" pitchFamily="34" charset="-122"/>
                <a:cs typeface="Inter" pitchFamily="34" charset="-120"/>
              </a:rPr>
              <a:t>Un peso, un dólar. Hubo crédito hipotecario a tasa fija porque no había inflación.</a:t>
            </a:r>
            <a:endParaRPr lang="en-US" sz="900" dirty="0"/>
          </a:p>
        </p:txBody>
      </p:sp>
      <p:sp>
        <p:nvSpPr>
          <p:cNvPr id="12" name="Shape 9"/>
          <p:cNvSpPr/>
          <p:nvPr/>
        </p:nvSpPr>
        <p:spPr>
          <a:xfrm>
            <a:off x="2240280" y="1207008"/>
            <a:ext cx="1517904" cy="384048"/>
          </a:xfrm>
          <a:prstGeom prst="roundRect">
            <a:avLst>
              <a:gd name="adj" fmla="val 21429"/>
            </a:avLst>
          </a:prstGeom>
          <a:solidFill>
            <a:srgbClr val="7C8594"/>
          </a:solidFill>
          <a:ln w="12700">
            <a:solidFill>
              <a:srgbClr val="7C8594"/>
            </a:solidFill>
            <a:prstDash val="solid"/>
          </a:ln>
        </p:spPr>
      </p:sp>
      <p:sp>
        <p:nvSpPr>
          <p:cNvPr id="13" name="Text 10"/>
          <p:cNvSpPr/>
          <p:nvPr/>
        </p:nvSpPr>
        <p:spPr>
          <a:xfrm>
            <a:off x="2240280" y="1207008"/>
            <a:ext cx="1517904"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2002</a:t>
            </a:r>
            <a:endParaRPr lang="en-US" sz="1050" dirty="0"/>
          </a:p>
        </p:txBody>
      </p:sp>
      <p:sp>
        <p:nvSpPr>
          <p:cNvPr id="14" name="Shape 11"/>
          <p:cNvSpPr/>
          <p:nvPr/>
        </p:nvSpPr>
        <p:spPr>
          <a:xfrm>
            <a:off x="2240280" y="1645920"/>
            <a:ext cx="1517904" cy="1773936"/>
          </a:xfrm>
          <a:prstGeom prst="roundRect">
            <a:avLst>
              <a:gd name="adj" fmla="val 5422"/>
            </a:avLst>
          </a:prstGeom>
          <a:solidFill>
            <a:srgbClr val="F3F3F3"/>
          </a:solidFill>
          <a:ln w="12700">
            <a:solidFill>
              <a:srgbClr val="F3F3F3"/>
            </a:solidFill>
            <a:prstDash val="solid"/>
          </a:ln>
        </p:spPr>
      </p:sp>
      <p:sp>
        <p:nvSpPr>
          <p:cNvPr id="15" name="Text 12"/>
          <p:cNvSpPr/>
          <p:nvPr/>
        </p:nvSpPr>
        <p:spPr>
          <a:xfrm>
            <a:off x="2368296" y="1737360"/>
            <a:ext cx="1261872" cy="457200"/>
          </a:xfrm>
          <a:prstGeom prst="rect">
            <a:avLst/>
          </a:prstGeom>
          <a:noFill/>
          <a:ln/>
        </p:spPr>
        <p:txBody>
          <a:bodyPr wrap="square" lIns="0" tIns="0" rIns="0" bIns="0" rtlCol="0" anchor="ctr"/>
          <a:lstStyle/>
          <a:p>
            <a:pPr algn="ctr" indent="0" marL="0">
              <a:lnSpc>
                <a:spcPts val="1300"/>
              </a:lnSpc>
              <a:buNone/>
            </a:pPr>
            <a:r>
              <a:rPr lang="en-US" sz="1150" b="1" dirty="0">
                <a:solidFill>
                  <a:srgbClr val="08407C"/>
                </a:solidFill>
                <a:latin typeface="Inter" pitchFamily="34" charset="0"/>
                <a:ea typeface="Inter" pitchFamily="34" charset="-122"/>
                <a:cs typeface="Inter" pitchFamily="34" charset="-120"/>
              </a:rPr>
              <a:t>Nace el CER</a:t>
            </a:r>
            <a:endParaRPr lang="en-US" sz="1150" dirty="0"/>
          </a:p>
        </p:txBody>
      </p:sp>
      <p:sp>
        <p:nvSpPr>
          <p:cNvPr id="16" name="Text 13"/>
          <p:cNvSpPr/>
          <p:nvPr/>
        </p:nvSpPr>
        <p:spPr>
          <a:xfrm>
            <a:off x="2368296" y="2231136"/>
            <a:ext cx="1261872" cy="1097280"/>
          </a:xfrm>
          <a:prstGeom prst="rect">
            <a:avLst/>
          </a:prstGeom>
          <a:noFill/>
          <a:ln/>
        </p:spPr>
        <p:txBody>
          <a:bodyPr wrap="square" lIns="0" tIns="0" rIns="0" bIns="0" rtlCol="0" anchor="t"/>
          <a:lstStyle/>
          <a:p>
            <a:pPr algn="ctr" indent="0" marL="0">
              <a:lnSpc>
                <a:spcPts val="1100"/>
              </a:lnSpc>
              <a:buNone/>
            </a:pPr>
            <a:r>
              <a:rPr lang="en-US" sz="900" dirty="0">
                <a:solidFill>
                  <a:srgbClr val="2E4258"/>
                </a:solidFill>
                <a:latin typeface="Inter" pitchFamily="34" charset="0"/>
                <a:ea typeface="Inter" pitchFamily="34" charset="-122"/>
                <a:cs typeface="Inter" pitchFamily="34" charset="-120"/>
              </a:rPr>
              <a:t>Tras la salida de la convertibilidad aparece un coeficiente que ajusta por inflación.</a:t>
            </a:r>
            <a:endParaRPr lang="en-US" sz="900" dirty="0"/>
          </a:p>
        </p:txBody>
      </p:sp>
      <p:sp>
        <p:nvSpPr>
          <p:cNvPr id="17" name="Shape 14"/>
          <p:cNvSpPr/>
          <p:nvPr/>
        </p:nvSpPr>
        <p:spPr>
          <a:xfrm>
            <a:off x="3877056" y="1207008"/>
            <a:ext cx="1517904" cy="384048"/>
          </a:xfrm>
          <a:prstGeom prst="roundRect">
            <a:avLst>
              <a:gd name="adj" fmla="val 21429"/>
            </a:avLst>
          </a:prstGeom>
          <a:solidFill>
            <a:srgbClr val="08407C"/>
          </a:solidFill>
          <a:ln w="12700">
            <a:solidFill>
              <a:srgbClr val="08407C"/>
            </a:solidFill>
            <a:prstDash val="solid"/>
          </a:ln>
        </p:spPr>
      </p:sp>
      <p:sp>
        <p:nvSpPr>
          <p:cNvPr id="18" name="Text 15"/>
          <p:cNvSpPr/>
          <p:nvPr/>
        </p:nvSpPr>
        <p:spPr>
          <a:xfrm>
            <a:off x="3877056" y="1207008"/>
            <a:ext cx="1517904"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2016</a:t>
            </a:r>
            <a:endParaRPr lang="en-US" sz="1050" dirty="0"/>
          </a:p>
        </p:txBody>
      </p:sp>
      <p:sp>
        <p:nvSpPr>
          <p:cNvPr id="19" name="Shape 16"/>
          <p:cNvSpPr/>
          <p:nvPr/>
        </p:nvSpPr>
        <p:spPr>
          <a:xfrm>
            <a:off x="3877056" y="1645920"/>
            <a:ext cx="1517904" cy="1773936"/>
          </a:xfrm>
          <a:prstGeom prst="roundRect">
            <a:avLst>
              <a:gd name="adj" fmla="val 5422"/>
            </a:avLst>
          </a:prstGeom>
          <a:solidFill>
            <a:srgbClr val="F3F3F3"/>
          </a:solidFill>
          <a:ln w="12700">
            <a:solidFill>
              <a:srgbClr val="F3F3F3"/>
            </a:solidFill>
            <a:prstDash val="solid"/>
          </a:ln>
        </p:spPr>
      </p:sp>
      <p:sp>
        <p:nvSpPr>
          <p:cNvPr id="20" name="Text 17"/>
          <p:cNvSpPr/>
          <p:nvPr/>
        </p:nvSpPr>
        <p:spPr>
          <a:xfrm>
            <a:off x="4005072" y="1737360"/>
            <a:ext cx="1261872" cy="457200"/>
          </a:xfrm>
          <a:prstGeom prst="rect">
            <a:avLst/>
          </a:prstGeom>
          <a:noFill/>
          <a:ln/>
        </p:spPr>
        <p:txBody>
          <a:bodyPr wrap="square" lIns="0" tIns="0" rIns="0" bIns="0" rtlCol="0" anchor="ctr"/>
          <a:lstStyle/>
          <a:p>
            <a:pPr algn="ctr" indent="0" marL="0">
              <a:lnSpc>
                <a:spcPts val="1300"/>
              </a:lnSpc>
              <a:buNone/>
            </a:pPr>
            <a:r>
              <a:rPr lang="en-US" sz="1150" b="1" dirty="0">
                <a:solidFill>
                  <a:srgbClr val="08407C"/>
                </a:solidFill>
                <a:latin typeface="Inter" pitchFamily="34" charset="0"/>
                <a:ea typeface="Inter" pitchFamily="34" charset="-122"/>
                <a:cs typeface="Inter" pitchFamily="34" charset="-120"/>
              </a:rPr>
              <a:t>Nace la UVA</a:t>
            </a:r>
            <a:endParaRPr lang="en-US" sz="1150" dirty="0"/>
          </a:p>
        </p:txBody>
      </p:sp>
      <p:sp>
        <p:nvSpPr>
          <p:cNvPr id="21" name="Text 18"/>
          <p:cNvSpPr/>
          <p:nvPr/>
        </p:nvSpPr>
        <p:spPr>
          <a:xfrm>
            <a:off x="4005072" y="2231136"/>
            <a:ext cx="1261872" cy="1097280"/>
          </a:xfrm>
          <a:prstGeom prst="rect">
            <a:avLst/>
          </a:prstGeom>
          <a:noFill/>
          <a:ln/>
        </p:spPr>
        <p:txBody>
          <a:bodyPr wrap="square" lIns="0" tIns="0" rIns="0" bIns="0" rtlCol="0" anchor="t"/>
          <a:lstStyle/>
          <a:p>
            <a:pPr algn="ctr" indent="0" marL="0">
              <a:lnSpc>
                <a:spcPts val="1100"/>
              </a:lnSpc>
              <a:buNone/>
            </a:pPr>
            <a:r>
              <a:rPr lang="en-US" sz="900" dirty="0">
                <a:solidFill>
                  <a:srgbClr val="2E4258"/>
                </a:solidFill>
                <a:latin typeface="Inter" pitchFamily="34" charset="0"/>
                <a:ea typeface="Inter" pitchFamily="34" charset="-122"/>
                <a:cs typeface="Inter" pitchFamily="34" charset="-120"/>
              </a:rPr>
              <a:t>El BCRA crea la Unidad de Valor Adquisitivo. Se otorgan unos 130.000 créditos.</a:t>
            </a:r>
            <a:endParaRPr lang="en-US" sz="900" dirty="0"/>
          </a:p>
        </p:txBody>
      </p:sp>
      <p:sp>
        <p:nvSpPr>
          <p:cNvPr id="22" name="Shape 19"/>
          <p:cNvSpPr/>
          <p:nvPr/>
        </p:nvSpPr>
        <p:spPr>
          <a:xfrm>
            <a:off x="5513832" y="1207008"/>
            <a:ext cx="1517904" cy="384048"/>
          </a:xfrm>
          <a:prstGeom prst="roundRect">
            <a:avLst>
              <a:gd name="adj" fmla="val 21429"/>
            </a:avLst>
          </a:prstGeom>
          <a:solidFill>
            <a:srgbClr val="E74B3C"/>
          </a:solidFill>
          <a:ln w="12700">
            <a:solidFill>
              <a:srgbClr val="E74B3C"/>
            </a:solidFill>
            <a:prstDash val="solid"/>
          </a:ln>
        </p:spPr>
      </p:sp>
      <p:sp>
        <p:nvSpPr>
          <p:cNvPr id="23" name="Text 20"/>
          <p:cNvSpPr/>
          <p:nvPr/>
        </p:nvSpPr>
        <p:spPr>
          <a:xfrm>
            <a:off x="5513832" y="1207008"/>
            <a:ext cx="1517904"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2018–2023</a:t>
            </a:r>
            <a:endParaRPr lang="en-US" sz="1050" dirty="0"/>
          </a:p>
        </p:txBody>
      </p:sp>
      <p:sp>
        <p:nvSpPr>
          <p:cNvPr id="24" name="Shape 21"/>
          <p:cNvSpPr/>
          <p:nvPr/>
        </p:nvSpPr>
        <p:spPr>
          <a:xfrm>
            <a:off x="5513832" y="1645920"/>
            <a:ext cx="1517904" cy="1773936"/>
          </a:xfrm>
          <a:prstGeom prst="roundRect">
            <a:avLst>
              <a:gd name="adj" fmla="val 5422"/>
            </a:avLst>
          </a:prstGeom>
          <a:solidFill>
            <a:srgbClr val="F3F3F3"/>
          </a:solidFill>
          <a:ln w="12700">
            <a:solidFill>
              <a:srgbClr val="F3F3F3"/>
            </a:solidFill>
            <a:prstDash val="solid"/>
          </a:ln>
        </p:spPr>
      </p:sp>
      <p:sp>
        <p:nvSpPr>
          <p:cNvPr id="25" name="Text 22"/>
          <p:cNvSpPr/>
          <p:nvPr/>
        </p:nvSpPr>
        <p:spPr>
          <a:xfrm>
            <a:off x="5641848" y="1737360"/>
            <a:ext cx="1261872" cy="457200"/>
          </a:xfrm>
          <a:prstGeom prst="rect">
            <a:avLst/>
          </a:prstGeom>
          <a:noFill/>
          <a:ln/>
        </p:spPr>
        <p:txBody>
          <a:bodyPr wrap="square" lIns="0" tIns="0" rIns="0" bIns="0" rtlCol="0" anchor="ctr"/>
          <a:lstStyle/>
          <a:p>
            <a:pPr algn="ctr" indent="0" marL="0">
              <a:lnSpc>
                <a:spcPts val="1300"/>
              </a:lnSpc>
              <a:buNone/>
            </a:pPr>
            <a:r>
              <a:rPr lang="en-US" sz="1150" b="1" dirty="0">
                <a:solidFill>
                  <a:srgbClr val="08407C"/>
                </a:solidFill>
                <a:latin typeface="Inter" pitchFamily="34" charset="0"/>
                <a:ea typeface="Inter" pitchFamily="34" charset="-122"/>
                <a:cs typeface="Inter" pitchFamily="34" charset="-120"/>
              </a:rPr>
              <a:t>El salario queda atrás</a:t>
            </a:r>
            <a:endParaRPr lang="en-US" sz="1150" dirty="0"/>
          </a:p>
        </p:txBody>
      </p:sp>
      <p:sp>
        <p:nvSpPr>
          <p:cNvPr id="26" name="Text 23"/>
          <p:cNvSpPr/>
          <p:nvPr/>
        </p:nvSpPr>
        <p:spPr>
          <a:xfrm>
            <a:off x="5641848" y="2231136"/>
            <a:ext cx="1261872" cy="1097280"/>
          </a:xfrm>
          <a:prstGeom prst="rect">
            <a:avLst/>
          </a:prstGeom>
          <a:noFill/>
          <a:ln/>
        </p:spPr>
        <p:txBody>
          <a:bodyPr wrap="square" lIns="0" tIns="0" rIns="0" bIns="0" rtlCol="0" anchor="t"/>
          <a:lstStyle/>
          <a:p>
            <a:pPr algn="ctr" indent="0" marL="0">
              <a:lnSpc>
                <a:spcPts val="1100"/>
              </a:lnSpc>
              <a:buNone/>
            </a:pPr>
            <a:r>
              <a:rPr lang="en-US" sz="900" dirty="0">
                <a:solidFill>
                  <a:srgbClr val="2E4258"/>
                </a:solidFill>
                <a:latin typeface="Inter" pitchFamily="34" charset="0"/>
                <a:ea typeface="Inter" pitchFamily="34" charset="-122"/>
                <a:cs typeface="Inter" pitchFamily="34" charset="-120"/>
              </a:rPr>
              <a:t>Crisis, devaluaciones e inflación alta. La cuota le gana al sueldo. Estalla el conflicto.</a:t>
            </a:r>
            <a:endParaRPr lang="en-US" sz="900" dirty="0"/>
          </a:p>
        </p:txBody>
      </p:sp>
      <p:sp>
        <p:nvSpPr>
          <p:cNvPr id="27" name="Shape 24"/>
          <p:cNvSpPr/>
          <p:nvPr/>
        </p:nvSpPr>
        <p:spPr>
          <a:xfrm>
            <a:off x="7150608" y="1207008"/>
            <a:ext cx="1517904" cy="384048"/>
          </a:xfrm>
          <a:prstGeom prst="roundRect">
            <a:avLst>
              <a:gd name="adj" fmla="val 21429"/>
            </a:avLst>
          </a:prstGeom>
          <a:solidFill>
            <a:srgbClr val="396696"/>
          </a:solidFill>
          <a:ln w="12700">
            <a:solidFill>
              <a:srgbClr val="396696"/>
            </a:solidFill>
            <a:prstDash val="solid"/>
          </a:ln>
        </p:spPr>
      </p:sp>
      <p:sp>
        <p:nvSpPr>
          <p:cNvPr id="28" name="Text 25"/>
          <p:cNvSpPr/>
          <p:nvPr/>
        </p:nvSpPr>
        <p:spPr>
          <a:xfrm>
            <a:off x="7150608" y="1207008"/>
            <a:ext cx="1517904"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2024–2026</a:t>
            </a:r>
            <a:endParaRPr lang="en-US" sz="1050" dirty="0"/>
          </a:p>
        </p:txBody>
      </p:sp>
      <p:sp>
        <p:nvSpPr>
          <p:cNvPr id="29" name="Shape 26"/>
          <p:cNvSpPr/>
          <p:nvPr/>
        </p:nvSpPr>
        <p:spPr>
          <a:xfrm>
            <a:off x="7150608" y="1645920"/>
            <a:ext cx="1517904" cy="1773936"/>
          </a:xfrm>
          <a:prstGeom prst="roundRect">
            <a:avLst>
              <a:gd name="adj" fmla="val 5422"/>
            </a:avLst>
          </a:prstGeom>
          <a:solidFill>
            <a:srgbClr val="F3F3F3"/>
          </a:solidFill>
          <a:ln w="12700">
            <a:solidFill>
              <a:srgbClr val="F3F3F3"/>
            </a:solidFill>
            <a:prstDash val="solid"/>
          </a:ln>
        </p:spPr>
      </p:sp>
      <p:sp>
        <p:nvSpPr>
          <p:cNvPr id="30" name="Text 27"/>
          <p:cNvSpPr/>
          <p:nvPr/>
        </p:nvSpPr>
        <p:spPr>
          <a:xfrm>
            <a:off x="7278624" y="1737360"/>
            <a:ext cx="1261872" cy="457200"/>
          </a:xfrm>
          <a:prstGeom prst="rect">
            <a:avLst/>
          </a:prstGeom>
          <a:noFill/>
          <a:ln/>
        </p:spPr>
        <p:txBody>
          <a:bodyPr wrap="square" lIns="0" tIns="0" rIns="0" bIns="0" rtlCol="0" anchor="ctr"/>
          <a:lstStyle/>
          <a:p>
            <a:pPr algn="ctr" indent="0" marL="0">
              <a:lnSpc>
                <a:spcPts val="1300"/>
              </a:lnSpc>
              <a:buNone/>
            </a:pPr>
            <a:r>
              <a:rPr lang="en-US" sz="1150" b="1" dirty="0">
                <a:solidFill>
                  <a:srgbClr val="08407C"/>
                </a:solidFill>
                <a:latin typeface="Inter" pitchFamily="34" charset="0"/>
                <a:ea typeface="Inter" pitchFamily="34" charset="-122"/>
                <a:cs typeface="Inter" pitchFamily="34" charset="-120"/>
              </a:rPr>
              <a:t>Relanzamiento</a:t>
            </a:r>
            <a:endParaRPr lang="en-US" sz="1150" dirty="0"/>
          </a:p>
        </p:txBody>
      </p:sp>
      <p:sp>
        <p:nvSpPr>
          <p:cNvPr id="31" name="Text 28"/>
          <p:cNvSpPr/>
          <p:nvPr/>
        </p:nvSpPr>
        <p:spPr>
          <a:xfrm>
            <a:off x="7278624" y="2231136"/>
            <a:ext cx="1261872" cy="1097280"/>
          </a:xfrm>
          <a:prstGeom prst="rect">
            <a:avLst/>
          </a:prstGeom>
          <a:noFill/>
          <a:ln/>
        </p:spPr>
        <p:txBody>
          <a:bodyPr wrap="square" lIns="0" tIns="0" rIns="0" bIns="0" rtlCol="0" anchor="t"/>
          <a:lstStyle/>
          <a:p>
            <a:pPr algn="ctr" indent="0" marL="0">
              <a:lnSpc>
                <a:spcPts val="1100"/>
              </a:lnSpc>
              <a:buNone/>
            </a:pPr>
            <a:r>
              <a:rPr lang="en-US" sz="900" dirty="0">
                <a:solidFill>
                  <a:srgbClr val="2E4258"/>
                </a:solidFill>
                <a:latin typeface="Inter" pitchFamily="34" charset="0"/>
                <a:ea typeface="Inter" pitchFamily="34" charset="-122"/>
                <a:cs typeface="Inter" pitchFamily="34" charset="-120"/>
              </a:rPr>
              <a:t>Vuelven las líneas UVA. En 2026 se anuncia un programa oficial de fondeo.</a:t>
            </a:r>
            <a:endParaRPr lang="en-US" sz="900" dirty="0"/>
          </a:p>
        </p:txBody>
      </p:sp>
      <p:sp>
        <p:nvSpPr>
          <p:cNvPr id="32" name="Shape 29"/>
          <p:cNvSpPr/>
          <p:nvPr/>
        </p:nvSpPr>
        <p:spPr>
          <a:xfrm>
            <a:off x="603504" y="3584448"/>
            <a:ext cx="8083296" cy="658368"/>
          </a:xfrm>
          <a:prstGeom prst="roundRect">
            <a:avLst>
              <a:gd name="adj" fmla="val 12500"/>
            </a:avLst>
          </a:prstGeom>
          <a:solidFill>
            <a:srgbClr val="E74B3C"/>
          </a:solidFill>
          <a:ln w="12700">
            <a:solidFill>
              <a:srgbClr val="E74B3C"/>
            </a:solidFill>
            <a:prstDash val="solid"/>
          </a:ln>
        </p:spPr>
      </p:sp>
      <p:sp>
        <p:nvSpPr>
          <p:cNvPr id="33" name="Text 30"/>
          <p:cNvSpPr/>
          <p:nvPr/>
        </p:nvSpPr>
        <p:spPr>
          <a:xfrm>
            <a:off x="841248" y="363016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LA LECCIÓN DE 2018</a:t>
            </a:r>
            <a:endParaRPr lang="en-US" sz="900" dirty="0"/>
          </a:p>
        </p:txBody>
      </p:sp>
      <p:sp>
        <p:nvSpPr>
          <p:cNvPr id="34" name="Text 31"/>
          <p:cNvSpPr/>
          <p:nvPr/>
        </p:nvSpPr>
        <p:spPr>
          <a:xfrm>
            <a:off x="841248" y="383133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El problema nunca fue la inflación sola. Fue la inflación ganándole al salario. Mientras el sueldo acompaña, un crédito UVA es manejable; cuando se desacopla, la cuota se vuelve el problema.</a:t>
            </a:r>
            <a:endParaRPr lang="en-US" sz="1100" dirty="0"/>
          </a:p>
        </p:txBody>
      </p:sp>
      <p:sp>
        <p:nvSpPr>
          <p:cNvPr id="35" name="Text 32"/>
          <p:cNvSpPr/>
          <p:nvPr/>
        </p:nvSpPr>
        <p:spPr>
          <a:xfrm>
            <a:off x="603504" y="4370832"/>
            <a:ext cx="8083296" cy="365760"/>
          </a:xfrm>
          <a:prstGeom prst="rect">
            <a:avLst/>
          </a:prstGeom>
          <a:noFill/>
          <a:ln/>
        </p:spPr>
        <p:txBody>
          <a:bodyPr wrap="square" lIns="0" tIns="0" rIns="0" bIns="0" rtlCol="0" anchor="ctr"/>
          <a:lstStyle/>
          <a:p>
            <a:pPr indent="0" marL="0">
              <a:lnSpc>
                <a:spcPts val="1150"/>
              </a:lnSpc>
              <a:buNone/>
            </a:pPr>
            <a:r>
              <a:rPr lang="en-US" sz="950" i="1" dirty="0">
                <a:solidFill>
                  <a:srgbClr val="6A7686"/>
                </a:solidFill>
                <a:latin typeface="Inter" pitchFamily="34" charset="0"/>
                <a:ea typeface="Inter" pitchFamily="34" charset="-122"/>
                <a:cs typeface="Inter" pitchFamily="34" charset="-120"/>
              </a:rPr>
              <a:t>El conflicto de los créditos UVA de 2016–2018 fue real y afectó a familias concretas. Negarlo frente a un cliente es la forma más rápida de perder la conversación.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Qué es una UVA</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Unidad de Valor Adquisitivo. Una unidad de cuenta que sigue a la inflación.</a:t>
            </a:r>
            <a:endParaRPr lang="en-US" sz="1200" dirty="0"/>
          </a:p>
        </p:txBody>
      </p:sp>
      <p:sp>
        <p:nvSpPr>
          <p:cNvPr id="7" name="Shape 4"/>
          <p:cNvSpPr/>
          <p:nvPr/>
        </p:nvSpPr>
        <p:spPr>
          <a:xfrm>
            <a:off x="603504" y="1188720"/>
            <a:ext cx="1732788" cy="1280160"/>
          </a:xfrm>
          <a:prstGeom prst="roundRect">
            <a:avLst>
              <a:gd name="adj" fmla="val 6429"/>
            </a:avLst>
          </a:prstGeom>
          <a:solidFill>
            <a:srgbClr val="4E586E"/>
          </a:solidFill>
          <a:ln w="12700">
            <a:solidFill>
              <a:srgbClr val="4E586E"/>
            </a:solidFill>
            <a:prstDash val="solid"/>
          </a:ln>
        </p:spPr>
      </p:sp>
      <p:sp>
        <p:nvSpPr>
          <p:cNvPr id="8" name="Text 5"/>
          <p:cNvSpPr/>
          <p:nvPr/>
        </p:nvSpPr>
        <p:spPr>
          <a:xfrm>
            <a:off x="731520" y="1316736"/>
            <a:ext cx="1476756" cy="329184"/>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INDEC</a:t>
            </a:r>
            <a:endParaRPr lang="en-US" sz="1800" dirty="0"/>
          </a:p>
        </p:txBody>
      </p:sp>
      <p:sp>
        <p:nvSpPr>
          <p:cNvPr id="9" name="Text 6"/>
          <p:cNvSpPr/>
          <p:nvPr/>
        </p:nvSpPr>
        <p:spPr>
          <a:xfrm>
            <a:off x="731520" y="1682496"/>
            <a:ext cx="1476756" cy="694944"/>
          </a:xfrm>
          <a:prstGeom prst="rect">
            <a:avLst/>
          </a:prstGeom>
          <a:noFill/>
          <a:ln/>
        </p:spPr>
        <p:txBody>
          <a:bodyPr wrap="square" lIns="0" tIns="0" rIns="0" bIns="0" rtlCol="0" anchor="t"/>
          <a:lstStyle/>
          <a:p>
            <a:pPr algn="ctr" indent="0" marL="0">
              <a:lnSpc>
                <a:spcPts val="1100"/>
              </a:lnSpc>
              <a:buNone/>
            </a:pPr>
            <a:r>
              <a:rPr lang="en-US" sz="900" dirty="0">
                <a:solidFill>
                  <a:srgbClr val="CDD8E4"/>
                </a:solidFill>
                <a:latin typeface="Inter" pitchFamily="34" charset="0"/>
                <a:ea typeface="Inter" pitchFamily="34" charset="-122"/>
                <a:cs typeface="Inter" pitchFamily="34" charset="-120"/>
              </a:rPr>
              <a:t>Mide los precios de la economía todos los meses.</a:t>
            </a:r>
            <a:endParaRPr lang="en-US" sz="900" dirty="0"/>
          </a:p>
        </p:txBody>
      </p:sp>
      <p:sp>
        <p:nvSpPr>
          <p:cNvPr id="10" name="Text 7"/>
          <p:cNvSpPr/>
          <p:nvPr/>
        </p:nvSpPr>
        <p:spPr>
          <a:xfrm>
            <a:off x="2336292" y="1691640"/>
            <a:ext cx="384048" cy="274320"/>
          </a:xfrm>
          <a:prstGeom prst="rect">
            <a:avLst/>
          </a:prstGeom>
          <a:noFill/>
          <a:ln/>
        </p:spPr>
        <p:txBody>
          <a:bodyPr wrap="square" lIns="0" tIns="0" rIns="0" bIns="0" rtlCol="0" anchor="ctr"/>
          <a:lstStyle/>
          <a:p>
            <a:pPr algn="ctr" indent="0" marL="0">
              <a:buNone/>
            </a:pPr>
            <a:r>
              <a:rPr lang="en-US" sz="1700" b="1" dirty="0">
                <a:solidFill>
                  <a:srgbClr val="6A8CB0"/>
                </a:solidFill>
                <a:latin typeface="Inter" pitchFamily="34" charset="0"/>
                <a:ea typeface="Inter" pitchFamily="34" charset="-122"/>
                <a:cs typeface="Inter" pitchFamily="34" charset="-120"/>
              </a:rPr>
              <a:t>→</a:t>
            </a:r>
            <a:endParaRPr lang="en-US" sz="1700" dirty="0"/>
          </a:p>
        </p:txBody>
      </p:sp>
      <p:sp>
        <p:nvSpPr>
          <p:cNvPr id="11" name="Shape 8"/>
          <p:cNvSpPr/>
          <p:nvPr/>
        </p:nvSpPr>
        <p:spPr>
          <a:xfrm>
            <a:off x="2720340" y="1188720"/>
            <a:ext cx="1732788" cy="1280160"/>
          </a:xfrm>
          <a:prstGeom prst="roundRect">
            <a:avLst>
              <a:gd name="adj" fmla="val 6429"/>
            </a:avLst>
          </a:prstGeom>
          <a:solidFill>
            <a:srgbClr val="4E586E"/>
          </a:solidFill>
          <a:ln w="12700">
            <a:solidFill>
              <a:srgbClr val="4E586E"/>
            </a:solidFill>
            <a:prstDash val="solid"/>
          </a:ln>
        </p:spPr>
      </p:sp>
      <p:sp>
        <p:nvSpPr>
          <p:cNvPr id="12" name="Text 9"/>
          <p:cNvSpPr/>
          <p:nvPr/>
        </p:nvSpPr>
        <p:spPr>
          <a:xfrm>
            <a:off x="2848356" y="1316736"/>
            <a:ext cx="1476756" cy="329184"/>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IPC</a:t>
            </a:r>
            <a:endParaRPr lang="en-US" sz="1800" dirty="0"/>
          </a:p>
        </p:txBody>
      </p:sp>
      <p:sp>
        <p:nvSpPr>
          <p:cNvPr id="13" name="Text 10"/>
          <p:cNvSpPr/>
          <p:nvPr/>
        </p:nvSpPr>
        <p:spPr>
          <a:xfrm>
            <a:off x="2848356" y="1682496"/>
            <a:ext cx="1476756" cy="694944"/>
          </a:xfrm>
          <a:prstGeom prst="rect">
            <a:avLst/>
          </a:prstGeom>
          <a:noFill/>
          <a:ln/>
        </p:spPr>
        <p:txBody>
          <a:bodyPr wrap="square" lIns="0" tIns="0" rIns="0" bIns="0" rtlCol="0" anchor="t"/>
          <a:lstStyle/>
          <a:p>
            <a:pPr algn="ctr" indent="0" marL="0">
              <a:lnSpc>
                <a:spcPts val="1100"/>
              </a:lnSpc>
              <a:buNone/>
            </a:pPr>
            <a:r>
              <a:rPr lang="en-US" sz="900" dirty="0">
                <a:solidFill>
                  <a:srgbClr val="CDD8E4"/>
                </a:solidFill>
                <a:latin typeface="Inter" pitchFamily="34" charset="0"/>
                <a:ea typeface="Inter" pitchFamily="34" charset="-122"/>
                <a:cs typeface="Inter" pitchFamily="34" charset="-120"/>
              </a:rPr>
              <a:t>El índice de precios al consumidor. La inflación publicada.</a:t>
            </a:r>
            <a:endParaRPr lang="en-US" sz="900" dirty="0"/>
          </a:p>
        </p:txBody>
      </p:sp>
      <p:sp>
        <p:nvSpPr>
          <p:cNvPr id="14" name="Text 11"/>
          <p:cNvSpPr/>
          <p:nvPr/>
        </p:nvSpPr>
        <p:spPr>
          <a:xfrm>
            <a:off x="4453128" y="1691640"/>
            <a:ext cx="384048" cy="274320"/>
          </a:xfrm>
          <a:prstGeom prst="rect">
            <a:avLst/>
          </a:prstGeom>
          <a:noFill/>
          <a:ln/>
        </p:spPr>
        <p:txBody>
          <a:bodyPr wrap="square" lIns="0" tIns="0" rIns="0" bIns="0" rtlCol="0" anchor="ctr"/>
          <a:lstStyle/>
          <a:p>
            <a:pPr algn="ctr" indent="0" marL="0">
              <a:buNone/>
            </a:pPr>
            <a:r>
              <a:rPr lang="en-US" sz="1700" b="1" dirty="0">
                <a:solidFill>
                  <a:srgbClr val="6A8CB0"/>
                </a:solidFill>
                <a:latin typeface="Inter" pitchFamily="34" charset="0"/>
                <a:ea typeface="Inter" pitchFamily="34" charset="-122"/>
                <a:cs typeface="Inter" pitchFamily="34" charset="-120"/>
              </a:rPr>
              <a:t>→</a:t>
            </a:r>
            <a:endParaRPr lang="en-US" sz="1700" dirty="0"/>
          </a:p>
        </p:txBody>
      </p:sp>
      <p:sp>
        <p:nvSpPr>
          <p:cNvPr id="15" name="Shape 12"/>
          <p:cNvSpPr/>
          <p:nvPr/>
        </p:nvSpPr>
        <p:spPr>
          <a:xfrm>
            <a:off x="4837176" y="1188720"/>
            <a:ext cx="1732788" cy="1280160"/>
          </a:xfrm>
          <a:prstGeom prst="roundRect">
            <a:avLst>
              <a:gd name="adj" fmla="val 6429"/>
            </a:avLst>
          </a:prstGeom>
          <a:solidFill>
            <a:srgbClr val="4E586E"/>
          </a:solidFill>
          <a:ln w="12700">
            <a:solidFill>
              <a:srgbClr val="4E586E"/>
            </a:solidFill>
            <a:prstDash val="solid"/>
          </a:ln>
        </p:spPr>
      </p:sp>
      <p:sp>
        <p:nvSpPr>
          <p:cNvPr id="16" name="Text 13"/>
          <p:cNvSpPr/>
          <p:nvPr/>
        </p:nvSpPr>
        <p:spPr>
          <a:xfrm>
            <a:off x="4965192" y="1316736"/>
            <a:ext cx="1476756" cy="329184"/>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CER</a:t>
            </a:r>
            <a:endParaRPr lang="en-US" sz="1800" dirty="0"/>
          </a:p>
        </p:txBody>
      </p:sp>
      <p:sp>
        <p:nvSpPr>
          <p:cNvPr id="17" name="Text 14"/>
          <p:cNvSpPr/>
          <p:nvPr/>
        </p:nvSpPr>
        <p:spPr>
          <a:xfrm>
            <a:off x="4965192" y="1682496"/>
            <a:ext cx="1476756" cy="694944"/>
          </a:xfrm>
          <a:prstGeom prst="rect">
            <a:avLst/>
          </a:prstGeom>
          <a:noFill/>
          <a:ln/>
        </p:spPr>
        <p:txBody>
          <a:bodyPr wrap="square" lIns="0" tIns="0" rIns="0" bIns="0" rtlCol="0" anchor="t"/>
          <a:lstStyle/>
          <a:p>
            <a:pPr algn="ctr" indent="0" marL="0">
              <a:lnSpc>
                <a:spcPts val="1100"/>
              </a:lnSpc>
              <a:buNone/>
            </a:pPr>
            <a:r>
              <a:rPr lang="en-US" sz="900" dirty="0">
                <a:solidFill>
                  <a:srgbClr val="CDD8E4"/>
                </a:solidFill>
                <a:latin typeface="Inter" pitchFamily="34" charset="0"/>
                <a:ea typeface="Inter" pitchFamily="34" charset="-122"/>
                <a:cs typeface="Inter" pitchFamily="34" charset="-120"/>
              </a:rPr>
              <a:t>El coeficiente que traslada esa inflación a un número diario.</a:t>
            </a:r>
            <a:endParaRPr lang="en-US" sz="900" dirty="0"/>
          </a:p>
        </p:txBody>
      </p:sp>
      <p:sp>
        <p:nvSpPr>
          <p:cNvPr id="18" name="Text 15"/>
          <p:cNvSpPr/>
          <p:nvPr/>
        </p:nvSpPr>
        <p:spPr>
          <a:xfrm>
            <a:off x="6569964" y="1691640"/>
            <a:ext cx="384048" cy="274320"/>
          </a:xfrm>
          <a:prstGeom prst="rect">
            <a:avLst/>
          </a:prstGeom>
          <a:noFill/>
          <a:ln/>
        </p:spPr>
        <p:txBody>
          <a:bodyPr wrap="square" lIns="0" tIns="0" rIns="0" bIns="0" rtlCol="0" anchor="ctr"/>
          <a:lstStyle/>
          <a:p>
            <a:pPr algn="ctr" indent="0" marL="0">
              <a:buNone/>
            </a:pPr>
            <a:r>
              <a:rPr lang="en-US" sz="1700" b="1" dirty="0">
                <a:solidFill>
                  <a:srgbClr val="6A8CB0"/>
                </a:solidFill>
                <a:latin typeface="Inter" pitchFamily="34" charset="0"/>
                <a:ea typeface="Inter" pitchFamily="34" charset="-122"/>
                <a:cs typeface="Inter" pitchFamily="34" charset="-120"/>
              </a:rPr>
              <a:t>→</a:t>
            </a:r>
            <a:endParaRPr lang="en-US" sz="1700" dirty="0"/>
          </a:p>
        </p:txBody>
      </p:sp>
      <p:sp>
        <p:nvSpPr>
          <p:cNvPr id="19" name="Shape 16"/>
          <p:cNvSpPr/>
          <p:nvPr/>
        </p:nvSpPr>
        <p:spPr>
          <a:xfrm>
            <a:off x="6954012" y="1188720"/>
            <a:ext cx="1732788" cy="1280160"/>
          </a:xfrm>
          <a:prstGeom prst="roundRect">
            <a:avLst>
              <a:gd name="adj" fmla="val 6429"/>
            </a:avLst>
          </a:prstGeom>
          <a:solidFill>
            <a:srgbClr val="08407C"/>
          </a:solidFill>
          <a:ln w="12700">
            <a:solidFill>
              <a:srgbClr val="08407C"/>
            </a:solidFill>
            <a:prstDash val="solid"/>
          </a:ln>
        </p:spPr>
      </p:sp>
      <p:sp>
        <p:nvSpPr>
          <p:cNvPr id="20" name="Text 17"/>
          <p:cNvSpPr/>
          <p:nvPr/>
        </p:nvSpPr>
        <p:spPr>
          <a:xfrm>
            <a:off x="7082028" y="1316736"/>
            <a:ext cx="1476756" cy="329184"/>
          </a:xfrm>
          <a:prstGeom prst="rect">
            <a:avLst/>
          </a:prstGeom>
          <a:noFill/>
          <a:ln/>
        </p:spPr>
        <p:txBody>
          <a:bodyPr wrap="square" lIns="0" tIns="0" rIns="0" bIns="0" rtlCol="0" anchor="ctr"/>
          <a:lstStyle/>
          <a:p>
            <a:pPr algn="ctr" indent="0" marL="0">
              <a:buNone/>
            </a:pPr>
            <a:r>
              <a:rPr lang="en-US" sz="1800" b="1" dirty="0">
                <a:solidFill>
                  <a:srgbClr val="FFFFFF"/>
                </a:solidFill>
                <a:latin typeface="Inter" pitchFamily="34" charset="0"/>
                <a:ea typeface="Inter" pitchFamily="34" charset="-122"/>
                <a:cs typeface="Inter" pitchFamily="34" charset="-120"/>
              </a:rPr>
              <a:t>UVA</a:t>
            </a:r>
            <a:endParaRPr lang="en-US" sz="1800" dirty="0"/>
          </a:p>
        </p:txBody>
      </p:sp>
      <p:sp>
        <p:nvSpPr>
          <p:cNvPr id="21" name="Text 18"/>
          <p:cNvSpPr/>
          <p:nvPr/>
        </p:nvSpPr>
        <p:spPr>
          <a:xfrm>
            <a:off x="7082028" y="1682496"/>
            <a:ext cx="1476756" cy="694944"/>
          </a:xfrm>
          <a:prstGeom prst="rect">
            <a:avLst/>
          </a:prstGeom>
          <a:noFill/>
          <a:ln/>
        </p:spPr>
        <p:txBody>
          <a:bodyPr wrap="square" lIns="0" tIns="0" rIns="0" bIns="0" rtlCol="0" anchor="t"/>
          <a:lstStyle/>
          <a:p>
            <a:pPr algn="ctr" indent="0" marL="0">
              <a:lnSpc>
                <a:spcPts val="1100"/>
              </a:lnSpc>
              <a:buNone/>
            </a:pPr>
            <a:r>
              <a:rPr lang="en-US" sz="900" dirty="0">
                <a:solidFill>
                  <a:srgbClr val="CDD8E4"/>
                </a:solidFill>
                <a:latin typeface="Inter" pitchFamily="34" charset="0"/>
                <a:ea typeface="Inter" pitchFamily="34" charset="-122"/>
                <a:cs typeface="Inter" pitchFamily="34" charset="-120"/>
              </a:rPr>
              <a:t>El valor en pesos que resulta. Lo publica el BCRA todos los días.</a:t>
            </a:r>
            <a:endParaRPr lang="en-US" sz="900" dirty="0"/>
          </a:p>
        </p:txBody>
      </p:sp>
      <p:sp>
        <p:nvSpPr>
          <p:cNvPr id="22" name="Shape 19"/>
          <p:cNvSpPr/>
          <p:nvPr/>
        </p:nvSpPr>
        <p:spPr>
          <a:xfrm>
            <a:off x="603504" y="2578608"/>
            <a:ext cx="3931920" cy="1371600"/>
          </a:xfrm>
          <a:prstGeom prst="roundRect">
            <a:avLst>
              <a:gd name="adj" fmla="val 6000"/>
            </a:avLst>
          </a:prstGeom>
          <a:solidFill>
            <a:srgbClr val="F3F3F3"/>
          </a:solidFill>
          <a:ln w="12700">
            <a:solidFill>
              <a:srgbClr val="F3F3F3"/>
            </a:solidFill>
            <a:prstDash val="solid"/>
          </a:ln>
        </p:spPr>
      </p:sp>
      <p:sp>
        <p:nvSpPr>
          <p:cNvPr id="23" name="Text 20"/>
          <p:cNvSpPr/>
          <p:nvPr/>
        </p:nvSpPr>
        <p:spPr>
          <a:xfrm>
            <a:off x="804672" y="2743200"/>
            <a:ext cx="3529584" cy="182880"/>
          </a:xfrm>
          <a:prstGeom prst="rect">
            <a:avLst/>
          </a:prstGeom>
          <a:noFill/>
          <a:ln/>
        </p:spPr>
        <p:txBody>
          <a:bodyPr wrap="square" lIns="0" tIns="0" rIns="0" bIns="0" rtlCol="0" anchor="ctr"/>
          <a:lstStyle/>
          <a:p>
            <a:pPr indent="0" marL="0">
              <a:buNone/>
            </a:pPr>
            <a:r>
              <a:rPr lang="en-US" sz="850" b="1" spc="110" kern="0" dirty="0">
                <a:solidFill>
                  <a:srgbClr val="6A7686"/>
                </a:solidFill>
                <a:latin typeface="Inter" pitchFamily="34" charset="0"/>
                <a:ea typeface="Inter" pitchFamily="34" charset="-122"/>
                <a:cs typeface="Inter" pitchFamily="34" charset="-120"/>
              </a:rPr>
              <a:t>VALOR DE REFERENCIA · 19/09/2026</a:t>
            </a:r>
            <a:endParaRPr lang="en-US" sz="850" dirty="0"/>
          </a:p>
        </p:txBody>
      </p:sp>
      <p:sp>
        <p:nvSpPr>
          <p:cNvPr id="24" name="Text 21"/>
          <p:cNvSpPr/>
          <p:nvPr/>
        </p:nvSpPr>
        <p:spPr>
          <a:xfrm>
            <a:off x="804672" y="2962656"/>
            <a:ext cx="3529584" cy="384048"/>
          </a:xfrm>
          <a:prstGeom prst="rect">
            <a:avLst/>
          </a:prstGeom>
          <a:noFill/>
          <a:ln/>
        </p:spPr>
        <p:txBody>
          <a:bodyPr wrap="square" lIns="0" tIns="0" rIns="0" bIns="0" rtlCol="0" anchor="ctr"/>
          <a:lstStyle/>
          <a:p>
            <a:pPr indent="0" marL="0">
              <a:lnSpc>
                <a:spcPts val="2415"/>
              </a:lnSpc>
              <a:buNone/>
            </a:pPr>
            <a:r>
              <a:rPr lang="en-US" sz="2100" b="1" dirty="0">
                <a:solidFill>
                  <a:srgbClr val="08407C"/>
                </a:solidFill>
                <a:latin typeface="Inter" pitchFamily="34" charset="0"/>
                <a:ea typeface="Inter" pitchFamily="34" charset="-122"/>
                <a:cs typeface="Inter" pitchFamily="34" charset="-120"/>
              </a:rPr>
              <a:t>1 UVA ≈ $2.120</a:t>
            </a:r>
            <a:endParaRPr lang="en-US" sz="2100" dirty="0"/>
          </a:p>
        </p:txBody>
      </p:sp>
      <p:sp>
        <p:nvSpPr>
          <p:cNvPr id="25" name="Text 22"/>
          <p:cNvSpPr/>
          <p:nvPr/>
        </p:nvSpPr>
        <p:spPr>
          <a:xfrm>
            <a:off x="804672" y="3401568"/>
            <a:ext cx="3529584" cy="402336"/>
          </a:xfrm>
          <a:prstGeom prst="rect">
            <a:avLst/>
          </a:prstGeom>
          <a:noFill/>
          <a:ln/>
        </p:spPr>
        <p:txBody>
          <a:bodyPr wrap="square" lIns="0" tIns="0" rIns="0" bIns="0" rtlCol="0" anchor="t"/>
          <a:lstStyle/>
          <a:p>
            <a:pPr indent="0" marL="0">
              <a:lnSpc>
                <a:spcPts val="1216"/>
              </a:lnSpc>
              <a:buNone/>
            </a:pPr>
            <a:r>
              <a:rPr lang="en-US" sz="950" dirty="0">
                <a:solidFill>
                  <a:srgbClr val="2E4258"/>
                </a:solidFill>
                <a:latin typeface="Inter" pitchFamily="34" charset="0"/>
                <a:ea typeface="Inter" pitchFamily="34" charset="-122"/>
                <a:cs typeface="Inter" pitchFamily="34" charset="-120"/>
              </a:rPr>
              <a:t>Verificar SIEMPRE en bcra.gob.ar antes de usarlo con un cliente. Cambia todos los días hábiles.</a:t>
            </a:r>
            <a:endParaRPr lang="en-US" sz="950" dirty="0"/>
          </a:p>
        </p:txBody>
      </p:sp>
      <p:sp>
        <p:nvSpPr>
          <p:cNvPr id="26" name="Shape 23"/>
          <p:cNvSpPr/>
          <p:nvPr/>
        </p:nvSpPr>
        <p:spPr>
          <a:xfrm>
            <a:off x="4736592" y="2578608"/>
            <a:ext cx="3950208" cy="1371600"/>
          </a:xfrm>
          <a:prstGeom prst="roundRect">
            <a:avLst>
              <a:gd name="adj" fmla="val 6000"/>
            </a:avLst>
          </a:prstGeom>
          <a:solidFill>
            <a:srgbClr val="7C8594"/>
          </a:solidFill>
          <a:ln w="12700">
            <a:solidFill>
              <a:srgbClr val="7C8594"/>
            </a:solidFill>
            <a:prstDash val="solid"/>
          </a:ln>
        </p:spPr>
      </p:sp>
      <p:sp>
        <p:nvSpPr>
          <p:cNvPr id="27" name="Text 24"/>
          <p:cNvSpPr/>
          <p:nvPr/>
        </p:nvSpPr>
        <p:spPr>
          <a:xfrm>
            <a:off x="4937760" y="2743200"/>
            <a:ext cx="3547872" cy="182880"/>
          </a:xfrm>
          <a:prstGeom prst="rect">
            <a:avLst/>
          </a:prstGeom>
          <a:noFill/>
          <a:ln/>
        </p:spPr>
        <p:txBody>
          <a:bodyPr wrap="square" lIns="0" tIns="0" rIns="0" bIns="0" rtlCol="0" anchor="ctr"/>
          <a:lstStyle/>
          <a:p>
            <a:pPr indent="0" marL="0">
              <a:buNone/>
            </a:pPr>
            <a:r>
              <a:rPr lang="en-US" sz="850" b="1" spc="110" kern="0" dirty="0">
                <a:solidFill>
                  <a:srgbClr val="E4E6E9"/>
                </a:solidFill>
                <a:latin typeface="Inter" pitchFamily="34" charset="0"/>
                <a:ea typeface="Inter" pitchFamily="34" charset="-122"/>
                <a:cs typeface="Inter" pitchFamily="34" charset="-120"/>
              </a:rPr>
              <a:t>EL DETALLE QUE CASI NADIE EXPLICA</a:t>
            </a:r>
            <a:endParaRPr lang="en-US" sz="850" dirty="0"/>
          </a:p>
        </p:txBody>
      </p:sp>
      <p:sp>
        <p:nvSpPr>
          <p:cNvPr id="28" name="Text 25"/>
          <p:cNvSpPr/>
          <p:nvPr/>
        </p:nvSpPr>
        <p:spPr>
          <a:xfrm>
            <a:off x="4937760" y="2962656"/>
            <a:ext cx="3547872" cy="438912"/>
          </a:xfrm>
          <a:prstGeom prst="rect">
            <a:avLst/>
          </a:prstGeom>
          <a:noFill/>
          <a:ln/>
        </p:spPr>
        <p:txBody>
          <a:bodyPr wrap="square" lIns="0" tIns="0" rIns="0" bIns="0" rtlCol="0" anchor="ctr"/>
          <a:lstStyle/>
          <a:p>
            <a:pPr indent="0" marL="0">
              <a:lnSpc>
                <a:spcPts val="1495"/>
              </a:lnSpc>
              <a:buNone/>
            </a:pPr>
            <a:r>
              <a:rPr lang="en-US" sz="1300" b="1" dirty="0">
                <a:solidFill>
                  <a:srgbClr val="FFFFFF"/>
                </a:solidFill>
                <a:latin typeface="Inter" pitchFamily="34" charset="0"/>
                <a:ea typeface="Inter" pitchFamily="34" charset="-122"/>
                <a:cs typeface="Inter" pitchFamily="34" charset="-120"/>
              </a:rPr>
              <a:t>La UVA de hoy trae la inflación de hace ~45 días</a:t>
            </a:r>
            <a:endParaRPr lang="en-US" sz="1300" dirty="0"/>
          </a:p>
        </p:txBody>
      </p:sp>
      <p:sp>
        <p:nvSpPr>
          <p:cNvPr id="29" name="Text 26"/>
          <p:cNvSpPr/>
          <p:nvPr/>
        </p:nvSpPr>
        <p:spPr>
          <a:xfrm>
            <a:off x="4937760" y="3456432"/>
            <a:ext cx="3547872" cy="347472"/>
          </a:xfrm>
          <a:prstGeom prst="rect">
            <a:avLst/>
          </a:prstGeom>
          <a:noFill/>
          <a:ln/>
        </p:spPr>
        <p:txBody>
          <a:bodyPr wrap="square" lIns="0" tIns="0" rIns="0" bIns="0" rtlCol="0" anchor="t"/>
          <a:lstStyle/>
          <a:p>
            <a:pPr indent="0" marL="0">
              <a:lnSpc>
                <a:spcPts val="1216"/>
              </a:lnSpc>
              <a:buNone/>
            </a:pPr>
            <a:r>
              <a:rPr lang="en-US" sz="950" dirty="0">
                <a:solidFill>
                  <a:srgbClr val="E4E6E9"/>
                </a:solidFill>
                <a:latin typeface="Inter" pitchFamily="34" charset="0"/>
                <a:ea typeface="Inter" pitchFamily="34" charset="-122"/>
                <a:cs typeface="Inter" pitchFamily="34" charset="-120"/>
              </a:rPr>
              <a:t>Se publica con rezago. Cuando la inflación baja, eso juega a favor del que paga.</a:t>
            </a:r>
            <a:endParaRPr lang="en-US" sz="950" dirty="0"/>
          </a:p>
        </p:txBody>
      </p:sp>
      <p:sp>
        <p:nvSpPr>
          <p:cNvPr id="30" name="Shape 27"/>
          <p:cNvSpPr/>
          <p:nvPr/>
        </p:nvSpPr>
        <p:spPr>
          <a:xfrm>
            <a:off x="603504" y="4041648"/>
            <a:ext cx="8083296" cy="658368"/>
          </a:xfrm>
          <a:prstGeom prst="roundRect">
            <a:avLst>
              <a:gd name="adj" fmla="val 12500"/>
            </a:avLst>
          </a:prstGeom>
          <a:solidFill>
            <a:srgbClr val="08407C"/>
          </a:solidFill>
          <a:ln w="12700">
            <a:solidFill>
              <a:srgbClr val="08407C"/>
            </a:solidFill>
            <a:prstDash val="solid"/>
          </a:ln>
        </p:spPr>
      </p:sp>
      <p:sp>
        <p:nvSpPr>
          <p:cNvPr id="31" name="Text 28"/>
          <p:cNvSpPr/>
          <p:nvPr/>
        </p:nvSpPr>
        <p:spPr>
          <a:xfrm>
            <a:off x="841248" y="408736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LA IMAGEN QUE SIRVE</a:t>
            </a:r>
            <a:endParaRPr lang="en-US" sz="900" dirty="0"/>
          </a:p>
        </p:txBody>
      </p:sp>
      <p:sp>
        <p:nvSpPr>
          <p:cNvPr id="32" name="Text 29"/>
          <p:cNvSpPr/>
          <p:nvPr/>
        </p:nvSpPr>
        <p:spPr>
          <a:xfrm>
            <a:off x="841248" y="428853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Existe el peso, existe el dólar, existe el euro — y existe la UVA. Es otra unidad de cuenta. Tu deuda está escrita en esa unidad.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Tu deuda, en litros de nafta</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La analogía que más van a usar frente a un cliente. Vale detenerse acá.</a:t>
            </a:r>
            <a:endParaRPr lang="en-US" sz="1200" dirty="0"/>
          </a:p>
        </p:txBody>
      </p:sp>
      <p:sp>
        <p:nvSpPr>
          <p:cNvPr id="7" name="Shape 4"/>
          <p:cNvSpPr/>
          <p:nvPr/>
        </p:nvSpPr>
        <p:spPr>
          <a:xfrm>
            <a:off x="603504" y="1170432"/>
            <a:ext cx="8083296" cy="749808"/>
          </a:xfrm>
          <a:prstGeom prst="roundRect">
            <a:avLst>
              <a:gd name="adj" fmla="val 10976"/>
            </a:avLst>
          </a:prstGeom>
          <a:solidFill>
            <a:srgbClr val="F3F3F3"/>
          </a:solidFill>
          <a:ln w="12700">
            <a:solidFill>
              <a:srgbClr val="F3F3F3"/>
            </a:solidFill>
            <a:prstDash val="solid"/>
          </a:ln>
        </p:spPr>
      </p:sp>
      <p:sp>
        <p:nvSpPr>
          <p:cNvPr id="8" name="Text 5"/>
          <p:cNvSpPr/>
          <p:nvPr/>
        </p:nvSpPr>
        <p:spPr>
          <a:xfrm>
            <a:off x="804672" y="1335024"/>
            <a:ext cx="7680960" cy="365760"/>
          </a:xfrm>
          <a:prstGeom prst="rect">
            <a:avLst/>
          </a:prstGeom>
          <a:noFill/>
          <a:ln/>
        </p:spPr>
        <p:txBody>
          <a:bodyPr wrap="square" lIns="0" tIns="0" rIns="0" bIns="0" rtlCol="0" anchor="ctr"/>
          <a:lstStyle/>
          <a:p>
            <a:pPr indent="0" marL="0">
              <a:lnSpc>
                <a:spcPts val="1840"/>
              </a:lnSpc>
              <a:buNone/>
            </a:pPr>
            <a:r>
              <a:rPr lang="en-US" sz="1600" b="1" dirty="0">
                <a:solidFill>
                  <a:srgbClr val="08407C"/>
                </a:solidFill>
                <a:latin typeface="Inter" pitchFamily="34" charset="0"/>
                <a:ea typeface="Inter" pitchFamily="34" charset="-122"/>
                <a:cs typeface="Inter" pitchFamily="34" charset="-120"/>
              </a:rPr>
              <a:t>Imaginá que no debés pesos: debés 1.000 litros de nafta.</a:t>
            </a:r>
            <a:endParaRPr lang="en-US" sz="1600" dirty="0"/>
          </a:p>
        </p:txBody>
      </p:sp>
      <p:sp>
        <p:nvSpPr>
          <p:cNvPr id="9" name="Shape 6"/>
          <p:cNvSpPr/>
          <p:nvPr/>
        </p:nvSpPr>
        <p:spPr>
          <a:xfrm>
            <a:off x="603504" y="2048256"/>
            <a:ext cx="3941064" cy="1755648"/>
          </a:xfrm>
          <a:prstGeom prst="roundRect">
            <a:avLst>
              <a:gd name="adj" fmla="val 4688"/>
            </a:avLst>
          </a:prstGeom>
          <a:solidFill>
            <a:srgbClr val="26AE60"/>
          </a:solidFill>
          <a:ln w="12700">
            <a:solidFill>
              <a:srgbClr val="26AE60"/>
            </a:solidFill>
            <a:prstDash val="solid"/>
          </a:ln>
        </p:spPr>
      </p:sp>
      <p:sp>
        <p:nvSpPr>
          <p:cNvPr id="10" name="Text 7"/>
          <p:cNvSpPr/>
          <p:nvPr/>
        </p:nvSpPr>
        <p:spPr>
          <a:xfrm>
            <a:off x="822960" y="2194560"/>
            <a:ext cx="3502152" cy="201168"/>
          </a:xfrm>
          <a:prstGeom prst="rect">
            <a:avLst/>
          </a:prstGeom>
          <a:noFill/>
          <a:ln/>
        </p:spPr>
        <p:txBody>
          <a:bodyPr wrap="square" lIns="0" tIns="0" rIns="0" bIns="0" rtlCol="0" anchor="ctr"/>
          <a:lstStyle/>
          <a:p>
            <a:pPr indent="0" marL="0">
              <a:buNone/>
            </a:pPr>
            <a:r>
              <a:rPr lang="en-US" sz="850" b="1" spc="110" kern="0" dirty="0">
                <a:solidFill>
                  <a:srgbClr val="FFFFFF"/>
                </a:solidFill>
                <a:latin typeface="Inter" pitchFamily="34" charset="0"/>
                <a:ea typeface="Inter" pitchFamily="34" charset="-122"/>
                <a:cs typeface="Inter" pitchFamily="34" charset="-120"/>
              </a:rPr>
              <a:t>LO QUE DEBÉS</a:t>
            </a:r>
            <a:endParaRPr lang="en-US" sz="850" dirty="0"/>
          </a:p>
        </p:txBody>
      </p:sp>
      <p:sp>
        <p:nvSpPr>
          <p:cNvPr id="11" name="Text 8"/>
          <p:cNvSpPr/>
          <p:nvPr/>
        </p:nvSpPr>
        <p:spPr>
          <a:xfrm>
            <a:off x="822960" y="2432304"/>
            <a:ext cx="3502152" cy="457200"/>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Litros  ↓</a:t>
            </a:r>
            <a:endParaRPr lang="en-US" sz="2600" dirty="0"/>
          </a:p>
        </p:txBody>
      </p:sp>
      <p:sp>
        <p:nvSpPr>
          <p:cNvPr id="12" name="Text 9"/>
          <p:cNvSpPr/>
          <p:nvPr/>
        </p:nvSpPr>
        <p:spPr>
          <a:xfrm>
            <a:off x="822960" y="2962656"/>
            <a:ext cx="3502152" cy="713232"/>
          </a:xfrm>
          <a:prstGeom prst="rect">
            <a:avLst/>
          </a:prstGeom>
          <a:noFill/>
          <a:ln/>
        </p:spPr>
        <p:txBody>
          <a:bodyPr wrap="square" lIns="0" tIns="0" rIns="0" bIns="0" rtlCol="0" anchor="t"/>
          <a:lstStyle/>
          <a:p>
            <a:pPr indent="0" marL="0">
              <a:lnSpc>
                <a:spcPts val="1350"/>
              </a:lnSpc>
              <a:buNone/>
            </a:pPr>
            <a:r>
              <a:rPr lang="en-US" sz="1100" dirty="0">
                <a:solidFill>
                  <a:srgbClr val="FFFFFF"/>
                </a:solidFill>
                <a:latin typeface="Inter" pitchFamily="34" charset="0"/>
                <a:ea typeface="Inter" pitchFamily="34" charset="-122"/>
                <a:cs typeface="Inter" pitchFamily="34" charset="-120"/>
              </a:rPr>
              <a:t>Cada mes que pagás, debés menos litros. Eso no se discute: baja siempre, mes a mes, hasta cero.</a:t>
            </a:r>
            <a:endParaRPr lang="en-US" sz="1100" dirty="0"/>
          </a:p>
        </p:txBody>
      </p:sp>
      <p:sp>
        <p:nvSpPr>
          <p:cNvPr id="13" name="Shape 10"/>
          <p:cNvSpPr/>
          <p:nvPr/>
        </p:nvSpPr>
        <p:spPr>
          <a:xfrm>
            <a:off x="4745736" y="2048256"/>
            <a:ext cx="3941064" cy="1755648"/>
          </a:xfrm>
          <a:prstGeom prst="roundRect">
            <a:avLst>
              <a:gd name="adj" fmla="val 4688"/>
            </a:avLst>
          </a:prstGeom>
          <a:solidFill>
            <a:srgbClr val="E74B3C"/>
          </a:solidFill>
          <a:ln w="12700">
            <a:solidFill>
              <a:srgbClr val="E74B3C"/>
            </a:solidFill>
            <a:prstDash val="solid"/>
          </a:ln>
        </p:spPr>
      </p:sp>
      <p:sp>
        <p:nvSpPr>
          <p:cNvPr id="14" name="Text 11"/>
          <p:cNvSpPr/>
          <p:nvPr/>
        </p:nvSpPr>
        <p:spPr>
          <a:xfrm>
            <a:off x="4965192" y="2194560"/>
            <a:ext cx="3502152" cy="201168"/>
          </a:xfrm>
          <a:prstGeom prst="rect">
            <a:avLst/>
          </a:prstGeom>
          <a:noFill/>
          <a:ln/>
        </p:spPr>
        <p:txBody>
          <a:bodyPr wrap="square" lIns="0" tIns="0" rIns="0" bIns="0" rtlCol="0" anchor="ctr"/>
          <a:lstStyle/>
          <a:p>
            <a:pPr indent="0" marL="0">
              <a:buNone/>
            </a:pPr>
            <a:r>
              <a:rPr lang="en-US" sz="850" b="1" spc="110" kern="0" dirty="0">
                <a:solidFill>
                  <a:srgbClr val="FFFFFF"/>
                </a:solidFill>
                <a:latin typeface="Inter" pitchFamily="34" charset="0"/>
                <a:ea typeface="Inter" pitchFamily="34" charset="-122"/>
                <a:cs typeface="Inter" pitchFamily="34" charset="-120"/>
              </a:rPr>
              <a:t>LO QUE CUESTA CADA LITRO</a:t>
            </a:r>
            <a:endParaRPr lang="en-US" sz="850" dirty="0"/>
          </a:p>
        </p:txBody>
      </p:sp>
      <p:sp>
        <p:nvSpPr>
          <p:cNvPr id="15" name="Text 12"/>
          <p:cNvSpPr/>
          <p:nvPr/>
        </p:nvSpPr>
        <p:spPr>
          <a:xfrm>
            <a:off x="4965192" y="2432304"/>
            <a:ext cx="3502152" cy="457200"/>
          </a:xfrm>
          <a:prstGeom prst="rect">
            <a:avLst/>
          </a:prstGeom>
          <a:noFill/>
          <a:ln/>
        </p:spPr>
        <p:txBody>
          <a:bodyPr wrap="square" lIns="0" tIns="0" rIns="0" bIns="0" rtlCol="0" anchor="ctr"/>
          <a:lstStyle/>
          <a:p>
            <a:pPr indent="0" marL="0">
              <a:buNone/>
            </a:pPr>
            <a:r>
              <a:rPr lang="en-US" sz="2600" b="1" dirty="0">
                <a:solidFill>
                  <a:srgbClr val="FFFFFF"/>
                </a:solidFill>
                <a:latin typeface="Inter" pitchFamily="34" charset="0"/>
                <a:ea typeface="Inter" pitchFamily="34" charset="-122"/>
                <a:cs typeface="Inter" pitchFamily="34" charset="-120"/>
              </a:rPr>
              <a:t>Precio  ↑</a:t>
            </a:r>
            <a:endParaRPr lang="en-US" sz="2600" dirty="0"/>
          </a:p>
        </p:txBody>
      </p:sp>
      <p:sp>
        <p:nvSpPr>
          <p:cNvPr id="16" name="Text 13"/>
          <p:cNvSpPr/>
          <p:nvPr/>
        </p:nvSpPr>
        <p:spPr>
          <a:xfrm>
            <a:off x="4965192" y="2962656"/>
            <a:ext cx="3502152" cy="713232"/>
          </a:xfrm>
          <a:prstGeom prst="rect">
            <a:avLst/>
          </a:prstGeom>
          <a:noFill/>
          <a:ln/>
        </p:spPr>
        <p:txBody>
          <a:bodyPr wrap="square" lIns="0" tIns="0" rIns="0" bIns="0" rtlCol="0" anchor="t"/>
          <a:lstStyle/>
          <a:p>
            <a:pPr indent="0" marL="0">
              <a:lnSpc>
                <a:spcPts val="1350"/>
              </a:lnSpc>
              <a:buNone/>
            </a:pPr>
            <a:r>
              <a:rPr lang="en-US" sz="1100" dirty="0">
                <a:solidFill>
                  <a:srgbClr val="FFFFFF"/>
                </a:solidFill>
                <a:latin typeface="Inter" pitchFamily="34" charset="0"/>
                <a:ea typeface="Inter" pitchFamily="34" charset="-122"/>
                <a:cs typeface="Inter" pitchFamily="34" charset="-120"/>
              </a:rPr>
              <a:t>El litro sube con la inflación. Por eso el número en pesos puede subir aunque debas menos litros.</a:t>
            </a:r>
            <a:endParaRPr lang="en-US" sz="1100" dirty="0"/>
          </a:p>
        </p:txBody>
      </p:sp>
      <p:sp>
        <p:nvSpPr>
          <p:cNvPr id="17" name="Shape 14"/>
          <p:cNvSpPr/>
          <p:nvPr/>
        </p:nvSpPr>
        <p:spPr>
          <a:xfrm>
            <a:off x="603504" y="3950208"/>
            <a:ext cx="8083296" cy="658368"/>
          </a:xfrm>
          <a:prstGeom prst="roundRect">
            <a:avLst>
              <a:gd name="adj" fmla="val 12500"/>
            </a:avLst>
          </a:prstGeom>
          <a:solidFill>
            <a:srgbClr val="08407C"/>
          </a:solidFill>
          <a:ln w="12700">
            <a:solidFill>
              <a:srgbClr val="08407C"/>
            </a:solidFill>
            <a:prstDash val="solid"/>
          </a:ln>
        </p:spPr>
      </p:sp>
      <p:sp>
        <p:nvSpPr>
          <p:cNvPr id="18" name="Text 15"/>
          <p:cNvSpPr/>
          <p:nvPr/>
        </p:nvSpPr>
        <p:spPr>
          <a:xfrm>
            <a:off x="841248" y="399592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TRADUCCIÓN AL CRÉDITO</a:t>
            </a:r>
            <a:endParaRPr lang="en-US" sz="900" dirty="0"/>
          </a:p>
        </p:txBody>
      </p:sp>
      <p:sp>
        <p:nvSpPr>
          <p:cNvPr id="19" name="Text 16"/>
          <p:cNvSpPr/>
          <p:nvPr/>
        </p:nvSpPr>
        <p:spPr>
          <a:xfrm>
            <a:off x="841248" y="419709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Los litros son las UVA. El precio del litro es el valor de la UVA en pesos. Tu deuda se mide en litros — el banco te los cuenta, no te cuenta los pesos.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Qué significa «UVA + 6%»</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Son dos cosas distintas pegadas con un signo más. Conviene separarlas.</a:t>
            </a:r>
            <a:endParaRPr lang="en-US" sz="1200" dirty="0"/>
          </a:p>
        </p:txBody>
      </p:sp>
      <p:sp>
        <p:nvSpPr>
          <p:cNvPr id="7" name="Shape 4"/>
          <p:cNvSpPr/>
          <p:nvPr/>
        </p:nvSpPr>
        <p:spPr>
          <a:xfrm>
            <a:off x="603504" y="1188720"/>
            <a:ext cx="3941064" cy="1481328"/>
          </a:xfrm>
          <a:prstGeom prst="roundRect">
            <a:avLst>
              <a:gd name="adj" fmla="val 5556"/>
            </a:avLst>
          </a:prstGeom>
          <a:solidFill>
            <a:srgbClr val="08407C"/>
          </a:solidFill>
          <a:ln w="12700">
            <a:solidFill>
              <a:srgbClr val="08407C"/>
            </a:solidFill>
            <a:prstDash val="solid"/>
          </a:ln>
        </p:spPr>
      </p:sp>
      <p:sp>
        <p:nvSpPr>
          <p:cNvPr id="8" name="Text 5"/>
          <p:cNvSpPr/>
          <p:nvPr/>
        </p:nvSpPr>
        <p:spPr>
          <a:xfrm>
            <a:off x="804672" y="1353312"/>
            <a:ext cx="3538728" cy="182880"/>
          </a:xfrm>
          <a:prstGeom prst="rect">
            <a:avLst/>
          </a:prstGeom>
          <a:noFill/>
          <a:ln/>
        </p:spPr>
        <p:txBody>
          <a:bodyPr wrap="square" lIns="0" tIns="0" rIns="0" bIns="0" rtlCol="0" anchor="ctr"/>
          <a:lstStyle/>
          <a:p>
            <a:pPr indent="0" marL="0">
              <a:buNone/>
            </a:pPr>
            <a:r>
              <a:rPr lang="en-US" sz="850" b="1" spc="110" kern="0" dirty="0">
                <a:solidFill>
                  <a:srgbClr val="CDD8E4"/>
                </a:solidFill>
                <a:latin typeface="Inter" pitchFamily="34" charset="0"/>
                <a:ea typeface="Inter" pitchFamily="34" charset="-122"/>
                <a:cs typeface="Inter" pitchFamily="34" charset="-120"/>
              </a:rPr>
              <a:t>LA PRIMERA PARTE</a:t>
            </a:r>
            <a:endParaRPr lang="en-US" sz="850" dirty="0"/>
          </a:p>
        </p:txBody>
      </p:sp>
      <p:sp>
        <p:nvSpPr>
          <p:cNvPr id="9" name="Text 6"/>
          <p:cNvSpPr/>
          <p:nvPr/>
        </p:nvSpPr>
        <p:spPr>
          <a:xfrm>
            <a:off x="804672" y="1572768"/>
            <a:ext cx="3538728" cy="310896"/>
          </a:xfrm>
          <a:prstGeom prst="rect">
            <a:avLst/>
          </a:prstGeom>
          <a:noFill/>
          <a:ln/>
        </p:spPr>
        <p:txBody>
          <a:bodyPr wrap="square" lIns="0" tIns="0" rIns="0" bIns="0" rtlCol="0" anchor="ctr"/>
          <a:lstStyle/>
          <a:p>
            <a:pPr indent="0" marL="0">
              <a:lnSpc>
                <a:spcPts val="1840"/>
              </a:lnSpc>
              <a:buNone/>
            </a:pPr>
            <a:r>
              <a:rPr lang="en-US" sz="1600" b="1" dirty="0">
                <a:solidFill>
                  <a:srgbClr val="FFFFFF"/>
                </a:solidFill>
                <a:latin typeface="Inter" pitchFamily="34" charset="0"/>
                <a:ea typeface="Inter" pitchFamily="34" charset="-122"/>
                <a:cs typeface="Inter" pitchFamily="34" charset="-120"/>
              </a:rPr>
              <a:t>UVA = actualización</a:t>
            </a:r>
            <a:endParaRPr lang="en-US" sz="1600" dirty="0"/>
          </a:p>
        </p:txBody>
      </p:sp>
      <p:sp>
        <p:nvSpPr>
          <p:cNvPr id="10" name="Text 7"/>
          <p:cNvSpPr/>
          <p:nvPr/>
        </p:nvSpPr>
        <p:spPr>
          <a:xfrm>
            <a:off x="804672" y="1938528"/>
            <a:ext cx="3538728" cy="585216"/>
          </a:xfrm>
          <a:prstGeom prst="rect">
            <a:avLst/>
          </a:prstGeom>
          <a:noFill/>
          <a:ln/>
        </p:spPr>
        <p:txBody>
          <a:bodyPr wrap="square" lIns="0" tIns="0" rIns="0" bIns="0" rtlCol="0" anchor="t"/>
          <a:lstStyle/>
          <a:p>
            <a:pPr indent="0" marL="0">
              <a:lnSpc>
                <a:spcPts val="1344"/>
              </a:lnSpc>
              <a:buNone/>
            </a:pPr>
            <a:r>
              <a:rPr lang="en-US" sz="1050" dirty="0">
                <a:solidFill>
                  <a:srgbClr val="CDD8E4"/>
                </a:solidFill>
                <a:latin typeface="Inter" pitchFamily="34" charset="0"/>
                <a:ea typeface="Inter" pitchFamily="34" charset="-122"/>
                <a:cs typeface="Inter" pitchFamily="34" charset="-120"/>
              </a:rPr>
              <a:t>No es ganancia del banco. Es lo que mantiene el valor del capital prestado a lo largo de 20 o 30 años. Si la inflación fuera cero, esta parte sería cero.</a:t>
            </a:r>
            <a:endParaRPr lang="en-US" sz="1050" dirty="0"/>
          </a:p>
        </p:txBody>
      </p:sp>
      <p:sp>
        <p:nvSpPr>
          <p:cNvPr id="11" name="Shape 8"/>
          <p:cNvSpPr/>
          <p:nvPr/>
        </p:nvSpPr>
        <p:spPr>
          <a:xfrm>
            <a:off x="4745736" y="1188720"/>
            <a:ext cx="3941064" cy="1481328"/>
          </a:xfrm>
          <a:prstGeom prst="roundRect">
            <a:avLst>
              <a:gd name="adj" fmla="val 5556"/>
            </a:avLst>
          </a:prstGeom>
          <a:solidFill>
            <a:srgbClr val="4E586E"/>
          </a:solidFill>
          <a:ln w="12700">
            <a:solidFill>
              <a:srgbClr val="4E586E"/>
            </a:solidFill>
            <a:prstDash val="solid"/>
          </a:ln>
        </p:spPr>
      </p:sp>
      <p:sp>
        <p:nvSpPr>
          <p:cNvPr id="12" name="Text 9"/>
          <p:cNvSpPr/>
          <p:nvPr/>
        </p:nvSpPr>
        <p:spPr>
          <a:xfrm>
            <a:off x="4946904" y="1353312"/>
            <a:ext cx="3538728" cy="182880"/>
          </a:xfrm>
          <a:prstGeom prst="rect">
            <a:avLst/>
          </a:prstGeom>
          <a:noFill/>
          <a:ln/>
        </p:spPr>
        <p:txBody>
          <a:bodyPr wrap="square" lIns="0" tIns="0" rIns="0" bIns="0" rtlCol="0" anchor="ctr"/>
          <a:lstStyle/>
          <a:p>
            <a:pPr indent="0" marL="0">
              <a:buNone/>
            </a:pPr>
            <a:r>
              <a:rPr lang="en-US" sz="850" b="1" spc="110" kern="0" dirty="0">
                <a:solidFill>
                  <a:srgbClr val="CDD8E4"/>
                </a:solidFill>
                <a:latin typeface="Inter" pitchFamily="34" charset="0"/>
                <a:ea typeface="Inter" pitchFamily="34" charset="-122"/>
                <a:cs typeface="Inter" pitchFamily="34" charset="-120"/>
              </a:rPr>
              <a:t>LA SEGUNDA PARTE</a:t>
            </a:r>
            <a:endParaRPr lang="en-US" sz="850" dirty="0"/>
          </a:p>
        </p:txBody>
      </p:sp>
      <p:sp>
        <p:nvSpPr>
          <p:cNvPr id="13" name="Text 10"/>
          <p:cNvSpPr/>
          <p:nvPr/>
        </p:nvSpPr>
        <p:spPr>
          <a:xfrm>
            <a:off x="4946904" y="1572768"/>
            <a:ext cx="3538728" cy="310896"/>
          </a:xfrm>
          <a:prstGeom prst="rect">
            <a:avLst/>
          </a:prstGeom>
          <a:noFill/>
          <a:ln/>
        </p:spPr>
        <p:txBody>
          <a:bodyPr wrap="square" lIns="0" tIns="0" rIns="0" bIns="0" rtlCol="0" anchor="ctr"/>
          <a:lstStyle/>
          <a:p>
            <a:pPr indent="0" marL="0">
              <a:lnSpc>
                <a:spcPts val="1840"/>
              </a:lnSpc>
              <a:buNone/>
            </a:pPr>
            <a:r>
              <a:rPr lang="en-US" sz="1600" b="1" dirty="0">
                <a:solidFill>
                  <a:srgbClr val="FFFFFF"/>
                </a:solidFill>
                <a:latin typeface="Inter" pitchFamily="34" charset="0"/>
                <a:ea typeface="Inter" pitchFamily="34" charset="-122"/>
                <a:cs typeface="Inter" pitchFamily="34" charset="-120"/>
              </a:rPr>
              <a:t>+6% = interés real</a:t>
            </a:r>
            <a:endParaRPr lang="en-US" sz="1600" dirty="0"/>
          </a:p>
        </p:txBody>
      </p:sp>
      <p:sp>
        <p:nvSpPr>
          <p:cNvPr id="14" name="Text 11"/>
          <p:cNvSpPr/>
          <p:nvPr/>
        </p:nvSpPr>
        <p:spPr>
          <a:xfrm>
            <a:off x="4946904" y="1938528"/>
            <a:ext cx="3538728" cy="585216"/>
          </a:xfrm>
          <a:prstGeom prst="rect">
            <a:avLst/>
          </a:prstGeom>
          <a:noFill/>
          <a:ln/>
        </p:spPr>
        <p:txBody>
          <a:bodyPr wrap="square" lIns="0" tIns="0" rIns="0" bIns="0" rtlCol="0" anchor="t"/>
          <a:lstStyle/>
          <a:p>
            <a:pPr indent="0" marL="0">
              <a:lnSpc>
                <a:spcPts val="1344"/>
              </a:lnSpc>
              <a:buNone/>
            </a:pPr>
            <a:r>
              <a:rPr lang="en-US" sz="1050" dirty="0">
                <a:solidFill>
                  <a:srgbClr val="CDD8E4"/>
                </a:solidFill>
                <a:latin typeface="Inter" pitchFamily="34" charset="0"/>
                <a:ea typeface="Inter" pitchFamily="34" charset="-122"/>
                <a:cs typeface="Inter" pitchFamily="34" charset="-120"/>
              </a:rPr>
              <a:t>Anual, y se calcula sobre el saldo expresado en UVA. Esta sí es la ganancia del banco por prestarte y por el riesgo que asume.</a:t>
            </a:r>
            <a:endParaRPr lang="en-US" sz="1050" dirty="0"/>
          </a:p>
        </p:txBody>
      </p:sp>
      <p:sp>
        <p:nvSpPr>
          <p:cNvPr id="15" name="Shape 12"/>
          <p:cNvSpPr/>
          <p:nvPr/>
        </p:nvSpPr>
        <p:spPr>
          <a:xfrm>
            <a:off x="603504" y="2798064"/>
            <a:ext cx="8083296" cy="1133856"/>
          </a:xfrm>
          <a:prstGeom prst="roundRect">
            <a:avLst>
              <a:gd name="adj" fmla="val 7258"/>
            </a:avLst>
          </a:prstGeom>
          <a:solidFill>
            <a:srgbClr val="F3F3F3"/>
          </a:solidFill>
          <a:ln w="12700">
            <a:solidFill>
              <a:srgbClr val="F3F3F3"/>
            </a:solidFill>
            <a:prstDash val="solid"/>
          </a:ln>
        </p:spPr>
      </p:sp>
      <p:sp>
        <p:nvSpPr>
          <p:cNvPr id="16" name="Text 13"/>
          <p:cNvSpPr/>
          <p:nvPr/>
        </p:nvSpPr>
        <p:spPr>
          <a:xfrm>
            <a:off x="804672" y="2962656"/>
            <a:ext cx="7680960" cy="182880"/>
          </a:xfrm>
          <a:prstGeom prst="rect">
            <a:avLst/>
          </a:prstGeom>
          <a:noFill/>
          <a:ln/>
        </p:spPr>
        <p:txBody>
          <a:bodyPr wrap="square" lIns="0" tIns="0" rIns="0" bIns="0" rtlCol="0" anchor="ctr"/>
          <a:lstStyle/>
          <a:p>
            <a:pPr indent="0" marL="0">
              <a:buNone/>
            </a:pPr>
            <a:r>
              <a:rPr lang="en-US" sz="850" b="1" spc="110" kern="0" dirty="0">
                <a:solidFill>
                  <a:srgbClr val="6A7686"/>
                </a:solidFill>
                <a:latin typeface="Inter" pitchFamily="34" charset="0"/>
                <a:ea typeface="Inter" pitchFamily="34" charset="-122"/>
                <a:cs typeface="Inter" pitchFamily="34" charset="-120"/>
              </a:rPr>
              <a:t>QUÉ NO SIGNIFICA — Y ES EL ERROR MÁS COMÚN</a:t>
            </a:r>
            <a:endParaRPr lang="en-US" sz="850" dirty="0"/>
          </a:p>
        </p:txBody>
      </p:sp>
      <p:sp>
        <p:nvSpPr>
          <p:cNvPr id="17" name="Text 14"/>
          <p:cNvSpPr/>
          <p:nvPr/>
        </p:nvSpPr>
        <p:spPr>
          <a:xfrm>
            <a:off x="804672" y="3182112"/>
            <a:ext cx="7680960" cy="274320"/>
          </a:xfrm>
          <a:prstGeom prst="rect">
            <a:avLst/>
          </a:prstGeom>
          <a:noFill/>
          <a:ln/>
        </p:spPr>
        <p:txBody>
          <a:bodyPr wrap="square" lIns="0" tIns="0" rIns="0" bIns="0" rtlCol="0" anchor="ctr"/>
          <a:lstStyle/>
          <a:p>
            <a:pPr indent="0" marL="0">
              <a:lnSpc>
                <a:spcPts val="1495"/>
              </a:lnSpc>
              <a:buNone/>
            </a:pPr>
            <a:r>
              <a:rPr lang="en-US" sz="1300" b="1" dirty="0">
                <a:solidFill>
                  <a:srgbClr val="08407C"/>
                </a:solidFill>
                <a:latin typeface="Inter" pitchFamily="34" charset="0"/>
                <a:ea typeface="Inter" pitchFamily="34" charset="-122"/>
                <a:cs typeface="Inter" pitchFamily="34" charset="-120"/>
              </a:rPr>
              <a:t>No es «la inflación más un 6% extra sobre la cuota».</a:t>
            </a:r>
            <a:endParaRPr lang="en-US" sz="1300" dirty="0"/>
          </a:p>
        </p:txBody>
      </p:sp>
      <p:sp>
        <p:nvSpPr>
          <p:cNvPr id="18" name="Text 15"/>
          <p:cNvSpPr/>
          <p:nvPr/>
        </p:nvSpPr>
        <p:spPr>
          <a:xfrm>
            <a:off x="804672" y="3511296"/>
            <a:ext cx="7680960" cy="274320"/>
          </a:xfrm>
          <a:prstGeom prst="rect">
            <a:avLst/>
          </a:prstGeom>
          <a:noFill/>
          <a:ln/>
        </p:spPr>
        <p:txBody>
          <a:bodyPr wrap="square" lIns="0" tIns="0" rIns="0" bIns="0" rtlCol="0" anchor="t"/>
          <a:lstStyle/>
          <a:p>
            <a:pPr indent="0" marL="0">
              <a:lnSpc>
                <a:spcPts val="1344"/>
              </a:lnSpc>
              <a:buNone/>
            </a:pPr>
            <a:r>
              <a:rPr lang="en-US" sz="1050" dirty="0">
                <a:solidFill>
                  <a:srgbClr val="2E4258"/>
                </a:solidFill>
                <a:latin typeface="Inter" pitchFamily="34" charset="0"/>
                <a:ea typeface="Inter" pitchFamily="34" charset="-122"/>
                <a:cs typeface="Inter" pitchFamily="34" charset="-120"/>
              </a:rPr>
              <a:t>El 6% no se suma a la inflación: es la tasa que se aplica sobre el saldo medido en UVA, igual que en cualquier crédito. Lo que la inflación mueve es el precio de la UVA, no la tasa.</a:t>
            </a:r>
            <a:endParaRPr lang="en-US" sz="1050" dirty="0"/>
          </a:p>
        </p:txBody>
      </p:sp>
      <p:sp>
        <p:nvSpPr>
          <p:cNvPr id="19" name="Shape 16"/>
          <p:cNvSpPr/>
          <p:nvPr/>
        </p:nvSpPr>
        <p:spPr>
          <a:xfrm>
            <a:off x="603504" y="4041648"/>
            <a:ext cx="8083296" cy="658368"/>
          </a:xfrm>
          <a:prstGeom prst="roundRect">
            <a:avLst>
              <a:gd name="adj" fmla="val 12500"/>
            </a:avLst>
          </a:prstGeom>
          <a:solidFill>
            <a:srgbClr val="7C8594"/>
          </a:solidFill>
          <a:ln w="12700">
            <a:solidFill>
              <a:srgbClr val="7C8594"/>
            </a:solidFill>
            <a:prstDash val="solid"/>
          </a:ln>
        </p:spPr>
      </p:sp>
      <p:sp>
        <p:nvSpPr>
          <p:cNvPr id="20" name="Text 17"/>
          <p:cNvSpPr/>
          <p:nvPr/>
        </p:nvSpPr>
        <p:spPr>
          <a:xfrm>
            <a:off x="841248" y="408736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EL 6% DE ESTA SLIDE ES UN EJEMPLO, NO UNA OFERTA</a:t>
            </a:r>
            <a:endParaRPr lang="en-US" sz="900" dirty="0"/>
          </a:p>
        </p:txBody>
      </p:sp>
      <p:sp>
        <p:nvSpPr>
          <p:cNvPr id="21" name="Text 18"/>
          <p:cNvSpPr/>
          <p:nvPr/>
        </p:nvSpPr>
        <p:spPr>
          <a:xfrm>
            <a:off x="841248" y="428853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Cada banco publica su propia tasa y cambian seguido. Nunca digas un número de memoria: mostrá dónde consultarlo o derivá al banco.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«Pago todos los meses, ¿por qué debo más?»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La pregunta que más van a recibir. Conviene tener la respuesta memorizada.</a:t>
            </a:r>
            <a:endParaRPr lang="en-US" sz="1200" dirty="0"/>
          </a:p>
        </p:txBody>
      </p:sp>
      <p:sp>
        <p:nvSpPr>
          <p:cNvPr id="7" name="Shape 4"/>
          <p:cNvSpPr/>
          <p:nvPr/>
        </p:nvSpPr>
        <p:spPr>
          <a:xfrm>
            <a:off x="603504" y="1188720"/>
            <a:ext cx="3941064" cy="1371600"/>
          </a:xfrm>
          <a:prstGeom prst="roundRect">
            <a:avLst>
              <a:gd name="adj" fmla="val 6000"/>
            </a:avLst>
          </a:prstGeom>
          <a:solidFill>
            <a:srgbClr val="26AE60"/>
          </a:solidFill>
          <a:ln w="12700">
            <a:solidFill>
              <a:srgbClr val="26AE60"/>
            </a:solidFill>
            <a:prstDash val="solid"/>
          </a:ln>
        </p:spPr>
      </p:sp>
      <p:sp>
        <p:nvSpPr>
          <p:cNvPr id="8" name="Text 5"/>
          <p:cNvSpPr/>
          <p:nvPr/>
        </p:nvSpPr>
        <p:spPr>
          <a:xfrm>
            <a:off x="822960" y="1280160"/>
            <a:ext cx="457200" cy="402336"/>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a:t>
            </a:r>
            <a:endParaRPr lang="en-US" sz="2400" dirty="0"/>
          </a:p>
        </p:txBody>
      </p:sp>
      <p:sp>
        <p:nvSpPr>
          <p:cNvPr id="9" name="Text 6"/>
          <p:cNvSpPr/>
          <p:nvPr/>
        </p:nvSpPr>
        <p:spPr>
          <a:xfrm>
            <a:off x="1316736" y="1280160"/>
            <a:ext cx="3008376" cy="402336"/>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Tu deuda en UVA baja</a:t>
            </a:r>
            <a:endParaRPr lang="en-US" sz="1500" dirty="0"/>
          </a:p>
        </p:txBody>
      </p:sp>
      <p:sp>
        <p:nvSpPr>
          <p:cNvPr id="10" name="Text 7"/>
          <p:cNvSpPr/>
          <p:nvPr/>
        </p:nvSpPr>
        <p:spPr>
          <a:xfrm>
            <a:off x="822960" y="1737360"/>
            <a:ext cx="3502152" cy="713232"/>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Inter" pitchFamily="34" charset="0"/>
                <a:ea typeface="Inter" pitchFamily="34" charset="-122"/>
                <a:cs typeface="Inter" pitchFamily="34" charset="-120"/>
              </a:rPr>
              <a:t>Todos los meses amortizás una parte del capital. La cantidad de UVA que debés es menor que el mes pasado. Siempre.</a:t>
            </a:r>
            <a:endParaRPr lang="en-US" sz="1050" dirty="0"/>
          </a:p>
        </p:txBody>
      </p:sp>
      <p:sp>
        <p:nvSpPr>
          <p:cNvPr id="11" name="Shape 8"/>
          <p:cNvSpPr/>
          <p:nvPr/>
        </p:nvSpPr>
        <p:spPr>
          <a:xfrm>
            <a:off x="4745736" y="1188720"/>
            <a:ext cx="3941064" cy="1371600"/>
          </a:xfrm>
          <a:prstGeom prst="roundRect">
            <a:avLst>
              <a:gd name="adj" fmla="val 6000"/>
            </a:avLst>
          </a:prstGeom>
          <a:solidFill>
            <a:srgbClr val="E74B3C"/>
          </a:solidFill>
          <a:ln w="12700">
            <a:solidFill>
              <a:srgbClr val="E74B3C"/>
            </a:solidFill>
            <a:prstDash val="solid"/>
          </a:ln>
        </p:spPr>
      </p:sp>
      <p:sp>
        <p:nvSpPr>
          <p:cNvPr id="12" name="Text 9"/>
          <p:cNvSpPr/>
          <p:nvPr/>
        </p:nvSpPr>
        <p:spPr>
          <a:xfrm>
            <a:off x="4965192" y="1280160"/>
            <a:ext cx="457200" cy="402336"/>
          </a:xfrm>
          <a:prstGeom prst="rect">
            <a:avLst/>
          </a:prstGeom>
          <a:noFill/>
          <a:ln/>
        </p:spPr>
        <p:txBody>
          <a:bodyPr wrap="square" lIns="0" tIns="0" rIns="0" bIns="0" rtlCol="0" anchor="ctr"/>
          <a:lstStyle/>
          <a:p>
            <a:pPr indent="0" marL="0">
              <a:buNone/>
            </a:pPr>
            <a:r>
              <a:rPr lang="en-US" sz="2400" b="1" dirty="0">
                <a:solidFill>
                  <a:srgbClr val="FFFFFF"/>
                </a:solidFill>
                <a:latin typeface="Inter" pitchFamily="34" charset="0"/>
                <a:ea typeface="Inter" pitchFamily="34" charset="-122"/>
                <a:cs typeface="Inter" pitchFamily="34" charset="-120"/>
              </a:rPr>
              <a:t>↑</a:t>
            </a:r>
            <a:endParaRPr lang="en-US" sz="2400" dirty="0"/>
          </a:p>
        </p:txBody>
      </p:sp>
      <p:sp>
        <p:nvSpPr>
          <p:cNvPr id="13" name="Text 10"/>
          <p:cNvSpPr/>
          <p:nvPr/>
        </p:nvSpPr>
        <p:spPr>
          <a:xfrm>
            <a:off x="5458968" y="1280160"/>
            <a:ext cx="3008376" cy="402336"/>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El valor de la UVA sube</a:t>
            </a:r>
            <a:endParaRPr lang="en-US" sz="1500" dirty="0"/>
          </a:p>
        </p:txBody>
      </p:sp>
      <p:sp>
        <p:nvSpPr>
          <p:cNvPr id="14" name="Text 11"/>
          <p:cNvSpPr/>
          <p:nvPr/>
        </p:nvSpPr>
        <p:spPr>
          <a:xfrm>
            <a:off x="4965192" y="1737360"/>
            <a:ext cx="3502152" cy="713232"/>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Inter" pitchFamily="34" charset="0"/>
                <a:ea typeface="Inter" pitchFamily="34" charset="-122"/>
                <a:cs typeface="Inter" pitchFamily="34" charset="-120"/>
              </a:rPr>
              <a:t>Cada UVA vale más pesos que el mes pasado. Si la inflación corre más rápido que tu amortización, el número en pesos sube.</a:t>
            </a:r>
            <a:endParaRPr lang="en-US" sz="1050" dirty="0"/>
          </a:p>
        </p:txBody>
      </p:sp>
      <p:sp>
        <p:nvSpPr>
          <p:cNvPr id="15" name="Shape 12"/>
          <p:cNvSpPr/>
          <p:nvPr/>
        </p:nvSpPr>
        <p:spPr>
          <a:xfrm>
            <a:off x="603504" y="2688336"/>
            <a:ext cx="8083296" cy="1243584"/>
          </a:xfrm>
          <a:prstGeom prst="roundRect">
            <a:avLst>
              <a:gd name="adj" fmla="val 6618"/>
            </a:avLst>
          </a:prstGeom>
          <a:solidFill>
            <a:srgbClr val="08407C"/>
          </a:solidFill>
          <a:ln w="12700">
            <a:solidFill>
              <a:srgbClr val="08407C"/>
            </a:solidFill>
            <a:prstDash val="solid"/>
          </a:ln>
        </p:spPr>
      </p:sp>
      <p:sp>
        <p:nvSpPr>
          <p:cNvPr id="16" name="Text 13"/>
          <p:cNvSpPr/>
          <p:nvPr/>
        </p:nvSpPr>
        <p:spPr>
          <a:xfrm>
            <a:off x="841248" y="2798064"/>
            <a:ext cx="7607808" cy="201168"/>
          </a:xfrm>
          <a:prstGeom prst="rect">
            <a:avLst/>
          </a:prstGeom>
          <a:noFill/>
          <a:ln/>
        </p:spPr>
        <p:txBody>
          <a:bodyPr wrap="square" lIns="0" tIns="0" rIns="0" bIns="0" rtlCol="0" anchor="ctr"/>
          <a:lstStyle/>
          <a:p>
            <a:pPr indent="0" marL="0">
              <a:buNone/>
            </a:pPr>
            <a:r>
              <a:rPr lang="en-US" sz="850" b="1" spc="110" kern="0" dirty="0">
                <a:solidFill>
                  <a:srgbClr val="CDD8E4"/>
                </a:solidFill>
                <a:latin typeface="Inter" pitchFamily="34" charset="0"/>
                <a:ea typeface="Inter" pitchFamily="34" charset="-122"/>
                <a:cs typeface="Inter" pitchFamily="34" charset="-120"/>
              </a:rPr>
              <a:t>LA RESPUESTA DE MOSTRADOR · TRES FRASES, DICHAS DESPACIO</a:t>
            </a:r>
            <a:endParaRPr lang="en-US" sz="850" dirty="0"/>
          </a:p>
        </p:txBody>
      </p:sp>
      <p:sp>
        <p:nvSpPr>
          <p:cNvPr id="17" name="Text 14"/>
          <p:cNvSpPr/>
          <p:nvPr/>
        </p:nvSpPr>
        <p:spPr>
          <a:xfrm>
            <a:off x="841248" y="3035808"/>
            <a:ext cx="7607808" cy="274320"/>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1.  Tu deuda no está en pesos: está en UVA.</a:t>
            </a:r>
            <a:endParaRPr lang="en-US" sz="1150" dirty="0"/>
          </a:p>
        </p:txBody>
      </p:sp>
      <p:sp>
        <p:nvSpPr>
          <p:cNvPr id="18" name="Text 15"/>
          <p:cNvSpPr/>
          <p:nvPr/>
        </p:nvSpPr>
        <p:spPr>
          <a:xfrm>
            <a:off x="841248" y="3310128"/>
            <a:ext cx="7607808" cy="274320"/>
          </a:xfrm>
          <a:prstGeom prst="rect">
            <a:avLst/>
          </a:prstGeom>
          <a:noFill/>
          <a:ln/>
        </p:spPr>
        <p:txBody>
          <a:bodyPr wrap="square" lIns="0" tIns="0" rIns="0" bIns="0" rtlCol="0" anchor="ctr"/>
          <a:lstStyle/>
          <a:p>
            <a:pPr indent="0" marL="0">
              <a:buNone/>
            </a:pPr>
            <a:r>
              <a:rPr lang="en-US" sz="1150" dirty="0">
                <a:solidFill>
                  <a:srgbClr val="FFFFFF"/>
                </a:solidFill>
                <a:latin typeface="Inter" pitchFamily="34" charset="0"/>
                <a:ea typeface="Inter" pitchFamily="34" charset="-122"/>
                <a:cs typeface="Inter" pitchFamily="34" charset="-120"/>
              </a:rPr>
              <a:t>2.  La cantidad de UVA que debés bajó. El precio de cada UVA subió.</a:t>
            </a:r>
            <a:endParaRPr lang="en-US" sz="1150" dirty="0"/>
          </a:p>
        </p:txBody>
      </p:sp>
      <p:sp>
        <p:nvSpPr>
          <p:cNvPr id="19" name="Text 16"/>
          <p:cNvSpPr/>
          <p:nvPr/>
        </p:nvSpPr>
        <p:spPr>
          <a:xfrm>
            <a:off x="841248" y="3584448"/>
            <a:ext cx="7607808" cy="274320"/>
          </a:xfrm>
          <a:prstGeom prst="rect">
            <a:avLst/>
          </a:prstGeom>
          <a:noFill/>
          <a:ln/>
        </p:spPr>
        <p:txBody>
          <a:bodyPr wrap="square" lIns="0" tIns="0" rIns="0" bIns="0" rtlCol="0" anchor="ctr"/>
          <a:lstStyle/>
          <a:p>
            <a:pPr indent="0" marL="0">
              <a:buNone/>
            </a:pPr>
            <a:r>
              <a:rPr lang="en-US" sz="1150" b="1" dirty="0">
                <a:solidFill>
                  <a:srgbClr val="FFFFFF"/>
                </a:solidFill>
                <a:latin typeface="Inter" pitchFamily="34" charset="0"/>
                <a:ea typeface="Inter" pitchFamily="34" charset="-122"/>
                <a:cs typeface="Inter" pitchFamily="34" charset="-120"/>
              </a:rPr>
              <a:t>3.  Lo que importa no es el número en pesos, es cuánto pesa la cuota sobre tu ingreso.</a:t>
            </a:r>
            <a:endParaRPr lang="en-US" sz="1150" dirty="0"/>
          </a:p>
        </p:txBody>
      </p:sp>
      <p:sp>
        <p:nvSpPr>
          <p:cNvPr id="20" name="Shape 17"/>
          <p:cNvSpPr/>
          <p:nvPr/>
        </p:nvSpPr>
        <p:spPr>
          <a:xfrm>
            <a:off x="603504" y="4041648"/>
            <a:ext cx="8083296" cy="658368"/>
          </a:xfrm>
          <a:prstGeom prst="roundRect">
            <a:avLst>
              <a:gd name="adj" fmla="val 12500"/>
            </a:avLst>
          </a:prstGeom>
          <a:solidFill>
            <a:srgbClr val="7C8594"/>
          </a:solidFill>
          <a:ln w="12700">
            <a:solidFill>
              <a:srgbClr val="7C8594"/>
            </a:solidFill>
            <a:prstDash val="solid"/>
          </a:ln>
        </p:spPr>
      </p:sp>
      <p:sp>
        <p:nvSpPr>
          <p:cNvPr id="21" name="Text 18"/>
          <p:cNvSpPr/>
          <p:nvPr/>
        </p:nvSpPr>
        <p:spPr>
          <a:xfrm>
            <a:off x="841248" y="408736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NO PROMETAS NADA</a:t>
            </a:r>
            <a:endParaRPr lang="en-US" sz="900" dirty="0"/>
          </a:p>
        </p:txBody>
      </p:sp>
      <p:sp>
        <p:nvSpPr>
          <p:cNvPr id="22" name="Text 19"/>
          <p:cNvSpPr/>
          <p:nvPr/>
        </p:nvSpPr>
        <p:spPr>
          <a:xfrm>
            <a:off x="841248" y="428853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Que la deuda en pesos baje o suba depende de la inflación y del ingreso de esa persona. No lo sabemos y no lo vamos a pronosticar.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El ejemplo: una propiedad de USD 100.000</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Construirlo en vivo, paso a paso. No mostrarlo ya resuelto.</a:t>
            </a:r>
            <a:endParaRPr lang="en-US" sz="1200" dirty="0"/>
          </a:p>
        </p:txBody>
      </p:sp>
      <p:sp>
        <p:nvSpPr>
          <p:cNvPr id="7" name="Shape 4"/>
          <p:cNvSpPr/>
          <p:nvPr/>
        </p:nvSpPr>
        <p:spPr>
          <a:xfrm>
            <a:off x="603504" y="1152144"/>
            <a:ext cx="8083296" cy="310896"/>
          </a:xfrm>
          <a:prstGeom prst="roundRect">
            <a:avLst>
              <a:gd name="adj" fmla="val 26471"/>
            </a:avLst>
          </a:prstGeom>
          <a:solidFill>
            <a:srgbClr val="E74B3C"/>
          </a:solidFill>
          <a:ln w="12700">
            <a:solidFill>
              <a:srgbClr val="E74B3C"/>
            </a:solidFill>
            <a:prstDash val="solid"/>
          </a:ln>
        </p:spPr>
      </p:sp>
      <p:sp>
        <p:nvSpPr>
          <p:cNvPr id="8" name="Text 5"/>
          <p:cNvSpPr/>
          <p:nvPr/>
        </p:nvSpPr>
        <p:spPr>
          <a:xfrm>
            <a:off x="822960" y="1152144"/>
            <a:ext cx="7644384" cy="310896"/>
          </a:xfrm>
          <a:prstGeom prst="rect">
            <a:avLst/>
          </a:prstGeom>
          <a:noFill/>
          <a:ln/>
        </p:spPr>
        <p:txBody>
          <a:bodyPr wrap="square" lIns="0" tIns="0" rIns="0" bIns="0" rtlCol="0" anchor="ctr"/>
          <a:lstStyle/>
          <a:p>
            <a:pPr indent="0" marL="0">
              <a:buNone/>
            </a:pPr>
            <a:r>
              <a:rPr lang="en-US" sz="950" b="1" spc="60" kern="0" dirty="0">
                <a:solidFill>
                  <a:srgbClr val="FFFFFF"/>
                </a:solidFill>
                <a:latin typeface="Inter" pitchFamily="34" charset="0"/>
                <a:ea typeface="Inter" pitchFamily="34" charset="-122"/>
                <a:cs typeface="Inter" pitchFamily="34" charset="-120"/>
              </a:rPr>
              <a:t>VALORES HIPOTÉTICOS · NO SON UNA COTIZACIÓN, UNA OFERTA NI UN PRONÓSTICO</a:t>
            </a:r>
            <a:endParaRPr lang="en-US" sz="950" dirty="0"/>
          </a:p>
        </p:txBody>
      </p:sp>
      <p:sp>
        <p:nvSpPr>
          <p:cNvPr id="9" name="Shape 6"/>
          <p:cNvSpPr/>
          <p:nvPr/>
        </p:nvSpPr>
        <p:spPr>
          <a:xfrm>
            <a:off x="603504" y="1572768"/>
            <a:ext cx="3822192" cy="2359152"/>
          </a:xfrm>
          <a:prstGeom prst="roundRect">
            <a:avLst>
              <a:gd name="adj" fmla="val 3488"/>
            </a:avLst>
          </a:prstGeom>
          <a:solidFill>
            <a:srgbClr val="F3F3F3"/>
          </a:solidFill>
          <a:ln w="12700">
            <a:solidFill>
              <a:srgbClr val="F3F3F3"/>
            </a:solidFill>
            <a:prstDash val="solid"/>
          </a:ln>
        </p:spPr>
      </p:sp>
      <p:sp>
        <p:nvSpPr>
          <p:cNvPr id="10" name="Text 7"/>
          <p:cNvSpPr/>
          <p:nvPr/>
        </p:nvSpPr>
        <p:spPr>
          <a:xfrm>
            <a:off x="822960" y="1682496"/>
            <a:ext cx="3383280" cy="182880"/>
          </a:xfrm>
          <a:prstGeom prst="rect">
            <a:avLst/>
          </a:prstGeom>
          <a:noFill/>
          <a:ln/>
        </p:spPr>
        <p:txBody>
          <a:bodyPr wrap="square" lIns="0" tIns="0" rIns="0" bIns="0" rtlCol="0" anchor="ctr"/>
          <a:lstStyle/>
          <a:p>
            <a:pPr indent="0" marL="0">
              <a:buNone/>
            </a:pPr>
            <a:r>
              <a:rPr lang="en-US" sz="850" b="1" spc="110" kern="0" dirty="0">
                <a:solidFill>
                  <a:srgbClr val="6A7686"/>
                </a:solidFill>
                <a:latin typeface="Inter" pitchFamily="34" charset="0"/>
                <a:ea typeface="Inter" pitchFamily="34" charset="-122"/>
                <a:cs typeface="Inter" pitchFamily="34" charset="-120"/>
              </a:rPr>
              <a:t>SUPUESTOS</a:t>
            </a:r>
            <a:endParaRPr lang="en-US" sz="850" dirty="0"/>
          </a:p>
        </p:txBody>
      </p:sp>
      <p:sp>
        <p:nvSpPr>
          <p:cNvPr id="11" name="Text 8"/>
          <p:cNvSpPr/>
          <p:nvPr/>
        </p:nvSpPr>
        <p:spPr>
          <a:xfrm>
            <a:off x="822960" y="1920240"/>
            <a:ext cx="1993392" cy="274320"/>
          </a:xfrm>
          <a:prstGeom prst="rect">
            <a:avLst/>
          </a:prstGeom>
          <a:noFill/>
          <a:ln/>
        </p:spPr>
        <p:txBody>
          <a:bodyPr wrap="square" lIns="0" tIns="0" rIns="0" bIns="0" rtlCol="0" anchor="ctr"/>
          <a:lstStyle/>
          <a:p>
            <a:pPr indent="0" marL="0">
              <a:buNone/>
            </a:pPr>
            <a:r>
              <a:rPr lang="en-US" sz="950" dirty="0">
                <a:solidFill>
                  <a:srgbClr val="2E4258"/>
                </a:solidFill>
                <a:latin typeface="Inter" pitchFamily="34" charset="0"/>
                <a:ea typeface="Inter" pitchFamily="34" charset="-122"/>
                <a:cs typeface="Inter" pitchFamily="34" charset="-120"/>
              </a:rPr>
              <a:t>Valor de la propiedad</a:t>
            </a:r>
            <a:endParaRPr lang="en-US" sz="950" dirty="0"/>
          </a:p>
        </p:txBody>
      </p:sp>
      <p:sp>
        <p:nvSpPr>
          <p:cNvPr id="12" name="Text 9"/>
          <p:cNvSpPr/>
          <p:nvPr/>
        </p:nvSpPr>
        <p:spPr>
          <a:xfrm>
            <a:off x="2816352" y="1920240"/>
            <a:ext cx="1389888" cy="274320"/>
          </a:xfrm>
          <a:prstGeom prst="rect">
            <a:avLst/>
          </a:prstGeom>
          <a:noFill/>
          <a:ln/>
        </p:spPr>
        <p:txBody>
          <a:bodyPr wrap="square" lIns="0" tIns="0" rIns="0" bIns="0" rtlCol="0" anchor="ctr"/>
          <a:lstStyle/>
          <a:p>
            <a:pPr algn="r" indent="0" marL="0">
              <a:buNone/>
            </a:pPr>
            <a:r>
              <a:rPr lang="en-US" sz="1000" b="1" dirty="0">
                <a:solidFill>
                  <a:srgbClr val="08407C"/>
                </a:solidFill>
                <a:latin typeface="Inter" pitchFamily="34" charset="0"/>
                <a:ea typeface="Inter" pitchFamily="34" charset="-122"/>
                <a:cs typeface="Inter" pitchFamily="34" charset="-120"/>
              </a:rPr>
              <a:t>USD 100.000</a:t>
            </a:r>
            <a:endParaRPr lang="en-US" sz="1000" dirty="0"/>
          </a:p>
        </p:txBody>
      </p:sp>
      <p:sp>
        <p:nvSpPr>
          <p:cNvPr id="13" name="Text 10"/>
          <p:cNvSpPr/>
          <p:nvPr/>
        </p:nvSpPr>
        <p:spPr>
          <a:xfrm>
            <a:off x="822960" y="2240280"/>
            <a:ext cx="1993392" cy="274320"/>
          </a:xfrm>
          <a:prstGeom prst="rect">
            <a:avLst/>
          </a:prstGeom>
          <a:noFill/>
          <a:ln/>
        </p:spPr>
        <p:txBody>
          <a:bodyPr wrap="square" lIns="0" tIns="0" rIns="0" bIns="0" rtlCol="0" anchor="ctr"/>
          <a:lstStyle/>
          <a:p>
            <a:pPr indent="0" marL="0">
              <a:buNone/>
            </a:pPr>
            <a:r>
              <a:rPr lang="en-US" sz="950" dirty="0">
                <a:solidFill>
                  <a:srgbClr val="2E4258"/>
                </a:solidFill>
                <a:latin typeface="Inter" pitchFamily="34" charset="0"/>
                <a:ea typeface="Inter" pitchFamily="34" charset="-122"/>
                <a:cs typeface="Inter" pitchFamily="34" charset="-120"/>
              </a:rPr>
              <a:t>Financia el banco</a:t>
            </a:r>
            <a:endParaRPr lang="en-US" sz="950" dirty="0"/>
          </a:p>
        </p:txBody>
      </p:sp>
      <p:sp>
        <p:nvSpPr>
          <p:cNvPr id="14" name="Text 11"/>
          <p:cNvSpPr/>
          <p:nvPr/>
        </p:nvSpPr>
        <p:spPr>
          <a:xfrm>
            <a:off x="2816352" y="2240280"/>
            <a:ext cx="1389888" cy="274320"/>
          </a:xfrm>
          <a:prstGeom prst="rect">
            <a:avLst/>
          </a:prstGeom>
          <a:noFill/>
          <a:ln/>
        </p:spPr>
        <p:txBody>
          <a:bodyPr wrap="square" lIns="0" tIns="0" rIns="0" bIns="0" rtlCol="0" anchor="ctr"/>
          <a:lstStyle/>
          <a:p>
            <a:pPr algn="r" indent="0" marL="0">
              <a:buNone/>
            </a:pPr>
            <a:r>
              <a:rPr lang="en-US" sz="1000" b="1" dirty="0">
                <a:solidFill>
                  <a:srgbClr val="08407C"/>
                </a:solidFill>
                <a:latin typeface="Inter" pitchFamily="34" charset="0"/>
                <a:ea typeface="Inter" pitchFamily="34" charset="-122"/>
                <a:cs typeface="Inter" pitchFamily="34" charset="-120"/>
              </a:rPr>
              <a:t>75%  →  USD 75.000</a:t>
            </a:r>
            <a:endParaRPr lang="en-US" sz="1000" dirty="0"/>
          </a:p>
        </p:txBody>
      </p:sp>
      <p:sp>
        <p:nvSpPr>
          <p:cNvPr id="15" name="Text 12"/>
          <p:cNvSpPr/>
          <p:nvPr/>
        </p:nvSpPr>
        <p:spPr>
          <a:xfrm>
            <a:off x="822960" y="2560320"/>
            <a:ext cx="1993392" cy="274320"/>
          </a:xfrm>
          <a:prstGeom prst="rect">
            <a:avLst/>
          </a:prstGeom>
          <a:noFill/>
          <a:ln/>
        </p:spPr>
        <p:txBody>
          <a:bodyPr wrap="square" lIns="0" tIns="0" rIns="0" bIns="0" rtlCol="0" anchor="ctr"/>
          <a:lstStyle/>
          <a:p>
            <a:pPr indent="0" marL="0">
              <a:buNone/>
            </a:pPr>
            <a:r>
              <a:rPr lang="en-US" sz="950" dirty="0">
                <a:solidFill>
                  <a:srgbClr val="2E4258"/>
                </a:solidFill>
                <a:latin typeface="Inter" pitchFamily="34" charset="0"/>
                <a:ea typeface="Inter" pitchFamily="34" charset="-122"/>
                <a:cs typeface="Inter" pitchFamily="34" charset="-120"/>
              </a:rPr>
              <a:t>Tipo de cambio supuesto</a:t>
            </a:r>
            <a:endParaRPr lang="en-US" sz="950" dirty="0"/>
          </a:p>
        </p:txBody>
      </p:sp>
      <p:sp>
        <p:nvSpPr>
          <p:cNvPr id="16" name="Text 13"/>
          <p:cNvSpPr/>
          <p:nvPr/>
        </p:nvSpPr>
        <p:spPr>
          <a:xfrm>
            <a:off x="2816352" y="2560320"/>
            <a:ext cx="1389888" cy="274320"/>
          </a:xfrm>
          <a:prstGeom prst="rect">
            <a:avLst/>
          </a:prstGeom>
          <a:noFill/>
          <a:ln/>
        </p:spPr>
        <p:txBody>
          <a:bodyPr wrap="square" lIns="0" tIns="0" rIns="0" bIns="0" rtlCol="0" anchor="ctr"/>
          <a:lstStyle/>
          <a:p>
            <a:pPr algn="r" indent="0" marL="0">
              <a:buNone/>
            </a:pPr>
            <a:r>
              <a:rPr lang="en-US" sz="1000" b="1" dirty="0">
                <a:solidFill>
                  <a:srgbClr val="08407C"/>
                </a:solidFill>
                <a:latin typeface="Inter" pitchFamily="34" charset="0"/>
                <a:ea typeface="Inter" pitchFamily="34" charset="-122"/>
                <a:cs typeface="Inter" pitchFamily="34" charset="-120"/>
              </a:rPr>
              <a:t>$1.400</a:t>
            </a:r>
            <a:endParaRPr lang="en-US" sz="1000" dirty="0"/>
          </a:p>
        </p:txBody>
      </p:sp>
      <p:sp>
        <p:nvSpPr>
          <p:cNvPr id="17" name="Text 14"/>
          <p:cNvSpPr/>
          <p:nvPr/>
        </p:nvSpPr>
        <p:spPr>
          <a:xfrm>
            <a:off x="822960" y="2880360"/>
            <a:ext cx="1993392" cy="274320"/>
          </a:xfrm>
          <a:prstGeom prst="rect">
            <a:avLst/>
          </a:prstGeom>
          <a:noFill/>
          <a:ln/>
        </p:spPr>
        <p:txBody>
          <a:bodyPr wrap="square" lIns="0" tIns="0" rIns="0" bIns="0" rtlCol="0" anchor="ctr"/>
          <a:lstStyle/>
          <a:p>
            <a:pPr indent="0" marL="0">
              <a:buNone/>
            </a:pPr>
            <a:r>
              <a:rPr lang="en-US" sz="950" dirty="0">
                <a:solidFill>
                  <a:srgbClr val="2E4258"/>
                </a:solidFill>
                <a:latin typeface="Inter" pitchFamily="34" charset="0"/>
                <a:ea typeface="Inter" pitchFamily="34" charset="-122"/>
                <a:cs typeface="Inter" pitchFamily="34" charset="-120"/>
              </a:rPr>
              <a:t>Valor UVA supuesto</a:t>
            </a:r>
            <a:endParaRPr lang="en-US" sz="950" dirty="0"/>
          </a:p>
        </p:txBody>
      </p:sp>
      <p:sp>
        <p:nvSpPr>
          <p:cNvPr id="18" name="Text 15"/>
          <p:cNvSpPr/>
          <p:nvPr/>
        </p:nvSpPr>
        <p:spPr>
          <a:xfrm>
            <a:off x="2816352" y="2880360"/>
            <a:ext cx="1389888" cy="274320"/>
          </a:xfrm>
          <a:prstGeom prst="rect">
            <a:avLst/>
          </a:prstGeom>
          <a:noFill/>
          <a:ln/>
        </p:spPr>
        <p:txBody>
          <a:bodyPr wrap="square" lIns="0" tIns="0" rIns="0" bIns="0" rtlCol="0" anchor="ctr"/>
          <a:lstStyle/>
          <a:p>
            <a:pPr algn="r" indent="0" marL="0">
              <a:buNone/>
            </a:pPr>
            <a:r>
              <a:rPr lang="en-US" sz="1000" b="1" dirty="0">
                <a:solidFill>
                  <a:srgbClr val="08407C"/>
                </a:solidFill>
                <a:latin typeface="Inter" pitchFamily="34" charset="0"/>
                <a:ea typeface="Inter" pitchFamily="34" charset="-122"/>
                <a:cs typeface="Inter" pitchFamily="34" charset="-120"/>
              </a:rPr>
              <a:t>$2.100</a:t>
            </a:r>
            <a:endParaRPr lang="en-US" sz="1000" dirty="0"/>
          </a:p>
        </p:txBody>
      </p:sp>
      <p:sp>
        <p:nvSpPr>
          <p:cNvPr id="19" name="Text 16"/>
          <p:cNvSpPr/>
          <p:nvPr/>
        </p:nvSpPr>
        <p:spPr>
          <a:xfrm>
            <a:off x="822960" y="3200400"/>
            <a:ext cx="1993392" cy="274320"/>
          </a:xfrm>
          <a:prstGeom prst="rect">
            <a:avLst/>
          </a:prstGeom>
          <a:noFill/>
          <a:ln/>
        </p:spPr>
        <p:txBody>
          <a:bodyPr wrap="square" lIns="0" tIns="0" rIns="0" bIns="0" rtlCol="0" anchor="ctr"/>
          <a:lstStyle/>
          <a:p>
            <a:pPr indent="0" marL="0">
              <a:buNone/>
            </a:pPr>
            <a:r>
              <a:rPr lang="en-US" sz="950" dirty="0">
                <a:solidFill>
                  <a:srgbClr val="2E4258"/>
                </a:solidFill>
                <a:latin typeface="Inter" pitchFamily="34" charset="0"/>
                <a:ea typeface="Inter" pitchFamily="34" charset="-122"/>
                <a:cs typeface="Inter" pitchFamily="34" charset="-120"/>
              </a:rPr>
              <a:t>Tasa supuesta</a:t>
            </a:r>
            <a:endParaRPr lang="en-US" sz="950" dirty="0"/>
          </a:p>
        </p:txBody>
      </p:sp>
      <p:sp>
        <p:nvSpPr>
          <p:cNvPr id="20" name="Text 17"/>
          <p:cNvSpPr/>
          <p:nvPr/>
        </p:nvSpPr>
        <p:spPr>
          <a:xfrm>
            <a:off x="2816352" y="3200400"/>
            <a:ext cx="1389888" cy="274320"/>
          </a:xfrm>
          <a:prstGeom prst="rect">
            <a:avLst/>
          </a:prstGeom>
          <a:noFill/>
          <a:ln/>
        </p:spPr>
        <p:txBody>
          <a:bodyPr wrap="square" lIns="0" tIns="0" rIns="0" bIns="0" rtlCol="0" anchor="ctr"/>
          <a:lstStyle/>
          <a:p>
            <a:pPr algn="r" indent="0" marL="0">
              <a:buNone/>
            </a:pPr>
            <a:r>
              <a:rPr lang="en-US" sz="1000" b="1" dirty="0">
                <a:solidFill>
                  <a:srgbClr val="08407C"/>
                </a:solidFill>
                <a:latin typeface="Inter" pitchFamily="34" charset="0"/>
                <a:ea typeface="Inter" pitchFamily="34" charset="-122"/>
                <a:cs typeface="Inter" pitchFamily="34" charset="-120"/>
              </a:rPr>
              <a:t>UVA + 7% anual</a:t>
            </a:r>
            <a:endParaRPr lang="en-US" sz="1000" dirty="0"/>
          </a:p>
        </p:txBody>
      </p:sp>
      <p:sp>
        <p:nvSpPr>
          <p:cNvPr id="21" name="Text 18"/>
          <p:cNvSpPr/>
          <p:nvPr/>
        </p:nvSpPr>
        <p:spPr>
          <a:xfrm>
            <a:off x="822960" y="3520440"/>
            <a:ext cx="1993392" cy="274320"/>
          </a:xfrm>
          <a:prstGeom prst="rect">
            <a:avLst/>
          </a:prstGeom>
          <a:noFill/>
          <a:ln/>
        </p:spPr>
        <p:txBody>
          <a:bodyPr wrap="square" lIns="0" tIns="0" rIns="0" bIns="0" rtlCol="0" anchor="ctr"/>
          <a:lstStyle/>
          <a:p>
            <a:pPr indent="0" marL="0">
              <a:buNone/>
            </a:pPr>
            <a:r>
              <a:rPr lang="en-US" sz="950" dirty="0">
                <a:solidFill>
                  <a:srgbClr val="2E4258"/>
                </a:solidFill>
                <a:latin typeface="Inter" pitchFamily="34" charset="0"/>
                <a:ea typeface="Inter" pitchFamily="34" charset="-122"/>
                <a:cs typeface="Inter" pitchFamily="34" charset="-120"/>
              </a:rPr>
              <a:t>Plazo</a:t>
            </a:r>
            <a:endParaRPr lang="en-US" sz="950" dirty="0"/>
          </a:p>
        </p:txBody>
      </p:sp>
      <p:sp>
        <p:nvSpPr>
          <p:cNvPr id="22" name="Text 19"/>
          <p:cNvSpPr/>
          <p:nvPr/>
        </p:nvSpPr>
        <p:spPr>
          <a:xfrm>
            <a:off x="2816352" y="3520440"/>
            <a:ext cx="1389888" cy="274320"/>
          </a:xfrm>
          <a:prstGeom prst="rect">
            <a:avLst/>
          </a:prstGeom>
          <a:noFill/>
          <a:ln/>
        </p:spPr>
        <p:txBody>
          <a:bodyPr wrap="square" lIns="0" tIns="0" rIns="0" bIns="0" rtlCol="0" anchor="ctr"/>
          <a:lstStyle/>
          <a:p>
            <a:pPr algn="r" indent="0" marL="0">
              <a:buNone/>
            </a:pPr>
            <a:r>
              <a:rPr lang="en-US" sz="1000" b="1" dirty="0">
                <a:solidFill>
                  <a:srgbClr val="08407C"/>
                </a:solidFill>
                <a:latin typeface="Inter" pitchFamily="34" charset="0"/>
                <a:ea typeface="Inter" pitchFamily="34" charset="-122"/>
                <a:cs typeface="Inter" pitchFamily="34" charset="-120"/>
              </a:rPr>
              <a:t>240 meses (20 años)</a:t>
            </a:r>
            <a:endParaRPr lang="en-US" sz="1000" dirty="0"/>
          </a:p>
        </p:txBody>
      </p:sp>
      <p:sp>
        <p:nvSpPr>
          <p:cNvPr id="23" name="Shape 20"/>
          <p:cNvSpPr/>
          <p:nvPr/>
        </p:nvSpPr>
        <p:spPr>
          <a:xfrm>
            <a:off x="4626864" y="1572768"/>
            <a:ext cx="4059936" cy="2359152"/>
          </a:xfrm>
          <a:prstGeom prst="roundRect">
            <a:avLst>
              <a:gd name="adj" fmla="val 3488"/>
            </a:avLst>
          </a:prstGeom>
          <a:solidFill>
            <a:srgbClr val="08407C"/>
          </a:solidFill>
          <a:ln w="12700">
            <a:solidFill>
              <a:srgbClr val="08407C"/>
            </a:solidFill>
            <a:prstDash val="solid"/>
          </a:ln>
        </p:spPr>
      </p:sp>
      <p:sp>
        <p:nvSpPr>
          <p:cNvPr id="24" name="Text 21"/>
          <p:cNvSpPr/>
          <p:nvPr/>
        </p:nvSpPr>
        <p:spPr>
          <a:xfrm>
            <a:off x="4846320" y="1682496"/>
            <a:ext cx="3621024" cy="182880"/>
          </a:xfrm>
          <a:prstGeom prst="rect">
            <a:avLst/>
          </a:prstGeom>
          <a:noFill/>
          <a:ln/>
        </p:spPr>
        <p:txBody>
          <a:bodyPr wrap="square" lIns="0" tIns="0" rIns="0" bIns="0" rtlCol="0" anchor="ctr"/>
          <a:lstStyle/>
          <a:p>
            <a:pPr indent="0" marL="0">
              <a:buNone/>
            </a:pPr>
            <a:r>
              <a:rPr lang="en-US" sz="850" b="1" spc="110" kern="0" dirty="0">
                <a:solidFill>
                  <a:srgbClr val="CDD8E4"/>
                </a:solidFill>
                <a:latin typeface="Inter" pitchFamily="34" charset="0"/>
                <a:ea typeface="Inter" pitchFamily="34" charset="-122"/>
                <a:cs typeface="Inter" pitchFamily="34" charset="-120"/>
              </a:rPr>
              <a:t>LA CUENTA, EN DOS PASOS</a:t>
            </a:r>
            <a:endParaRPr lang="en-US" sz="850" dirty="0"/>
          </a:p>
        </p:txBody>
      </p:sp>
      <p:sp>
        <p:nvSpPr>
          <p:cNvPr id="25" name="Text 22"/>
          <p:cNvSpPr/>
          <p:nvPr/>
        </p:nvSpPr>
        <p:spPr>
          <a:xfrm>
            <a:off x="4846320" y="1938528"/>
            <a:ext cx="3621024" cy="274320"/>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USD 75.000  ×  $1.400  =  $105.000.000</a:t>
            </a:r>
            <a:endParaRPr lang="en-US" sz="1200" dirty="0"/>
          </a:p>
        </p:txBody>
      </p:sp>
      <p:sp>
        <p:nvSpPr>
          <p:cNvPr id="26" name="Text 23"/>
          <p:cNvSpPr/>
          <p:nvPr/>
        </p:nvSpPr>
        <p:spPr>
          <a:xfrm>
            <a:off x="4846320" y="2249424"/>
            <a:ext cx="3621024" cy="256032"/>
          </a:xfrm>
          <a:prstGeom prst="rect">
            <a:avLst/>
          </a:prstGeom>
          <a:noFill/>
          <a:ln/>
        </p:spPr>
        <p:txBody>
          <a:bodyPr wrap="square" lIns="0" tIns="0" rIns="0" bIns="0" rtlCol="0" anchor="ctr"/>
          <a:lstStyle/>
          <a:p>
            <a:pPr indent="0" marL="0">
              <a:buNone/>
            </a:pPr>
            <a:r>
              <a:rPr lang="en-US" sz="1200" dirty="0">
                <a:solidFill>
                  <a:srgbClr val="FFFFFF"/>
                </a:solidFill>
                <a:latin typeface="Inter" pitchFamily="34" charset="0"/>
                <a:ea typeface="Inter" pitchFamily="34" charset="-122"/>
                <a:cs typeface="Inter" pitchFamily="34" charset="-120"/>
              </a:rPr>
              <a:t>$105.000.000  ÷  $2.100</a:t>
            </a:r>
            <a:endParaRPr lang="en-US" sz="1200" dirty="0"/>
          </a:p>
        </p:txBody>
      </p:sp>
      <p:sp>
        <p:nvSpPr>
          <p:cNvPr id="27" name="Shape 24"/>
          <p:cNvSpPr/>
          <p:nvPr/>
        </p:nvSpPr>
        <p:spPr>
          <a:xfrm>
            <a:off x="4846320" y="2578608"/>
            <a:ext cx="3621024" cy="676656"/>
          </a:xfrm>
          <a:prstGeom prst="roundRect">
            <a:avLst>
              <a:gd name="adj" fmla="val 12162"/>
            </a:avLst>
          </a:prstGeom>
          <a:solidFill>
            <a:srgbClr val="396696"/>
          </a:solidFill>
          <a:ln w="12700">
            <a:solidFill>
              <a:srgbClr val="396696"/>
            </a:solidFill>
            <a:prstDash val="solid"/>
          </a:ln>
        </p:spPr>
      </p:sp>
      <p:sp>
        <p:nvSpPr>
          <p:cNvPr id="28" name="Text 25"/>
          <p:cNvSpPr/>
          <p:nvPr/>
        </p:nvSpPr>
        <p:spPr>
          <a:xfrm>
            <a:off x="5029200" y="2578608"/>
            <a:ext cx="3255264" cy="676656"/>
          </a:xfrm>
          <a:prstGeom prst="rect">
            <a:avLst/>
          </a:prstGeom>
          <a:noFill/>
          <a:ln/>
        </p:spPr>
        <p:txBody>
          <a:bodyPr wrap="square" lIns="0" tIns="0" rIns="0" bIns="0" rtlCol="0" anchor="ctr"/>
          <a:lstStyle/>
          <a:p>
            <a:pPr indent="0" marL="0">
              <a:buNone/>
            </a:pPr>
            <a:r>
              <a:rPr lang="en-US" sz="1900" b="1" dirty="0">
                <a:solidFill>
                  <a:srgbClr val="FFFFFF"/>
                </a:solidFill>
                <a:latin typeface="Inter" pitchFamily="34" charset="0"/>
                <a:ea typeface="Inter" pitchFamily="34" charset="-122"/>
                <a:cs typeface="Inter" pitchFamily="34" charset="-120"/>
              </a:rPr>
              <a:t>=  50.000 UVA de deuda</a:t>
            </a:r>
            <a:endParaRPr lang="en-US" sz="1900" dirty="0"/>
          </a:p>
        </p:txBody>
      </p:sp>
      <p:sp>
        <p:nvSpPr>
          <p:cNvPr id="29" name="Text 26"/>
          <p:cNvSpPr/>
          <p:nvPr/>
        </p:nvSpPr>
        <p:spPr>
          <a:xfrm>
            <a:off x="4846320" y="3328416"/>
            <a:ext cx="3621024" cy="256032"/>
          </a:xfrm>
          <a:prstGeom prst="rect">
            <a:avLst/>
          </a:prstGeom>
          <a:noFill/>
          <a:ln/>
        </p:spPr>
        <p:txBody>
          <a:bodyPr wrap="square" lIns="0" tIns="0" rIns="0" bIns="0" rtlCol="0" anchor="ctr"/>
          <a:lstStyle/>
          <a:p>
            <a:pPr indent="0" marL="0">
              <a:buNone/>
            </a:pPr>
            <a:r>
              <a:rPr lang="en-US" sz="1150" b="1" dirty="0">
                <a:solidFill>
                  <a:srgbClr val="CDD8E4"/>
                </a:solidFill>
                <a:latin typeface="Inter" pitchFamily="34" charset="0"/>
                <a:ea typeface="Inter" pitchFamily="34" charset="-122"/>
                <a:cs typeface="Inter" pitchFamily="34" charset="-120"/>
              </a:rPr>
              <a:t>Cuota inicial: 387,64 UVA/mes  ≈  $814.000</a:t>
            </a:r>
            <a:endParaRPr lang="en-US" sz="1150" dirty="0"/>
          </a:p>
        </p:txBody>
      </p:sp>
      <p:sp>
        <p:nvSpPr>
          <p:cNvPr id="30" name="Text 27"/>
          <p:cNvSpPr/>
          <p:nvPr/>
        </p:nvSpPr>
        <p:spPr>
          <a:xfrm>
            <a:off x="4846320" y="3602736"/>
            <a:ext cx="3621024" cy="256032"/>
          </a:xfrm>
          <a:prstGeom prst="rect">
            <a:avLst/>
          </a:prstGeom>
          <a:noFill/>
          <a:ln/>
        </p:spPr>
        <p:txBody>
          <a:bodyPr wrap="square" lIns="0" tIns="0" rIns="0" bIns="0" rtlCol="0" anchor="ctr"/>
          <a:lstStyle/>
          <a:p>
            <a:pPr indent="0" marL="0">
              <a:buNone/>
            </a:pPr>
            <a:r>
              <a:rPr lang="en-US" sz="900" i="1" dirty="0">
                <a:solidFill>
                  <a:srgbClr val="CDD8E4"/>
                </a:solidFill>
                <a:latin typeface="Inter" pitchFamily="34" charset="0"/>
                <a:ea typeface="Inter" pitchFamily="34" charset="-122"/>
                <a:cs typeface="Inter" pitchFamily="34" charset="-120"/>
              </a:rPr>
              <a:t>Además hay que sumar gastos de escrituración: entre 6% y 9% del valor, según el caso.</a:t>
            </a:r>
            <a:endParaRPr lang="en-US" sz="900" dirty="0"/>
          </a:p>
        </p:txBody>
      </p:sp>
      <p:sp>
        <p:nvSpPr>
          <p:cNvPr id="31" name="Shape 28"/>
          <p:cNvSpPr/>
          <p:nvPr/>
        </p:nvSpPr>
        <p:spPr>
          <a:xfrm>
            <a:off x="603504" y="4041648"/>
            <a:ext cx="8083296" cy="658368"/>
          </a:xfrm>
          <a:prstGeom prst="roundRect">
            <a:avLst>
              <a:gd name="adj" fmla="val 12500"/>
            </a:avLst>
          </a:prstGeom>
          <a:solidFill>
            <a:srgbClr val="08407C"/>
          </a:solidFill>
          <a:ln w="12700">
            <a:solidFill>
              <a:srgbClr val="08407C"/>
            </a:solidFill>
            <a:prstDash val="solid"/>
          </a:ln>
        </p:spPr>
      </p:sp>
      <p:sp>
        <p:nvSpPr>
          <p:cNvPr id="32" name="Text 29"/>
          <p:cNvSpPr/>
          <p:nvPr/>
        </p:nvSpPr>
        <p:spPr>
          <a:xfrm>
            <a:off x="841248" y="408736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LO QUE TIENE QUE QUEDAR</a:t>
            </a:r>
            <a:endParaRPr lang="en-US" sz="900" dirty="0"/>
          </a:p>
        </p:txBody>
      </p:sp>
      <p:sp>
        <p:nvSpPr>
          <p:cNvPr id="33" name="Text 30"/>
          <p:cNvSpPr/>
          <p:nvPr/>
        </p:nvSpPr>
        <p:spPr>
          <a:xfrm>
            <a:off x="841248" y="428853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El banco no te presta pesos: te presta una cantidad de UVA. Ese número —50.000— es tu deuda real y es el que va a bajar mes a mes.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La misma persona, un año después</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Supuesto pedagógico: inflación de 1,5% mensual durante 12 meses.</a:t>
            </a:r>
            <a:endParaRPr lang="en-US" sz="1200" dirty="0"/>
          </a:p>
        </p:txBody>
      </p:sp>
      <p:sp>
        <p:nvSpPr>
          <p:cNvPr id="7" name="Shape 4"/>
          <p:cNvSpPr/>
          <p:nvPr/>
        </p:nvSpPr>
        <p:spPr>
          <a:xfrm>
            <a:off x="603504" y="1133856"/>
            <a:ext cx="8083296" cy="310896"/>
          </a:xfrm>
          <a:prstGeom prst="roundRect">
            <a:avLst>
              <a:gd name="adj" fmla="val 26471"/>
            </a:avLst>
          </a:prstGeom>
          <a:solidFill>
            <a:srgbClr val="E74B3C"/>
          </a:solidFill>
          <a:ln w="12700">
            <a:solidFill>
              <a:srgbClr val="E74B3C"/>
            </a:solidFill>
            <a:prstDash val="solid"/>
          </a:ln>
        </p:spPr>
      </p:sp>
      <p:sp>
        <p:nvSpPr>
          <p:cNvPr id="8" name="Text 5"/>
          <p:cNvSpPr/>
          <p:nvPr/>
        </p:nvSpPr>
        <p:spPr>
          <a:xfrm>
            <a:off x="822960" y="1133856"/>
            <a:ext cx="7644384" cy="310896"/>
          </a:xfrm>
          <a:prstGeom prst="rect">
            <a:avLst/>
          </a:prstGeom>
          <a:noFill/>
          <a:ln/>
        </p:spPr>
        <p:txBody>
          <a:bodyPr wrap="square" lIns="0" tIns="0" rIns="0" bIns="0" rtlCol="0" anchor="ctr"/>
          <a:lstStyle/>
          <a:p>
            <a:pPr indent="0" marL="0">
              <a:buNone/>
            </a:pPr>
            <a:r>
              <a:rPr lang="en-US" sz="950" b="1" spc="60" kern="0" dirty="0">
                <a:solidFill>
                  <a:srgbClr val="FFFFFF"/>
                </a:solidFill>
                <a:latin typeface="Inter" pitchFamily="34" charset="0"/>
                <a:ea typeface="Inter" pitchFamily="34" charset="-122"/>
                <a:cs typeface="Inter" pitchFamily="34" charset="-120"/>
              </a:rPr>
              <a:t>EJERCICIO HIPOTÉTICO · EL 1,5% MENSUAL ES UN SUPUESTO, NO UN PRONÓSTICO</a:t>
            </a:r>
            <a:endParaRPr lang="en-US" sz="950" dirty="0"/>
          </a:p>
        </p:txBody>
      </p:sp>
      <p:sp>
        <p:nvSpPr>
          <p:cNvPr id="9" name="Text 6"/>
          <p:cNvSpPr/>
          <p:nvPr/>
        </p:nvSpPr>
        <p:spPr>
          <a:xfrm>
            <a:off x="603504" y="1517904"/>
            <a:ext cx="3200400" cy="365760"/>
          </a:xfrm>
          <a:prstGeom prst="rect">
            <a:avLst/>
          </a:prstGeom>
          <a:noFill/>
          <a:ln/>
        </p:spPr>
        <p:txBody>
          <a:bodyPr wrap="square" rtlCol="0" anchor="ctr"/>
          <a:lstStyle/>
          <a:p>
            <a:pPr indent="0" marL="0">
              <a:buNone/>
            </a:pPr>
            <a:endParaRPr lang="en-US" dirty="0"/>
          </a:p>
        </p:txBody>
      </p:sp>
      <p:sp>
        <p:nvSpPr>
          <p:cNvPr id="10" name="Shape 7"/>
          <p:cNvSpPr/>
          <p:nvPr/>
        </p:nvSpPr>
        <p:spPr>
          <a:xfrm>
            <a:off x="3913632" y="1517904"/>
            <a:ext cx="2331720" cy="457200"/>
          </a:xfrm>
          <a:prstGeom prst="roundRect">
            <a:avLst>
              <a:gd name="adj" fmla="val 18000"/>
            </a:avLst>
          </a:prstGeom>
          <a:solidFill>
            <a:srgbClr val="4E586E"/>
          </a:solidFill>
          <a:ln w="12700">
            <a:solidFill>
              <a:srgbClr val="4E586E"/>
            </a:solidFill>
            <a:prstDash val="solid"/>
          </a:ln>
        </p:spPr>
      </p:sp>
      <p:sp>
        <p:nvSpPr>
          <p:cNvPr id="11" name="Text 8"/>
          <p:cNvSpPr/>
          <p:nvPr/>
        </p:nvSpPr>
        <p:spPr>
          <a:xfrm>
            <a:off x="4133088" y="1517904"/>
            <a:ext cx="1965960"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MES 0</a:t>
            </a:r>
            <a:endParaRPr lang="en-US" sz="1150" dirty="0"/>
          </a:p>
        </p:txBody>
      </p:sp>
      <p:sp>
        <p:nvSpPr>
          <p:cNvPr id="12" name="Shape 9"/>
          <p:cNvSpPr/>
          <p:nvPr/>
        </p:nvSpPr>
        <p:spPr>
          <a:xfrm>
            <a:off x="6355080" y="1517904"/>
            <a:ext cx="2331720" cy="457200"/>
          </a:xfrm>
          <a:prstGeom prst="roundRect">
            <a:avLst>
              <a:gd name="adj" fmla="val 18000"/>
            </a:avLst>
          </a:prstGeom>
          <a:solidFill>
            <a:srgbClr val="08407C"/>
          </a:solidFill>
          <a:ln w="12700">
            <a:solidFill>
              <a:srgbClr val="08407C"/>
            </a:solidFill>
            <a:prstDash val="solid"/>
          </a:ln>
        </p:spPr>
      </p:sp>
      <p:sp>
        <p:nvSpPr>
          <p:cNvPr id="13" name="Text 10"/>
          <p:cNvSpPr/>
          <p:nvPr/>
        </p:nvSpPr>
        <p:spPr>
          <a:xfrm>
            <a:off x="6574536" y="1517904"/>
            <a:ext cx="1965960"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MES 12</a:t>
            </a:r>
            <a:endParaRPr lang="en-US" sz="1150" dirty="0"/>
          </a:p>
        </p:txBody>
      </p:sp>
      <p:sp>
        <p:nvSpPr>
          <p:cNvPr id="14" name="Shape 11"/>
          <p:cNvSpPr/>
          <p:nvPr/>
        </p:nvSpPr>
        <p:spPr>
          <a:xfrm>
            <a:off x="603504" y="2011680"/>
            <a:ext cx="8083296" cy="402336"/>
          </a:xfrm>
          <a:prstGeom prst="roundRect">
            <a:avLst>
              <a:gd name="adj" fmla="val 20455"/>
            </a:avLst>
          </a:prstGeom>
          <a:solidFill>
            <a:srgbClr val="F3F3F3"/>
          </a:solidFill>
          <a:ln w="12700">
            <a:solidFill>
              <a:srgbClr val="F3F3F3"/>
            </a:solidFill>
            <a:prstDash val="solid"/>
          </a:ln>
        </p:spPr>
      </p:sp>
      <p:sp>
        <p:nvSpPr>
          <p:cNvPr id="15" name="Text 12"/>
          <p:cNvSpPr/>
          <p:nvPr/>
        </p:nvSpPr>
        <p:spPr>
          <a:xfrm>
            <a:off x="822960" y="2011680"/>
            <a:ext cx="2926080" cy="402336"/>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Valor de la UVA</a:t>
            </a:r>
            <a:endParaRPr lang="en-US" sz="1100" dirty="0"/>
          </a:p>
        </p:txBody>
      </p:sp>
      <p:sp>
        <p:nvSpPr>
          <p:cNvPr id="16" name="Text 13"/>
          <p:cNvSpPr/>
          <p:nvPr/>
        </p:nvSpPr>
        <p:spPr>
          <a:xfrm>
            <a:off x="3913632" y="2011680"/>
            <a:ext cx="2331720" cy="402336"/>
          </a:xfrm>
          <a:prstGeom prst="rect">
            <a:avLst/>
          </a:prstGeom>
          <a:noFill/>
          <a:ln/>
        </p:spPr>
        <p:txBody>
          <a:bodyPr wrap="square" lIns="0" tIns="0" rIns="0" bIns="0" rtlCol="0" anchor="ctr"/>
          <a:lstStyle/>
          <a:p>
            <a:pPr algn="ctr" indent="0" marL="0">
              <a:buNone/>
            </a:pPr>
            <a:r>
              <a:rPr lang="en-US" sz="1250" b="1" dirty="0">
                <a:solidFill>
                  <a:srgbClr val="2E4258"/>
                </a:solidFill>
                <a:latin typeface="Inter" pitchFamily="34" charset="0"/>
                <a:ea typeface="Inter" pitchFamily="34" charset="-122"/>
                <a:cs typeface="Inter" pitchFamily="34" charset="-120"/>
              </a:rPr>
              <a:t>$2.100</a:t>
            </a:r>
            <a:endParaRPr lang="en-US" sz="1250" dirty="0"/>
          </a:p>
        </p:txBody>
      </p:sp>
      <p:sp>
        <p:nvSpPr>
          <p:cNvPr id="17" name="Text 14"/>
          <p:cNvSpPr/>
          <p:nvPr/>
        </p:nvSpPr>
        <p:spPr>
          <a:xfrm>
            <a:off x="6355080" y="2011680"/>
            <a:ext cx="2331720" cy="402336"/>
          </a:xfrm>
          <a:prstGeom prst="rect">
            <a:avLst/>
          </a:prstGeom>
          <a:noFill/>
          <a:ln/>
        </p:spPr>
        <p:txBody>
          <a:bodyPr wrap="square" lIns="0" tIns="0" rIns="0" bIns="0" rtlCol="0" anchor="ctr"/>
          <a:lstStyle/>
          <a:p>
            <a:pPr algn="ctr" indent="0" marL="0">
              <a:buNone/>
            </a:pPr>
            <a:r>
              <a:rPr lang="en-US" sz="1250" b="1" dirty="0">
                <a:solidFill>
                  <a:srgbClr val="08407C"/>
                </a:solidFill>
                <a:latin typeface="Inter" pitchFamily="34" charset="0"/>
                <a:ea typeface="Inter" pitchFamily="34" charset="-122"/>
                <a:cs typeface="Inter" pitchFamily="34" charset="-120"/>
              </a:rPr>
              <a:t>$2.511</a:t>
            </a:r>
            <a:endParaRPr lang="en-US" sz="1250" dirty="0"/>
          </a:p>
        </p:txBody>
      </p:sp>
      <p:sp>
        <p:nvSpPr>
          <p:cNvPr id="18" name="Text 15"/>
          <p:cNvSpPr/>
          <p:nvPr/>
        </p:nvSpPr>
        <p:spPr>
          <a:xfrm>
            <a:off x="822960" y="2468880"/>
            <a:ext cx="2926080" cy="402336"/>
          </a:xfrm>
          <a:prstGeom prst="rect">
            <a:avLst/>
          </a:prstGeom>
          <a:noFill/>
          <a:ln/>
        </p:spPr>
        <p:txBody>
          <a:bodyPr wrap="square" lIns="0" tIns="0" rIns="0" bIns="0" rtlCol="0" anchor="ctr"/>
          <a:lstStyle/>
          <a:p>
            <a:pPr indent="0" marL="0">
              <a:buNone/>
            </a:pPr>
            <a:r>
              <a:rPr lang="en-US" sz="1100" b="1" dirty="0">
                <a:solidFill>
                  <a:srgbClr val="08407C"/>
                </a:solidFill>
                <a:latin typeface="Inter" pitchFamily="34" charset="0"/>
                <a:ea typeface="Inter" pitchFamily="34" charset="-122"/>
                <a:cs typeface="Inter" pitchFamily="34" charset="-120"/>
              </a:rPr>
              <a:t>Deuda en UVA</a:t>
            </a:r>
            <a:endParaRPr lang="en-US" sz="1100" dirty="0"/>
          </a:p>
        </p:txBody>
      </p:sp>
      <p:sp>
        <p:nvSpPr>
          <p:cNvPr id="19" name="Text 16"/>
          <p:cNvSpPr/>
          <p:nvPr/>
        </p:nvSpPr>
        <p:spPr>
          <a:xfrm>
            <a:off x="3913632" y="2468880"/>
            <a:ext cx="2331720" cy="402336"/>
          </a:xfrm>
          <a:prstGeom prst="rect">
            <a:avLst/>
          </a:prstGeom>
          <a:noFill/>
          <a:ln/>
        </p:spPr>
        <p:txBody>
          <a:bodyPr wrap="square" lIns="0" tIns="0" rIns="0" bIns="0" rtlCol="0" anchor="ctr"/>
          <a:lstStyle/>
          <a:p>
            <a:pPr algn="ctr" indent="0" marL="0">
              <a:buNone/>
            </a:pPr>
            <a:r>
              <a:rPr lang="en-US" sz="1250" b="1" dirty="0">
                <a:solidFill>
                  <a:srgbClr val="2E4258"/>
                </a:solidFill>
                <a:latin typeface="Inter" pitchFamily="34" charset="0"/>
                <a:ea typeface="Inter" pitchFamily="34" charset="-122"/>
                <a:cs typeface="Inter" pitchFamily="34" charset="-120"/>
              </a:rPr>
              <a:t>50.000</a:t>
            </a:r>
            <a:endParaRPr lang="en-US" sz="1250" dirty="0"/>
          </a:p>
        </p:txBody>
      </p:sp>
      <p:sp>
        <p:nvSpPr>
          <p:cNvPr id="20" name="Text 17"/>
          <p:cNvSpPr/>
          <p:nvPr/>
        </p:nvSpPr>
        <p:spPr>
          <a:xfrm>
            <a:off x="6355080" y="2468880"/>
            <a:ext cx="2331720" cy="402336"/>
          </a:xfrm>
          <a:prstGeom prst="rect">
            <a:avLst/>
          </a:prstGeom>
          <a:noFill/>
          <a:ln/>
        </p:spPr>
        <p:txBody>
          <a:bodyPr wrap="square" lIns="0" tIns="0" rIns="0" bIns="0" rtlCol="0" anchor="ctr"/>
          <a:lstStyle/>
          <a:p>
            <a:pPr algn="ctr" indent="0" marL="0">
              <a:buNone/>
            </a:pPr>
            <a:r>
              <a:rPr lang="en-US" sz="1250" b="1" dirty="0">
                <a:solidFill>
                  <a:srgbClr val="26AE60"/>
                </a:solidFill>
                <a:latin typeface="Inter" pitchFamily="34" charset="0"/>
                <a:ea typeface="Inter" pitchFamily="34" charset="-122"/>
                <a:cs typeface="Inter" pitchFamily="34" charset="-120"/>
              </a:rPr>
              <a:t>48.810</a:t>
            </a:r>
            <a:endParaRPr lang="en-US" sz="1250" dirty="0"/>
          </a:p>
        </p:txBody>
      </p:sp>
      <p:sp>
        <p:nvSpPr>
          <p:cNvPr id="21" name="Shape 18"/>
          <p:cNvSpPr/>
          <p:nvPr/>
        </p:nvSpPr>
        <p:spPr>
          <a:xfrm>
            <a:off x="603504" y="2926080"/>
            <a:ext cx="8083296" cy="402336"/>
          </a:xfrm>
          <a:prstGeom prst="roundRect">
            <a:avLst>
              <a:gd name="adj" fmla="val 20455"/>
            </a:avLst>
          </a:prstGeom>
          <a:solidFill>
            <a:srgbClr val="F3F3F3"/>
          </a:solidFill>
          <a:ln w="12700">
            <a:solidFill>
              <a:srgbClr val="F3F3F3"/>
            </a:solidFill>
            <a:prstDash val="solid"/>
          </a:ln>
        </p:spPr>
      </p:sp>
      <p:sp>
        <p:nvSpPr>
          <p:cNvPr id="22" name="Text 19"/>
          <p:cNvSpPr/>
          <p:nvPr/>
        </p:nvSpPr>
        <p:spPr>
          <a:xfrm>
            <a:off x="822960" y="2926080"/>
            <a:ext cx="2926080" cy="402336"/>
          </a:xfrm>
          <a:prstGeom prst="rect">
            <a:avLst/>
          </a:prstGeom>
          <a:noFill/>
          <a:ln/>
        </p:spPr>
        <p:txBody>
          <a:bodyPr wrap="square" lIns="0" tIns="0" rIns="0" bIns="0" rtlCol="0" anchor="ctr"/>
          <a:lstStyle/>
          <a:p>
            <a:pPr indent="0" marL="0">
              <a:buNone/>
            </a:pPr>
            <a:r>
              <a:rPr lang="en-US" sz="1100" b="1" dirty="0">
                <a:solidFill>
                  <a:srgbClr val="08407C"/>
                </a:solidFill>
                <a:latin typeface="Inter" pitchFamily="34" charset="0"/>
                <a:ea typeface="Inter" pitchFamily="34" charset="-122"/>
                <a:cs typeface="Inter" pitchFamily="34" charset="-120"/>
              </a:rPr>
              <a:t>Deuda en pesos</a:t>
            </a:r>
            <a:endParaRPr lang="en-US" sz="1100" dirty="0"/>
          </a:p>
        </p:txBody>
      </p:sp>
      <p:sp>
        <p:nvSpPr>
          <p:cNvPr id="23" name="Text 20"/>
          <p:cNvSpPr/>
          <p:nvPr/>
        </p:nvSpPr>
        <p:spPr>
          <a:xfrm>
            <a:off x="3913632" y="2926080"/>
            <a:ext cx="2331720" cy="402336"/>
          </a:xfrm>
          <a:prstGeom prst="rect">
            <a:avLst/>
          </a:prstGeom>
          <a:noFill/>
          <a:ln/>
        </p:spPr>
        <p:txBody>
          <a:bodyPr wrap="square" lIns="0" tIns="0" rIns="0" bIns="0" rtlCol="0" anchor="ctr"/>
          <a:lstStyle/>
          <a:p>
            <a:pPr algn="ctr" indent="0" marL="0">
              <a:buNone/>
            </a:pPr>
            <a:r>
              <a:rPr lang="en-US" sz="1250" b="1" dirty="0">
                <a:solidFill>
                  <a:srgbClr val="2E4258"/>
                </a:solidFill>
                <a:latin typeface="Inter" pitchFamily="34" charset="0"/>
                <a:ea typeface="Inter" pitchFamily="34" charset="-122"/>
                <a:cs typeface="Inter" pitchFamily="34" charset="-120"/>
              </a:rPr>
              <a:t>$105,0 M</a:t>
            </a:r>
            <a:endParaRPr lang="en-US" sz="1250" dirty="0"/>
          </a:p>
        </p:txBody>
      </p:sp>
      <p:sp>
        <p:nvSpPr>
          <p:cNvPr id="24" name="Text 21"/>
          <p:cNvSpPr/>
          <p:nvPr/>
        </p:nvSpPr>
        <p:spPr>
          <a:xfrm>
            <a:off x="6355080" y="2926080"/>
            <a:ext cx="2331720" cy="402336"/>
          </a:xfrm>
          <a:prstGeom prst="rect">
            <a:avLst/>
          </a:prstGeom>
          <a:noFill/>
          <a:ln/>
        </p:spPr>
        <p:txBody>
          <a:bodyPr wrap="square" lIns="0" tIns="0" rIns="0" bIns="0" rtlCol="0" anchor="ctr"/>
          <a:lstStyle/>
          <a:p>
            <a:pPr algn="ctr" indent="0" marL="0">
              <a:buNone/>
            </a:pPr>
            <a:r>
              <a:rPr lang="en-US" sz="1250" b="1" dirty="0">
                <a:solidFill>
                  <a:srgbClr val="E74B3C"/>
                </a:solidFill>
                <a:latin typeface="Inter" pitchFamily="34" charset="0"/>
                <a:ea typeface="Inter" pitchFamily="34" charset="-122"/>
                <a:cs typeface="Inter" pitchFamily="34" charset="-120"/>
              </a:rPr>
              <a:t>$122,5 M</a:t>
            </a:r>
            <a:endParaRPr lang="en-US" sz="1250" dirty="0"/>
          </a:p>
        </p:txBody>
      </p:sp>
      <p:sp>
        <p:nvSpPr>
          <p:cNvPr id="25" name="Text 22"/>
          <p:cNvSpPr/>
          <p:nvPr/>
        </p:nvSpPr>
        <p:spPr>
          <a:xfrm>
            <a:off x="822960" y="3383280"/>
            <a:ext cx="2926080" cy="402336"/>
          </a:xfrm>
          <a:prstGeom prst="rect">
            <a:avLst/>
          </a:prstGeom>
          <a:noFill/>
          <a:ln/>
        </p:spPr>
        <p:txBody>
          <a:bodyPr wrap="square" lIns="0" tIns="0" rIns="0" bIns="0" rtlCol="0" anchor="ctr"/>
          <a:lstStyle/>
          <a:p>
            <a:pPr indent="0" marL="0">
              <a:buNone/>
            </a:pPr>
            <a:r>
              <a:rPr lang="en-US" sz="1100" dirty="0">
                <a:solidFill>
                  <a:srgbClr val="2E4258"/>
                </a:solidFill>
                <a:latin typeface="Inter" pitchFamily="34" charset="0"/>
                <a:ea typeface="Inter" pitchFamily="34" charset="-122"/>
                <a:cs typeface="Inter" pitchFamily="34" charset="-120"/>
              </a:rPr>
              <a:t>Cuota mensual</a:t>
            </a:r>
            <a:endParaRPr lang="en-US" sz="1100" dirty="0"/>
          </a:p>
        </p:txBody>
      </p:sp>
      <p:sp>
        <p:nvSpPr>
          <p:cNvPr id="26" name="Text 23"/>
          <p:cNvSpPr/>
          <p:nvPr/>
        </p:nvSpPr>
        <p:spPr>
          <a:xfrm>
            <a:off x="3913632" y="3383280"/>
            <a:ext cx="2331720" cy="402336"/>
          </a:xfrm>
          <a:prstGeom prst="rect">
            <a:avLst/>
          </a:prstGeom>
          <a:noFill/>
          <a:ln/>
        </p:spPr>
        <p:txBody>
          <a:bodyPr wrap="square" lIns="0" tIns="0" rIns="0" bIns="0" rtlCol="0" anchor="ctr"/>
          <a:lstStyle/>
          <a:p>
            <a:pPr algn="ctr" indent="0" marL="0">
              <a:buNone/>
            </a:pPr>
            <a:r>
              <a:rPr lang="en-US" sz="1250" b="1" dirty="0">
                <a:solidFill>
                  <a:srgbClr val="2E4258"/>
                </a:solidFill>
                <a:latin typeface="Inter" pitchFamily="34" charset="0"/>
                <a:ea typeface="Inter" pitchFamily="34" charset="-122"/>
                <a:cs typeface="Inter" pitchFamily="34" charset="-120"/>
              </a:rPr>
              <a:t>≈ $814.000</a:t>
            </a:r>
            <a:endParaRPr lang="en-US" sz="1250" dirty="0"/>
          </a:p>
        </p:txBody>
      </p:sp>
      <p:sp>
        <p:nvSpPr>
          <p:cNvPr id="27" name="Text 24"/>
          <p:cNvSpPr/>
          <p:nvPr/>
        </p:nvSpPr>
        <p:spPr>
          <a:xfrm>
            <a:off x="6355080" y="3383280"/>
            <a:ext cx="2331720" cy="402336"/>
          </a:xfrm>
          <a:prstGeom prst="rect">
            <a:avLst/>
          </a:prstGeom>
          <a:noFill/>
          <a:ln/>
        </p:spPr>
        <p:txBody>
          <a:bodyPr wrap="square" lIns="0" tIns="0" rIns="0" bIns="0" rtlCol="0" anchor="ctr"/>
          <a:lstStyle/>
          <a:p>
            <a:pPr algn="ctr" indent="0" marL="0">
              <a:buNone/>
            </a:pPr>
            <a:r>
              <a:rPr lang="en-US" sz="1250" b="1" dirty="0">
                <a:solidFill>
                  <a:srgbClr val="2E4258"/>
                </a:solidFill>
                <a:latin typeface="Inter" pitchFamily="34" charset="0"/>
                <a:ea typeface="Inter" pitchFamily="34" charset="-122"/>
                <a:cs typeface="Inter" pitchFamily="34" charset="-120"/>
              </a:rPr>
              <a:t>≈ $973.000</a:t>
            </a:r>
            <a:endParaRPr lang="en-US" sz="1250" dirty="0"/>
          </a:p>
        </p:txBody>
      </p:sp>
      <p:sp>
        <p:nvSpPr>
          <p:cNvPr id="28" name="Shape 25"/>
          <p:cNvSpPr/>
          <p:nvPr/>
        </p:nvSpPr>
        <p:spPr>
          <a:xfrm>
            <a:off x="603504" y="3895344"/>
            <a:ext cx="8083296" cy="841248"/>
          </a:xfrm>
          <a:prstGeom prst="roundRect">
            <a:avLst>
              <a:gd name="adj" fmla="val 9783"/>
            </a:avLst>
          </a:prstGeom>
          <a:solidFill>
            <a:srgbClr val="08407C"/>
          </a:solidFill>
          <a:ln w="12700">
            <a:solidFill>
              <a:srgbClr val="08407C"/>
            </a:solidFill>
            <a:prstDash val="solid"/>
          </a:ln>
        </p:spPr>
      </p:sp>
      <p:sp>
        <p:nvSpPr>
          <p:cNvPr id="29" name="Text 26"/>
          <p:cNvSpPr/>
          <p:nvPr/>
        </p:nvSpPr>
        <p:spPr>
          <a:xfrm>
            <a:off x="841248" y="3986784"/>
            <a:ext cx="7607808" cy="182880"/>
          </a:xfrm>
          <a:prstGeom prst="rect">
            <a:avLst/>
          </a:prstGeom>
          <a:noFill/>
          <a:ln/>
        </p:spPr>
        <p:txBody>
          <a:bodyPr wrap="square" lIns="0" tIns="0" rIns="0" bIns="0" rtlCol="0" anchor="ctr"/>
          <a:lstStyle/>
          <a:p>
            <a:pPr indent="0" marL="0">
              <a:buNone/>
            </a:pPr>
            <a:r>
              <a:rPr lang="en-US" sz="850" b="1" spc="110" kern="0" dirty="0">
                <a:solidFill>
                  <a:srgbClr val="CDD8E4"/>
                </a:solidFill>
                <a:latin typeface="Inter" pitchFamily="34" charset="0"/>
                <a:ea typeface="Inter" pitchFamily="34" charset="-122"/>
                <a:cs typeface="Inter" pitchFamily="34" charset="-120"/>
              </a:rPr>
              <a:t>LAS DOS FLECHAS, JUNTAS</a:t>
            </a:r>
            <a:endParaRPr lang="en-US" sz="850" dirty="0"/>
          </a:p>
        </p:txBody>
      </p:sp>
      <p:sp>
        <p:nvSpPr>
          <p:cNvPr id="30" name="Text 27"/>
          <p:cNvSpPr/>
          <p:nvPr/>
        </p:nvSpPr>
        <p:spPr>
          <a:xfrm>
            <a:off x="841248" y="4187952"/>
            <a:ext cx="7607808" cy="475488"/>
          </a:xfrm>
          <a:prstGeom prst="rect">
            <a:avLst/>
          </a:prstGeom>
          <a:noFill/>
          <a:ln/>
        </p:spPr>
        <p:txBody>
          <a:bodyPr wrap="square" lIns="0" tIns="0" rIns="0" bIns="0" rtlCol="0" anchor="t"/>
          <a:lstStyle/>
          <a:p>
            <a:pPr indent="0" marL="0">
              <a:lnSpc>
                <a:spcPts val="1350"/>
              </a:lnSpc>
              <a:buNone/>
            </a:pPr>
            <a:r>
              <a:rPr lang="en-US" sz="1100" dirty="0">
                <a:solidFill>
                  <a:srgbClr val="FFFFFF"/>
                </a:solidFill>
                <a:latin typeface="Inter" pitchFamily="34" charset="0"/>
                <a:ea typeface="Inter" pitchFamily="34" charset="-122"/>
                <a:cs typeface="Inter" pitchFamily="34" charset="-120"/>
              </a:rPr>
              <a:t>Debe 1.190 UVA menos que hace un año — y $17,5 millones más. Las dos cosas son verdad al mismo tiempo. Lo que decide si esto es un problema no está en esta tabla: está en qué pasó con su ingreso.</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Cómo califica un comprador</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Lo de la izquierda vale siempre. Lo de la derecha lo define cada banco.</a:t>
            </a:r>
            <a:endParaRPr lang="en-US" sz="1200" dirty="0"/>
          </a:p>
        </p:txBody>
      </p:sp>
      <p:sp>
        <p:nvSpPr>
          <p:cNvPr id="7" name="Shape 4"/>
          <p:cNvSpPr/>
          <p:nvPr/>
        </p:nvSpPr>
        <p:spPr>
          <a:xfrm>
            <a:off x="603504" y="1170432"/>
            <a:ext cx="3941064" cy="457200"/>
          </a:xfrm>
          <a:prstGeom prst="roundRect">
            <a:avLst>
              <a:gd name="adj" fmla="val 18000"/>
            </a:avLst>
          </a:prstGeom>
          <a:solidFill>
            <a:srgbClr val="4E586E"/>
          </a:solidFill>
          <a:ln w="12700">
            <a:solidFill>
              <a:srgbClr val="4E586E"/>
            </a:solidFill>
            <a:prstDash val="solid"/>
          </a:ln>
        </p:spPr>
      </p:sp>
      <p:sp>
        <p:nvSpPr>
          <p:cNvPr id="8" name="Text 5"/>
          <p:cNvSpPr/>
          <p:nvPr/>
        </p:nvSpPr>
        <p:spPr>
          <a:xfrm>
            <a:off x="822960" y="1170432"/>
            <a:ext cx="3575304"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SIEMPRE SE MIRA ESTO</a:t>
            </a:r>
            <a:endParaRPr lang="en-US" sz="1150" dirty="0"/>
          </a:p>
        </p:txBody>
      </p:sp>
      <p:sp>
        <p:nvSpPr>
          <p:cNvPr id="9" name="Shape 6"/>
          <p:cNvSpPr/>
          <p:nvPr/>
        </p:nvSpPr>
        <p:spPr>
          <a:xfrm>
            <a:off x="603504" y="1682496"/>
            <a:ext cx="3941064" cy="1773936"/>
          </a:xfrm>
          <a:prstGeom prst="roundRect">
            <a:avLst>
              <a:gd name="adj" fmla="val 4639"/>
            </a:avLst>
          </a:prstGeom>
          <a:solidFill>
            <a:srgbClr val="F3F3F3"/>
          </a:solidFill>
          <a:ln w="12700">
            <a:solidFill>
              <a:srgbClr val="F3F3F3"/>
            </a:solidFill>
            <a:prstDash val="solid"/>
          </a:ln>
        </p:spPr>
      </p:sp>
      <p:sp>
        <p:nvSpPr>
          <p:cNvPr id="10" name="Text 7"/>
          <p:cNvSpPr/>
          <p:nvPr/>
        </p:nvSpPr>
        <p:spPr>
          <a:xfrm>
            <a:off x="822960" y="1773936"/>
            <a:ext cx="3502152" cy="274320"/>
          </a:xfrm>
          <a:prstGeom prst="rect">
            <a:avLst/>
          </a:prstGeom>
          <a:noFill/>
          <a:ln/>
        </p:spPr>
        <p:txBody>
          <a:bodyPr wrap="square" lIns="0" tIns="0" rIns="0" bIns="0" rtlCol="0" anchor="ctr"/>
          <a:lstStyle/>
          <a:p>
            <a:pPr indent="0" marL="0">
              <a:buNone/>
            </a:pPr>
            <a:r>
              <a:rPr lang="en-US" sz="1050" dirty="0">
                <a:solidFill>
                  <a:srgbClr val="2E4258"/>
                </a:solidFill>
                <a:latin typeface="Inter" pitchFamily="34" charset="0"/>
                <a:ea typeface="Inter" pitchFamily="34" charset="-122"/>
                <a:cs typeface="Inter" pitchFamily="34" charset="-120"/>
              </a:rPr>
              <a:t>·  Ingreso demostrable y formal</a:t>
            </a:r>
            <a:endParaRPr lang="en-US" sz="1050" dirty="0"/>
          </a:p>
        </p:txBody>
      </p:sp>
      <p:sp>
        <p:nvSpPr>
          <p:cNvPr id="11" name="Text 8"/>
          <p:cNvSpPr/>
          <p:nvPr/>
        </p:nvSpPr>
        <p:spPr>
          <a:xfrm>
            <a:off x="822960" y="2048256"/>
            <a:ext cx="3502152" cy="274320"/>
          </a:xfrm>
          <a:prstGeom prst="rect">
            <a:avLst/>
          </a:prstGeom>
          <a:noFill/>
          <a:ln/>
        </p:spPr>
        <p:txBody>
          <a:bodyPr wrap="square" lIns="0" tIns="0" rIns="0" bIns="0" rtlCol="0" anchor="ctr"/>
          <a:lstStyle/>
          <a:p>
            <a:pPr indent="0" marL="0">
              <a:buNone/>
            </a:pPr>
            <a:r>
              <a:rPr lang="en-US" sz="1050" dirty="0">
                <a:solidFill>
                  <a:srgbClr val="2E4258"/>
                </a:solidFill>
                <a:latin typeface="Inter" pitchFamily="34" charset="0"/>
                <a:ea typeface="Inter" pitchFamily="34" charset="-122"/>
                <a:cs typeface="Inter" pitchFamily="34" charset="-120"/>
              </a:rPr>
              <a:t>·  Relación entre la cuota y el ingreso</a:t>
            </a:r>
            <a:endParaRPr lang="en-US" sz="1050" dirty="0"/>
          </a:p>
        </p:txBody>
      </p:sp>
      <p:sp>
        <p:nvSpPr>
          <p:cNvPr id="12" name="Text 9"/>
          <p:cNvSpPr/>
          <p:nvPr/>
        </p:nvSpPr>
        <p:spPr>
          <a:xfrm>
            <a:off x="822960" y="2322576"/>
            <a:ext cx="3502152" cy="274320"/>
          </a:xfrm>
          <a:prstGeom prst="rect">
            <a:avLst/>
          </a:prstGeom>
          <a:noFill/>
          <a:ln/>
        </p:spPr>
        <p:txBody>
          <a:bodyPr wrap="square" lIns="0" tIns="0" rIns="0" bIns="0" rtlCol="0" anchor="ctr"/>
          <a:lstStyle/>
          <a:p>
            <a:pPr indent="0" marL="0">
              <a:buNone/>
            </a:pPr>
            <a:r>
              <a:rPr lang="en-US" sz="1050" dirty="0">
                <a:solidFill>
                  <a:srgbClr val="2E4258"/>
                </a:solidFill>
                <a:latin typeface="Inter" pitchFamily="34" charset="0"/>
                <a:ea typeface="Inter" pitchFamily="34" charset="-122"/>
                <a:cs typeface="Inter" pitchFamily="34" charset="-120"/>
              </a:rPr>
              <a:t>·  Historial crediticio (score)</a:t>
            </a:r>
            <a:endParaRPr lang="en-US" sz="1050" dirty="0"/>
          </a:p>
        </p:txBody>
      </p:sp>
      <p:sp>
        <p:nvSpPr>
          <p:cNvPr id="13" name="Text 10"/>
          <p:cNvSpPr/>
          <p:nvPr/>
        </p:nvSpPr>
        <p:spPr>
          <a:xfrm>
            <a:off x="822960" y="2596896"/>
            <a:ext cx="3502152" cy="274320"/>
          </a:xfrm>
          <a:prstGeom prst="rect">
            <a:avLst/>
          </a:prstGeom>
          <a:noFill/>
          <a:ln/>
        </p:spPr>
        <p:txBody>
          <a:bodyPr wrap="square" lIns="0" tIns="0" rIns="0" bIns="0" rtlCol="0" anchor="ctr"/>
          <a:lstStyle/>
          <a:p>
            <a:pPr indent="0" marL="0">
              <a:buNone/>
            </a:pPr>
            <a:r>
              <a:rPr lang="en-US" sz="1050" dirty="0">
                <a:solidFill>
                  <a:srgbClr val="2E4258"/>
                </a:solidFill>
                <a:latin typeface="Inter" pitchFamily="34" charset="0"/>
                <a:ea typeface="Inter" pitchFamily="34" charset="-122"/>
                <a:cs typeface="Inter" pitchFamily="34" charset="-120"/>
              </a:rPr>
              <a:t>·  Antigüedad laboral o fiscal</a:t>
            </a:r>
            <a:endParaRPr lang="en-US" sz="1050" dirty="0"/>
          </a:p>
        </p:txBody>
      </p:sp>
      <p:sp>
        <p:nvSpPr>
          <p:cNvPr id="14" name="Text 11"/>
          <p:cNvSpPr/>
          <p:nvPr/>
        </p:nvSpPr>
        <p:spPr>
          <a:xfrm>
            <a:off x="822960" y="2871216"/>
            <a:ext cx="3502152" cy="274320"/>
          </a:xfrm>
          <a:prstGeom prst="rect">
            <a:avLst/>
          </a:prstGeom>
          <a:noFill/>
          <a:ln/>
        </p:spPr>
        <p:txBody>
          <a:bodyPr wrap="square" lIns="0" tIns="0" rIns="0" bIns="0" rtlCol="0" anchor="ctr"/>
          <a:lstStyle/>
          <a:p>
            <a:pPr indent="0" marL="0">
              <a:buNone/>
            </a:pPr>
            <a:r>
              <a:rPr lang="en-US" sz="1050" dirty="0">
                <a:solidFill>
                  <a:srgbClr val="2E4258"/>
                </a:solidFill>
                <a:latin typeface="Inter" pitchFamily="34" charset="0"/>
                <a:ea typeface="Inter" pitchFamily="34" charset="-122"/>
                <a:cs typeface="Inter" pitchFamily="34" charset="-120"/>
              </a:rPr>
              <a:t>·  Edad al terminar de pagar</a:t>
            </a:r>
            <a:endParaRPr lang="en-US" sz="1050" dirty="0"/>
          </a:p>
        </p:txBody>
      </p:sp>
      <p:sp>
        <p:nvSpPr>
          <p:cNvPr id="15" name="Text 12"/>
          <p:cNvSpPr/>
          <p:nvPr/>
        </p:nvSpPr>
        <p:spPr>
          <a:xfrm>
            <a:off x="822960" y="3145536"/>
            <a:ext cx="3502152" cy="274320"/>
          </a:xfrm>
          <a:prstGeom prst="rect">
            <a:avLst/>
          </a:prstGeom>
          <a:noFill/>
          <a:ln/>
        </p:spPr>
        <p:txBody>
          <a:bodyPr wrap="square" lIns="0" tIns="0" rIns="0" bIns="0" rtlCol="0" anchor="ctr"/>
          <a:lstStyle/>
          <a:p>
            <a:pPr indent="0" marL="0">
              <a:buNone/>
            </a:pPr>
            <a:r>
              <a:rPr lang="en-US" sz="1050" dirty="0">
                <a:solidFill>
                  <a:srgbClr val="2E4258"/>
                </a:solidFill>
                <a:latin typeface="Inter" pitchFamily="34" charset="0"/>
                <a:ea typeface="Inter" pitchFamily="34" charset="-122"/>
                <a:cs typeface="Inter" pitchFamily="34" charset="-120"/>
              </a:rPr>
              <a:t>·  Que la propiedad sea apta crédito</a:t>
            </a:r>
            <a:endParaRPr lang="en-US" sz="1050" dirty="0"/>
          </a:p>
        </p:txBody>
      </p:sp>
      <p:sp>
        <p:nvSpPr>
          <p:cNvPr id="16" name="Shape 13"/>
          <p:cNvSpPr/>
          <p:nvPr/>
        </p:nvSpPr>
        <p:spPr>
          <a:xfrm>
            <a:off x="4745736" y="1170432"/>
            <a:ext cx="3941064" cy="457200"/>
          </a:xfrm>
          <a:prstGeom prst="roundRect">
            <a:avLst>
              <a:gd name="adj" fmla="val 18000"/>
            </a:avLst>
          </a:prstGeom>
          <a:solidFill>
            <a:srgbClr val="08407C"/>
          </a:solidFill>
          <a:ln w="12700">
            <a:solidFill>
              <a:srgbClr val="08407C"/>
            </a:solidFill>
            <a:prstDash val="solid"/>
          </a:ln>
        </p:spPr>
      </p:sp>
      <p:sp>
        <p:nvSpPr>
          <p:cNvPr id="17" name="Text 14"/>
          <p:cNvSpPr/>
          <p:nvPr/>
        </p:nvSpPr>
        <p:spPr>
          <a:xfrm>
            <a:off x="4965192" y="1170432"/>
            <a:ext cx="3575304"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ESTO CAMBIA SEGÚN LA ENTIDAD</a:t>
            </a:r>
            <a:endParaRPr lang="en-US" sz="1150" dirty="0"/>
          </a:p>
        </p:txBody>
      </p:sp>
      <p:sp>
        <p:nvSpPr>
          <p:cNvPr id="18" name="Shape 15"/>
          <p:cNvSpPr/>
          <p:nvPr/>
        </p:nvSpPr>
        <p:spPr>
          <a:xfrm>
            <a:off x="4745736" y="1682496"/>
            <a:ext cx="3941064" cy="1773936"/>
          </a:xfrm>
          <a:prstGeom prst="roundRect">
            <a:avLst>
              <a:gd name="adj" fmla="val 4639"/>
            </a:avLst>
          </a:prstGeom>
          <a:solidFill>
            <a:srgbClr val="E7E7E7"/>
          </a:solidFill>
          <a:ln w="12700">
            <a:solidFill>
              <a:srgbClr val="E7E7E7"/>
            </a:solidFill>
            <a:prstDash val="solid"/>
          </a:ln>
        </p:spPr>
      </p:sp>
      <p:sp>
        <p:nvSpPr>
          <p:cNvPr id="19" name="Text 16"/>
          <p:cNvSpPr/>
          <p:nvPr/>
        </p:nvSpPr>
        <p:spPr>
          <a:xfrm>
            <a:off x="4965192" y="1773936"/>
            <a:ext cx="3502152" cy="274320"/>
          </a:xfrm>
          <a:prstGeom prst="rect">
            <a:avLst/>
          </a:prstGeom>
          <a:noFill/>
          <a:ln/>
        </p:spPr>
        <p:txBody>
          <a:bodyPr wrap="square" lIns="0" tIns="0" rIns="0" bIns="0" rtlCol="0" anchor="ctr"/>
          <a:lstStyle/>
          <a:p>
            <a:pPr indent="0" marL="0">
              <a:buNone/>
            </a:pPr>
            <a:r>
              <a:rPr lang="en-US" sz="1050" dirty="0">
                <a:solidFill>
                  <a:srgbClr val="2E4258"/>
                </a:solidFill>
                <a:latin typeface="Inter" pitchFamily="34" charset="0"/>
                <a:ea typeface="Inter" pitchFamily="34" charset="-122"/>
                <a:cs typeface="Inter" pitchFamily="34" charset="-120"/>
              </a:rPr>
              <a:t>·  Cuánto financia:  suele ir de 70% a 80%</a:t>
            </a:r>
            <a:endParaRPr lang="en-US" sz="1050" dirty="0"/>
          </a:p>
        </p:txBody>
      </p:sp>
      <p:sp>
        <p:nvSpPr>
          <p:cNvPr id="20" name="Text 17"/>
          <p:cNvSpPr/>
          <p:nvPr/>
        </p:nvSpPr>
        <p:spPr>
          <a:xfrm>
            <a:off x="4965192" y="2048256"/>
            <a:ext cx="3502152" cy="274320"/>
          </a:xfrm>
          <a:prstGeom prst="rect">
            <a:avLst/>
          </a:prstGeom>
          <a:noFill/>
          <a:ln/>
        </p:spPr>
        <p:txBody>
          <a:bodyPr wrap="square" lIns="0" tIns="0" rIns="0" bIns="0" rtlCol="0" anchor="ctr"/>
          <a:lstStyle/>
          <a:p>
            <a:pPr indent="0" marL="0">
              <a:buNone/>
            </a:pPr>
            <a:r>
              <a:rPr lang="en-US" sz="1050" dirty="0">
                <a:solidFill>
                  <a:srgbClr val="2E4258"/>
                </a:solidFill>
                <a:latin typeface="Inter" pitchFamily="34" charset="0"/>
                <a:ea typeface="Inter" pitchFamily="34" charset="-122"/>
                <a:cs typeface="Inter" pitchFamily="34" charset="-120"/>
              </a:rPr>
              <a:t>·  Qué % del ingreso afecta:  ~20% a 30%</a:t>
            </a:r>
            <a:endParaRPr lang="en-US" sz="1050" dirty="0"/>
          </a:p>
        </p:txBody>
      </p:sp>
      <p:sp>
        <p:nvSpPr>
          <p:cNvPr id="21" name="Text 18"/>
          <p:cNvSpPr/>
          <p:nvPr/>
        </p:nvSpPr>
        <p:spPr>
          <a:xfrm>
            <a:off x="4965192" y="2322576"/>
            <a:ext cx="3502152" cy="274320"/>
          </a:xfrm>
          <a:prstGeom prst="rect">
            <a:avLst/>
          </a:prstGeom>
          <a:noFill/>
          <a:ln/>
        </p:spPr>
        <p:txBody>
          <a:bodyPr wrap="square" lIns="0" tIns="0" rIns="0" bIns="0" rtlCol="0" anchor="ctr"/>
          <a:lstStyle/>
          <a:p>
            <a:pPr indent="0" marL="0">
              <a:buNone/>
            </a:pPr>
            <a:r>
              <a:rPr lang="en-US" sz="1050" dirty="0">
                <a:solidFill>
                  <a:srgbClr val="2E4258"/>
                </a:solidFill>
                <a:latin typeface="Inter" pitchFamily="34" charset="0"/>
                <a:ea typeface="Inter" pitchFamily="34" charset="-122"/>
                <a:cs typeface="Inter" pitchFamily="34" charset="-120"/>
              </a:rPr>
              <a:t>·  Score mínimo exigido</a:t>
            </a:r>
            <a:endParaRPr lang="en-US" sz="1050" dirty="0"/>
          </a:p>
        </p:txBody>
      </p:sp>
      <p:sp>
        <p:nvSpPr>
          <p:cNvPr id="22" name="Text 19"/>
          <p:cNvSpPr/>
          <p:nvPr/>
        </p:nvSpPr>
        <p:spPr>
          <a:xfrm>
            <a:off x="4965192" y="2596896"/>
            <a:ext cx="3502152" cy="274320"/>
          </a:xfrm>
          <a:prstGeom prst="rect">
            <a:avLst/>
          </a:prstGeom>
          <a:noFill/>
          <a:ln/>
        </p:spPr>
        <p:txBody>
          <a:bodyPr wrap="square" lIns="0" tIns="0" rIns="0" bIns="0" rtlCol="0" anchor="ctr"/>
          <a:lstStyle/>
          <a:p>
            <a:pPr indent="0" marL="0">
              <a:buNone/>
            </a:pPr>
            <a:r>
              <a:rPr lang="en-US" sz="1050" dirty="0">
                <a:solidFill>
                  <a:srgbClr val="2E4258"/>
                </a:solidFill>
                <a:latin typeface="Inter" pitchFamily="34" charset="0"/>
                <a:ea typeface="Inter" pitchFamily="34" charset="-122"/>
                <a:cs typeface="Inter" pitchFamily="34" charset="-120"/>
              </a:rPr>
              <a:t>·  Plazos y monto máximo disponibles</a:t>
            </a:r>
            <a:endParaRPr lang="en-US" sz="1050" dirty="0"/>
          </a:p>
        </p:txBody>
      </p:sp>
      <p:sp>
        <p:nvSpPr>
          <p:cNvPr id="23" name="Text 20"/>
          <p:cNvSpPr/>
          <p:nvPr/>
        </p:nvSpPr>
        <p:spPr>
          <a:xfrm>
            <a:off x="4965192" y="2871216"/>
            <a:ext cx="3502152" cy="274320"/>
          </a:xfrm>
          <a:prstGeom prst="rect">
            <a:avLst/>
          </a:prstGeom>
          <a:noFill/>
          <a:ln/>
        </p:spPr>
        <p:txBody>
          <a:bodyPr wrap="square" lIns="0" tIns="0" rIns="0" bIns="0" rtlCol="0" anchor="ctr"/>
          <a:lstStyle/>
          <a:p>
            <a:pPr indent="0" marL="0">
              <a:buNone/>
            </a:pPr>
            <a:r>
              <a:rPr lang="en-US" sz="1050" dirty="0">
                <a:solidFill>
                  <a:srgbClr val="2E4258"/>
                </a:solidFill>
                <a:latin typeface="Inter" pitchFamily="34" charset="0"/>
                <a:ea typeface="Inter" pitchFamily="34" charset="-122"/>
                <a:cs typeface="Inter" pitchFamily="34" charset="-120"/>
              </a:rPr>
              <a:t>·  Tasa, y si baja por acreditar el sueldo</a:t>
            </a:r>
            <a:endParaRPr lang="en-US" sz="1050" dirty="0"/>
          </a:p>
        </p:txBody>
      </p:sp>
      <p:sp>
        <p:nvSpPr>
          <p:cNvPr id="24" name="Text 21"/>
          <p:cNvSpPr/>
          <p:nvPr/>
        </p:nvSpPr>
        <p:spPr>
          <a:xfrm>
            <a:off x="4965192" y="3145536"/>
            <a:ext cx="3502152" cy="274320"/>
          </a:xfrm>
          <a:prstGeom prst="rect">
            <a:avLst/>
          </a:prstGeom>
          <a:noFill/>
          <a:ln/>
        </p:spPr>
        <p:txBody>
          <a:bodyPr wrap="square" lIns="0" tIns="0" rIns="0" bIns="0" rtlCol="0" anchor="ctr"/>
          <a:lstStyle/>
          <a:p>
            <a:pPr indent="0" marL="0">
              <a:buNone/>
            </a:pPr>
            <a:r>
              <a:rPr lang="en-US" sz="1050" dirty="0">
                <a:solidFill>
                  <a:srgbClr val="2E4258"/>
                </a:solidFill>
                <a:latin typeface="Inter" pitchFamily="34" charset="0"/>
                <a:ea typeface="Inter" pitchFamily="34" charset="-122"/>
                <a:cs typeface="Inter" pitchFamily="34" charset="-120"/>
              </a:rPr>
              <a:t>·  Qué codeudores acepta y cuánto computa</a:t>
            </a:r>
            <a:endParaRPr lang="en-US" sz="1050" dirty="0"/>
          </a:p>
        </p:txBody>
      </p:sp>
      <p:sp>
        <p:nvSpPr>
          <p:cNvPr id="25" name="Shape 22"/>
          <p:cNvSpPr/>
          <p:nvPr/>
        </p:nvSpPr>
        <p:spPr>
          <a:xfrm>
            <a:off x="603504" y="3566160"/>
            <a:ext cx="2584704" cy="1225296"/>
          </a:xfrm>
          <a:prstGeom prst="roundRect">
            <a:avLst>
              <a:gd name="adj" fmla="val 6716"/>
            </a:avLst>
          </a:prstGeom>
          <a:solidFill>
            <a:srgbClr val="08407C"/>
          </a:solidFill>
          <a:ln w="12700">
            <a:solidFill>
              <a:srgbClr val="08407C"/>
            </a:solidFill>
            <a:prstDash val="solid"/>
          </a:ln>
        </p:spPr>
      </p:sp>
      <p:sp>
        <p:nvSpPr>
          <p:cNvPr id="26" name="Text 23"/>
          <p:cNvSpPr/>
          <p:nvPr/>
        </p:nvSpPr>
        <p:spPr>
          <a:xfrm>
            <a:off x="804672" y="3730752"/>
            <a:ext cx="2182368" cy="182880"/>
          </a:xfrm>
          <a:prstGeom prst="rect">
            <a:avLst/>
          </a:prstGeom>
          <a:noFill/>
          <a:ln/>
        </p:spPr>
        <p:txBody>
          <a:bodyPr wrap="square" lIns="0" tIns="0" rIns="0" bIns="0" rtlCol="0" anchor="ctr"/>
          <a:lstStyle/>
          <a:p>
            <a:pPr indent="0" marL="0">
              <a:buNone/>
            </a:pPr>
            <a:r>
              <a:rPr lang="en-US" sz="850" b="1" spc="110" kern="0" dirty="0">
                <a:solidFill>
                  <a:srgbClr val="CDD8E4"/>
                </a:solidFill>
                <a:latin typeface="Inter" pitchFamily="34" charset="0"/>
                <a:ea typeface="Inter" pitchFamily="34" charset="-122"/>
                <a:cs typeface="Inter" pitchFamily="34" charset="-120"/>
              </a:rPr>
              <a:t>EL CONSEJO MÁS ÚTIL</a:t>
            </a:r>
            <a:endParaRPr lang="en-US" sz="850" dirty="0"/>
          </a:p>
        </p:txBody>
      </p:sp>
      <p:sp>
        <p:nvSpPr>
          <p:cNvPr id="27" name="Text 24"/>
          <p:cNvSpPr/>
          <p:nvPr/>
        </p:nvSpPr>
        <p:spPr>
          <a:xfrm>
            <a:off x="804672" y="3950208"/>
            <a:ext cx="2182368" cy="237744"/>
          </a:xfrm>
          <a:prstGeom prst="rect">
            <a:avLst/>
          </a:prstGeom>
          <a:noFill/>
          <a:ln/>
        </p:spPr>
        <p:txBody>
          <a:bodyPr wrap="square" lIns="0" tIns="0" rIns="0" bIns="0" rtlCol="0" anchor="ctr"/>
          <a:lstStyle/>
          <a:p>
            <a:pPr indent="0" marL="0">
              <a:lnSpc>
                <a:spcPts val="1380"/>
              </a:lnSpc>
              <a:buNone/>
            </a:pPr>
            <a:r>
              <a:rPr lang="en-US" sz="1200" b="1" dirty="0">
                <a:solidFill>
                  <a:srgbClr val="FFFFFF"/>
                </a:solidFill>
                <a:latin typeface="Inter" pitchFamily="34" charset="0"/>
                <a:ea typeface="Inter" pitchFamily="34" charset="-122"/>
                <a:cs typeface="Inter" pitchFamily="34" charset="-120"/>
              </a:rPr>
              <a:t>Llegar limpio</a:t>
            </a:r>
            <a:endParaRPr lang="en-US" sz="1200" dirty="0"/>
          </a:p>
        </p:txBody>
      </p:sp>
      <p:sp>
        <p:nvSpPr>
          <p:cNvPr id="28" name="Text 25"/>
          <p:cNvSpPr/>
          <p:nvPr/>
        </p:nvSpPr>
        <p:spPr>
          <a:xfrm>
            <a:off x="804672" y="4242816"/>
            <a:ext cx="2182368" cy="402336"/>
          </a:xfrm>
          <a:prstGeom prst="rect">
            <a:avLst/>
          </a:prstGeom>
          <a:noFill/>
          <a:ln/>
        </p:spPr>
        <p:txBody>
          <a:bodyPr wrap="square" lIns="0" tIns="0" rIns="0" bIns="0" rtlCol="0" anchor="t"/>
          <a:lstStyle/>
          <a:p>
            <a:pPr indent="0" marL="0">
              <a:lnSpc>
                <a:spcPts val="1152"/>
              </a:lnSpc>
              <a:buNone/>
            </a:pPr>
            <a:r>
              <a:rPr lang="en-US" sz="900" dirty="0">
                <a:solidFill>
                  <a:srgbClr val="CDD8E4"/>
                </a:solidFill>
                <a:latin typeface="Inter" pitchFamily="34" charset="0"/>
                <a:ea typeface="Inter" pitchFamily="34" charset="-122"/>
                <a:cs typeface="Inter" pitchFamily="34" charset="-120"/>
              </a:rPr>
              <a:t>Cada cuota de otra deuda resta capacidad de crédito. Cancelar antes de pedir.</a:t>
            </a:r>
            <a:endParaRPr lang="en-US" sz="900" dirty="0"/>
          </a:p>
        </p:txBody>
      </p:sp>
      <p:sp>
        <p:nvSpPr>
          <p:cNvPr id="29" name="Shape 26"/>
          <p:cNvSpPr/>
          <p:nvPr/>
        </p:nvSpPr>
        <p:spPr>
          <a:xfrm>
            <a:off x="3352800" y="3566160"/>
            <a:ext cx="2584704" cy="1225296"/>
          </a:xfrm>
          <a:prstGeom prst="roundRect">
            <a:avLst>
              <a:gd name="adj" fmla="val 6716"/>
            </a:avLst>
          </a:prstGeom>
          <a:solidFill>
            <a:srgbClr val="4E586E"/>
          </a:solidFill>
          <a:ln w="12700">
            <a:solidFill>
              <a:srgbClr val="4E586E"/>
            </a:solidFill>
            <a:prstDash val="solid"/>
          </a:ln>
        </p:spPr>
      </p:sp>
      <p:sp>
        <p:nvSpPr>
          <p:cNvPr id="30" name="Text 27"/>
          <p:cNvSpPr/>
          <p:nvPr/>
        </p:nvSpPr>
        <p:spPr>
          <a:xfrm>
            <a:off x="3553968" y="3730752"/>
            <a:ext cx="2182368" cy="182880"/>
          </a:xfrm>
          <a:prstGeom prst="rect">
            <a:avLst/>
          </a:prstGeom>
          <a:noFill/>
          <a:ln/>
        </p:spPr>
        <p:txBody>
          <a:bodyPr wrap="square" lIns="0" tIns="0" rIns="0" bIns="0" rtlCol="0" anchor="ctr"/>
          <a:lstStyle/>
          <a:p>
            <a:pPr indent="0" marL="0">
              <a:buNone/>
            </a:pPr>
            <a:r>
              <a:rPr lang="en-US" sz="850" b="1" spc="110" kern="0" dirty="0">
                <a:solidFill>
                  <a:srgbClr val="CDD8E4"/>
                </a:solidFill>
                <a:latin typeface="Inter" pitchFamily="34" charset="0"/>
                <a:ea typeface="Inter" pitchFamily="34" charset="-122"/>
                <a:cs typeface="Inter" pitchFamily="34" charset="-120"/>
              </a:rPr>
              <a:t>MONOTRIBUTISTAS</a:t>
            </a:r>
            <a:endParaRPr lang="en-US" sz="850" dirty="0"/>
          </a:p>
        </p:txBody>
      </p:sp>
      <p:sp>
        <p:nvSpPr>
          <p:cNvPr id="31" name="Text 28"/>
          <p:cNvSpPr/>
          <p:nvPr/>
        </p:nvSpPr>
        <p:spPr>
          <a:xfrm>
            <a:off x="3553968" y="3950208"/>
            <a:ext cx="2182368" cy="237744"/>
          </a:xfrm>
          <a:prstGeom prst="rect">
            <a:avLst/>
          </a:prstGeom>
          <a:noFill/>
          <a:ln/>
        </p:spPr>
        <p:txBody>
          <a:bodyPr wrap="square" lIns="0" tIns="0" rIns="0" bIns="0" rtlCol="0" anchor="ctr"/>
          <a:lstStyle/>
          <a:p>
            <a:pPr indent="0" marL="0">
              <a:lnSpc>
                <a:spcPts val="1380"/>
              </a:lnSpc>
              <a:buNone/>
            </a:pPr>
            <a:r>
              <a:rPr lang="en-US" sz="1200" b="1" dirty="0">
                <a:solidFill>
                  <a:srgbClr val="FFFFFF"/>
                </a:solidFill>
                <a:latin typeface="Inter" pitchFamily="34" charset="0"/>
                <a:ea typeface="Inter" pitchFamily="34" charset="-122"/>
                <a:cs typeface="Inter" pitchFamily="34" charset="-120"/>
              </a:rPr>
              <a:t>Sí califican</a:t>
            </a:r>
            <a:endParaRPr lang="en-US" sz="1200" dirty="0"/>
          </a:p>
        </p:txBody>
      </p:sp>
      <p:sp>
        <p:nvSpPr>
          <p:cNvPr id="32" name="Text 29"/>
          <p:cNvSpPr/>
          <p:nvPr/>
        </p:nvSpPr>
        <p:spPr>
          <a:xfrm>
            <a:off x="3553968" y="4242816"/>
            <a:ext cx="2182368" cy="402336"/>
          </a:xfrm>
          <a:prstGeom prst="rect">
            <a:avLst/>
          </a:prstGeom>
          <a:noFill/>
          <a:ln/>
        </p:spPr>
        <p:txBody>
          <a:bodyPr wrap="square" lIns="0" tIns="0" rIns="0" bIns="0" rtlCol="0" anchor="t"/>
          <a:lstStyle/>
          <a:p>
            <a:pPr indent="0" marL="0">
              <a:lnSpc>
                <a:spcPts val="1152"/>
              </a:lnSpc>
              <a:buNone/>
            </a:pPr>
            <a:r>
              <a:rPr lang="en-US" sz="900" dirty="0">
                <a:solidFill>
                  <a:srgbClr val="CDD8E4"/>
                </a:solidFill>
                <a:latin typeface="Inter" pitchFamily="34" charset="0"/>
                <a:ea typeface="Inter" pitchFamily="34" charset="-122"/>
                <a:cs typeface="Inter" pitchFamily="34" charset="-120"/>
              </a:rPr>
              <a:t>Piden antigüedad —suele ser ~2 años— y miran el historial, no la última categoría.</a:t>
            </a:r>
            <a:endParaRPr lang="en-US" sz="900" dirty="0"/>
          </a:p>
        </p:txBody>
      </p:sp>
      <p:sp>
        <p:nvSpPr>
          <p:cNvPr id="33" name="Shape 30"/>
          <p:cNvSpPr/>
          <p:nvPr/>
        </p:nvSpPr>
        <p:spPr>
          <a:xfrm>
            <a:off x="6102096" y="3566160"/>
            <a:ext cx="2584704" cy="1225296"/>
          </a:xfrm>
          <a:prstGeom prst="roundRect">
            <a:avLst>
              <a:gd name="adj" fmla="val 6716"/>
            </a:avLst>
          </a:prstGeom>
          <a:solidFill>
            <a:srgbClr val="7C8594"/>
          </a:solidFill>
          <a:ln w="12700">
            <a:solidFill>
              <a:srgbClr val="7C8594"/>
            </a:solidFill>
            <a:prstDash val="solid"/>
          </a:ln>
        </p:spPr>
      </p:sp>
      <p:sp>
        <p:nvSpPr>
          <p:cNvPr id="34" name="Text 31"/>
          <p:cNvSpPr/>
          <p:nvPr/>
        </p:nvSpPr>
        <p:spPr>
          <a:xfrm>
            <a:off x="6303264" y="3730752"/>
            <a:ext cx="2182368" cy="182880"/>
          </a:xfrm>
          <a:prstGeom prst="rect">
            <a:avLst/>
          </a:prstGeom>
          <a:noFill/>
          <a:ln/>
        </p:spPr>
        <p:txBody>
          <a:bodyPr wrap="square" lIns="0" tIns="0" rIns="0" bIns="0" rtlCol="0" anchor="ctr"/>
          <a:lstStyle/>
          <a:p>
            <a:pPr indent="0" marL="0">
              <a:buNone/>
            </a:pPr>
            <a:r>
              <a:rPr lang="en-US" sz="850" b="1" spc="110" kern="0" dirty="0">
                <a:solidFill>
                  <a:srgbClr val="E4E6E9"/>
                </a:solidFill>
                <a:latin typeface="Inter" pitchFamily="34" charset="0"/>
                <a:ea typeface="Inter" pitchFamily="34" charset="-122"/>
                <a:cs typeface="Inter" pitchFamily="34" charset="-120"/>
              </a:rPr>
              <a:t>TIEMPOS</a:t>
            </a:r>
            <a:endParaRPr lang="en-US" sz="850" dirty="0"/>
          </a:p>
        </p:txBody>
      </p:sp>
      <p:sp>
        <p:nvSpPr>
          <p:cNvPr id="35" name="Text 32"/>
          <p:cNvSpPr/>
          <p:nvPr/>
        </p:nvSpPr>
        <p:spPr>
          <a:xfrm>
            <a:off x="6303264" y="3950208"/>
            <a:ext cx="2182368" cy="237744"/>
          </a:xfrm>
          <a:prstGeom prst="rect">
            <a:avLst/>
          </a:prstGeom>
          <a:noFill/>
          <a:ln/>
        </p:spPr>
        <p:txBody>
          <a:bodyPr wrap="square" lIns="0" tIns="0" rIns="0" bIns="0" rtlCol="0" anchor="ctr"/>
          <a:lstStyle/>
          <a:p>
            <a:pPr indent="0" marL="0">
              <a:lnSpc>
                <a:spcPts val="1380"/>
              </a:lnSpc>
              <a:buNone/>
            </a:pPr>
            <a:r>
              <a:rPr lang="en-US" sz="1200" b="1" dirty="0">
                <a:solidFill>
                  <a:srgbClr val="FFFFFF"/>
                </a:solidFill>
                <a:latin typeface="Inter" pitchFamily="34" charset="0"/>
                <a:ea typeface="Inter" pitchFamily="34" charset="-122"/>
                <a:cs typeface="Inter" pitchFamily="34" charset="-120"/>
              </a:rPr>
              <a:t>Paciencia</a:t>
            </a:r>
            <a:endParaRPr lang="en-US" sz="1200" dirty="0"/>
          </a:p>
        </p:txBody>
      </p:sp>
      <p:sp>
        <p:nvSpPr>
          <p:cNvPr id="36" name="Text 33"/>
          <p:cNvSpPr/>
          <p:nvPr/>
        </p:nvSpPr>
        <p:spPr>
          <a:xfrm>
            <a:off x="6303264" y="4242816"/>
            <a:ext cx="2182368" cy="402336"/>
          </a:xfrm>
          <a:prstGeom prst="rect">
            <a:avLst/>
          </a:prstGeom>
          <a:noFill/>
          <a:ln/>
        </p:spPr>
        <p:txBody>
          <a:bodyPr wrap="square" lIns="0" tIns="0" rIns="0" bIns="0" rtlCol="0" anchor="t"/>
          <a:lstStyle/>
          <a:p>
            <a:pPr indent="0" marL="0">
              <a:lnSpc>
                <a:spcPts val="1152"/>
              </a:lnSpc>
              <a:buNone/>
            </a:pPr>
            <a:r>
              <a:rPr lang="en-US" sz="900" dirty="0">
                <a:solidFill>
                  <a:srgbClr val="E4E6E9"/>
                </a:solidFill>
                <a:latin typeface="Inter" pitchFamily="34" charset="0"/>
                <a:ea typeface="Inter" pitchFamily="34" charset="-122"/>
                <a:cs typeface="Inter" pitchFamily="34" charset="-120"/>
              </a:rPr>
              <a:t>Intervienen tasador, escribano e informes registrales. No depende solo del banco.</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El programa oficial anunciado en 2026</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Es la novedad que trae el cliente a la conversación. Conviene saber qué dice.</a:t>
            </a:r>
            <a:endParaRPr lang="en-US" sz="1200" dirty="0"/>
          </a:p>
        </p:txBody>
      </p:sp>
      <p:sp>
        <p:nvSpPr>
          <p:cNvPr id="7" name="Shape 4"/>
          <p:cNvSpPr/>
          <p:nvPr/>
        </p:nvSpPr>
        <p:spPr>
          <a:xfrm>
            <a:off x="603504" y="1152144"/>
            <a:ext cx="8083296" cy="768096"/>
          </a:xfrm>
          <a:prstGeom prst="roundRect">
            <a:avLst>
              <a:gd name="adj" fmla="val 10714"/>
            </a:avLst>
          </a:prstGeom>
          <a:solidFill>
            <a:srgbClr val="F3F3F3"/>
          </a:solidFill>
          <a:ln w="12700">
            <a:solidFill>
              <a:srgbClr val="F3F3F3"/>
            </a:solidFill>
            <a:prstDash val="solid"/>
          </a:ln>
        </p:spPr>
      </p:sp>
      <p:sp>
        <p:nvSpPr>
          <p:cNvPr id="8" name="Text 5"/>
          <p:cNvSpPr/>
          <p:nvPr/>
        </p:nvSpPr>
        <p:spPr>
          <a:xfrm>
            <a:off x="804672" y="1316736"/>
            <a:ext cx="7680960" cy="182880"/>
          </a:xfrm>
          <a:prstGeom prst="rect">
            <a:avLst/>
          </a:prstGeom>
          <a:noFill/>
          <a:ln/>
        </p:spPr>
        <p:txBody>
          <a:bodyPr wrap="square" lIns="0" tIns="0" rIns="0" bIns="0" rtlCol="0" anchor="ctr"/>
          <a:lstStyle/>
          <a:p>
            <a:pPr indent="0" marL="0">
              <a:buNone/>
            </a:pPr>
            <a:r>
              <a:rPr lang="en-US" sz="850" b="1" spc="110" kern="0" dirty="0">
                <a:solidFill>
                  <a:srgbClr val="6A7686"/>
                </a:solidFill>
                <a:latin typeface="Inter" pitchFamily="34" charset="0"/>
                <a:ea typeface="Inter" pitchFamily="34" charset="-122"/>
                <a:cs typeface="Inter" pitchFamily="34" charset="-120"/>
              </a:rPr>
              <a:t>QUÉ HACE, EN UNA FRASE</a:t>
            </a:r>
            <a:endParaRPr lang="en-US" sz="850" dirty="0"/>
          </a:p>
        </p:txBody>
      </p:sp>
      <p:sp>
        <p:nvSpPr>
          <p:cNvPr id="9" name="Text 6"/>
          <p:cNvSpPr/>
          <p:nvPr/>
        </p:nvSpPr>
        <p:spPr>
          <a:xfrm>
            <a:off x="804672" y="1536192"/>
            <a:ext cx="7680960" cy="292608"/>
          </a:xfrm>
          <a:prstGeom prst="rect">
            <a:avLst/>
          </a:prstGeom>
          <a:noFill/>
          <a:ln/>
        </p:spPr>
        <p:txBody>
          <a:bodyPr wrap="square" lIns="0" tIns="0" rIns="0" bIns="0" rtlCol="0" anchor="ctr"/>
          <a:lstStyle/>
          <a:p>
            <a:pPr indent="0" marL="0">
              <a:lnSpc>
                <a:spcPts val="1495"/>
              </a:lnSpc>
              <a:buNone/>
            </a:pPr>
            <a:r>
              <a:rPr lang="en-US" sz="1300" b="1" dirty="0">
                <a:solidFill>
                  <a:srgbClr val="08407C"/>
                </a:solidFill>
                <a:latin typeface="Inter" pitchFamily="34" charset="0"/>
                <a:ea typeface="Inter" pitchFamily="34" charset="-122"/>
                <a:cs typeface="Inter" pitchFamily="34" charset="-120"/>
              </a:rPr>
              <a:t>No le presta a la gente: le presta a los bancos para que presten más barato y a más plazo.</a:t>
            </a:r>
            <a:endParaRPr lang="en-US" sz="1300" dirty="0"/>
          </a:p>
        </p:txBody>
      </p:sp>
      <p:sp>
        <p:nvSpPr>
          <p:cNvPr id="10" name="Shape 7"/>
          <p:cNvSpPr/>
          <p:nvPr/>
        </p:nvSpPr>
        <p:spPr>
          <a:xfrm>
            <a:off x="603504" y="2029968"/>
            <a:ext cx="1897380" cy="1554480"/>
          </a:xfrm>
          <a:prstGeom prst="roundRect">
            <a:avLst>
              <a:gd name="adj" fmla="val 5294"/>
            </a:avLst>
          </a:prstGeom>
          <a:solidFill>
            <a:srgbClr val="08407C"/>
          </a:solidFill>
          <a:ln w="12700">
            <a:solidFill>
              <a:srgbClr val="08407C"/>
            </a:solidFill>
            <a:prstDash val="solid"/>
          </a:ln>
        </p:spPr>
      </p:sp>
      <p:sp>
        <p:nvSpPr>
          <p:cNvPr id="11" name="Text 8"/>
          <p:cNvSpPr/>
          <p:nvPr/>
        </p:nvSpPr>
        <p:spPr>
          <a:xfrm>
            <a:off x="786384" y="2176272"/>
            <a:ext cx="1531620" cy="566928"/>
          </a:xfrm>
          <a:prstGeom prst="rect">
            <a:avLst/>
          </a:prstGeom>
          <a:noFill/>
          <a:ln/>
        </p:spPr>
        <p:txBody>
          <a:bodyPr wrap="square" lIns="0" tIns="0" rIns="0" bIns="0" rtlCol="0" anchor="ctr"/>
          <a:lstStyle/>
          <a:p>
            <a:pPr indent="0" marL="0">
              <a:buNone/>
            </a:pPr>
            <a:r>
              <a:rPr lang="en-US" sz="2300" b="1" dirty="0">
                <a:solidFill>
                  <a:srgbClr val="FFFFFF"/>
                </a:solidFill>
                <a:latin typeface="Inter" pitchFamily="34" charset="0"/>
                <a:ea typeface="Inter" pitchFamily="34" charset="-122"/>
                <a:cs typeface="Inter" pitchFamily="34" charset="-120"/>
              </a:rPr>
              <a:t>$2 bill.</a:t>
            </a:r>
            <a:endParaRPr lang="en-US" sz="2300" dirty="0"/>
          </a:p>
        </p:txBody>
      </p:sp>
      <p:sp>
        <p:nvSpPr>
          <p:cNvPr id="12" name="Text 9"/>
          <p:cNvSpPr/>
          <p:nvPr/>
        </p:nvSpPr>
        <p:spPr>
          <a:xfrm>
            <a:off x="786384" y="2743200"/>
            <a:ext cx="1531620" cy="219456"/>
          </a:xfrm>
          <a:prstGeom prst="rect">
            <a:avLst/>
          </a:prstGeom>
          <a:noFill/>
          <a:ln/>
        </p:spPr>
        <p:txBody>
          <a:bodyPr wrap="square" lIns="0" tIns="0" rIns="0" bIns="0" rtlCol="0" anchor="ctr"/>
          <a:lstStyle/>
          <a:p>
            <a:pPr indent="0" marL="0">
              <a:buNone/>
            </a:pPr>
            <a:r>
              <a:rPr lang="en-US" sz="850" b="1" spc="100" kern="0" dirty="0">
                <a:solidFill>
                  <a:srgbClr val="FFFFFF"/>
                </a:solidFill>
                <a:latin typeface="Inter" pitchFamily="34" charset="0"/>
                <a:ea typeface="Inter" pitchFamily="34" charset="-122"/>
                <a:cs typeface="Inter" pitchFamily="34" charset="-120"/>
              </a:rPr>
              <a:t>EL PROGRAMA</a:t>
            </a:r>
            <a:endParaRPr lang="en-US" sz="850" dirty="0"/>
          </a:p>
        </p:txBody>
      </p:sp>
      <p:sp>
        <p:nvSpPr>
          <p:cNvPr id="13" name="Text 10"/>
          <p:cNvSpPr/>
          <p:nvPr/>
        </p:nvSpPr>
        <p:spPr>
          <a:xfrm>
            <a:off x="786384" y="2980944"/>
            <a:ext cx="1531620" cy="493776"/>
          </a:xfrm>
          <a:prstGeom prst="rect">
            <a:avLst/>
          </a:prstGeom>
          <a:noFill/>
          <a:ln/>
        </p:spPr>
        <p:txBody>
          <a:bodyPr wrap="square" lIns="0" tIns="0" rIns="0" bIns="0" rtlCol="0" anchor="t"/>
          <a:lstStyle/>
          <a:p>
            <a:pPr indent="0" marL="0">
              <a:lnSpc>
                <a:spcPts val="1150"/>
              </a:lnSpc>
              <a:buNone/>
            </a:pPr>
            <a:r>
              <a:rPr lang="en-US" sz="950" dirty="0">
                <a:solidFill>
                  <a:srgbClr val="CDD8E4"/>
                </a:solidFill>
                <a:latin typeface="Inter" pitchFamily="34" charset="0"/>
                <a:ea typeface="Inter" pitchFamily="34" charset="-122"/>
                <a:cs typeface="Inter" pitchFamily="34" charset="-120"/>
              </a:rPr>
              <a:t>Vía plazos fijos del FGS en bancos, a 1 a 5 años.</a:t>
            </a:r>
            <a:endParaRPr lang="en-US" sz="950" dirty="0"/>
          </a:p>
        </p:txBody>
      </p:sp>
      <p:sp>
        <p:nvSpPr>
          <p:cNvPr id="14" name="Shape 11"/>
          <p:cNvSpPr/>
          <p:nvPr/>
        </p:nvSpPr>
        <p:spPr>
          <a:xfrm>
            <a:off x="2665476" y="2029968"/>
            <a:ext cx="1897380" cy="1554480"/>
          </a:xfrm>
          <a:prstGeom prst="roundRect">
            <a:avLst>
              <a:gd name="adj" fmla="val 5294"/>
            </a:avLst>
          </a:prstGeom>
          <a:solidFill>
            <a:srgbClr val="4E586E"/>
          </a:solidFill>
          <a:ln w="12700">
            <a:solidFill>
              <a:srgbClr val="4E586E"/>
            </a:solidFill>
            <a:prstDash val="solid"/>
          </a:ln>
        </p:spPr>
      </p:sp>
      <p:sp>
        <p:nvSpPr>
          <p:cNvPr id="15" name="Text 12"/>
          <p:cNvSpPr/>
          <p:nvPr/>
        </p:nvSpPr>
        <p:spPr>
          <a:xfrm>
            <a:off x="2848356" y="2176272"/>
            <a:ext cx="1531620" cy="566928"/>
          </a:xfrm>
          <a:prstGeom prst="rect">
            <a:avLst/>
          </a:prstGeom>
          <a:noFill/>
          <a:ln/>
        </p:spPr>
        <p:txBody>
          <a:bodyPr wrap="square" lIns="0" tIns="0" rIns="0" bIns="0" rtlCol="0" anchor="ctr"/>
          <a:lstStyle/>
          <a:p>
            <a:pPr indent="0" marL="0">
              <a:buNone/>
            </a:pPr>
            <a:r>
              <a:rPr lang="en-US" sz="1800" b="1" dirty="0">
                <a:solidFill>
                  <a:srgbClr val="FFFFFF"/>
                </a:solidFill>
                <a:latin typeface="Inter" pitchFamily="34" charset="0"/>
                <a:ea typeface="Inter" pitchFamily="34" charset="-122"/>
                <a:cs typeface="Inter" pitchFamily="34" charset="-120"/>
              </a:rPr>
              <a:t>UVA+7,5%</a:t>
            </a:r>
            <a:endParaRPr lang="en-US" sz="1800" dirty="0"/>
          </a:p>
        </p:txBody>
      </p:sp>
      <p:sp>
        <p:nvSpPr>
          <p:cNvPr id="16" name="Text 13"/>
          <p:cNvSpPr/>
          <p:nvPr/>
        </p:nvSpPr>
        <p:spPr>
          <a:xfrm>
            <a:off x="2848356" y="2743200"/>
            <a:ext cx="1531620" cy="219456"/>
          </a:xfrm>
          <a:prstGeom prst="rect">
            <a:avLst/>
          </a:prstGeom>
          <a:noFill/>
          <a:ln/>
        </p:spPr>
        <p:txBody>
          <a:bodyPr wrap="square" lIns="0" tIns="0" rIns="0" bIns="0" rtlCol="0" anchor="ctr"/>
          <a:lstStyle/>
          <a:p>
            <a:pPr indent="0" marL="0">
              <a:buNone/>
            </a:pPr>
            <a:r>
              <a:rPr lang="en-US" sz="850" b="1" spc="100" kern="0" dirty="0">
                <a:solidFill>
                  <a:srgbClr val="FFFFFF"/>
                </a:solidFill>
                <a:latin typeface="Inter" pitchFamily="34" charset="0"/>
                <a:ea typeface="Inter" pitchFamily="34" charset="-122"/>
                <a:cs typeface="Inter" pitchFamily="34" charset="-120"/>
              </a:rPr>
              <a:t>TOPE DE TASA</a:t>
            </a:r>
            <a:endParaRPr lang="en-US" sz="850" dirty="0"/>
          </a:p>
        </p:txBody>
      </p:sp>
      <p:sp>
        <p:nvSpPr>
          <p:cNvPr id="17" name="Text 14"/>
          <p:cNvSpPr/>
          <p:nvPr/>
        </p:nvSpPr>
        <p:spPr>
          <a:xfrm>
            <a:off x="2848356" y="2980944"/>
            <a:ext cx="1531620" cy="493776"/>
          </a:xfrm>
          <a:prstGeom prst="rect">
            <a:avLst/>
          </a:prstGeom>
          <a:noFill/>
          <a:ln/>
        </p:spPr>
        <p:txBody>
          <a:bodyPr wrap="square" lIns="0" tIns="0" rIns="0" bIns="0" rtlCol="0" anchor="t"/>
          <a:lstStyle/>
          <a:p>
            <a:pPr indent="0" marL="0">
              <a:lnSpc>
                <a:spcPts val="1150"/>
              </a:lnSpc>
              <a:buNone/>
            </a:pPr>
            <a:r>
              <a:rPr lang="en-US" sz="950" dirty="0">
                <a:solidFill>
                  <a:srgbClr val="CDD8E4"/>
                </a:solidFill>
                <a:latin typeface="Inter" pitchFamily="34" charset="0"/>
                <a:ea typeface="Inter" pitchFamily="34" charset="-122"/>
                <a:cs typeface="Inter" pitchFamily="34" charset="-120"/>
              </a:rPr>
              <a:t>Techo, no piso. El banco puede prestar más barato.</a:t>
            </a:r>
            <a:endParaRPr lang="en-US" sz="950" dirty="0"/>
          </a:p>
        </p:txBody>
      </p:sp>
      <p:sp>
        <p:nvSpPr>
          <p:cNvPr id="18" name="Shape 15"/>
          <p:cNvSpPr/>
          <p:nvPr/>
        </p:nvSpPr>
        <p:spPr>
          <a:xfrm>
            <a:off x="4727448" y="2029968"/>
            <a:ext cx="1897380" cy="1554480"/>
          </a:xfrm>
          <a:prstGeom prst="roundRect">
            <a:avLst>
              <a:gd name="adj" fmla="val 5294"/>
            </a:avLst>
          </a:prstGeom>
          <a:solidFill>
            <a:srgbClr val="7C8594"/>
          </a:solidFill>
          <a:ln w="12700">
            <a:solidFill>
              <a:srgbClr val="7C8594"/>
            </a:solidFill>
            <a:prstDash val="solid"/>
          </a:ln>
        </p:spPr>
      </p:sp>
      <p:sp>
        <p:nvSpPr>
          <p:cNvPr id="19" name="Text 16"/>
          <p:cNvSpPr/>
          <p:nvPr/>
        </p:nvSpPr>
        <p:spPr>
          <a:xfrm>
            <a:off x="4910328" y="2176272"/>
            <a:ext cx="1531620" cy="566928"/>
          </a:xfrm>
          <a:prstGeom prst="rect">
            <a:avLst/>
          </a:prstGeom>
          <a:noFill/>
          <a:ln/>
        </p:spPr>
        <p:txBody>
          <a:bodyPr wrap="square" lIns="0" tIns="0" rIns="0" bIns="0" rtlCol="0" anchor="ctr"/>
          <a:lstStyle/>
          <a:p>
            <a:pPr indent="0" marL="0">
              <a:buNone/>
            </a:pPr>
            <a:r>
              <a:rPr lang="en-US" sz="2300" b="1" dirty="0">
                <a:solidFill>
                  <a:srgbClr val="FFFFFF"/>
                </a:solidFill>
                <a:latin typeface="Inter" pitchFamily="34" charset="0"/>
                <a:ea typeface="Inter" pitchFamily="34" charset="-122"/>
                <a:cs typeface="Inter" pitchFamily="34" charset="-120"/>
              </a:rPr>
              <a:t>150.000</a:t>
            </a:r>
            <a:endParaRPr lang="en-US" sz="2300" dirty="0"/>
          </a:p>
        </p:txBody>
      </p:sp>
      <p:sp>
        <p:nvSpPr>
          <p:cNvPr id="20" name="Text 17"/>
          <p:cNvSpPr/>
          <p:nvPr/>
        </p:nvSpPr>
        <p:spPr>
          <a:xfrm>
            <a:off x="4910328" y="2743200"/>
            <a:ext cx="1531620" cy="219456"/>
          </a:xfrm>
          <a:prstGeom prst="rect">
            <a:avLst/>
          </a:prstGeom>
          <a:noFill/>
          <a:ln/>
        </p:spPr>
        <p:txBody>
          <a:bodyPr wrap="square" lIns="0" tIns="0" rIns="0" bIns="0" rtlCol="0" anchor="ctr"/>
          <a:lstStyle/>
          <a:p>
            <a:pPr indent="0" marL="0">
              <a:buNone/>
            </a:pPr>
            <a:r>
              <a:rPr lang="en-US" sz="850" b="1" spc="100" kern="0" dirty="0">
                <a:solidFill>
                  <a:srgbClr val="FFFFFF"/>
                </a:solidFill>
                <a:latin typeface="Inter" pitchFamily="34" charset="0"/>
                <a:ea typeface="Inter" pitchFamily="34" charset="-122"/>
                <a:cs typeface="Inter" pitchFamily="34" charset="-120"/>
              </a:rPr>
              <a:t>UVA · MÁXIMO</a:t>
            </a:r>
            <a:endParaRPr lang="en-US" sz="850" dirty="0"/>
          </a:p>
        </p:txBody>
      </p:sp>
      <p:sp>
        <p:nvSpPr>
          <p:cNvPr id="21" name="Text 18"/>
          <p:cNvSpPr/>
          <p:nvPr/>
        </p:nvSpPr>
        <p:spPr>
          <a:xfrm>
            <a:off x="4910328" y="2980944"/>
            <a:ext cx="1531620" cy="493776"/>
          </a:xfrm>
          <a:prstGeom prst="rect">
            <a:avLst/>
          </a:prstGeom>
          <a:noFill/>
          <a:ln/>
        </p:spPr>
        <p:txBody>
          <a:bodyPr wrap="square" lIns="0" tIns="0" rIns="0" bIns="0" rtlCol="0" anchor="t"/>
          <a:lstStyle/>
          <a:p>
            <a:pPr indent="0" marL="0">
              <a:lnSpc>
                <a:spcPts val="1150"/>
              </a:lnSpc>
              <a:buNone/>
            </a:pPr>
            <a:r>
              <a:rPr lang="en-US" sz="950" dirty="0">
                <a:solidFill>
                  <a:srgbClr val="E4E6E9"/>
                </a:solidFill>
                <a:latin typeface="Inter" pitchFamily="34" charset="0"/>
                <a:ea typeface="Inter" pitchFamily="34" charset="-122"/>
                <a:cs typeface="Inter" pitchFamily="34" charset="-120"/>
              </a:rPr>
              <a:t>El préstamo promedio del mercado es bastante menor.</a:t>
            </a:r>
            <a:endParaRPr lang="en-US" sz="950" dirty="0"/>
          </a:p>
        </p:txBody>
      </p:sp>
      <p:sp>
        <p:nvSpPr>
          <p:cNvPr id="22" name="Shape 19"/>
          <p:cNvSpPr/>
          <p:nvPr/>
        </p:nvSpPr>
        <p:spPr>
          <a:xfrm>
            <a:off x="6789420" y="2029968"/>
            <a:ext cx="1897380" cy="1554480"/>
          </a:xfrm>
          <a:prstGeom prst="roundRect">
            <a:avLst>
              <a:gd name="adj" fmla="val 5294"/>
            </a:avLst>
          </a:prstGeom>
          <a:solidFill>
            <a:srgbClr val="396696"/>
          </a:solidFill>
          <a:ln w="12700">
            <a:solidFill>
              <a:srgbClr val="396696"/>
            </a:solidFill>
            <a:prstDash val="solid"/>
          </a:ln>
        </p:spPr>
      </p:sp>
      <p:sp>
        <p:nvSpPr>
          <p:cNvPr id="23" name="Text 20"/>
          <p:cNvSpPr/>
          <p:nvPr/>
        </p:nvSpPr>
        <p:spPr>
          <a:xfrm>
            <a:off x="6972300" y="2176272"/>
            <a:ext cx="1531620" cy="566928"/>
          </a:xfrm>
          <a:prstGeom prst="rect">
            <a:avLst/>
          </a:prstGeom>
          <a:noFill/>
          <a:ln/>
        </p:spPr>
        <p:txBody>
          <a:bodyPr wrap="square" lIns="0" tIns="0" rIns="0" bIns="0" rtlCol="0" anchor="ctr"/>
          <a:lstStyle/>
          <a:p>
            <a:pPr indent="0" marL="0">
              <a:buNone/>
            </a:pPr>
            <a:r>
              <a:rPr lang="en-US" sz="1500" b="1" dirty="0">
                <a:solidFill>
                  <a:srgbClr val="FFFFFF"/>
                </a:solidFill>
                <a:latin typeface="Inter" pitchFamily="34" charset="0"/>
                <a:ea typeface="Inter" pitchFamily="34" charset="-122"/>
                <a:cs typeface="Inter" pitchFamily="34" charset="-120"/>
              </a:rPr>
              <a:t>1.ª vivienda</a:t>
            </a:r>
            <a:endParaRPr lang="en-US" sz="1500" dirty="0"/>
          </a:p>
        </p:txBody>
      </p:sp>
      <p:sp>
        <p:nvSpPr>
          <p:cNvPr id="24" name="Text 21"/>
          <p:cNvSpPr/>
          <p:nvPr/>
        </p:nvSpPr>
        <p:spPr>
          <a:xfrm>
            <a:off x="6972300" y="2743200"/>
            <a:ext cx="1531620" cy="219456"/>
          </a:xfrm>
          <a:prstGeom prst="rect">
            <a:avLst/>
          </a:prstGeom>
          <a:noFill/>
          <a:ln/>
        </p:spPr>
        <p:txBody>
          <a:bodyPr wrap="square" lIns="0" tIns="0" rIns="0" bIns="0" rtlCol="0" anchor="ctr"/>
          <a:lstStyle/>
          <a:p>
            <a:pPr indent="0" marL="0">
              <a:buNone/>
            </a:pPr>
            <a:r>
              <a:rPr lang="en-US" sz="850" b="1" spc="100" kern="0" dirty="0">
                <a:solidFill>
                  <a:srgbClr val="FFFFFF"/>
                </a:solidFill>
                <a:latin typeface="Inter" pitchFamily="34" charset="0"/>
                <a:ea typeface="Inter" pitchFamily="34" charset="-122"/>
                <a:cs typeface="Inter" pitchFamily="34" charset="-120"/>
              </a:rPr>
              <a:t>DESTINO</a:t>
            </a:r>
            <a:endParaRPr lang="en-US" sz="850" dirty="0"/>
          </a:p>
        </p:txBody>
      </p:sp>
      <p:sp>
        <p:nvSpPr>
          <p:cNvPr id="25" name="Text 22"/>
          <p:cNvSpPr/>
          <p:nvPr/>
        </p:nvSpPr>
        <p:spPr>
          <a:xfrm>
            <a:off x="6972300" y="2980944"/>
            <a:ext cx="1531620" cy="493776"/>
          </a:xfrm>
          <a:prstGeom prst="rect">
            <a:avLst/>
          </a:prstGeom>
          <a:noFill/>
          <a:ln/>
        </p:spPr>
        <p:txBody>
          <a:bodyPr wrap="square" lIns="0" tIns="0" rIns="0" bIns="0" rtlCol="0" anchor="t"/>
          <a:lstStyle/>
          <a:p>
            <a:pPr indent="0" marL="0">
              <a:lnSpc>
                <a:spcPts val="1150"/>
              </a:lnSpc>
              <a:buNone/>
            </a:pPr>
            <a:r>
              <a:rPr lang="en-US" sz="950" dirty="0">
                <a:solidFill>
                  <a:srgbClr val="CDD8E4"/>
                </a:solidFill>
                <a:latin typeface="Inter" pitchFamily="34" charset="0"/>
                <a:ea typeface="Inter" pitchFamily="34" charset="-122"/>
                <a:cs typeface="Inter" pitchFamily="34" charset="-120"/>
              </a:rPr>
              <a:t>No dijeron «vivienda única de ocupación permanente».</a:t>
            </a:r>
            <a:endParaRPr lang="en-US" sz="950" dirty="0"/>
          </a:p>
        </p:txBody>
      </p:sp>
      <p:sp>
        <p:nvSpPr>
          <p:cNvPr id="26" name="Shape 23"/>
          <p:cNvSpPr/>
          <p:nvPr/>
        </p:nvSpPr>
        <p:spPr>
          <a:xfrm>
            <a:off x="603504" y="3675888"/>
            <a:ext cx="8083296" cy="658368"/>
          </a:xfrm>
          <a:prstGeom prst="roundRect">
            <a:avLst>
              <a:gd name="adj" fmla="val 12500"/>
            </a:avLst>
          </a:prstGeom>
          <a:solidFill>
            <a:srgbClr val="E74B3C"/>
          </a:solidFill>
          <a:ln w="12700">
            <a:solidFill>
              <a:srgbClr val="E74B3C"/>
            </a:solidFill>
            <a:prstDash val="solid"/>
          </a:ln>
        </p:spPr>
      </p:sp>
      <p:sp>
        <p:nvSpPr>
          <p:cNvPr id="27" name="Text 24"/>
          <p:cNvSpPr/>
          <p:nvPr/>
        </p:nvSpPr>
        <p:spPr>
          <a:xfrm>
            <a:off x="841248" y="3721608"/>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LO QUE TODAVÍA NO SE SABE — Y HAY QUE DECIRLO ASÍ</a:t>
            </a:r>
            <a:endParaRPr lang="en-US" sz="900" dirty="0"/>
          </a:p>
        </p:txBody>
      </p:sp>
      <p:sp>
        <p:nvSpPr>
          <p:cNvPr id="28" name="Text 25"/>
          <p:cNvSpPr/>
          <p:nvPr/>
        </p:nvSpPr>
        <p:spPr>
          <a:xfrm>
            <a:off x="841248" y="3922776"/>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Cada banco tiene que armar o rearmar su línea. Frecuencia de licitaciones, requisitos y tiempos no están definidos. Ningún cliente tiene todavía condiciones cerradas.</a:t>
            </a:r>
            <a:endParaRPr lang="en-US" sz="1100" dirty="0"/>
          </a:p>
        </p:txBody>
      </p:sp>
      <p:sp>
        <p:nvSpPr>
          <p:cNvPr id="29" name="Text 26"/>
          <p:cNvSpPr/>
          <p:nvPr/>
        </p:nvSpPr>
        <p:spPr>
          <a:xfrm>
            <a:off x="603504" y="4443984"/>
            <a:ext cx="8083296" cy="365760"/>
          </a:xfrm>
          <a:prstGeom prst="rect">
            <a:avLst/>
          </a:prstGeom>
          <a:noFill/>
          <a:ln/>
        </p:spPr>
        <p:txBody>
          <a:bodyPr wrap="square" lIns="0" tIns="0" rIns="0" bIns="0" rtlCol="0" anchor="ctr"/>
          <a:lstStyle/>
          <a:p>
            <a:pPr indent="0" marL="0">
              <a:lnSpc>
                <a:spcPts val="1150"/>
              </a:lnSpc>
              <a:buNone/>
            </a:pPr>
            <a:r>
              <a:rPr lang="en-US" sz="950" i="1" dirty="0">
                <a:solidFill>
                  <a:srgbClr val="6A7686"/>
                </a:solidFill>
                <a:latin typeface="Inter" pitchFamily="34" charset="0"/>
                <a:ea typeface="Inter" pitchFamily="34" charset="-122"/>
                <a:cs typeface="Inter" pitchFamily="34" charset="-120"/>
              </a:rPr>
              <a:t>El riesgo de que el crédito no se pague lo sigue asumiendo el banco, no el Estado. Por eso el banco sigue eligiendo a quién le presta con sus propios criterios.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Mito o realidad</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A mano alzada, antes de mostrar la respuesta.</a:t>
            </a:r>
            <a:endParaRPr lang="en-US" sz="1200" dirty="0"/>
          </a:p>
        </p:txBody>
      </p:sp>
      <p:sp>
        <p:nvSpPr>
          <p:cNvPr id="7" name="Shape 4"/>
          <p:cNvSpPr/>
          <p:nvPr/>
        </p:nvSpPr>
        <p:spPr>
          <a:xfrm>
            <a:off x="603504" y="1170432"/>
            <a:ext cx="8083296" cy="676656"/>
          </a:xfrm>
          <a:prstGeom prst="roundRect">
            <a:avLst>
              <a:gd name="adj" fmla="val 12162"/>
            </a:avLst>
          </a:prstGeom>
          <a:solidFill>
            <a:srgbClr val="F3F3F3"/>
          </a:solidFill>
          <a:ln w="12700">
            <a:solidFill>
              <a:srgbClr val="F3F3F3"/>
            </a:solidFill>
            <a:prstDash val="solid"/>
          </a:ln>
        </p:spPr>
      </p:sp>
      <p:sp>
        <p:nvSpPr>
          <p:cNvPr id="8" name="Shape 5"/>
          <p:cNvSpPr/>
          <p:nvPr/>
        </p:nvSpPr>
        <p:spPr>
          <a:xfrm>
            <a:off x="731520" y="1289304"/>
            <a:ext cx="1078992" cy="475488"/>
          </a:xfrm>
          <a:prstGeom prst="roundRect">
            <a:avLst>
              <a:gd name="adj" fmla="val 17308"/>
            </a:avLst>
          </a:prstGeom>
          <a:solidFill>
            <a:srgbClr val="E74B3C"/>
          </a:solidFill>
          <a:ln w="12700">
            <a:solidFill>
              <a:srgbClr val="E74B3C"/>
            </a:solidFill>
            <a:prstDash val="solid"/>
          </a:ln>
        </p:spPr>
      </p:sp>
      <p:sp>
        <p:nvSpPr>
          <p:cNvPr id="9" name="Text 6"/>
          <p:cNvSpPr/>
          <p:nvPr/>
        </p:nvSpPr>
        <p:spPr>
          <a:xfrm>
            <a:off x="731520" y="1289304"/>
            <a:ext cx="1078992" cy="475488"/>
          </a:xfrm>
          <a:prstGeom prst="rect">
            <a:avLst/>
          </a:prstGeom>
          <a:noFill/>
          <a:ln/>
        </p:spPr>
        <p:txBody>
          <a:bodyPr wrap="square" lIns="0" tIns="0" rIns="0" bIns="0" rtlCol="0" anchor="ctr"/>
          <a:lstStyle/>
          <a:p>
            <a:pPr algn="ctr" indent="0" marL="0">
              <a:buNone/>
            </a:pPr>
            <a:r>
              <a:rPr lang="en-US" sz="1000" b="1" spc="40" kern="0" dirty="0">
                <a:solidFill>
                  <a:srgbClr val="FFFFFF"/>
                </a:solidFill>
                <a:latin typeface="Inter" pitchFamily="34" charset="0"/>
                <a:ea typeface="Inter" pitchFamily="34" charset="-122"/>
                <a:cs typeface="Inter" pitchFamily="34" charset="-120"/>
              </a:rPr>
              <a:t>MITO</a:t>
            </a:r>
            <a:endParaRPr lang="en-US" sz="1000" dirty="0"/>
          </a:p>
        </p:txBody>
      </p:sp>
      <p:sp>
        <p:nvSpPr>
          <p:cNvPr id="10" name="Text 7"/>
          <p:cNvSpPr/>
          <p:nvPr/>
        </p:nvSpPr>
        <p:spPr>
          <a:xfrm>
            <a:off x="1938528" y="1243584"/>
            <a:ext cx="6547104" cy="256032"/>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«El banco se queda con la casa hasta que termines de pagar»</a:t>
            </a:r>
            <a:endParaRPr lang="en-US" sz="1150" dirty="0"/>
          </a:p>
        </p:txBody>
      </p:sp>
      <p:sp>
        <p:nvSpPr>
          <p:cNvPr id="11" name="Text 8"/>
          <p:cNvSpPr/>
          <p:nvPr/>
        </p:nvSpPr>
        <p:spPr>
          <a:xfrm>
            <a:off x="1938528" y="1499616"/>
            <a:ext cx="6547104" cy="329184"/>
          </a:xfrm>
          <a:prstGeom prst="rect">
            <a:avLst/>
          </a:prstGeom>
          <a:noFill/>
          <a:ln/>
        </p:spPr>
        <p:txBody>
          <a:bodyPr wrap="square" lIns="0" tIns="0" rIns="0" bIns="0" rtlCol="0" anchor="t"/>
          <a:lstStyle/>
          <a:p>
            <a:pPr indent="0" marL="0">
              <a:lnSpc>
                <a:spcPts val="1100"/>
              </a:lnSpc>
              <a:buNone/>
            </a:pPr>
            <a:r>
              <a:rPr lang="en-US" sz="950" dirty="0">
                <a:solidFill>
                  <a:srgbClr val="2E4258"/>
                </a:solidFill>
                <a:latin typeface="Inter" pitchFamily="34" charset="0"/>
                <a:ea typeface="Inter" pitchFamily="34" charset="-122"/>
                <a:cs typeface="Inter" pitchFamily="34" charset="-120"/>
              </a:rPr>
              <a:t>La escritura va a nombre del comprador desde el día uno. El banco inscribe una hipoteca como garantía.</a:t>
            </a:r>
            <a:endParaRPr lang="en-US" sz="950" dirty="0"/>
          </a:p>
        </p:txBody>
      </p:sp>
      <p:sp>
        <p:nvSpPr>
          <p:cNvPr id="12" name="Shape 9"/>
          <p:cNvSpPr/>
          <p:nvPr/>
        </p:nvSpPr>
        <p:spPr>
          <a:xfrm>
            <a:off x="603504" y="1920240"/>
            <a:ext cx="8083296" cy="676656"/>
          </a:xfrm>
          <a:prstGeom prst="roundRect">
            <a:avLst>
              <a:gd name="adj" fmla="val 12162"/>
            </a:avLst>
          </a:prstGeom>
          <a:solidFill>
            <a:srgbClr val="E7E7E7"/>
          </a:solidFill>
          <a:ln w="12700">
            <a:solidFill>
              <a:srgbClr val="E7E7E7"/>
            </a:solidFill>
            <a:prstDash val="solid"/>
          </a:ln>
        </p:spPr>
      </p:sp>
      <p:sp>
        <p:nvSpPr>
          <p:cNvPr id="13" name="Shape 10"/>
          <p:cNvSpPr/>
          <p:nvPr/>
        </p:nvSpPr>
        <p:spPr>
          <a:xfrm>
            <a:off x="731520" y="2039112"/>
            <a:ext cx="1078992" cy="475488"/>
          </a:xfrm>
          <a:prstGeom prst="roundRect">
            <a:avLst>
              <a:gd name="adj" fmla="val 17308"/>
            </a:avLst>
          </a:prstGeom>
          <a:solidFill>
            <a:srgbClr val="7C8594"/>
          </a:solidFill>
          <a:ln w="12700">
            <a:solidFill>
              <a:srgbClr val="7C8594"/>
            </a:solidFill>
            <a:prstDash val="solid"/>
          </a:ln>
        </p:spPr>
      </p:sp>
      <p:sp>
        <p:nvSpPr>
          <p:cNvPr id="14" name="Text 11"/>
          <p:cNvSpPr/>
          <p:nvPr/>
        </p:nvSpPr>
        <p:spPr>
          <a:xfrm>
            <a:off x="731520" y="2039112"/>
            <a:ext cx="1078992" cy="475488"/>
          </a:xfrm>
          <a:prstGeom prst="rect">
            <a:avLst/>
          </a:prstGeom>
          <a:noFill/>
          <a:ln/>
        </p:spPr>
        <p:txBody>
          <a:bodyPr wrap="square" lIns="0" tIns="0" rIns="0" bIns="0" rtlCol="0" anchor="ctr"/>
          <a:lstStyle/>
          <a:p>
            <a:pPr algn="ctr" indent="0" marL="0">
              <a:buNone/>
            </a:pPr>
            <a:r>
              <a:rPr lang="en-US" sz="850" b="1" spc="40" kern="0" dirty="0">
                <a:solidFill>
                  <a:srgbClr val="FFFFFF"/>
                </a:solidFill>
                <a:latin typeface="Inter" pitchFamily="34" charset="0"/>
                <a:ea typeface="Inter" pitchFamily="34" charset="-122"/>
                <a:cs typeface="Inter" pitchFamily="34" charset="-120"/>
              </a:rPr>
              <a:t>DISCUTIBLE</a:t>
            </a:r>
            <a:endParaRPr lang="en-US" sz="850" dirty="0"/>
          </a:p>
        </p:txBody>
      </p:sp>
      <p:sp>
        <p:nvSpPr>
          <p:cNvPr id="15" name="Text 12"/>
          <p:cNvSpPr/>
          <p:nvPr/>
        </p:nvSpPr>
        <p:spPr>
          <a:xfrm>
            <a:off x="1938528" y="1993392"/>
            <a:ext cx="6547104" cy="256032"/>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«Una tasa de UVA + 7,5% es un disparate»</a:t>
            </a:r>
            <a:endParaRPr lang="en-US" sz="1150" dirty="0"/>
          </a:p>
        </p:txBody>
      </p:sp>
      <p:sp>
        <p:nvSpPr>
          <p:cNvPr id="16" name="Text 13"/>
          <p:cNvSpPr/>
          <p:nvPr/>
        </p:nvSpPr>
        <p:spPr>
          <a:xfrm>
            <a:off x="1938528" y="2249424"/>
            <a:ext cx="6547104" cy="329184"/>
          </a:xfrm>
          <a:prstGeom prst="rect">
            <a:avLst/>
          </a:prstGeom>
          <a:noFill/>
          <a:ln/>
        </p:spPr>
        <p:txBody>
          <a:bodyPr wrap="square" lIns="0" tIns="0" rIns="0" bIns="0" rtlCol="0" anchor="t"/>
          <a:lstStyle/>
          <a:p>
            <a:pPr indent="0" marL="0">
              <a:lnSpc>
                <a:spcPts val="1100"/>
              </a:lnSpc>
              <a:buNone/>
            </a:pPr>
            <a:r>
              <a:rPr lang="en-US" sz="950" dirty="0">
                <a:solidFill>
                  <a:srgbClr val="2E4258"/>
                </a:solidFill>
                <a:latin typeface="Inter" pitchFamily="34" charset="0"/>
                <a:ea typeface="Inter" pitchFamily="34" charset="-122"/>
                <a:cs typeface="Inter" pitchFamily="34" charset="-120"/>
              </a:rPr>
              <a:t>Un bono del Tesoro de EE.UU. indexado a 10 años rendía ~2,35% y el riesgo argentino sumaba ~5,1 puntos: da ~7,5%. Es caro, pero tiene lógica financiera.</a:t>
            </a:r>
            <a:endParaRPr lang="en-US" sz="950" dirty="0"/>
          </a:p>
        </p:txBody>
      </p:sp>
      <p:sp>
        <p:nvSpPr>
          <p:cNvPr id="17" name="Shape 14"/>
          <p:cNvSpPr/>
          <p:nvPr/>
        </p:nvSpPr>
        <p:spPr>
          <a:xfrm>
            <a:off x="603504" y="2670048"/>
            <a:ext cx="8083296" cy="676656"/>
          </a:xfrm>
          <a:prstGeom prst="roundRect">
            <a:avLst>
              <a:gd name="adj" fmla="val 12162"/>
            </a:avLst>
          </a:prstGeom>
          <a:solidFill>
            <a:srgbClr val="F3F3F3"/>
          </a:solidFill>
          <a:ln w="12700">
            <a:solidFill>
              <a:srgbClr val="F3F3F3"/>
            </a:solidFill>
            <a:prstDash val="solid"/>
          </a:ln>
        </p:spPr>
      </p:sp>
      <p:sp>
        <p:nvSpPr>
          <p:cNvPr id="18" name="Shape 15"/>
          <p:cNvSpPr/>
          <p:nvPr/>
        </p:nvSpPr>
        <p:spPr>
          <a:xfrm>
            <a:off x="731520" y="2788920"/>
            <a:ext cx="1078992" cy="475488"/>
          </a:xfrm>
          <a:prstGeom prst="roundRect">
            <a:avLst>
              <a:gd name="adj" fmla="val 17308"/>
            </a:avLst>
          </a:prstGeom>
          <a:solidFill>
            <a:srgbClr val="E74B3C"/>
          </a:solidFill>
          <a:ln w="12700">
            <a:solidFill>
              <a:srgbClr val="E74B3C"/>
            </a:solidFill>
            <a:prstDash val="solid"/>
          </a:ln>
        </p:spPr>
      </p:sp>
      <p:sp>
        <p:nvSpPr>
          <p:cNvPr id="19" name="Text 16"/>
          <p:cNvSpPr/>
          <p:nvPr/>
        </p:nvSpPr>
        <p:spPr>
          <a:xfrm>
            <a:off x="731520" y="2788920"/>
            <a:ext cx="1078992" cy="475488"/>
          </a:xfrm>
          <a:prstGeom prst="rect">
            <a:avLst/>
          </a:prstGeom>
          <a:noFill/>
          <a:ln/>
        </p:spPr>
        <p:txBody>
          <a:bodyPr wrap="square" lIns="0" tIns="0" rIns="0" bIns="0" rtlCol="0" anchor="ctr"/>
          <a:lstStyle/>
          <a:p>
            <a:pPr algn="ctr" indent="0" marL="0">
              <a:buNone/>
            </a:pPr>
            <a:r>
              <a:rPr lang="en-US" sz="1000" b="1" spc="40" kern="0" dirty="0">
                <a:solidFill>
                  <a:srgbClr val="FFFFFF"/>
                </a:solidFill>
                <a:latin typeface="Inter" pitchFamily="34" charset="0"/>
                <a:ea typeface="Inter" pitchFamily="34" charset="-122"/>
                <a:cs typeface="Inter" pitchFamily="34" charset="-120"/>
              </a:rPr>
              <a:t>MITO</a:t>
            </a:r>
            <a:endParaRPr lang="en-US" sz="1000" dirty="0"/>
          </a:p>
        </p:txBody>
      </p:sp>
      <p:sp>
        <p:nvSpPr>
          <p:cNvPr id="20" name="Text 17"/>
          <p:cNvSpPr/>
          <p:nvPr/>
        </p:nvSpPr>
        <p:spPr>
          <a:xfrm>
            <a:off x="1938528" y="2743200"/>
            <a:ext cx="6547104" cy="256032"/>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«La cuota se puede duplicar de un mes para otro»</a:t>
            </a:r>
            <a:endParaRPr lang="en-US" sz="1150" dirty="0"/>
          </a:p>
        </p:txBody>
      </p:sp>
      <p:sp>
        <p:nvSpPr>
          <p:cNvPr id="21" name="Text 18"/>
          <p:cNvSpPr/>
          <p:nvPr/>
        </p:nvSpPr>
        <p:spPr>
          <a:xfrm>
            <a:off x="1938528" y="2999232"/>
            <a:ext cx="6547104" cy="329184"/>
          </a:xfrm>
          <a:prstGeom prst="rect">
            <a:avLst/>
          </a:prstGeom>
          <a:noFill/>
          <a:ln/>
        </p:spPr>
        <p:txBody>
          <a:bodyPr wrap="square" lIns="0" tIns="0" rIns="0" bIns="0" rtlCol="0" anchor="t"/>
          <a:lstStyle/>
          <a:p>
            <a:pPr indent="0" marL="0">
              <a:lnSpc>
                <a:spcPts val="1100"/>
              </a:lnSpc>
              <a:buNone/>
            </a:pPr>
            <a:r>
              <a:rPr lang="en-US" sz="950" dirty="0">
                <a:solidFill>
                  <a:srgbClr val="2E4258"/>
                </a:solidFill>
                <a:latin typeface="Inter" pitchFamily="34" charset="0"/>
                <a:ea typeface="Inter" pitchFamily="34" charset="-122"/>
                <a:cs typeface="Inter" pitchFamily="34" charset="-120"/>
              </a:rPr>
              <a:t>La cuota en UVA es prácticamente constante. Lo que se mueve es el valor de la UVA, y sigue a la inflación publicada.</a:t>
            </a:r>
            <a:endParaRPr lang="en-US" sz="950" dirty="0"/>
          </a:p>
        </p:txBody>
      </p:sp>
      <p:sp>
        <p:nvSpPr>
          <p:cNvPr id="22" name="Shape 19"/>
          <p:cNvSpPr/>
          <p:nvPr/>
        </p:nvSpPr>
        <p:spPr>
          <a:xfrm>
            <a:off x="603504" y="3419856"/>
            <a:ext cx="8083296" cy="676656"/>
          </a:xfrm>
          <a:prstGeom prst="roundRect">
            <a:avLst>
              <a:gd name="adj" fmla="val 12162"/>
            </a:avLst>
          </a:prstGeom>
          <a:solidFill>
            <a:srgbClr val="E7E7E7"/>
          </a:solidFill>
          <a:ln w="12700">
            <a:solidFill>
              <a:srgbClr val="E7E7E7"/>
            </a:solidFill>
            <a:prstDash val="solid"/>
          </a:ln>
        </p:spPr>
      </p:sp>
      <p:sp>
        <p:nvSpPr>
          <p:cNvPr id="23" name="Shape 20"/>
          <p:cNvSpPr/>
          <p:nvPr/>
        </p:nvSpPr>
        <p:spPr>
          <a:xfrm>
            <a:off x="731520" y="3538728"/>
            <a:ext cx="1078992" cy="475488"/>
          </a:xfrm>
          <a:prstGeom prst="roundRect">
            <a:avLst>
              <a:gd name="adj" fmla="val 17308"/>
            </a:avLst>
          </a:prstGeom>
          <a:solidFill>
            <a:srgbClr val="E74B3C"/>
          </a:solidFill>
          <a:ln w="12700">
            <a:solidFill>
              <a:srgbClr val="E74B3C"/>
            </a:solidFill>
            <a:prstDash val="solid"/>
          </a:ln>
        </p:spPr>
      </p:sp>
      <p:sp>
        <p:nvSpPr>
          <p:cNvPr id="24" name="Text 21"/>
          <p:cNvSpPr/>
          <p:nvPr/>
        </p:nvSpPr>
        <p:spPr>
          <a:xfrm>
            <a:off x="731520" y="3538728"/>
            <a:ext cx="1078992" cy="475488"/>
          </a:xfrm>
          <a:prstGeom prst="rect">
            <a:avLst/>
          </a:prstGeom>
          <a:noFill/>
          <a:ln/>
        </p:spPr>
        <p:txBody>
          <a:bodyPr wrap="square" lIns="0" tIns="0" rIns="0" bIns="0" rtlCol="0" anchor="ctr"/>
          <a:lstStyle/>
          <a:p>
            <a:pPr algn="ctr" indent="0" marL="0">
              <a:buNone/>
            </a:pPr>
            <a:r>
              <a:rPr lang="en-US" sz="1000" b="1" spc="40" kern="0" dirty="0">
                <a:solidFill>
                  <a:srgbClr val="FFFFFF"/>
                </a:solidFill>
                <a:latin typeface="Inter" pitchFamily="34" charset="0"/>
                <a:ea typeface="Inter" pitchFamily="34" charset="-122"/>
                <a:cs typeface="Inter" pitchFamily="34" charset="-120"/>
              </a:rPr>
              <a:t>MITO</a:t>
            </a:r>
            <a:endParaRPr lang="en-US" sz="1000" dirty="0"/>
          </a:p>
        </p:txBody>
      </p:sp>
      <p:sp>
        <p:nvSpPr>
          <p:cNvPr id="25" name="Text 22"/>
          <p:cNvSpPr/>
          <p:nvPr/>
        </p:nvSpPr>
        <p:spPr>
          <a:xfrm>
            <a:off x="1938528" y="3493008"/>
            <a:ext cx="6547104" cy="256032"/>
          </a:xfrm>
          <a:prstGeom prst="rect">
            <a:avLst/>
          </a:prstGeom>
          <a:noFill/>
          <a:ln/>
        </p:spPr>
        <p:txBody>
          <a:bodyPr wrap="square" lIns="0" tIns="0" rIns="0" bIns="0" rtlCol="0" anchor="ctr"/>
          <a:lstStyle/>
          <a:p>
            <a:pPr indent="0" marL="0">
              <a:buNone/>
            </a:pPr>
            <a:r>
              <a:rPr lang="en-US" sz="1150" b="1" dirty="0">
                <a:solidFill>
                  <a:srgbClr val="08407C"/>
                </a:solidFill>
                <a:latin typeface="Inter" pitchFamily="34" charset="0"/>
                <a:ea typeface="Inter" pitchFamily="34" charset="-122"/>
                <a:cs typeface="Inter" pitchFamily="34" charset="-120"/>
              </a:rPr>
              <a:t>«Pagar una cuota es igual que pagar un alquiler»</a:t>
            </a:r>
            <a:endParaRPr lang="en-US" sz="1150" dirty="0"/>
          </a:p>
        </p:txBody>
      </p:sp>
      <p:sp>
        <p:nvSpPr>
          <p:cNvPr id="26" name="Text 23"/>
          <p:cNvSpPr/>
          <p:nvPr/>
        </p:nvSpPr>
        <p:spPr>
          <a:xfrm>
            <a:off x="1938528" y="3749040"/>
            <a:ext cx="6547104" cy="329184"/>
          </a:xfrm>
          <a:prstGeom prst="rect">
            <a:avLst/>
          </a:prstGeom>
          <a:noFill/>
          <a:ln/>
        </p:spPr>
        <p:txBody>
          <a:bodyPr wrap="square" lIns="0" tIns="0" rIns="0" bIns="0" rtlCol="0" anchor="t"/>
          <a:lstStyle/>
          <a:p>
            <a:pPr indent="0" marL="0">
              <a:lnSpc>
                <a:spcPts val="1100"/>
              </a:lnSpc>
              <a:buNone/>
            </a:pPr>
            <a:r>
              <a:rPr lang="en-US" sz="950" dirty="0">
                <a:solidFill>
                  <a:srgbClr val="2E4258"/>
                </a:solidFill>
                <a:latin typeface="Inter" pitchFamily="34" charset="0"/>
                <a:ea typeface="Inter" pitchFamily="34" charset="-122"/>
                <a:cs typeface="Inter" pitchFamily="34" charset="-120"/>
              </a:rPr>
              <a:t>El alquiler es 100% gasto. En la cuota, una parte es interés y otra reduce la deuda. Esa parte es patrimonio.</a:t>
            </a:r>
            <a:endParaRPr lang="en-US" sz="950" dirty="0"/>
          </a:p>
        </p:txBody>
      </p:sp>
      <p:sp>
        <p:nvSpPr>
          <p:cNvPr id="27" name="Shape 24"/>
          <p:cNvSpPr/>
          <p:nvPr/>
        </p:nvSpPr>
        <p:spPr>
          <a:xfrm>
            <a:off x="603504" y="4187952"/>
            <a:ext cx="8083296" cy="658368"/>
          </a:xfrm>
          <a:prstGeom prst="roundRect">
            <a:avLst>
              <a:gd name="adj" fmla="val 12500"/>
            </a:avLst>
          </a:prstGeom>
          <a:solidFill>
            <a:srgbClr val="4E586E"/>
          </a:solidFill>
          <a:ln w="12700">
            <a:solidFill>
              <a:srgbClr val="4E586E"/>
            </a:solidFill>
            <a:prstDash val="solid"/>
          </a:ln>
        </p:spPr>
      </p:sp>
      <p:sp>
        <p:nvSpPr>
          <p:cNvPr id="28" name="Text 25"/>
          <p:cNvSpPr/>
          <p:nvPr/>
        </p:nvSpPr>
        <p:spPr>
          <a:xfrm>
            <a:off x="841248" y="4233672"/>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REGLA</a:t>
            </a:r>
            <a:endParaRPr lang="en-US" sz="900" dirty="0"/>
          </a:p>
        </p:txBody>
      </p:sp>
      <p:sp>
        <p:nvSpPr>
          <p:cNvPr id="29" name="Text 26"/>
          <p:cNvSpPr/>
          <p:nvPr/>
        </p:nvSpPr>
        <p:spPr>
          <a:xfrm>
            <a:off x="841248" y="4434840"/>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«Discutible» también es una respuesta honesta. No todo es mito o verdad, y el cliente lo agradece.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Cómo se dice</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Misma información, dos formas de decirla. Una nos expone y la otra no.</a:t>
            </a:r>
            <a:endParaRPr lang="en-US" sz="1200" dirty="0"/>
          </a:p>
        </p:txBody>
      </p:sp>
      <p:sp>
        <p:nvSpPr>
          <p:cNvPr id="7" name="Shape 4"/>
          <p:cNvSpPr/>
          <p:nvPr/>
        </p:nvSpPr>
        <p:spPr>
          <a:xfrm>
            <a:off x="603504" y="1170432"/>
            <a:ext cx="3941064" cy="457200"/>
          </a:xfrm>
          <a:prstGeom prst="roundRect">
            <a:avLst>
              <a:gd name="adj" fmla="val 18000"/>
            </a:avLst>
          </a:prstGeom>
          <a:solidFill>
            <a:srgbClr val="E74B3C"/>
          </a:solidFill>
          <a:ln w="12700">
            <a:solidFill>
              <a:srgbClr val="E74B3C"/>
            </a:solidFill>
            <a:prstDash val="solid"/>
          </a:ln>
        </p:spPr>
      </p:sp>
      <p:sp>
        <p:nvSpPr>
          <p:cNvPr id="8" name="Text 5"/>
          <p:cNvSpPr/>
          <p:nvPr/>
        </p:nvSpPr>
        <p:spPr>
          <a:xfrm>
            <a:off x="822960" y="1170432"/>
            <a:ext cx="3575304"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NO DIGAS ESTO</a:t>
            </a:r>
            <a:endParaRPr lang="en-US" sz="1150" dirty="0"/>
          </a:p>
        </p:txBody>
      </p:sp>
      <p:sp>
        <p:nvSpPr>
          <p:cNvPr id="9" name="Shape 6"/>
          <p:cNvSpPr/>
          <p:nvPr/>
        </p:nvSpPr>
        <p:spPr>
          <a:xfrm>
            <a:off x="4745736" y="1170432"/>
            <a:ext cx="3941064" cy="457200"/>
          </a:xfrm>
          <a:prstGeom prst="roundRect">
            <a:avLst>
              <a:gd name="adj" fmla="val 18000"/>
            </a:avLst>
          </a:prstGeom>
          <a:solidFill>
            <a:srgbClr val="26AE60"/>
          </a:solidFill>
          <a:ln w="12700">
            <a:solidFill>
              <a:srgbClr val="26AE60"/>
            </a:solidFill>
            <a:prstDash val="solid"/>
          </a:ln>
        </p:spPr>
      </p:sp>
      <p:sp>
        <p:nvSpPr>
          <p:cNvPr id="10" name="Text 7"/>
          <p:cNvSpPr/>
          <p:nvPr/>
        </p:nvSpPr>
        <p:spPr>
          <a:xfrm>
            <a:off x="4965192" y="1170432"/>
            <a:ext cx="3575304" cy="457200"/>
          </a:xfrm>
          <a:prstGeom prst="rect">
            <a:avLst/>
          </a:prstGeom>
          <a:noFill/>
          <a:ln/>
        </p:spPr>
        <p:txBody>
          <a:bodyPr wrap="square" lIns="0" tIns="0" rIns="0" bIns="0" rtlCol="0" anchor="ctr"/>
          <a:lstStyle/>
          <a:p>
            <a:pPr indent="0" marL="0">
              <a:buNone/>
            </a:pPr>
            <a:r>
              <a:rPr lang="en-US" sz="1150" b="1" spc="100" kern="0" dirty="0">
                <a:solidFill>
                  <a:srgbClr val="FFFFFF"/>
                </a:solidFill>
                <a:latin typeface="Inter" pitchFamily="34" charset="0"/>
                <a:ea typeface="Inter" pitchFamily="34" charset="-122"/>
                <a:cs typeface="Inter" pitchFamily="34" charset="-120"/>
              </a:rPr>
              <a:t>DECÍ ESTO</a:t>
            </a:r>
            <a:endParaRPr lang="en-US" sz="1150" dirty="0"/>
          </a:p>
        </p:txBody>
      </p:sp>
      <p:sp>
        <p:nvSpPr>
          <p:cNvPr id="11" name="Shape 8"/>
          <p:cNvSpPr/>
          <p:nvPr/>
        </p:nvSpPr>
        <p:spPr>
          <a:xfrm>
            <a:off x="603504" y="1737360"/>
            <a:ext cx="3941064" cy="694944"/>
          </a:xfrm>
          <a:prstGeom prst="roundRect">
            <a:avLst>
              <a:gd name="adj" fmla="val 11842"/>
            </a:avLst>
          </a:prstGeom>
          <a:solidFill>
            <a:srgbClr val="E7E7E7"/>
          </a:solidFill>
          <a:ln w="12700">
            <a:solidFill>
              <a:srgbClr val="E7E7E7"/>
            </a:solidFill>
            <a:prstDash val="solid"/>
          </a:ln>
        </p:spPr>
      </p:sp>
      <p:sp>
        <p:nvSpPr>
          <p:cNvPr id="12" name="Text 9"/>
          <p:cNvSpPr/>
          <p:nvPr/>
        </p:nvSpPr>
        <p:spPr>
          <a:xfrm>
            <a:off x="804672" y="1737360"/>
            <a:ext cx="3538728" cy="694944"/>
          </a:xfrm>
          <a:prstGeom prst="rect">
            <a:avLst/>
          </a:prstGeom>
          <a:noFill/>
          <a:ln/>
        </p:spPr>
        <p:txBody>
          <a:bodyPr wrap="square" lIns="0" tIns="0" rIns="0" bIns="0" rtlCol="0" anchor="ctr"/>
          <a:lstStyle/>
          <a:p>
            <a:pPr indent="0" marL="0">
              <a:lnSpc>
                <a:spcPts val="1300"/>
              </a:lnSpc>
              <a:buNone/>
            </a:pPr>
            <a:r>
              <a:rPr lang="en-US" sz="1050" i="1" dirty="0">
                <a:solidFill>
                  <a:srgbClr val="4E586E"/>
                </a:solidFill>
                <a:latin typeface="Inter" pitchFamily="34" charset="0"/>
                <a:ea typeface="Inter" pitchFamily="34" charset="-122"/>
                <a:cs typeface="Inter" pitchFamily="34" charset="-120"/>
              </a:rPr>
              <a:t>«Te conviene sacarlo ahora que está barato»</a:t>
            </a:r>
            <a:endParaRPr lang="en-US" sz="1050" dirty="0"/>
          </a:p>
        </p:txBody>
      </p:sp>
      <p:sp>
        <p:nvSpPr>
          <p:cNvPr id="13" name="Shape 10"/>
          <p:cNvSpPr/>
          <p:nvPr/>
        </p:nvSpPr>
        <p:spPr>
          <a:xfrm>
            <a:off x="4745736" y="1737360"/>
            <a:ext cx="3941064" cy="694944"/>
          </a:xfrm>
          <a:prstGeom prst="roundRect">
            <a:avLst>
              <a:gd name="adj" fmla="val 11842"/>
            </a:avLst>
          </a:prstGeom>
          <a:solidFill>
            <a:srgbClr val="F3F3F3"/>
          </a:solidFill>
          <a:ln w="12700">
            <a:solidFill>
              <a:srgbClr val="F3F3F3"/>
            </a:solidFill>
            <a:prstDash val="solid"/>
          </a:ln>
        </p:spPr>
      </p:sp>
      <p:sp>
        <p:nvSpPr>
          <p:cNvPr id="14" name="Text 11"/>
          <p:cNvSpPr/>
          <p:nvPr/>
        </p:nvSpPr>
        <p:spPr>
          <a:xfrm>
            <a:off x="4946904" y="1737360"/>
            <a:ext cx="3538728" cy="694944"/>
          </a:xfrm>
          <a:prstGeom prst="rect">
            <a:avLst/>
          </a:prstGeom>
          <a:noFill/>
          <a:ln/>
        </p:spPr>
        <p:txBody>
          <a:bodyPr wrap="square" lIns="0" tIns="0" rIns="0" bIns="0" rtlCol="0" anchor="ctr"/>
          <a:lstStyle/>
          <a:p>
            <a:pPr indent="0" marL="0">
              <a:lnSpc>
                <a:spcPts val="1300"/>
              </a:lnSpc>
              <a:buNone/>
            </a:pPr>
            <a:r>
              <a:rPr lang="en-US" sz="1050" dirty="0">
                <a:solidFill>
                  <a:srgbClr val="2E4258"/>
                </a:solidFill>
                <a:latin typeface="Inter" pitchFamily="34" charset="0"/>
                <a:ea typeface="Inter" pitchFamily="34" charset="-122"/>
                <a:cs typeface="Inter" pitchFamily="34" charset="-120"/>
              </a:rPr>
              <a:t>«Estas son las condiciones. Quién califica y si le sirve lo define el banco con tu carpeta.»</a:t>
            </a:r>
            <a:endParaRPr lang="en-US" sz="1050" dirty="0"/>
          </a:p>
        </p:txBody>
      </p:sp>
      <p:sp>
        <p:nvSpPr>
          <p:cNvPr id="15" name="Shape 12"/>
          <p:cNvSpPr/>
          <p:nvPr/>
        </p:nvSpPr>
        <p:spPr>
          <a:xfrm>
            <a:off x="603504" y="2505456"/>
            <a:ext cx="3941064" cy="694944"/>
          </a:xfrm>
          <a:prstGeom prst="roundRect">
            <a:avLst>
              <a:gd name="adj" fmla="val 11842"/>
            </a:avLst>
          </a:prstGeom>
          <a:solidFill>
            <a:srgbClr val="E7E7E7"/>
          </a:solidFill>
          <a:ln w="12700">
            <a:solidFill>
              <a:srgbClr val="E7E7E7"/>
            </a:solidFill>
            <a:prstDash val="solid"/>
          </a:ln>
        </p:spPr>
      </p:sp>
      <p:sp>
        <p:nvSpPr>
          <p:cNvPr id="16" name="Text 13"/>
          <p:cNvSpPr/>
          <p:nvPr/>
        </p:nvSpPr>
        <p:spPr>
          <a:xfrm>
            <a:off x="804672" y="2505456"/>
            <a:ext cx="3538728" cy="694944"/>
          </a:xfrm>
          <a:prstGeom prst="rect">
            <a:avLst/>
          </a:prstGeom>
          <a:noFill/>
          <a:ln/>
        </p:spPr>
        <p:txBody>
          <a:bodyPr wrap="square" lIns="0" tIns="0" rIns="0" bIns="0" rtlCol="0" anchor="ctr"/>
          <a:lstStyle/>
          <a:p>
            <a:pPr indent="0" marL="0">
              <a:lnSpc>
                <a:spcPts val="1300"/>
              </a:lnSpc>
              <a:buNone/>
            </a:pPr>
            <a:r>
              <a:rPr lang="en-US" sz="1050" i="1" dirty="0">
                <a:solidFill>
                  <a:srgbClr val="4E586E"/>
                </a:solidFill>
                <a:latin typeface="Inter" pitchFamily="34" charset="0"/>
                <a:ea typeface="Inter" pitchFamily="34" charset="-122"/>
                <a:cs typeface="Inter" pitchFamily="34" charset="-120"/>
              </a:rPr>
              <a:t>«La cuota te va a quedar más baja que el alquiler»</a:t>
            </a:r>
            <a:endParaRPr lang="en-US" sz="1050" dirty="0"/>
          </a:p>
        </p:txBody>
      </p:sp>
      <p:sp>
        <p:nvSpPr>
          <p:cNvPr id="17" name="Shape 14"/>
          <p:cNvSpPr/>
          <p:nvPr/>
        </p:nvSpPr>
        <p:spPr>
          <a:xfrm>
            <a:off x="4745736" y="2505456"/>
            <a:ext cx="3941064" cy="694944"/>
          </a:xfrm>
          <a:prstGeom prst="roundRect">
            <a:avLst>
              <a:gd name="adj" fmla="val 11842"/>
            </a:avLst>
          </a:prstGeom>
          <a:solidFill>
            <a:srgbClr val="F3F3F3"/>
          </a:solidFill>
          <a:ln w="12700">
            <a:solidFill>
              <a:srgbClr val="F3F3F3"/>
            </a:solidFill>
            <a:prstDash val="solid"/>
          </a:ln>
        </p:spPr>
      </p:sp>
      <p:sp>
        <p:nvSpPr>
          <p:cNvPr id="18" name="Text 15"/>
          <p:cNvSpPr/>
          <p:nvPr/>
        </p:nvSpPr>
        <p:spPr>
          <a:xfrm>
            <a:off x="4946904" y="2505456"/>
            <a:ext cx="3538728" cy="694944"/>
          </a:xfrm>
          <a:prstGeom prst="rect">
            <a:avLst/>
          </a:prstGeom>
          <a:noFill/>
          <a:ln/>
        </p:spPr>
        <p:txBody>
          <a:bodyPr wrap="square" lIns="0" tIns="0" rIns="0" bIns="0" rtlCol="0" anchor="ctr"/>
          <a:lstStyle/>
          <a:p>
            <a:pPr indent="0" marL="0">
              <a:lnSpc>
                <a:spcPts val="1300"/>
              </a:lnSpc>
              <a:buNone/>
            </a:pPr>
            <a:r>
              <a:rPr lang="en-US" sz="1050" dirty="0">
                <a:solidFill>
                  <a:srgbClr val="2E4258"/>
                </a:solidFill>
                <a:latin typeface="Inter" pitchFamily="34" charset="0"/>
                <a:ea typeface="Inter" pitchFamily="34" charset="-122"/>
                <a:cs typeface="Inter" pitchFamily="34" charset="-120"/>
              </a:rPr>
              <a:t>«Hoy arranca en este orden de magnitud. Va a ajustar por inflación, igual que tu alquiler.»</a:t>
            </a:r>
            <a:endParaRPr lang="en-US" sz="1050" dirty="0"/>
          </a:p>
        </p:txBody>
      </p:sp>
      <p:sp>
        <p:nvSpPr>
          <p:cNvPr id="19" name="Shape 16"/>
          <p:cNvSpPr/>
          <p:nvPr/>
        </p:nvSpPr>
        <p:spPr>
          <a:xfrm>
            <a:off x="603504" y="3273552"/>
            <a:ext cx="3941064" cy="694944"/>
          </a:xfrm>
          <a:prstGeom prst="roundRect">
            <a:avLst>
              <a:gd name="adj" fmla="val 11842"/>
            </a:avLst>
          </a:prstGeom>
          <a:solidFill>
            <a:srgbClr val="E7E7E7"/>
          </a:solidFill>
          <a:ln w="12700">
            <a:solidFill>
              <a:srgbClr val="E7E7E7"/>
            </a:solidFill>
            <a:prstDash val="solid"/>
          </a:ln>
        </p:spPr>
      </p:sp>
      <p:sp>
        <p:nvSpPr>
          <p:cNvPr id="20" name="Text 17"/>
          <p:cNvSpPr/>
          <p:nvPr/>
        </p:nvSpPr>
        <p:spPr>
          <a:xfrm>
            <a:off x="804672" y="3273552"/>
            <a:ext cx="3538728" cy="694944"/>
          </a:xfrm>
          <a:prstGeom prst="rect">
            <a:avLst/>
          </a:prstGeom>
          <a:noFill/>
          <a:ln/>
        </p:spPr>
        <p:txBody>
          <a:bodyPr wrap="square" lIns="0" tIns="0" rIns="0" bIns="0" rtlCol="0" anchor="ctr"/>
          <a:lstStyle/>
          <a:p>
            <a:pPr indent="0" marL="0">
              <a:lnSpc>
                <a:spcPts val="1300"/>
              </a:lnSpc>
              <a:buNone/>
            </a:pPr>
            <a:r>
              <a:rPr lang="en-US" sz="1050" i="1" dirty="0">
                <a:solidFill>
                  <a:srgbClr val="4E586E"/>
                </a:solidFill>
                <a:latin typeface="Inter" pitchFamily="34" charset="0"/>
                <a:ea typeface="Inter" pitchFamily="34" charset="-122"/>
                <a:cs typeface="Inter" pitchFamily="34" charset="-120"/>
              </a:rPr>
              <a:t>«El UVA es un robo» / «El UVA no tiene ningún riesgo»</a:t>
            </a:r>
            <a:endParaRPr lang="en-US" sz="1050" dirty="0"/>
          </a:p>
        </p:txBody>
      </p:sp>
      <p:sp>
        <p:nvSpPr>
          <p:cNvPr id="21" name="Shape 18"/>
          <p:cNvSpPr/>
          <p:nvPr/>
        </p:nvSpPr>
        <p:spPr>
          <a:xfrm>
            <a:off x="4745736" y="3273552"/>
            <a:ext cx="3941064" cy="694944"/>
          </a:xfrm>
          <a:prstGeom prst="roundRect">
            <a:avLst>
              <a:gd name="adj" fmla="val 11842"/>
            </a:avLst>
          </a:prstGeom>
          <a:solidFill>
            <a:srgbClr val="F3F3F3"/>
          </a:solidFill>
          <a:ln w="12700">
            <a:solidFill>
              <a:srgbClr val="F3F3F3"/>
            </a:solidFill>
            <a:prstDash val="solid"/>
          </a:ln>
        </p:spPr>
      </p:sp>
      <p:sp>
        <p:nvSpPr>
          <p:cNvPr id="22" name="Text 19"/>
          <p:cNvSpPr/>
          <p:nvPr/>
        </p:nvSpPr>
        <p:spPr>
          <a:xfrm>
            <a:off x="4946904" y="3273552"/>
            <a:ext cx="3538728" cy="694944"/>
          </a:xfrm>
          <a:prstGeom prst="rect">
            <a:avLst/>
          </a:prstGeom>
          <a:noFill/>
          <a:ln/>
        </p:spPr>
        <p:txBody>
          <a:bodyPr wrap="square" lIns="0" tIns="0" rIns="0" bIns="0" rtlCol="0" anchor="ctr"/>
          <a:lstStyle/>
          <a:p>
            <a:pPr indent="0" marL="0">
              <a:lnSpc>
                <a:spcPts val="1300"/>
              </a:lnSpc>
              <a:buNone/>
            </a:pPr>
            <a:r>
              <a:rPr lang="en-US" sz="1050" dirty="0">
                <a:solidFill>
                  <a:srgbClr val="2E4258"/>
                </a:solidFill>
                <a:latin typeface="Inter" pitchFamily="34" charset="0"/>
                <a:ea typeface="Inter" pitchFamily="34" charset="-122"/>
                <a:cs typeface="Inter" pitchFamily="34" charset="-120"/>
              </a:rPr>
              <a:t>«El riesgo concreto es que la inflación le gane a tu sueldo. Mirá cuánto pesa la cuota sobre tu ingreso.»</a:t>
            </a:r>
            <a:endParaRPr lang="en-US" sz="1050" dirty="0"/>
          </a:p>
        </p:txBody>
      </p:sp>
      <p:sp>
        <p:nvSpPr>
          <p:cNvPr id="23" name="Shape 20"/>
          <p:cNvSpPr/>
          <p:nvPr/>
        </p:nvSpPr>
        <p:spPr>
          <a:xfrm>
            <a:off x="603504" y="4114800"/>
            <a:ext cx="8083296" cy="658368"/>
          </a:xfrm>
          <a:prstGeom prst="roundRect">
            <a:avLst>
              <a:gd name="adj" fmla="val 12500"/>
            </a:avLst>
          </a:prstGeom>
          <a:solidFill>
            <a:srgbClr val="08407C"/>
          </a:solidFill>
          <a:ln w="12700">
            <a:solidFill>
              <a:srgbClr val="08407C"/>
            </a:solidFill>
            <a:prstDash val="solid"/>
          </a:ln>
        </p:spPr>
      </p:sp>
      <p:sp>
        <p:nvSpPr>
          <p:cNvPr id="24" name="Text 21"/>
          <p:cNvSpPr/>
          <p:nvPr/>
        </p:nvSpPr>
        <p:spPr>
          <a:xfrm>
            <a:off x="841248" y="4160520"/>
            <a:ext cx="7626096" cy="201168"/>
          </a:xfrm>
          <a:prstGeom prst="rect">
            <a:avLst/>
          </a:prstGeom>
          <a:noFill/>
          <a:ln/>
        </p:spPr>
        <p:txBody>
          <a:bodyPr wrap="square" lIns="0" tIns="0" rIns="0" bIns="0" rtlCol="0" anchor="ctr"/>
          <a:lstStyle/>
          <a:p>
            <a:pPr indent="0" marL="0">
              <a:buNone/>
            </a:pPr>
            <a:r>
              <a:rPr lang="en-US" sz="900" b="1" spc="120" kern="0" dirty="0">
                <a:solidFill>
                  <a:srgbClr val="FFFFFF"/>
                </a:solidFill>
                <a:latin typeface="Inter" pitchFamily="34" charset="0"/>
                <a:ea typeface="Inter" pitchFamily="34" charset="-122"/>
                <a:cs typeface="Inter" pitchFamily="34" charset="-120"/>
              </a:rPr>
              <a:t>EL LÍMITE DE NUESTRO ROL</a:t>
            </a:r>
            <a:endParaRPr lang="en-US" sz="900" dirty="0"/>
          </a:p>
        </p:txBody>
      </p:sp>
      <p:sp>
        <p:nvSpPr>
          <p:cNvPr id="25" name="Text 22"/>
          <p:cNvSpPr/>
          <p:nvPr/>
        </p:nvSpPr>
        <p:spPr>
          <a:xfrm>
            <a:off x="841248" y="4361688"/>
            <a:ext cx="7607808" cy="347472"/>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Inter" pitchFamily="34" charset="0"/>
                <a:ea typeface="Inter" pitchFamily="34" charset="-122"/>
                <a:cs typeface="Inter" pitchFamily="34" charset="-120"/>
              </a:rPr>
              <a:t>Explicamos cómo funciona el producto y acompañamos la operación. No recomendamos tomar deuda, no prometemos tasas y no pronosticamos inflación.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411480" cy="5143500"/>
          </a:xfrm>
          <a:prstGeom prst="rect">
            <a:avLst/>
          </a:prstGeom>
          <a:solidFill>
            <a:srgbClr val="4E586E"/>
          </a:solidFill>
          <a:ln w="12700">
            <a:solidFill>
              <a:srgbClr val="4E586E"/>
            </a:solidFill>
            <a:prstDash val="solid"/>
          </a:ln>
        </p:spPr>
      </p:sp>
      <p:sp>
        <p:nvSpPr>
          <p:cNvPr id="3" name="Shape 1"/>
          <p:cNvSpPr/>
          <p:nvPr/>
        </p:nvSpPr>
        <p:spPr>
          <a:xfrm>
            <a:off x="0" y="0"/>
            <a:ext cx="411480" cy="402336"/>
          </a:xfrm>
          <a:prstGeom prst="rect">
            <a:avLst/>
          </a:prstGeom>
          <a:solidFill>
            <a:srgbClr val="08407C"/>
          </a:solidFill>
          <a:ln w="12700">
            <a:solidFill>
              <a:srgbClr val="08407C"/>
            </a:solidFill>
            <a:prstDash val="solid"/>
          </a:ln>
        </p:spPr>
      </p:sp>
      <p:pic>
        <p:nvPicPr>
          <p:cNvPr id="4" name="Image 0" descr="/home/user/KrakRealEstate/capacitaciones/creditos-uva/brand/iso_white.png">    </p:cNvPr>
          <p:cNvPicPr>
            <a:picLocks noChangeAspect="1"/>
          </p:cNvPicPr>
          <p:nvPr/>
        </p:nvPicPr>
        <p:blipFill>
          <a:blip r:embed="rId2"/>
          <a:stretch>
            <a:fillRect/>
          </a:stretch>
        </p:blipFill>
        <p:spPr>
          <a:xfrm>
            <a:off x="123444" y="68580"/>
            <a:ext cx="164592" cy="217627"/>
          </a:xfrm>
          <a:prstGeom prst="rect">
            <a:avLst/>
          </a:prstGeom>
        </p:spPr>
      </p:pic>
      <p:sp>
        <p:nvSpPr>
          <p:cNvPr id="5" name="Text 2"/>
          <p:cNvSpPr/>
          <p:nvPr/>
        </p:nvSpPr>
        <p:spPr>
          <a:xfrm>
            <a:off x="603504" y="256032"/>
            <a:ext cx="8083296" cy="475488"/>
          </a:xfrm>
          <a:prstGeom prst="rect">
            <a:avLst/>
          </a:prstGeom>
          <a:noFill/>
          <a:ln/>
        </p:spPr>
        <p:txBody>
          <a:bodyPr wrap="square" lIns="0" tIns="0" rIns="0" bIns="0" rtlCol="0" anchor="ctr"/>
          <a:lstStyle/>
          <a:p>
            <a:pPr indent="0" marL="0">
              <a:buNone/>
            </a:pPr>
            <a:r>
              <a:rPr lang="en-US" sz="2600" b="1" dirty="0">
                <a:solidFill>
                  <a:srgbClr val="08407C"/>
                </a:solidFill>
                <a:latin typeface="Inter" pitchFamily="34" charset="0"/>
                <a:ea typeface="Inter" pitchFamily="34" charset="-122"/>
                <a:cs typeface="Inter" pitchFamily="34" charset="-120"/>
              </a:rPr>
              <a:t>Cinco ideas para llevarse</a:t>
            </a:r>
            <a:endParaRPr lang="en-US" sz="2600" dirty="0"/>
          </a:p>
        </p:txBody>
      </p:sp>
      <p:sp>
        <p:nvSpPr>
          <p:cNvPr id="6" name="Text 3"/>
          <p:cNvSpPr/>
          <p:nvPr/>
        </p:nvSpPr>
        <p:spPr>
          <a:xfrm>
            <a:off x="603504" y="749808"/>
            <a:ext cx="8083296" cy="274320"/>
          </a:xfrm>
          <a:prstGeom prst="rect">
            <a:avLst/>
          </a:prstGeom>
          <a:noFill/>
          <a:ln/>
        </p:spPr>
        <p:txBody>
          <a:bodyPr wrap="square" lIns="0" tIns="0" rIns="0" bIns="0" rtlCol="0" anchor="ctr"/>
          <a:lstStyle/>
          <a:p>
            <a:pPr indent="0" marL="0">
              <a:buNone/>
            </a:pPr>
            <a:r>
              <a:rPr lang="en-US" sz="1200" i="1" dirty="0">
                <a:solidFill>
                  <a:srgbClr val="6A7686"/>
                </a:solidFill>
                <a:latin typeface="Inter" pitchFamily="34" charset="0"/>
                <a:ea typeface="Inter" pitchFamily="34" charset="-122"/>
                <a:cs typeface="Inter" pitchFamily="34" charset="-120"/>
              </a:rPr>
              <a:t>Si se olvidan todo lo demás, que queden estas.</a:t>
            </a:r>
            <a:endParaRPr lang="en-US" sz="1200" dirty="0"/>
          </a:p>
        </p:txBody>
      </p:sp>
      <p:sp>
        <p:nvSpPr>
          <p:cNvPr id="7" name="Shape 4"/>
          <p:cNvSpPr/>
          <p:nvPr/>
        </p:nvSpPr>
        <p:spPr>
          <a:xfrm>
            <a:off x="603504" y="1207008"/>
            <a:ext cx="8083296" cy="603504"/>
          </a:xfrm>
          <a:prstGeom prst="roundRect">
            <a:avLst>
              <a:gd name="adj" fmla="val 13636"/>
            </a:avLst>
          </a:prstGeom>
          <a:solidFill>
            <a:srgbClr val="08407C"/>
          </a:solidFill>
          <a:ln w="12700">
            <a:solidFill>
              <a:srgbClr val="08407C"/>
            </a:solidFill>
            <a:prstDash val="solid"/>
          </a:ln>
        </p:spPr>
      </p:sp>
      <p:sp>
        <p:nvSpPr>
          <p:cNvPr id="8" name="Text 5"/>
          <p:cNvSpPr/>
          <p:nvPr/>
        </p:nvSpPr>
        <p:spPr>
          <a:xfrm>
            <a:off x="786384" y="1207008"/>
            <a:ext cx="420624" cy="603504"/>
          </a:xfrm>
          <a:prstGeom prst="rect">
            <a:avLst/>
          </a:prstGeom>
          <a:noFill/>
          <a:ln/>
        </p:spPr>
        <p:txBody>
          <a:bodyPr wrap="square" lIns="0" tIns="0" rIns="0" bIns="0" rtlCol="0" anchor="ctr"/>
          <a:lstStyle/>
          <a:p>
            <a:pPr algn="ctr" indent="0" marL="0">
              <a:buNone/>
            </a:pPr>
            <a:r>
              <a:rPr lang="en-US" sz="2000" b="1" dirty="0">
                <a:solidFill>
                  <a:srgbClr val="9CB2CA"/>
                </a:solidFill>
                <a:latin typeface="Inter" pitchFamily="34" charset="0"/>
                <a:ea typeface="Inter" pitchFamily="34" charset="-122"/>
                <a:cs typeface="Inter" pitchFamily="34" charset="-120"/>
              </a:rPr>
              <a:t>1</a:t>
            </a:r>
            <a:endParaRPr lang="en-US" sz="2000" dirty="0"/>
          </a:p>
        </p:txBody>
      </p:sp>
      <p:sp>
        <p:nvSpPr>
          <p:cNvPr id="9" name="Text 6"/>
          <p:cNvSpPr/>
          <p:nvPr/>
        </p:nvSpPr>
        <p:spPr>
          <a:xfrm>
            <a:off x="1353312" y="1207008"/>
            <a:ext cx="7132320" cy="603504"/>
          </a:xfrm>
          <a:prstGeom prst="rect">
            <a:avLst/>
          </a:prstGeom>
          <a:noFill/>
          <a:ln/>
        </p:spPr>
        <p:txBody>
          <a:bodyPr wrap="square" lIns="0" tIns="0" rIns="0" bIns="0" rtlCol="0" anchor="ctr"/>
          <a:lstStyle/>
          <a:p>
            <a:pPr indent="0" marL="0">
              <a:lnSpc>
                <a:spcPts val="1450"/>
              </a:lnSpc>
              <a:buNone/>
            </a:pPr>
            <a:r>
              <a:rPr lang="en-US" sz="1200" dirty="0">
                <a:solidFill>
                  <a:srgbClr val="FFFFFF"/>
                </a:solidFill>
                <a:latin typeface="Inter" pitchFamily="34" charset="0"/>
                <a:ea typeface="Inter" pitchFamily="34" charset="-122"/>
                <a:cs typeface="Inter" pitchFamily="34" charset="-120"/>
              </a:rPr>
              <a:t>La deuda está en UVA, no en pesos. Es la frase que ordena todo lo demás.</a:t>
            </a:r>
            <a:endParaRPr lang="en-US" sz="1200" dirty="0"/>
          </a:p>
        </p:txBody>
      </p:sp>
      <p:sp>
        <p:nvSpPr>
          <p:cNvPr id="10" name="Shape 7"/>
          <p:cNvSpPr/>
          <p:nvPr/>
        </p:nvSpPr>
        <p:spPr>
          <a:xfrm>
            <a:off x="603504" y="1883664"/>
            <a:ext cx="8083296" cy="603504"/>
          </a:xfrm>
          <a:prstGeom prst="roundRect">
            <a:avLst>
              <a:gd name="adj" fmla="val 13636"/>
            </a:avLst>
          </a:prstGeom>
          <a:solidFill>
            <a:srgbClr val="4E586E"/>
          </a:solidFill>
          <a:ln w="12700">
            <a:solidFill>
              <a:srgbClr val="4E586E"/>
            </a:solidFill>
            <a:prstDash val="solid"/>
          </a:ln>
        </p:spPr>
      </p:sp>
      <p:sp>
        <p:nvSpPr>
          <p:cNvPr id="11" name="Text 8"/>
          <p:cNvSpPr/>
          <p:nvPr/>
        </p:nvSpPr>
        <p:spPr>
          <a:xfrm>
            <a:off x="786384" y="1883664"/>
            <a:ext cx="420624" cy="603504"/>
          </a:xfrm>
          <a:prstGeom prst="rect">
            <a:avLst/>
          </a:prstGeom>
          <a:noFill/>
          <a:ln/>
        </p:spPr>
        <p:txBody>
          <a:bodyPr wrap="square" lIns="0" tIns="0" rIns="0" bIns="0" rtlCol="0" anchor="ctr"/>
          <a:lstStyle/>
          <a:p>
            <a:pPr algn="ctr" indent="0" marL="0">
              <a:buNone/>
            </a:pPr>
            <a:r>
              <a:rPr lang="en-US" sz="2000" b="1" dirty="0">
                <a:solidFill>
                  <a:srgbClr val="9CB2CA"/>
                </a:solidFill>
                <a:latin typeface="Inter" pitchFamily="34" charset="0"/>
                <a:ea typeface="Inter" pitchFamily="34" charset="-122"/>
                <a:cs typeface="Inter" pitchFamily="34" charset="-120"/>
              </a:rPr>
              <a:t>2</a:t>
            </a:r>
            <a:endParaRPr lang="en-US" sz="2000" dirty="0"/>
          </a:p>
        </p:txBody>
      </p:sp>
      <p:sp>
        <p:nvSpPr>
          <p:cNvPr id="12" name="Text 9"/>
          <p:cNvSpPr/>
          <p:nvPr/>
        </p:nvSpPr>
        <p:spPr>
          <a:xfrm>
            <a:off x="1353312" y="1883664"/>
            <a:ext cx="7132320" cy="603504"/>
          </a:xfrm>
          <a:prstGeom prst="rect">
            <a:avLst/>
          </a:prstGeom>
          <a:noFill/>
          <a:ln/>
        </p:spPr>
        <p:txBody>
          <a:bodyPr wrap="square" lIns="0" tIns="0" rIns="0" bIns="0" rtlCol="0" anchor="ctr"/>
          <a:lstStyle/>
          <a:p>
            <a:pPr indent="0" marL="0">
              <a:lnSpc>
                <a:spcPts val="1450"/>
              </a:lnSpc>
              <a:buNone/>
            </a:pPr>
            <a:r>
              <a:rPr lang="en-US" sz="1200" dirty="0">
                <a:solidFill>
                  <a:srgbClr val="FFFFFF"/>
                </a:solidFill>
                <a:latin typeface="Inter" pitchFamily="34" charset="0"/>
                <a:ea typeface="Inter" pitchFamily="34" charset="-122"/>
                <a:cs typeface="Inter" pitchFamily="34" charset="-120"/>
              </a:rPr>
              <a:t>La cantidad de UVA baja siempre. El valor de cada UVA sube. Las dos cosas son verdad.</a:t>
            </a:r>
            <a:endParaRPr lang="en-US" sz="1200" dirty="0"/>
          </a:p>
        </p:txBody>
      </p:sp>
      <p:sp>
        <p:nvSpPr>
          <p:cNvPr id="13" name="Shape 10"/>
          <p:cNvSpPr/>
          <p:nvPr/>
        </p:nvSpPr>
        <p:spPr>
          <a:xfrm>
            <a:off x="603504" y="2560320"/>
            <a:ext cx="8083296" cy="603504"/>
          </a:xfrm>
          <a:prstGeom prst="roundRect">
            <a:avLst>
              <a:gd name="adj" fmla="val 13636"/>
            </a:avLst>
          </a:prstGeom>
          <a:solidFill>
            <a:srgbClr val="08407C"/>
          </a:solidFill>
          <a:ln w="12700">
            <a:solidFill>
              <a:srgbClr val="08407C"/>
            </a:solidFill>
            <a:prstDash val="solid"/>
          </a:ln>
        </p:spPr>
      </p:sp>
      <p:sp>
        <p:nvSpPr>
          <p:cNvPr id="14" name="Text 11"/>
          <p:cNvSpPr/>
          <p:nvPr/>
        </p:nvSpPr>
        <p:spPr>
          <a:xfrm>
            <a:off x="786384" y="2560320"/>
            <a:ext cx="420624" cy="603504"/>
          </a:xfrm>
          <a:prstGeom prst="rect">
            <a:avLst/>
          </a:prstGeom>
          <a:noFill/>
          <a:ln/>
        </p:spPr>
        <p:txBody>
          <a:bodyPr wrap="square" lIns="0" tIns="0" rIns="0" bIns="0" rtlCol="0" anchor="ctr"/>
          <a:lstStyle/>
          <a:p>
            <a:pPr algn="ctr" indent="0" marL="0">
              <a:buNone/>
            </a:pPr>
            <a:r>
              <a:rPr lang="en-US" sz="2000" b="1" dirty="0">
                <a:solidFill>
                  <a:srgbClr val="9CB2CA"/>
                </a:solidFill>
                <a:latin typeface="Inter" pitchFamily="34" charset="0"/>
                <a:ea typeface="Inter" pitchFamily="34" charset="-122"/>
                <a:cs typeface="Inter" pitchFamily="34" charset="-120"/>
              </a:rPr>
              <a:t>3</a:t>
            </a:r>
            <a:endParaRPr lang="en-US" sz="2000" dirty="0"/>
          </a:p>
        </p:txBody>
      </p:sp>
      <p:sp>
        <p:nvSpPr>
          <p:cNvPr id="15" name="Text 12"/>
          <p:cNvSpPr/>
          <p:nvPr/>
        </p:nvSpPr>
        <p:spPr>
          <a:xfrm>
            <a:off x="1353312" y="2560320"/>
            <a:ext cx="7132320" cy="603504"/>
          </a:xfrm>
          <a:prstGeom prst="rect">
            <a:avLst/>
          </a:prstGeom>
          <a:noFill/>
          <a:ln/>
        </p:spPr>
        <p:txBody>
          <a:bodyPr wrap="square" lIns="0" tIns="0" rIns="0" bIns="0" rtlCol="0" anchor="ctr"/>
          <a:lstStyle/>
          <a:p>
            <a:pPr indent="0" marL="0">
              <a:lnSpc>
                <a:spcPts val="1450"/>
              </a:lnSpc>
              <a:buNone/>
            </a:pPr>
            <a:r>
              <a:rPr lang="en-US" sz="1200" dirty="0">
                <a:solidFill>
                  <a:srgbClr val="FFFFFF"/>
                </a:solidFill>
                <a:latin typeface="Inter" pitchFamily="34" charset="0"/>
                <a:ea typeface="Inter" pitchFamily="34" charset="-122"/>
                <a:cs typeface="Inter" pitchFamily="34" charset="-120"/>
              </a:rPr>
              <a:t>El riesgo no es la inflación: es que la inflación le gane al sueldo de esa persona.</a:t>
            </a:r>
            <a:endParaRPr lang="en-US" sz="1200" dirty="0"/>
          </a:p>
        </p:txBody>
      </p:sp>
      <p:sp>
        <p:nvSpPr>
          <p:cNvPr id="16" name="Shape 13"/>
          <p:cNvSpPr/>
          <p:nvPr/>
        </p:nvSpPr>
        <p:spPr>
          <a:xfrm>
            <a:off x="603504" y="3236976"/>
            <a:ext cx="8083296" cy="603504"/>
          </a:xfrm>
          <a:prstGeom prst="roundRect">
            <a:avLst>
              <a:gd name="adj" fmla="val 13636"/>
            </a:avLst>
          </a:prstGeom>
          <a:solidFill>
            <a:srgbClr val="4E586E"/>
          </a:solidFill>
          <a:ln w="12700">
            <a:solidFill>
              <a:srgbClr val="4E586E"/>
            </a:solidFill>
            <a:prstDash val="solid"/>
          </a:ln>
        </p:spPr>
      </p:sp>
      <p:sp>
        <p:nvSpPr>
          <p:cNvPr id="17" name="Text 14"/>
          <p:cNvSpPr/>
          <p:nvPr/>
        </p:nvSpPr>
        <p:spPr>
          <a:xfrm>
            <a:off x="786384" y="3236976"/>
            <a:ext cx="420624" cy="603504"/>
          </a:xfrm>
          <a:prstGeom prst="rect">
            <a:avLst/>
          </a:prstGeom>
          <a:noFill/>
          <a:ln/>
        </p:spPr>
        <p:txBody>
          <a:bodyPr wrap="square" lIns="0" tIns="0" rIns="0" bIns="0" rtlCol="0" anchor="ctr"/>
          <a:lstStyle/>
          <a:p>
            <a:pPr algn="ctr" indent="0" marL="0">
              <a:buNone/>
            </a:pPr>
            <a:r>
              <a:rPr lang="en-US" sz="2000" b="1" dirty="0">
                <a:solidFill>
                  <a:srgbClr val="9CB2CA"/>
                </a:solidFill>
                <a:latin typeface="Inter" pitchFamily="34" charset="0"/>
                <a:ea typeface="Inter" pitchFamily="34" charset="-122"/>
                <a:cs typeface="Inter" pitchFamily="34" charset="-120"/>
              </a:rPr>
              <a:t>4</a:t>
            </a:r>
            <a:endParaRPr lang="en-US" sz="2000" dirty="0"/>
          </a:p>
        </p:txBody>
      </p:sp>
      <p:sp>
        <p:nvSpPr>
          <p:cNvPr id="18" name="Text 15"/>
          <p:cNvSpPr/>
          <p:nvPr/>
        </p:nvSpPr>
        <p:spPr>
          <a:xfrm>
            <a:off x="1353312" y="3236976"/>
            <a:ext cx="7132320" cy="603504"/>
          </a:xfrm>
          <a:prstGeom prst="rect">
            <a:avLst/>
          </a:prstGeom>
          <a:noFill/>
          <a:ln/>
        </p:spPr>
        <p:txBody>
          <a:bodyPr wrap="square" lIns="0" tIns="0" rIns="0" bIns="0" rtlCol="0" anchor="ctr"/>
          <a:lstStyle/>
          <a:p>
            <a:pPr indent="0" marL="0">
              <a:lnSpc>
                <a:spcPts val="1450"/>
              </a:lnSpc>
              <a:buNone/>
            </a:pPr>
            <a:r>
              <a:rPr lang="en-US" sz="1200" dirty="0">
                <a:solidFill>
                  <a:srgbClr val="FFFFFF"/>
                </a:solidFill>
                <a:latin typeface="Inter" pitchFamily="34" charset="0"/>
                <a:ea typeface="Inter" pitchFamily="34" charset="-122"/>
                <a:cs typeface="Inter" pitchFamily="34" charset="-120"/>
              </a:rPr>
              <a:t>Todo porcentaje concreto depende del banco. Nunca lo digas como si fuera una regla.</a:t>
            </a:r>
            <a:endParaRPr lang="en-US" sz="1200" dirty="0"/>
          </a:p>
        </p:txBody>
      </p:sp>
      <p:sp>
        <p:nvSpPr>
          <p:cNvPr id="19" name="Shape 16"/>
          <p:cNvSpPr/>
          <p:nvPr/>
        </p:nvSpPr>
        <p:spPr>
          <a:xfrm>
            <a:off x="603504" y="3913632"/>
            <a:ext cx="8083296" cy="603504"/>
          </a:xfrm>
          <a:prstGeom prst="roundRect">
            <a:avLst>
              <a:gd name="adj" fmla="val 13636"/>
            </a:avLst>
          </a:prstGeom>
          <a:solidFill>
            <a:srgbClr val="08407C"/>
          </a:solidFill>
          <a:ln w="12700">
            <a:solidFill>
              <a:srgbClr val="08407C"/>
            </a:solidFill>
            <a:prstDash val="solid"/>
          </a:ln>
        </p:spPr>
      </p:sp>
      <p:sp>
        <p:nvSpPr>
          <p:cNvPr id="20" name="Text 17"/>
          <p:cNvSpPr/>
          <p:nvPr/>
        </p:nvSpPr>
        <p:spPr>
          <a:xfrm>
            <a:off x="786384" y="3913632"/>
            <a:ext cx="420624" cy="603504"/>
          </a:xfrm>
          <a:prstGeom prst="rect">
            <a:avLst/>
          </a:prstGeom>
          <a:noFill/>
          <a:ln/>
        </p:spPr>
        <p:txBody>
          <a:bodyPr wrap="square" lIns="0" tIns="0" rIns="0" bIns="0" rtlCol="0" anchor="ctr"/>
          <a:lstStyle/>
          <a:p>
            <a:pPr algn="ctr" indent="0" marL="0">
              <a:buNone/>
            </a:pPr>
            <a:r>
              <a:rPr lang="en-US" sz="2000" b="1" dirty="0">
                <a:solidFill>
                  <a:srgbClr val="9CB2CA"/>
                </a:solidFill>
                <a:latin typeface="Inter" pitchFamily="34" charset="0"/>
                <a:ea typeface="Inter" pitchFamily="34" charset="-122"/>
                <a:cs typeface="Inter" pitchFamily="34" charset="-120"/>
              </a:rPr>
              <a:t>5</a:t>
            </a:r>
            <a:endParaRPr lang="en-US" sz="2000" dirty="0"/>
          </a:p>
        </p:txBody>
      </p:sp>
      <p:sp>
        <p:nvSpPr>
          <p:cNvPr id="21" name="Text 18"/>
          <p:cNvSpPr/>
          <p:nvPr/>
        </p:nvSpPr>
        <p:spPr>
          <a:xfrm>
            <a:off x="1353312" y="3913632"/>
            <a:ext cx="7132320" cy="603504"/>
          </a:xfrm>
          <a:prstGeom prst="rect">
            <a:avLst/>
          </a:prstGeom>
          <a:noFill/>
          <a:ln/>
        </p:spPr>
        <p:txBody>
          <a:bodyPr wrap="square" lIns="0" tIns="0" rIns="0" bIns="0" rtlCol="0" anchor="ctr"/>
          <a:lstStyle/>
          <a:p>
            <a:pPr indent="0" marL="0">
              <a:lnSpc>
                <a:spcPts val="1450"/>
              </a:lnSpc>
              <a:buNone/>
            </a:pPr>
            <a:r>
              <a:rPr lang="en-US" sz="1200" dirty="0">
                <a:solidFill>
                  <a:srgbClr val="FFFFFF"/>
                </a:solidFill>
                <a:latin typeface="Inter" pitchFamily="34" charset="0"/>
                <a:ea typeface="Inter" pitchFamily="34" charset="-122"/>
                <a:cs typeface="Inter" pitchFamily="34" charset="-120"/>
              </a:rPr>
              <a:t>Un alquiler es 100% gasto. Una cuota, no. Esa diferencia es el argumento más honesto que tenemos.</a:t>
            </a:r>
            <a:endParaRPr lang="en-US" sz="1200" dirty="0"/>
          </a:p>
        </p:txBody>
      </p:sp>
      <p:sp>
        <p:nvSpPr>
          <p:cNvPr id="22" name="Text 19"/>
          <p:cNvSpPr/>
          <p:nvPr/>
        </p:nvSpPr>
        <p:spPr>
          <a:xfrm>
            <a:off x="603504" y="4572000"/>
            <a:ext cx="8083296" cy="292608"/>
          </a:xfrm>
          <a:prstGeom prst="rect">
            <a:avLst/>
          </a:prstGeom>
          <a:noFill/>
          <a:ln/>
        </p:spPr>
        <p:txBody>
          <a:bodyPr wrap="square" lIns="0" tIns="0" rIns="0" bIns="0" rtlCol="0" anchor="ctr"/>
          <a:lstStyle/>
          <a:p>
            <a:pPr indent="0" marL="0">
              <a:buNone/>
            </a:pPr>
            <a:r>
              <a:rPr lang="en-US" sz="900" i="1" dirty="0">
                <a:solidFill>
                  <a:srgbClr val="6A7686"/>
                </a:solidFill>
                <a:latin typeface="Inter" pitchFamily="34" charset="0"/>
                <a:ea typeface="Inter" pitchFamily="34" charset="-122"/>
                <a:cs typeface="Inter" pitchFamily="34" charset="-120"/>
              </a:rPr>
              <a:t>Datos al 19/09/2026. Los valores de UVA, tasas y condiciones cambian: verificarlos antes de usarlos con un cliente.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user/KrakRealEstate/capacitaciones/creditos-uva/brand/logo_stack.png">    </p:cNvPr>
          <p:cNvPicPr>
            <a:picLocks noChangeAspect="1"/>
          </p:cNvPicPr>
          <p:nvPr/>
        </p:nvPicPr>
        <p:blipFill>
          <a:blip r:embed="rId2"/>
          <a:stretch>
            <a:fillRect/>
          </a:stretch>
        </p:blipFill>
        <p:spPr>
          <a:xfrm>
            <a:off x="7315200" y="411480"/>
            <a:ext cx="859536" cy="1463040"/>
          </a:xfrm>
          <a:prstGeom prst="rect">
            <a:avLst/>
          </a:prstGeom>
        </p:spPr>
      </p:pic>
      <p:sp>
        <p:nvSpPr>
          <p:cNvPr id="3" name="Text 0"/>
          <p:cNvSpPr/>
          <p:nvPr/>
        </p:nvSpPr>
        <p:spPr>
          <a:xfrm>
            <a:off x="749808" y="1874520"/>
            <a:ext cx="5943600" cy="658368"/>
          </a:xfrm>
          <a:prstGeom prst="rect">
            <a:avLst/>
          </a:prstGeom>
          <a:noFill/>
          <a:ln/>
        </p:spPr>
        <p:txBody>
          <a:bodyPr wrap="square" lIns="0" tIns="0" rIns="0" bIns="0" rtlCol="0" anchor="ctr"/>
          <a:lstStyle/>
          <a:p>
            <a:pPr indent="0" marL="0">
              <a:buNone/>
            </a:pPr>
            <a:r>
              <a:rPr lang="en-US" sz="3800" b="1" dirty="0">
                <a:solidFill>
                  <a:srgbClr val="08407C"/>
                </a:solidFill>
                <a:latin typeface="Inter" pitchFamily="34" charset="0"/>
                <a:ea typeface="Inter" pitchFamily="34" charset="-122"/>
                <a:cs typeface="Inter" pitchFamily="34" charset="-120"/>
              </a:rPr>
              <a:t>Ya podés contestar.</a:t>
            </a:r>
            <a:endParaRPr lang="en-US" sz="3800" dirty="0"/>
          </a:p>
        </p:txBody>
      </p:sp>
      <p:sp>
        <p:nvSpPr>
          <p:cNvPr id="4" name="Text 1"/>
          <p:cNvSpPr/>
          <p:nvPr/>
        </p:nvSpPr>
        <p:spPr>
          <a:xfrm>
            <a:off x="777240" y="2606040"/>
            <a:ext cx="6035040" cy="329184"/>
          </a:xfrm>
          <a:prstGeom prst="rect">
            <a:avLst/>
          </a:prstGeom>
          <a:noFill/>
          <a:ln/>
        </p:spPr>
        <p:txBody>
          <a:bodyPr wrap="square" lIns="0" tIns="0" rIns="0" bIns="0" rtlCol="0" anchor="ctr"/>
          <a:lstStyle/>
          <a:p>
            <a:pPr indent="0" marL="0">
              <a:buNone/>
            </a:pPr>
            <a:r>
              <a:rPr lang="en-US" sz="1500" dirty="0">
                <a:solidFill>
                  <a:srgbClr val="4E586E"/>
                </a:solidFill>
                <a:latin typeface="Inter" pitchFamily="34" charset="0"/>
                <a:ea typeface="Inter" pitchFamily="34" charset="-122"/>
                <a:cs typeface="Inter" pitchFamily="34" charset="-120"/>
              </a:rPr>
              <a:t>Entender el producto no te convierte en asesor financiero. Te convierte en alguien que no pierde la operación.</a:t>
            </a:r>
            <a:endParaRPr lang="en-US" sz="1500" dirty="0"/>
          </a:p>
        </p:txBody>
      </p:sp>
      <p:sp>
        <p:nvSpPr>
          <p:cNvPr id="5" name="Text 2"/>
          <p:cNvSpPr/>
          <p:nvPr/>
        </p:nvSpPr>
        <p:spPr>
          <a:xfrm>
            <a:off x="777240" y="4224528"/>
            <a:ext cx="7498080" cy="274320"/>
          </a:xfrm>
          <a:prstGeom prst="rect">
            <a:avLst/>
          </a:prstGeom>
          <a:noFill/>
          <a:ln/>
        </p:spPr>
        <p:txBody>
          <a:bodyPr wrap="square" lIns="0" tIns="0" rIns="0" bIns="0" rtlCol="0" anchor="ctr"/>
          <a:lstStyle/>
          <a:p>
            <a:pPr indent="0" marL="0">
              <a:buNone/>
            </a:pPr>
            <a:r>
              <a:rPr lang="en-US" sz="950" dirty="0">
                <a:solidFill>
                  <a:srgbClr val="6A7686"/>
                </a:solidFill>
                <a:latin typeface="Inter" pitchFamily="34" charset="0"/>
                <a:ea typeface="Inter" pitchFamily="34" charset="-122"/>
                <a:cs typeface="Inter" pitchFamily="34" charset="-120"/>
              </a:rPr>
              <a:t>Capacitaciones Krak Real Estate  ·  Datos al 19/09/2026  ·  Fuentes: anuncio oficial del programa 2026, INDEC, BCRA y análisis de mercado del sector. Los valores de UVA, tasas y condiciones bancarias cambian — verificar antes de cada uso.</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Créditos Hipotecarios UVA</dc:title>
  <dc:subject>PptxGenJS Presentation</dc:subject>
  <dc:creator>Krak Real Estate</dc:creator>
  <cp:lastModifiedBy>Krak Real Estate</cp:lastModifiedBy>
  <cp:revision>1</cp:revision>
  <dcterms:created xsi:type="dcterms:W3CDTF">2026-09-20T01:38:22Z</dcterms:created>
  <dcterms:modified xsi:type="dcterms:W3CDTF">2026-09-20T01:38:22Z</dcterms:modified>
</cp:coreProperties>
</file>