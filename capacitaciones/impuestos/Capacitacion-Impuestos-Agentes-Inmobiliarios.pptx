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la capacitación. Objetivo: que el equipo identifique rápido qué impuesto aparece en cada operación, quién lo cobra y qué hay que controlar antes de pagar o cobrar. No busca convertir a nadie en contador. Base: Manual de Impuestos para Administrativos en Argentina, edición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Idea central: no hay un único fisco. Nación, provincia y municipio tienen potestad tributaria propia y no se piden permiso entre sí. Antes de cerrar una operación, preguntarse siempre: ¿dónde está el inmueble? ¿dónde se presta el servicio? Eso define qué organismos intervienen y qué vencimientos hay que mirar.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CUIT y la Clave Fiscal son la puerta de entrada. El Domicilio Fiscal Electrónico es el que más problemas genera: se asume que si no llegó un mail no hay notificación, y no es así — la notificación es válida desde que se deposita en el buzón. La constancia de inscripción es la herramienta de control del día a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Casi todos los contratistas y proveedores chicos con los que trabajamos son monotributistas: pintores, fotógrafos, service, fletes. Conviene tener a mano su categoría vigente. Si un monotributista factura por encima del tope de su categoría, hay que avisarle: puede quedar excluido de oficio del régimen, con efecto retroactivo.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pregunta práctica es siempre la misma: ¿quién emite y quién recibe? Como Responsable Inscripto, la inmobiliaria factura A a empresas y B a consumidores finales. Un monotributista siempre emite C, incluso a una empresa grande: el comprador simplemente no computa crédito fiscal de IVA. La M es poco frecuente y es señal de que ARCA no le reconoce solvencia al emisor.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control más concreto del día a día: toma dos minutos y evita el problema más caro de la lista. Complemento del tema: las notas de crédito anulan o reducen una factura ya emitida (devolución, descuento, corrección) y las notas de débito la aumentan (intereses por mora, gastos adicionales). Ambas necesitan su propio CAE y deben referenciar la factura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importante del IVA es entender que no es un costo para la empresa, porque se descuenta: es un costo para el consumidor final. Ganancias y Bienes Personales son anuales y los liquida el estudio contable; lo que nos toca es tener la documentación ordenada. Caso típico del rubro: un cliente argentino que compra un departamento en el exterior tributa allá, pero acá puede impactarle Bienes Personales si es residente fiscal argentino.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IIBB es el impuesto que más impacta el margen del negocio inmobiliario, porque se calcula sobre la comisión bruta y no sobre lo que queda. Al presupuestar hay que netear IIBB antes de calcular el margen real. Y sí: se paga aunque el período cierre en pérdida. Sobre retenciones: para retener hay que estar designado agente de retención por el organismo, no se le retiene a cualquiera.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Sellos es el impuesto más propio del negocio inmobiliario y el que más se olvida al presupuestar una operación. Regla de oro del manual: siempre pedir el contrato de alquiler sellado. Sin sellado no hay fecha cierta y, ante un conflicto o una inspección, el contrato pierde valor probatorio frente al fisco y frente a terceros.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agente esto sirve en dos momentos: al tasar, porque la valuación fiscal y las boletas dicen mucho del inmueble; y al asesorar sobre qué gastos corren por cuenta del propietario y cuáles del inquilino. Para leer cualquier boleta —ARBA, AGIP o municipal— buscar siempre lo mismo: qué impuesto es, número de partida o padrón, período, importe y fecha de vencimiento.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operativo de la capacitación: estos controles son el 90% del trabajo diario. Recordar además qué hacer ante una fiscalización: verificar la notificación en el Domicilio Fiscal Electrónico, identificar qué período y qué impuesto revisan, reunir la documentación y avisar al estudio contable ANTES de entregar o responder nada. Nunca entregar documentación a un inspector sin que el contador esté al tanto.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El manual completo —40 puntos, glosario, preguntas frecuentes y modelos de mensajes para proveedores— queda disponible como material de consulta. Es un documento vivo: cuando cambie una normativa relevante o aparezca un caso nuevo, se actualiza.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KrakRealEstate/26f90231-47e0-5521-93d0-854de4e1add2/scratchpad/brand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777240"/>
            <a:ext cx="1847088" cy="82113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12140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Capacitaciones Krak Real Estate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Impuestos para Agentes Inmobiliarios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tributario argentino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Argentina es federal: tres niveles cobran, cada uno con su organismo y su calendario.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2542032" cy="2606040"/>
          </a:xfrm>
          <a:prstGeom prst="roundRect">
            <a:avLst>
              <a:gd name="adj" fmla="val 3237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3350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NACIÓN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2960" y="1572768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ARCA (ex AFIP)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9536" y="2011680"/>
            <a:ext cx="20848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Ganancias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Bienes Personales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Monotributo y Autónomos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340156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arca.gob.ar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74136" y="1188720"/>
            <a:ext cx="2542032" cy="2606040"/>
          </a:xfrm>
          <a:prstGeom prst="roundRect">
            <a:avLst>
              <a:gd name="adj" fmla="val 3237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593592" y="13350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PROVINCIA / CABA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593592" y="1572768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ARBA · AGIP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630168" y="2011680"/>
            <a:ext cx="20848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 Brutos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Sellos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Impuesto Inmobiliario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Patentes · ABL en CABA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593592" y="340156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arba.gob.ar · agip.gob.ar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44768" y="1188720"/>
            <a:ext cx="2542032" cy="2606040"/>
          </a:xfrm>
          <a:prstGeom prst="roundRect">
            <a:avLst>
              <a:gd name="adj" fmla="val 3237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64224" y="13350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MUNICIPIO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64224" y="1572768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Rentas municipales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0" y="2011680"/>
            <a:ext cx="20848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e Higiene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 / Tasa de Servicios Urbanos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Habilitaciones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vial y publicidad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64224" y="340156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portal de cada municipio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3504" y="4005072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" y="4078224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PRÁCTICA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41248" y="4270248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Alquilar una oficina en PBA activa los tres niveles a la vez: Sellos e Ingresos Brutos en ARBA, el Inmobiliario del propietario y la tasa municipal del local.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identidad fiscal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elementos sin los cuales no se puede facturar ni operar.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3950208" cy="1463040"/>
          </a:xfrm>
          <a:prstGeom prst="roundRect">
            <a:avLst>
              <a:gd name="adj" fmla="val 5625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1426464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1426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335024" y="14081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CUIT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35024" y="1773936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AE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dígitos que identifican ante todos los organismos, no solo ARCA. Prefijo 20/23/24/27 personas humanas, 30/33/34 sociedades. Es el mismo número de por vida.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36592" y="1188720"/>
            <a:ext cx="3950208" cy="1463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74336" y="1426464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74336" y="1426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68112" y="14081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 Fiscal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468112" y="1773936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AE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contraseña para operar en ARCA. La mayoría de los trámites exige nivel 3. Desde ahí se delegan permisos al estudio contable sin compartir la clave.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3504" y="2761488"/>
            <a:ext cx="3950208" cy="1463040"/>
          </a:xfrm>
          <a:prstGeom prst="roundRect">
            <a:avLst>
              <a:gd name="adj" fmla="val 5625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41248" y="2999232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1248" y="2999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335024" y="298094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Domicilio Fiscal Electrónico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335024" y="3346704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AE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Buzón digital obligatorio. Una intimación queda notificada apenas se deposita ahí, se haya leído o no. Hay que revisarlo con periodicidad.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736592" y="2761488"/>
            <a:ext cx="3950208" cy="1463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974336" y="2999232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74336" y="2999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468112" y="298094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Constancia de inscripción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5468112" y="3346704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AE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la situación fiscal de un CUIT: en qué impuestos está inscripto, su categoría y desde cuándo. Se descarga gratis con solo cargar el CUIT.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03504" y="4370832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41248" y="4443984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41248" y="4636008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Constancia de inscripción + CBU a nombre del mismo CUIT: es lo primero que se le pide a todo proveedor o cliente nuevo.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Monotributo o Responsable Inscripto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qué factura emite tu cliente, tu proveedor y vos mismo.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13232" y="11704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ASPECTO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935224" y="1170432"/>
            <a:ext cx="2834640" cy="457200"/>
          </a:xfrm>
          <a:prstGeom prst="roundRect">
            <a:avLst>
              <a:gd name="adj" fmla="val 180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154680" y="1170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MONOTRIBUTO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61304" y="1170432"/>
            <a:ext cx="2788920" cy="457200"/>
          </a:xfrm>
          <a:prstGeom prst="roundRect">
            <a:avLst>
              <a:gd name="adj" fmla="val 18000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11704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 INSCRIPTO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03504" y="1755648"/>
            <a:ext cx="8083296" cy="429768"/>
          </a:xfrm>
          <a:prstGeom prst="roundRect">
            <a:avLst>
              <a:gd name="adj" fmla="val 1914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755648"/>
            <a:ext cx="2194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Facturación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3154680" y="1755648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Tope de la categoría 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80760" y="1755648"/>
            <a:ext cx="2423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tope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13232" y="2240280"/>
            <a:ext cx="2194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154680" y="2240280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 discrimina (va incluido)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080760" y="2240280"/>
            <a:ext cx="2423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 21% / 10,5% / 27%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" y="2724912"/>
            <a:ext cx="8083296" cy="429768"/>
          </a:xfrm>
          <a:prstGeom prst="roundRect">
            <a:avLst>
              <a:gd name="adj" fmla="val 1914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3232" y="2724912"/>
            <a:ext cx="2194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154680" y="2724912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Incluido en la cuota fija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80760" y="2724912"/>
            <a:ext cx="2423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DDJJ anual + anticipos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3232" y="3209544"/>
            <a:ext cx="2194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Aportes jubilatorios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3154680" y="3209544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Incluidos en la cuota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080760" y="3209544"/>
            <a:ext cx="2423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Régimen de Autónomos, aparte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03504" y="3694176"/>
            <a:ext cx="8083296" cy="429768"/>
          </a:xfrm>
          <a:prstGeom prst="roundRect">
            <a:avLst>
              <a:gd name="adj" fmla="val 1914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3694176"/>
            <a:ext cx="2194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factura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3154680" y="3694176"/>
            <a:ext cx="2468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080760" y="3694176"/>
            <a:ext cx="2423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 B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03504" y="4261104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41248" y="4334256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OJO CON LAS FECHAS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41248" y="4526280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recategorización del Monotributo es obligatoria en febrero y en agosto, aunque no cambie la categoría. Si no se hace, ARCA recategoriza de oficio.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factura corresponde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tipo de comprobante depende de la condición fiscal del emisor y del receptor.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1463040" cy="2606040"/>
          </a:xfrm>
          <a:prstGeom prst="roundRect">
            <a:avLst>
              <a:gd name="adj" fmla="val 5625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0704" y="1371600"/>
            <a:ext cx="54864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60704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048256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94944" y="22311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Resp. Inscripto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13232" y="2670048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94944" y="2852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Resp. Inscripto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94944" y="334670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discriminado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40280" y="1188720"/>
            <a:ext cx="1463040" cy="2606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1371600"/>
            <a:ext cx="54864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6974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2350008" y="2048256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331720" y="22311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Resp. Inscripto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350008" y="2670048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331720" y="2852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Cons. final o Monotributista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331720" y="334670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incluido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877056" y="1188720"/>
            <a:ext cx="1463040" cy="2606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34256" y="1371600"/>
            <a:ext cx="54864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334256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3986784" y="2048256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3968496" y="22311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Monotributista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3986784" y="2670048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3968496" y="2852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Cualquiera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968496" y="334670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discrimina IVA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513832" y="1188720"/>
            <a:ext cx="1463040" cy="2606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971032" y="1371600"/>
            <a:ext cx="54864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71032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600" dirty="0"/>
          </a:p>
        </p:txBody>
      </p:sp>
      <p:sp>
        <p:nvSpPr>
          <p:cNvPr id="34" name="Text 31"/>
          <p:cNvSpPr/>
          <p:nvPr/>
        </p:nvSpPr>
        <p:spPr>
          <a:xfrm>
            <a:off x="5623560" y="2048256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605272" y="22311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Exportador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623560" y="2670048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605272" y="2852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del exterior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5605272" y="334670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aplica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150608" y="1188720"/>
            <a:ext cx="1463040" cy="2606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607808" y="1371600"/>
            <a:ext cx="54864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607808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600" dirty="0"/>
          </a:p>
        </p:txBody>
      </p:sp>
      <p:sp>
        <p:nvSpPr>
          <p:cNvPr id="42" name="Text 39"/>
          <p:cNvSpPr/>
          <p:nvPr/>
        </p:nvSpPr>
        <p:spPr>
          <a:xfrm>
            <a:off x="7260336" y="2048256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7242048" y="22311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solvencia verificada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7260336" y="2670048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7242048" y="2852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Resp. Inscripto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242048" y="334670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i="1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+ retención extra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603504" y="4005072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E74B3C"/>
          </a:solidFill>
          <a:ln w="12700">
            <a:solidFill>
              <a:srgbClr val="E74B3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41248" y="4078224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 DE ALERTA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841248" y="4270248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tipo de factura no coincide con la condición fiscal del emisor, algo está mal: hay que frenar y revisar la constancia antes de pagar.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CAE: sin eso, no se paga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de Autorización Electrónico — es lo que le da validez fiscal a la factura.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2834640" cy="3246120"/>
          </a:xfrm>
          <a:prstGeom prst="roundRect">
            <a:avLst>
              <a:gd name="adj" fmla="val 2903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3716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41248" y="178308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número único que ARCA le asigna a cada comprobante al validarlo. Toda la facturación es electrónica: ya no existe el talonario impreso como opción habitual.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CAE, o con el CAE vencido, el comprobante no tiene respaldo ante el fisco.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1248" y="3566160"/>
            <a:ext cx="2377440" cy="658368"/>
          </a:xfrm>
          <a:prstGeom prst="roundRect">
            <a:avLst>
              <a:gd name="adj" fmla="val 12500"/>
            </a:avLst>
          </a:prstGeom>
          <a:solidFill>
            <a:srgbClr val="0A5296"/>
          </a:solidFill>
          <a:ln w="12700">
            <a:solidFill>
              <a:srgbClr val="0A529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552" y="356616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pagás sin CAE válido, ARCA puede impugnar el gasto en IVA y Ganancias.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666744" y="118872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validar el CAE de una factura recibida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666744" y="1700784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66744" y="1700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169664" y="1664208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Ubicar el CAE y su fecha de vencimiento, al pie del comprobante.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666744" y="2267712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6674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169664" y="2231136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a arca.gob.ar → Comprobantes en línea.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66744" y="2834640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66744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169664" y="2798064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Cargar el CUIT del emisor y el tipo y número de comprobante.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3666744" y="3401568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66744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169664" y="336499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que el CAE informado coincida con el de la factura.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666744" y="3968496"/>
            <a:ext cx="365760" cy="365760"/>
          </a:xfrm>
          <a:prstGeom prst="roundRect">
            <a:avLst>
              <a:gd name="adj" fmla="val 125000"/>
            </a:avLst>
          </a:prstGeom>
          <a:solidFill>
            <a:srgbClr val="E74B3C"/>
          </a:solidFill>
          <a:ln w="12700">
            <a:solidFill>
              <a:srgbClr val="E74B3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666744" y="3968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169664" y="3931920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coincide o no existe: no pagar y avisar al proveedor.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y Ganancias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impuestos nacionales que atraviesan toda la operación.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3950208" cy="3246120"/>
          </a:xfrm>
          <a:prstGeom prst="roundRect">
            <a:avLst>
              <a:gd name="adj" fmla="val 2535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9536" y="1371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59536" y="1755648"/>
            <a:ext cx="3438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Indirecto: lo paga el consumidor final dentro del precio, pero cada eslabón lo liquida ante ARCA. Declaración jurada mensual.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9536" y="2377440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859536" y="27980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Alícuota general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039112" y="2377440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10,5%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2039112" y="27980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Construcción, transporte, prepagas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18688" y="2377440"/>
            <a:ext cx="1133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27%</a:t>
            </a:r>
            <a:endParaRPr lang="en-US" sz="2300" dirty="0"/>
          </a:p>
        </p:txBody>
      </p:sp>
      <p:sp>
        <p:nvSpPr>
          <p:cNvPr id="15" name="Text 12"/>
          <p:cNvSpPr/>
          <p:nvPr/>
        </p:nvSpPr>
        <p:spPr>
          <a:xfrm>
            <a:off x="3218688" y="27980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Luz, gas y teléfono comerciales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59536" y="3456432"/>
            <a:ext cx="3438144" cy="768096"/>
          </a:xfrm>
          <a:prstGeom prst="roundRect">
            <a:avLst>
              <a:gd name="adj" fmla="val 10714"/>
            </a:avLst>
          </a:prstGeom>
          <a:solidFill>
            <a:srgbClr val="0A5296"/>
          </a:solidFill>
          <a:ln w="12700">
            <a:solidFill>
              <a:srgbClr val="0A529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3456432"/>
            <a:ext cx="3108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fiscal es el IVA que pagaste en tus compras; débito fiscal, el que cobraste en tus ventas. Se liquida la diferencia.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736592" y="1188720"/>
            <a:ext cx="3950208" cy="3246120"/>
          </a:xfrm>
          <a:prstGeom prst="roundRect">
            <a:avLst>
              <a:gd name="adj" fmla="val 253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92624" y="1371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992624" y="1755648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0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 la renta de personas y empresas. Declaración jurada anual, con anticipos durante el año.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992624" y="23042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relación de dependencia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992624" y="25420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0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empleador retiene del sueldo cuando supera el mínimo no imponible vigente.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4992624" y="301752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sociedades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992624" y="325526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0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 la utilidad fiscal, con alícuotas escalonadas según la ganancia y si se reinvierte (Ley 27.630).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992624" y="37307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Bienes Personales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992624" y="396849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0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Impuesto anual al patrimonio al 31/12: inmuebles, vehículos, inversiones y participaciones societarias.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 Brutos: el que más duele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Provincial, mensual y calculado sobre lo facturado — exista o no ganancia.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3950208" cy="2103120"/>
          </a:xfrm>
          <a:prstGeom prst="roundRect">
            <a:avLst>
              <a:gd name="adj" fmla="val 3913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9536" y="1371600"/>
            <a:ext cx="3438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paga sobre la facturación, no sobre la rentabilidad.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59536" y="2212848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provincia fija su propia alícuota según el rubro: la de real estate no es la misma que la de venta de herramientas o marketing. Se liquida mensualmente ante ARBA, AGIP u otra provincia.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36592" y="1188720"/>
            <a:ext cx="3950208" cy="2103120"/>
          </a:xfrm>
          <a:prstGeom prst="roundRect">
            <a:avLst>
              <a:gd name="adj" fmla="val 3913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92624" y="1371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Convenio Multilateral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992624" y="1773936"/>
            <a:ext cx="3438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0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inmobiliaria factura en CABA y en PBA, no paga Ingresos Brutos completo en cada jurisdicción por el mismo ingreso: el Convenio reparte la base imponible entre ambas.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992624" y="2615184"/>
            <a:ext cx="3438144" cy="548640"/>
          </a:xfrm>
          <a:prstGeom prst="roundRect">
            <a:avLst>
              <a:gd name="adj" fmla="val 15000"/>
            </a:avLst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138928" y="2615184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única DDJJ mensual (SIFERE) + el CM05 anual al cierre del ejercicio.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3504" y="3456432"/>
            <a:ext cx="3950208" cy="1005840"/>
          </a:xfrm>
          <a:prstGeom prst="roundRect">
            <a:avLst>
              <a:gd name="adj" fmla="val 81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5661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Retención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2340864" y="35661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80" kern="0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COBRA QUIEN PAGA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22960" y="3840480"/>
            <a:ext cx="3529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Descuenta un porcentaje de la factura del proveedor y lo deposita al fisco a cuenta de ese proveedor, que recibe un certificado.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736592" y="3456432"/>
            <a:ext cx="3950208" cy="1005840"/>
          </a:xfrm>
          <a:prstGeom prst="roundRect">
            <a:avLst>
              <a:gd name="adj" fmla="val 81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56048" y="35661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Percepción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473952" y="35661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80" kern="0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COBRA QUIEN VENDE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956048" y="3840480"/>
            <a:ext cx="3529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un importe por encima del precio y lo deposita al fisco a cuenta de las obligaciones futuras del comprador.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Sellos: el impuesto de la firma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Impuesto provincial sobre la instrumentación de actos y contratos.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3200400" cy="3246120"/>
          </a:xfrm>
          <a:prstGeom prst="roundRect">
            <a:avLst>
              <a:gd name="adj" fmla="val 2571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9536" y="14173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paga una sola vez, al firmar, sobre el valor total del acto.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59536" y="251460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Alcanza alquileres, boletos de compraventa y contratos comerciales o societarios.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diferencia de Ingresos Brutos, que se liquida mes a mes, Sellos es un pago único al momento de la firma.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05072" y="1188720"/>
            <a:ext cx="4681728" cy="731520"/>
          </a:xfrm>
          <a:prstGeom prst="roundRect">
            <a:avLst>
              <a:gd name="adj" fmla="val 112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1389888"/>
            <a:ext cx="329184" cy="329184"/>
          </a:xfrm>
          <a:prstGeom prst="roundRect">
            <a:avLst>
              <a:gd name="adj" fmla="val 138889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06240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663440" y="128016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es el valor total del acto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663440" y="1527048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 alquiler, la suma de todos los meses del contrato — no un mes suelto.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005072" y="2029968"/>
            <a:ext cx="4681728" cy="731520"/>
          </a:xfrm>
          <a:prstGeom prst="roundRect">
            <a:avLst>
              <a:gd name="adj" fmla="val 112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6240" y="2231136"/>
            <a:ext cx="329184" cy="329184"/>
          </a:xfrm>
          <a:prstGeom prst="roundRect">
            <a:avLst>
              <a:gd name="adj" fmla="val 138889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06240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663440" y="2121408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Impacta la rentabilidad neta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663440" y="2368296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Sellos es un costo de la operación: hay que sumarlo al cálculo, no mirar solo la comisión.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005072" y="2871216"/>
            <a:ext cx="4681728" cy="731520"/>
          </a:xfrm>
          <a:prstGeom prst="roundRect">
            <a:avLst>
              <a:gd name="adj" fmla="val 112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06240" y="3072384"/>
            <a:ext cx="329184" cy="329184"/>
          </a:xfrm>
          <a:prstGeom prst="roundRect">
            <a:avLst>
              <a:gd name="adj" fmla="val 138889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20624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663440" y="2962656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sellado da fecha cierta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663440" y="3209544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sellar, el contrato pierde fuerza probatoria ante el fisco y ante la contraparte.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005072" y="3712464"/>
            <a:ext cx="4681728" cy="731520"/>
          </a:xfrm>
          <a:prstGeom prst="roundRect">
            <a:avLst>
              <a:gd name="adj" fmla="val 112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6240" y="3913632"/>
            <a:ext cx="329184" cy="329184"/>
          </a:xfrm>
          <a:prstGeom prst="roundRect">
            <a:avLst>
              <a:gd name="adj" fmla="val 138889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06240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663440" y="3803904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coordina antes de firmar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4663440" y="4050792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Conviene resolver el trámite ante ARBA o AGIP para no atrasar la firma.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impuestos del inmueble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paga el propietario — y lo que hay que saber leer para tasar y asesorar.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1883664" cy="2606040"/>
          </a:xfrm>
          <a:prstGeom prst="roundRect">
            <a:avLst>
              <a:gd name="adj" fmla="val 4369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35331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Impuesto Inmobiliario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4672" y="193852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ARBA (PBA)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04672" y="2231136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AE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la titularidad del inmueble, calculado sobre la valuación fiscal. Vencimientos bimestrales o trimestrales. En CABA no existe por separado: va dentro del ABL.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670048" y="1188720"/>
            <a:ext cx="1883664" cy="2606040"/>
          </a:xfrm>
          <a:prstGeom prst="roundRect">
            <a:avLst>
              <a:gd name="adj" fmla="val 4369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71216" y="135331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 / TSU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2871216" y="193852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AGIP · MUNICIPIO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871216" y="2231136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AE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Alumbrado, Barrido y Limpieza en CABA; fuera, cada municipio tiene su Tasa de Servicios Urbanos. Retribuye servicios urbanos sobre el inmueble.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736592" y="1188720"/>
            <a:ext cx="1883664" cy="2606040"/>
          </a:xfrm>
          <a:prstGeom prst="roundRect">
            <a:avLst>
              <a:gd name="adj" fmla="val 4369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7760" y="135331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Patentes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937760" y="193852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ARBA · AGIP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937760" y="2231136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AE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la titularidad de un vehículo, según valuación fiscal por marca, modelo y año. En PBA se cobra habitualmente en cinco cuotas anuales.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03136" y="1188720"/>
            <a:ext cx="1883664" cy="2606040"/>
          </a:xfrm>
          <a:prstGeom prst="roundRect">
            <a:avLst>
              <a:gd name="adj" fmla="val 4369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04304" y="1353312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e Higiene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004304" y="193852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C9D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MUNICIPIO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004304" y="2231136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AE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municipal por desarrollar actividad comercial en un local. Base variable: ingresos, superficie o ambas. Va de la mano de la habilitación.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03504" y="4005072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1248" y="4078224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IMPUESTO NO ES LO MISMO QUE TASA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41248" y="4270248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impuesto no tiene contraprestación directa (Ganancias, IVA). La tasa siempre retribuye un servicio concreto: alumbrado, inspecciones, habilitación.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tmp/claude-0/-home-user-KrakRealEstate/26f90231-47e0-5521-93d0-854de4e1add2/scratchpad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 de todos los días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verificar antes de pagar, y qué errores salen más caros.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3950208" cy="475488"/>
          </a:xfrm>
          <a:prstGeom prst="roundRect">
            <a:avLst>
              <a:gd name="adj" fmla="val 17308"/>
            </a:avLst>
          </a:prstGeom>
          <a:solidFill>
            <a:srgbClr val="26AE60"/>
          </a:solidFill>
          <a:ln w="12700">
            <a:solidFill>
              <a:srgbClr val="26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18872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 — CONTROLAR SIEMPRE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36592" y="1188720"/>
            <a:ext cx="3950208" cy="475488"/>
          </a:xfrm>
          <a:prstGeom prst="roundRect">
            <a:avLst>
              <a:gd name="adj" fmla="val 17308"/>
            </a:avLst>
          </a:prstGeom>
          <a:solidFill>
            <a:srgbClr val="E74B3C"/>
          </a:solidFill>
          <a:ln w="12700">
            <a:solidFill>
              <a:srgbClr val="E74B3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10912" y="118872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ERRORES QUE SALEN CAROS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3504" y="1828800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26AE60"/>
          </a:solidFill>
          <a:ln w="12700">
            <a:solidFill>
              <a:srgbClr val="26AE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3504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42416" y="1810512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el CUIT esté activo y no dado de baja.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3504" y="2340864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26AE60"/>
          </a:solidFill>
          <a:ln w="12700">
            <a:solidFill>
              <a:srgbClr val="26AE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3504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42416" y="2322576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condición de IVA de la constancia coincida con el tipo de factura.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3504" y="2852928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26AE60"/>
          </a:solidFill>
          <a:ln w="12700">
            <a:solidFill>
              <a:srgbClr val="26AE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03504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042416" y="2834640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el comprobante tenga CAE vigente.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03504" y="3364992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26AE60"/>
          </a:solidFill>
          <a:ln w="12700">
            <a:solidFill>
              <a:srgbClr val="26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3504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42416" y="3346704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el CBU esté a nombre del mismo CUIT que factura.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03504" y="3877056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26AE60"/>
          </a:solidFill>
          <a:ln w="12700">
            <a:solidFill>
              <a:srgbClr val="26AE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3504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42416" y="385876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el contrato de alquiler esté sellado antes de firmar.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736592" y="1828800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E74B3C"/>
          </a:solidFill>
          <a:ln w="12700">
            <a:solidFill>
              <a:srgbClr val="E74B3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36592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175504" y="1810512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Pagar una factura sin verificar el CAE.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36592" y="2340864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E74B3C"/>
          </a:solidFill>
          <a:ln w="12700">
            <a:solidFill>
              <a:srgbClr val="E74B3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36592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175504" y="2322576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presentar la DDJJ por no tener actividad en el período.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736592" y="2852928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E74B3C"/>
          </a:solidFill>
          <a:ln w="12700">
            <a:solidFill>
              <a:srgbClr val="E74B3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36592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175504" y="2834640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recategorizar el Monotributo en febrero y agosto.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736592" y="3364992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E74B3C"/>
          </a:solidFill>
          <a:ln w="12700">
            <a:solidFill>
              <a:srgbClr val="E74B3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36592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175504" y="3346704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 con un proveedor de alto riesgo fiscal.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736592" y="3877056"/>
            <a:ext cx="310896" cy="310896"/>
          </a:xfrm>
          <a:prstGeom prst="roundRect">
            <a:avLst>
              <a:gd name="adj" fmla="val 147059"/>
            </a:avLst>
          </a:prstGeom>
          <a:solidFill>
            <a:srgbClr val="E74B3C"/>
          </a:solidFill>
          <a:ln w="12700">
            <a:solidFill>
              <a:srgbClr val="E74B3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736592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175504" y="385876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 un contrato de alquiler sin sellar.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603504" y="4352544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41248" y="4425696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DAR DE ALTA A UN PROVEEDOR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841248" y="4617720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Constancia de inscripción actualizada, CBU a nombre del mismo CUIT, condición frente al IVA y certificado de ART vigente si tiene personal a cargo.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KrakRealEstate/26f90231-47e0-5521-93d0-854de4e1add2/scratchpad/brand/logo_st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11480"/>
            <a:ext cx="859536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9808" y="1874520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Muchas gracias.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777240" y="26060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 la duda: preguntar antes de pagar, nunca después.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42245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Capacitaciones Krak Real Estate · 2026 · Material de consulta: Manual de Impuestos para Administrativos en Argentina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Impuestos para Agentes Inmobiliarios</dc:title>
  <dc:subject>PptxGenJS Presentation</dc:subject>
  <dc:creator>Krak Real Estate</dc:creator>
  <cp:lastModifiedBy>Krak Real Estate</cp:lastModifiedBy>
  <cp:revision>1</cp:revision>
  <dcterms:created xsi:type="dcterms:W3CDTF">2026-08-17T13:51:20Z</dcterms:created>
  <dcterms:modified xsi:type="dcterms:W3CDTF">2026-08-17T13:51:20Z</dcterms:modified>
</cp:coreProperties>
</file>