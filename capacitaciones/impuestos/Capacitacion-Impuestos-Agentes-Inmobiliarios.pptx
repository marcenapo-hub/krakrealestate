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capacitación. Objetivo: que el equipo identifique rápido qué impuesto aparece en cada operación, quién lo cobra y qué hay que controlar antes de pagar o cobrar. No busca convertir a nadie en contador. Base: Manual de Impuestos para Administrativos en Argentina, edición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no hay un único fisco. Nación, provincia y municipio tienen potestad tributaria propia y no se piden permiso entre sí. Antes de cerrar una operación, preguntarse siempre: ¿dónde está el inmueble? ¿dónde se presta el servicio? Eso define qué organismos intervienen y qué vencimientos hay que mirar.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CUIT y la Clave Fiscal son la puerta de entrada. El Domicilio Fiscal Electrónico es el que más problemas genera: se asume que si no llegó un mail no hay notificación, y no es así — la notificación es válida desde que se deposita en el buzón. La constancia de inscripción es la herramienta de control del día a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todos los contratistas y proveedores chicos con los que trabajamos son monotributistas: pintores, fotógrafos, service, fletes. Conviene tener a mano su categoría vigente. Si un monotributista factura por encima del tope de su categoría, hay que avisarle: puede quedar excluido de oficio del régimen, con efecto retroactivo.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práctica es siempre la misma: ¿quién emite y quién recibe? Como Responsable Inscripto, la inmobiliaria factura A a empresas y B a consumidores finales. Un monotributista siempre emite C, incluso a una empresa grande: el comprador simplemente no computa crédito fiscal de IVA. La M es poco frecuente y es señal de que ARCA no le reconoce solvencia al emisor.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control más concreto del día a día: toma dos minutos y evita el problema más caro de la lista. Complemento del tema: las notas de crédito anulan o reducen una factura ya emitida (devolución, descuento, corrección) y las notas de débito la aumentan (intereses por mora, gastos adicionales). Ambas necesitan su propio CAE y deben referenciar la factura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del IVA es entender que no es un costo para la empresa, porque se descuenta: es un costo para el consumidor final. Ganancias y Bienes Personales son anuales y los liquida el estudio contable; lo que nos toca es tener la documentación ordenada. Caso típico del rubro: un cliente argentino que compra un departamento en el exterior tributa allá, pero acá puede impactarle Bienes Personales si es residente fiscal argentino.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Ganancias no es una alícuota única, y esa es la confusión más común. En sociedades son tres tramos (25%, 30% y 35%) que se aplican solo sobre el excedente de cada uno, más un 7% si la utilidad se distribuye como dividendo; si se reinvierte, ese 7% no se paga. En personas humanas es una escala de nueve tramos del 5% al 35%. Lo más útil para el equipo es el tercer bloque: al vender un inmueble, la fecha de compra define todo. Si se compró hasta el 31/12/2017 hoy no se paga nada: el ITI, que era el 1,5% sobre el precio de venta, fue derogado por el artículo 67 de la Ley 27.743 en julio de 2024, y el escribano ya no retiene por ese concepto. Si se compró desde el 1/1/2018 corresponde el impuesto cedular del 15%, pero sobre la ganancia real, no sobre el precio. Y la casa-habitación —vivienda única de residencia permanente— está exenta del cedular. Los montos de los tramos en pesos se actualizan por IPC todos los años, así que nunca hay que citarlos de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IIBB es el impuesto que más impacta el margen del negocio inmobiliario, porque se calcula sobre la comisión bruta y no sobre lo que queda. Al presupuestar hay que netear IIBB antes de calcular el margen real. Y sí: se paga aunque el período cierre en pérdida. Sobre retenciones: para retener hay que estar designado agente de retención por el organismo, no se le retiene a cualquiera.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Sellos es el impuesto más propio del negocio inmobiliario y el que más se olvida al presupuestar una operación. Regla de oro del manual: siempre pedir el contrato de alquiler sellado. Sin sellado no hay fecha cierta y, ante un conflicto o una inspección, el contrato pierde valor probatorio frente al fisco y frente a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agente esto sirve en dos momentos: al tasar, porque la valuación fiscal y las boletas dicen mucho del inmueble; y al asesorar sobre qué gastos corren por cuenta del propietario y cuáles del inquilino. Para leer cualquier boleta —ARBA, AGIP o municipal— buscar siempre lo mismo: qué impuesto es, número de partida o padrón, período, importe y fecha de vencimiento.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operativo de la capacitación: estos controles son el 90% del trabajo diario. Recordar además qué hacer ante una fiscalización: verificar la notificación en el Domicilio Fiscal Electrónico, identificar qué período y qué impuesto revisan, reunir la documentación y avisar al estudio contable ANTES de entregar o responder nada. Nunca entregar documentación a un inspector sin que el contador esté al tanto.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manual completo —40 puntos, glosario, preguntas frecuentes y modelos de mensajes para proveedores— queda disponible como material de consulta. Es un documento vivo: cuando cambie una normativa relevante o aparezca un caso nuevo, se actualiza.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impuestos/brand/logo_white.png">    </p:cNvPr>
          <p:cNvPicPr>
            <a:picLocks noChangeAspect="1"/>
          </p:cNvPicPr>
          <p:nvPr/>
        </p:nvPicPr>
        <p:blipFill>
          <a:blip r:embed="rId2"/>
          <a:stretch>
            <a:fillRect/>
          </a:stretch>
        </p:blipFill>
        <p:spPr>
          <a:xfrm>
            <a:off x="658368" y="777240"/>
            <a:ext cx="1847088" cy="821131"/>
          </a:xfrm>
          <a:prstGeom prst="rect">
            <a:avLst/>
          </a:prstGeom>
        </p:spPr>
      </p:pic>
      <p:sp>
        <p:nvSpPr>
          <p:cNvPr id="3" name="Text 0"/>
          <p:cNvSpPr/>
          <p:nvPr/>
        </p:nvSpPr>
        <p:spPr>
          <a:xfrm>
            <a:off x="658368" y="2121408"/>
            <a:ext cx="6858000" cy="310896"/>
          </a:xfrm>
          <a:prstGeom prst="rect">
            <a:avLst/>
          </a:prstGeom>
          <a:noFill/>
          <a:ln/>
        </p:spPr>
        <p:txBody>
          <a:bodyPr wrap="square" lIns="0" tIns="0" rIns="0" bIns="0" rtlCol="0" anchor="ctr"/>
          <a:lstStyle/>
          <a:p>
            <a:pPr indent="0" marL="0">
              <a:buNone/>
            </a:pPr>
            <a:r>
              <a:rPr lang="en-US" sz="1500" dirty="0">
                <a:solidFill>
                  <a:srgbClr val="FFFFFF"/>
                </a:solidFill>
                <a:latin typeface="Inter" pitchFamily="34" charset="0"/>
                <a:ea typeface="Inter" pitchFamily="34" charset="-122"/>
                <a:cs typeface="Inter" pitchFamily="34" charset="-120"/>
              </a:rPr>
              <a:t>Capacitaciones Krak Real Estate</a:t>
            </a:r>
            <a:endParaRPr lang="en-US" sz="1500" dirty="0"/>
          </a:p>
        </p:txBody>
      </p:sp>
      <p:sp>
        <p:nvSpPr>
          <p:cNvPr id="4" name="Text 1"/>
          <p:cNvSpPr/>
          <p:nvPr/>
        </p:nvSpPr>
        <p:spPr>
          <a:xfrm>
            <a:off x="640080" y="2487168"/>
            <a:ext cx="795528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Inter" pitchFamily="34" charset="0"/>
                <a:ea typeface="Inter" pitchFamily="34" charset="-122"/>
                <a:cs typeface="Inter" pitchFamily="34" charset="-120"/>
              </a:rPr>
              <a:t>Impuestos para Agentes Inmobiliarios</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sistema tributario argentino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Argentina es federal: tres niveles cobran, cada uno con su organismo y su calendario.</a:t>
            </a:r>
            <a:endParaRPr lang="en-US" sz="1200" dirty="0"/>
          </a:p>
        </p:txBody>
      </p:sp>
      <p:sp>
        <p:nvSpPr>
          <p:cNvPr id="7" name="Shape 4"/>
          <p:cNvSpPr/>
          <p:nvPr/>
        </p:nvSpPr>
        <p:spPr>
          <a:xfrm>
            <a:off x="603504" y="1188720"/>
            <a:ext cx="2542032" cy="2606040"/>
          </a:xfrm>
          <a:prstGeom prst="roundRect">
            <a:avLst>
              <a:gd name="adj" fmla="val 3237"/>
            </a:avLst>
          </a:prstGeom>
          <a:solidFill>
            <a:srgbClr val="08407C"/>
          </a:solidFill>
          <a:ln w="12700">
            <a:solidFill>
              <a:srgbClr val="08407C"/>
            </a:solidFill>
            <a:prstDash val="solid"/>
          </a:ln>
        </p:spPr>
      </p:sp>
      <p:sp>
        <p:nvSpPr>
          <p:cNvPr id="8" name="Text 5"/>
          <p:cNvSpPr/>
          <p:nvPr/>
        </p:nvSpPr>
        <p:spPr>
          <a:xfrm>
            <a:off x="822960" y="1335024"/>
            <a:ext cx="2103120" cy="219456"/>
          </a:xfrm>
          <a:prstGeom prst="rect">
            <a:avLst/>
          </a:prstGeom>
          <a:noFill/>
          <a:ln/>
        </p:spPr>
        <p:txBody>
          <a:bodyPr wrap="square" lIns="0" tIns="0" rIns="0" bIns="0" rtlCol="0" anchor="ctr"/>
          <a:lstStyle/>
          <a:p>
            <a:pPr indent="0" marL="0">
              <a:buNone/>
            </a:pPr>
            <a:r>
              <a:rPr lang="en-US" sz="950" b="1" spc="120" kern="0" dirty="0">
                <a:solidFill>
                  <a:srgbClr val="FFFFFF"/>
                </a:solidFill>
                <a:latin typeface="Inter" pitchFamily="34" charset="0"/>
                <a:ea typeface="Inter" pitchFamily="34" charset="-122"/>
                <a:cs typeface="Inter" pitchFamily="34" charset="-120"/>
              </a:rPr>
              <a:t>NACIÓN</a:t>
            </a:r>
            <a:endParaRPr lang="en-US" sz="950" dirty="0"/>
          </a:p>
        </p:txBody>
      </p:sp>
      <p:sp>
        <p:nvSpPr>
          <p:cNvPr id="9" name="Text 6"/>
          <p:cNvSpPr/>
          <p:nvPr/>
        </p:nvSpPr>
        <p:spPr>
          <a:xfrm>
            <a:off x="822960" y="1572768"/>
            <a:ext cx="2121408" cy="310896"/>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ARCA (ex AFIP)</a:t>
            </a:r>
            <a:endParaRPr lang="en-US" sz="1600" dirty="0"/>
          </a:p>
        </p:txBody>
      </p:sp>
      <p:sp>
        <p:nvSpPr>
          <p:cNvPr id="10" name="Text 7"/>
          <p:cNvSpPr/>
          <p:nvPr/>
        </p:nvSpPr>
        <p:spPr>
          <a:xfrm>
            <a:off x="859536" y="2011680"/>
            <a:ext cx="2084832" cy="1234440"/>
          </a:xfrm>
          <a:prstGeom prst="rect">
            <a:avLst/>
          </a:prstGeom>
          <a:noFill/>
          <a:ln/>
        </p:spPr>
        <p:txBody>
          <a:bodyPr wrap="square" lIns="0" tIns="0" rIns="0" bIns="0" rtlCol="0" anchor="ctr"/>
          <a:lstStyle/>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IVA</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Ganancias</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Bienes Personales</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Monotributo y Autónomos</a:t>
            </a:r>
            <a:endParaRPr lang="en-US" sz="1100" dirty="0"/>
          </a:p>
        </p:txBody>
      </p:sp>
      <p:sp>
        <p:nvSpPr>
          <p:cNvPr id="11" name="Text 8"/>
          <p:cNvSpPr/>
          <p:nvPr/>
        </p:nvSpPr>
        <p:spPr>
          <a:xfrm>
            <a:off x="822960" y="3401568"/>
            <a:ext cx="2121408" cy="256032"/>
          </a:xfrm>
          <a:prstGeom prst="rect">
            <a:avLst/>
          </a:prstGeom>
          <a:noFill/>
          <a:ln/>
        </p:spPr>
        <p:txBody>
          <a:bodyPr wrap="square" lIns="0" tIns="0" rIns="0" bIns="0" rtlCol="0" anchor="ctr"/>
          <a:lstStyle/>
          <a:p>
            <a:pPr indent="0" marL="0">
              <a:buNone/>
            </a:pPr>
            <a:r>
              <a:rPr lang="en-US" sz="950" i="1" dirty="0">
                <a:solidFill>
                  <a:srgbClr val="D9E2EE"/>
                </a:solidFill>
                <a:latin typeface="Inter" pitchFamily="34" charset="0"/>
                <a:ea typeface="Inter" pitchFamily="34" charset="-122"/>
                <a:cs typeface="Inter" pitchFamily="34" charset="-120"/>
              </a:rPr>
              <a:t>arca.gob.ar</a:t>
            </a:r>
            <a:endParaRPr lang="en-US" sz="950" dirty="0"/>
          </a:p>
        </p:txBody>
      </p:sp>
      <p:sp>
        <p:nvSpPr>
          <p:cNvPr id="12" name="Shape 9"/>
          <p:cNvSpPr/>
          <p:nvPr/>
        </p:nvSpPr>
        <p:spPr>
          <a:xfrm>
            <a:off x="3374136" y="1188720"/>
            <a:ext cx="2542032" cy="2606040"/>
          </a:xfrm>
          <a:prstGeom prst="roundRect">
            <a:avLst>
              <a:gd name="adj" fmla="val 3237"/>
            </a:avLst>
          </a:prstGeom>
          <a:solidFill>
            <a:srgbClr val="7C8594"/>
          </a:solidFill>
          <a:ln w="12700">
            <a:solidFill>
              <a:srgbClr val="7C8594"/>
            </a:solidFill>
            <a:prstDash val="solid"/>
          </a:ln>
        </p:spPr>
      </p:sp>
      <p:sp>
        <p:nvSpPr>
          <p:cNvPr id="13" name="Text 10"/>
          <p:cNvSpPr/>
          <p:nvPr/>
        </p:nvSpPr>
        <p:spPr>
          <a:xfrm>
            <a:off x="3593592" y="1335024"/>
            <a:ext cx="2103120" cy="219456"/>
          </a:xfrm>
          <a:prstGeom prst="rect">
            <a:avLst/>
          </a:prstGeom>
          <a:noFill/>
          <a:ln/>
        </p:spPr>
        <p:txBody>
          <a:bodyPr wrap="square" lIns="0" tIns="0" rIns="0" bIns="0" rtlCol="0" anchor="ctr"/>
          <a:lstStyle/>
          <a:p>
            <a:pPr indent="0" marL="0">
              <a:buNone/>
            </a:pPr>
            <a:r>
              <a:rPr lang="en-US" sz="950" b="1" spc="120" kern="0" dirty="0">
                <a:solidFill>
                  <a:srgbClr val="FFFFFF"/>
                </a:solidFill>
                <a:latin typeface="Inter" pitchFamily="34" charset="0"/>
                <a:ea typeface="Inter" pitchFamily="34" charset="-122"/>
                <a:cs typeface="Inter" pitchFamily="34" charset="-120"/>
              </a:rPr>
              <a:t>PROVINCIA / CABA</a:t>
            </a:r>
            <a:endParaRPr lang="en-US" sz="950" dirty="0"/>
          </a:p>
        </p:txBody>
      </p:sp>
      <p:sp>
        <p:nvSpPr>
          <p:cNvPr id="14" name="Text 11"/>
          <p:cNvSpPr/>
          <p:nvPr/>
        </p:nvSpPr>
        <p:spPr>
          <a:xfrm>
            <a:off x="3593592" y="1572768"/>
            <a:ext cx="2121408" cy="310896"/>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ARBA · AGIP</a:t>
            </a:r>
            <a:endParaRPr lang="en-US" sz="1600" dirty="0"/>
          </a:p>
        </p:txBody>
      </p:sp>
      <p:sp>
        <p:nvSpPr>
          <p:cNvPr id="15" name="Text 12"/>
          <p:cNvSpPr/>
          <p:nvPr/>
        </p:nvSpPr>
        <p:spPr>
          <a:xfrm>
            <a:off x="3630168" y="2011680"/>
            <a:ext cx="2084832" cy="1234440"/>
          </a:xfrm>
          <a:prstGeom prst="rect">
            <a:avLst/>
          </a:prstGeom>
          <a:noFill/>
          <a:ln/>
        </p:spPr>
        <p:txBody>
          <a:bodyPr wrap="square" lIns="0" tIns="0" rIns="0" bIns="0" rtlCol="0" anchor="ctr"/>
          <a:lstStyle/>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Ingresos Brutos</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Sellos</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Impuesto Inmobiliario</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Patentes · ABL en CABA</a:t>
            </a:r>
            <a:endParaRPr lang="en-US" sz="1100" dirty="0"/>
          </a:p>
        </p:txBody>
      </p:sp>
      <p:sp>
        <p:nvSpPr>
          <p:cNvPr id="16" name="Text 13"/>
          <p:cNvSpPr/>
          <p:nvPr/>
        </p:nvSpPr>
        <p:spPr>
          <a:xfrm>
            <a:off x="3593592" y="3401568"/>
            <a:ext cx="2121408" cy="256032"/>
          </a:xfrm>
          <a:prstGeom prst="rect">
            <a:avLst/>
          </a:prstGeom>
          <a:noFill/>
          <a:ln/>
        </p:spPr>
        <p:txBody>
          <a:bodyPr wrap="square" lIns="0" tIns="0" rIns="0" bIns="0" rtlCol="0" anchor="ctr"/>
          <a:lstStyle/>
          <a:p>
            <a:pPr indent="0" marL="0">
              <a:buNone/>
            </a:pPr>
            <a:r>
              <a:rPr lang="en-US" sz="950" i="1" dirty="0">
                <a:solidFill>
                  <a:srgbClr val="D9E2EE"/>
                </a:solidFill>
                <a:latin typeface="Inter" pitchFamily="34" charset="0"/>
                <a:ea typeface="Inter" pitchFamily="34" charset="-122"/>
                <a:cs typeface="Inter" pitchFamily="34" charset="-120"/>
              </a:rPr>
              <a:t>arba.gob.ar · agip.gob.ar</a:t>
            </a:r>
            <a:endParaRPr lang="en-US" sz="950" dirty="0"/>
          </a:p>
        </p:txBody>
      </p:sp>
      <p:sp>
        <p:nvSpPr>
          <p:cNvPr id="17" name="Shape 14"/>
          <p:cNvSpPr/>
          <p:nvPr/>
        </p:nvSpPr>
        <p:spPr>
          <a:xfrm>
            <a:off x="6144768" y="1188720"/>
            <a:ext cx="2542032" cy="2606040"/>
          </a:xfrm>
          <a:prstGeom prst="roundRect">
            <a:avLst>
              <a:gd name="adj" fmla="val 3237"/>
            </a:avLst>
          </a:prstGeom>
          <a:solidFill>
            <a:srgbClr val="08407C"/>
          </a:solidFill>
          <a:ln w="12700">
            <a:solidFill>
              <a:srgbClr val="08407C"/>
            </a:solidFill>
            <a:prstDash val="solid"/>
          </a:ln>
        </p:spPr>
      </p:sp>
      <p:sp>
        <p:nvSpPr>
          <p:cNvPr id="18" name="Text 15"/>
          <p:cNvSpPr/>
          <p:nvPr/>
        </p:nvSpPr>
        <p:spPr>
          <a:xfrm>
            <a:off x="6364224" y="1335024"/>
            <a:ext cx="2103120" cy="219456"/>
          </a:xfrm>
          <a:prstGeom prst="rect">
            <a:avLst/>
          </a:prstGeom>
          <a:noFill/>
          <a:ln/>
        </p:spPr>
        <p:txBody>
          <a:bodyPr wrap="square" lIns="0" tIns="0" rIns="0" bIns="0" rtlCol="0" anchor="ctr"/>
          <a:lstStyle/>
          <a:p>
            <a:pPr indent="0" marL="0">
              <a:buNone/>
            </a:pPr>
            <a:r>
              <a:rPr lang="en-US" sz="950" b="1" spc="120" kern="0" dirty="0">
                <a:solidFill>
                  <a:srgbClr val="FFFFFF"/>
                </a:solidFill>
                <a:latin typeface="Inter" pitchFamily="34" charset="0"/>
                <a:ea typeface="Inter" pitchFamily="34" charset="-122"/>
                <a:cs typeface="Inter" pitchFamily="34" charset="-120"/>
              </a:rPr>
              <a:t>MUNICIPIO</a:t>
            </a:r>
            <a:endParaRPr lang="en-US" sz="950" dirty="0"/>
          </a:p>
        </p:txBody>
      </p:sp>
      <p:sp>
        <p:nvSpPr>
          <p:cNvPr id="19" name="Text 16"/>
          <p:cNvSpPr/>
          <p:nvPr/>
        </p:nvSpPr>
        <p:spPr>
          <a:xfrm>
            <a:off x="6364224" y="1572768"/>
            <a:ext cx="2121408" cy="310896"/>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Rentas municipales</a:t>
            </a:r>
            <a:endParaRPr lang="en-US" sz="1600" dirty="0"/>
          </a:p>
        </p:txBody>
      </p:sp>
      <p:sp>
        <p:nvSpPr>
          <p:cNvPr id="20" name="Text 17"/>
          <p:cNvSpPr/>
          <p:nvPr/>
        </p:nvSpPr>
        <p:spPr>
          <a:xfrm>
            <a:off x="6400800" y="2011680"/>
            <a:ext cx="2084832" cy="1234440"/>
          </a:xfrm>
          <a:prstGeom prst="rect">
            <a:avLst/>
          </a:prstGeom>
          <a:noFill/>
          <a:ln/>
        </p:spPr>
        <p:txBody>
          <a:bodyPr wrap="square" lIns="0" tIns="0" rIns="0" bIns="0" rtlCol="0" anchor="ctr"/>
          <a:lstStyle/>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Seguridad e Higiene</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ABL / Tasa de Servicios Urbanos</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Habilitaciones</a:t>
            </a:r>
            <a:endParaRPr lang="en-US" sz="1100" dirty="0"/>
          </a:p>
          <a:p>
            <a:pPr marL="177800" indent="-177800">
              <a:spcAft>
                <a:spcPts val="600"/>
              </a:spcAft>
              <a:buSzPct val="100000"/>
              <a:buChar char="•"/>
            </a:pPr>
            <a:r>
              <a:rPr lang="en-US" sz="1100" dirty="0">
                <a:solidFill>
                  <a:srgbClr val="FFFFFF"/>
                </a:solidFill>
                <a:latin typeface="Inter" pitchFamily="34" charset="0"/>
                <a:ea typeface="Inter" pitchFamily="34" charset="-122"/>
                <a:cs typeface="Inter" pitchFamily="34" charset="-120"/>
              </a:rPr>
              <a:t>Tasa vial y publicidad</a:t>
            </a:r>
            <a:endParaRPr lang="en-US" sz="1100" dirty="0"/>
          </a:p>
        </p:txBody>
      </p:sp>
      <p:sp>
        <p:nvSpPr>
          <p:cNvPr id="21" name="Text 18"/>
          <p:cNvSpPr/>
          <p:nvPr/>
        </p:nvSpPr>
        <p:spPr>
          <a:xfrm>
            <a:off x="6364224" y="3401568"/>
            <a:ext cx="2121408" cy="256032"/>
          </a:xfrm>
          <a:prstGeom prst="rect">
            <a:avLst/>
          </a:prstGeom>
          <a:noFill/>
          <a:ln/>
        </p:spPr>
        <p:txBody>
          <a:bodyPr wrap="square" lIns="0" tIns="0" rIns="0" bIns="0" rtlCol="0" anchor="ctr"/>
          <a:lstStyle/>
          <a:p>
            <a:pPr indent="0" marL="0">
              <a:buNone/>
            </a:pPr>
            <a:r>
              <a:rPr lang="en-US" sz="950" i="1" dirty="0">
                <a:solidFill>
                  <a:srgbClr val="D9E2EE"/>
                </a:solidFill>
                <a:latin typeface="Inter" pitchFamily="34" charset="0"/>
                <a:ea typeface="Inter" pitchFamily="34" charset="-122"/>
                <a:cs typeface="Inter" pitchFamily="34" charset="-120"/>
              </a:rPr>
              <a:t>El portal de cada municipio</a:t>
            </a:r>
            <a:endParaRPr lang="en-US" sz="950" dirty="0"/>
          </a:p>
        </p:txBody>
      </p:sp>
      <p:sp>
        <p:nvSpPr>
          <p:cNvPr id="22" name="Shape 19"/>
          <p:cNvSpPr/>
          <p:nvPr/>
        </p:nvSpPr>
        <p:spPr>
          <a:xfrm>
            <a:off x="603504" y="4005072"/>
            <a:ext cx="8083296" cy="658368"/>
          </a:xfrm>
          <a:prstGeom prst="roundRect">
            <a:avLst>
              <a:gd name="adj" fmla="val 12500"/>
            </a:avLst>
          </a:prstGeom>
          <a:solidFill>
            <a:srgbClr val="08407C"/>
          </a:solidFill>
          <a:ln w="12700">
            <a:solidFill>
              <a:srgbClr val="08407C"/>
            </a:solidFill>
            <a:prstDash val="solid"/>
          </a:ln>
        </p:spPr>
      </p:sp>
      <p:sp>
        <p:nvSpPr>
          <p:cNvPr id="23" name="Text 20"/>
          <p:cNvSpPr/>
          <p:nvPr/>
        </p:nvSpPr>
        <p:spPr>
          <a:xfrm>
            <a:off x="841248" y="4050792"/>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EN LA PRÁCTICA</a:t>
            </a:r>
            <a:endParaRPr lang="en-US" sz="900" dirty="0"/>
          </a:p>
        </p:txBody>
      </p:sp>
      <p:sp>
        <p:nvSpPr>
          <p:cNvPr id="24" name="Text 21"/>
          <p:cNvSpPr/>
          <p:nvPr/>
        </p:nvSpPr>
        <p:spPr>
          <a:xfrm>
            <a:off x="841248" y="4251960"/>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Alquilar una oficina en PBA activa los tres niveles a la vez: Sellos e Ingresos Brutos en ARBA, el Inmobiliario del propietario y la tasa municipal del local.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Tu identidad fiscal</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Los cuatro elementos sin los cuales no se puede facturar ni operar.</a:t>
            </a:r>
            <a:endParaRPr lang="en-US" sz="1200" dirty="0"/>
          </a:p>
        </p:txBody>
      </p:sp>
      <p:sp>
        <p:nvSpPr>
          <p:cNvPr id="7" name="Shape 4"/>
          <p:cNvSpPr/>
          <p:nvPr/>
        </p:nvSpPr>
        <p:spPr>
          <a:xfrm>
            <a:off x="603504" y="1188720"/>
            <a:ext cx="3950208" cy="1463040"/>
          </a:xfrm>
          <a:prstGeom prst="roundRect">
            <a:avLst>
              <a:gd name="adj" fmla="val 5625"/>
            </a:avLst>
          </a:prstGeom>
          <a:solidFill>
            <a:srgbClr val="08407C"/>
          </a:solidFill>
          <a:ln w="12700">
            <a:solidFill>
              <a:srgbClr val="08407C"/>
            </a:solidFill>
            <a:prstDash val="solid"/>
          </a:ln>
        </p:spPr>
      </p:sp>
      <p:sp>
        <p:nvSpPr>
          <p:cNvPr id="8" name="Shape 5"/>
          <p:cNvSpPr/>
          <p:nvPr/>
        </p:nvSpPr>
        <p:spPr>
          <a:xfrm>
            <a:off x="841248" y="1426464"/>
            <a:ext cx="365760" cy="365760"/>
          </a:xfrm>
          <a:prstGeom prst="roundRect">
            <a:avLst>
              <a:gd name="adj" fmla="val 125000"/>
            </a:avLst>
          </a:prstGeom>
          <a:solidFill>
            <a:srgbClr val="FFFFFF"/>
          </a:solidFill>
          <a:ln w="12700">
            <a:solidFill>
              <a:srgbClr val="FFFFFF"/>
            </a:solidFill>
            <a:prstDash val="solid"/>
          </a:ln>
        </p:spPr>
      </p:sp>
      <p:sp>
        <p:nvSpPr>
          <p:cNvPr id="9" name="Text 6"/>
          <p:cNvSpPr/>
          <p:nvPr/>
        </p:nvSpPr>
        <p:spPr>
          <a:xfrm>
            <a:off x="841248" y="1426464"/>
            <a:ext cx="365760" cy="365760"/>
          </a:xfrm>
          <a:prstGeom prst="rect">
            <a:avLst/>
          </a:prstGeom>
          <a:noFill/>
          <a:ln/>
        </p:spPr>
        <p:txBody>
          <a:bodyPr wrap="square" lIns="0" tIns="0" rIns="0" bIns="0" rtlCol="0" anchor="ctr"/>
          <a:lstStyle/>
          <a:p>
            <a:pPr algn="ctr" indent="0" marL="0">
              <a:buNone/>
            </a:pPr>
            <a:r>
              <a:rPr lang="en-US" sz="1200" b="1" dirty="0">
                <a:solidFill>
                  <a:srgbClr val="08407C"/>
                </a:solidFill>
                <a:latin typeface="Inter" pitchFamily="34" charset="0"/>
                <a:ea typeface="Inter" pitchFamily="34" charset="-122"/>
                <a:cs typeface="Inter" pitchFamily="34" charset="-120"/>
              </a:rPr>
              <a:t>1</a:t>
            </a:r>
            <a:endParaRPr lang="en-US" sz="1200" dirty="0"/>
          </a:p>
        </p:txBody>
      </p:sp>
      <p:sp>
        <p:nvSpPr>
          <p:cNvPr id="10" name="Text 7"/>
          <p:cNvSpPr/>
          <p:nvPr/>
        </p:nvSpPr>
        <p:spPr>
          <a:xfrm>
            <a:off x="1335024" y="1408176"/>
            <a:ext cx="3017520" cy="310896"/>
          </a:xfrm>
          <a:prstGeom prst="rect">
            <a:avLst/>
          </a:prstGeom>
          <a:noFill/>
          <a:ln/>
        </p:spPr>
        <p:txBody>
          <a:bodyPr wrap="square" lIns="0" tIns="0" rIns="0" bIns="0" rtlCol="0" anchor="ctr"/>
          <a:lstStyle/>
          <a:p>
            <a:pPr indent="0" marL="0">
              <a:buNone/>
            </a:pPr>
            <a:r>
              <a:rPr lang="en-US" sz="1450" b="1" dirty="0">
                <a:solidFill>
                  <a:srgbClr val="FFFFFF"/>
                </a:solidFill>
                <a:latin typeface="Inter" pitchFamily="34" charset="0"/>
                <a:ea typeface="Inter" pitchFamily="34" charset="-122"/>
                <a:cs typeface="Inter" pitchFamily="34" charset="-120"/>
              </a:rPr>
              <a:t>CUIT</a:t>
            </a:r>
            <a:endParaRPr lang="en-US" sz="1450" dirty="0"/>
          </a:p>
        </p:txBody>
      </p:sp>
      <p:sp>
        <p:nvSpPr>
          <p:cNvPr id="11" name="Text 8"/>
          <p:cNvSpPr/>
          <p:nvPr/>
        </p:nvSpPr>
        <p:spPr>
          <a:xfrm>
            <a:off x="1335024" y="1773936"/>
            <a:ext cx="3017520" cy="749808"/>
          </a:xfrm>
          <a:prstGeom prst="rect">
            <a:avLst/>
          </a:prstGeom>
          <a:noFill/>
          <a:ln/>
        </p:spPr>
        <p:txBody>
          <a:bodyPr wrap="square" lIns="0" tIns="0" rIns="0" bIns="0" rtlCol="0" anchor="ctr"/>
          <a:lstStyle/>
          <a:p>
            <a:pPr indent="0" marL="0">
              <a:lnSpc>
                <a:spcPts val="1400"/>
              </a:lnSpc>
              <a:buNone/>
            </a:pPr>
            <a:r>
              <a:rPr lang="en-US" sz="1050" dirty="0">
                <a:solidFill>
                  <a:srgbClr val="EAEFF5"/>
                </a:solidFill>
                <a:latin typeface="Inter" pitchFamily="34" charset="0"/>
                <a:ea typeface="Inter" pitchFamily="34" charset="-122"/>
                <a:cs typeface="Inter" pitchFamily="34" charset="-120"/>
              </a:rPr>
              <a:t>11 dígitos que identifican ante todos los organismos, no solo ARCA. Prefijo 20/23/24/27 personas humanas, 30/33/34 sociedades. Es el mismo número de por vida.</a:t>
            </a:r>
            <a:endParaRPr lang="en-US" sz="1050" dirty="0"/>
          </a:p>
        </p:txBody>
      </p:sp>
      <p:sp>
        <p:nvSpPr>
          <p:cNvPr id="12" name="Shape 9"/>
          <p:cNvSpPr/>
          <p:nvPr/>
        </p:nvSpPr>
        <p:spPr>
          <a:xfrm>
            <a:off x="4736592" y="1188720"/>
            <a:ext cx="3950208" cy="1463040"/>
          </a:xfrm>
          <a:prstGeom prst="roundRect">
            <a:avLst>
              <a:gd name="adj" fmla="val 5625"/>
            </a:avLst>
          </a:prstGeom>
          <a:solidFill>
            <a:srgbClr val="7C8594"/>
          </a:solidFill>
          <a:ln w="12700">
            <a:solidFill>
              <a:srgbClr val="7C8594"/>
            </a:solidFill>
            <a:prstDash val="solid"/>
          </a:ln>
        </p:spPr>
      </p:sp>
      <p:sp>
        <p:nvSpPr>
          <p:cNvPr id="13" name="Shape 10"/>
          <p:cNvSpPr/>
          <p:nvPr/>
        </p:nvSpPr>
        <p:spPr>
          <a:xfrm>
            <a:off x="4974336" y="1426464"/>
            <a:ext cx="365760" cy="365760"/>
          </a:xfrm>
          <a:prstGeom prst="roundRect">
            <a:avLst>
              <a:gd name="adj" fmla="val 125000"/>
            </a:avLst>
          </a:prstGeom>
          <a:solidFill>
            <a:srgbClr val="FFFFFF"/>
          </a:solidFill>
          <a:ln w="12700">
            <a:solidFill>
              <a:srgbClr val="FFFFFF"/>
            </a:solidFill>
            <a:prstDash val="solid"/>
          </a:ln>
        </p:spPr>
      </p:sp>
      <p:sp>
        <p:nvSpPr>
          <p:cNvPr id="14" name="Text 11"/>
          <p:cNvSpPr/>
          <p:nvPr/>
        </p:nvSpPr>
        <p:spPr>
          <a:xfrm>
            <a:off x="4974336" y="1426464"/>
            <a:ext cx="365760" cy="365760"/>
          </a:xfrm>
          <a:prstGeom prst="rect">
            <a:avLst/>
          </a:prstGeom>
          <a:noFill/>
          <a:ln/>
        </p:spPr>
        <p:txBody>
          <a:bodyPr wrap="square" lIns="0" tIns="0" rIns="0" bIns="0" rtlCol="0" anchor="ctr"/>
          <a:lstStyle/>
          <a:p>
            <a:pPr algn="ctr" indent="0" marL="0">
              <a:buNone/>
            </a:pPr>
            <a:r>
              <a:rPr lang="en-US" sz="1200" b="1" dirty="0">
                <a:solidFill>
                  <a:srgbClr val="4E586E"/>
                </a:solidFill>
                <a:latin typeface="Inter" pitchFamily="34" charset="0"/>
                <a:ea typeface="Inter" pitchFamily="34" charset="-122"/>
                <a:cs typeface="Inter" pitchFamily="34" charset="-120"/>
              </a:rPr>
              <a:t>2</a:t>
            </a:r>
            <a:endParaRPr lang="en-US" sz="1200" dirty="0"/>
          </a:p>
        </p:txBody>
      </p:sp>
      <p:sp>
        <p:nvSpPr>
          <p:cNvPr id="15" name="Text 12"/>
          <p:cNvSpPr/>
          <p:nvPr/>
        </p:nvSpPr>
        <p:spPr>
          <a:xfrm>
            <a:off x="5468112" y="1408176"/>
            <a:ext cx="3017520" cy="310896"/>
          </a:xfrm>
          <a:prstGeom prst="rect">
            <a:avLst/>
          </a:prstGeom>
          <a:noFill/>
          <a:ln/>
        </p:spPr>
        <p:txBody>
          <a:bodyPr wrap="square" lIns="0" tIns="0" rIns="0" bIns="0" rtlCol="0" anchor="ctr"/>
          <a:lstStyle/>
          <a:p>
            <a:pPr indent="0" marL="0">
              <a:buNone/>
            </a:pPr>
            <a:r>
              <a:rPr lang="en-US" sz="1450" b="1" dirty="0">
                <a:solidFill>
                  <a:srgbClr val="FFFFFF"/>
                </a:solidFill>
                <a:latin typeface="Inter" pitchFamily="34" charset="0"/>
                <a:ea typeface="Inter" pitchFamily="34" charset="-122"/>
                <a:cs typeface="Inter" pitchFamily="34" charset="-120"/>
              </a:rPr>
              <a:t>Clave Fiscal</a:t>
            </a:r>
            <a:endParaRPr lang="en-US" sz="1450" dirty="0"/>
          </a:p>
        </p:txBody>
      </p:sp>
      <p:sp>
        <p:nvSpPr>
          <p:cNvPr id="16" name="Text 13"/>
          <p:cNvSpPr/>
          <p:nvPr/>
        </p:nvSpPr>
        <p:spPr>
          <a:xfrm>
            <a:off x="5468112" y="1773936"/>
            <a:ext cx="3017520" cy="749808"/>
          </a:xfrm>
          <a:prstGeom prst="rect">
            <a:avLst/>
          </a:prstGeom>
          <a:noFill/>
          <a:ln/>
        </p:spPr>
        <p:txBody>
          <a:bodyPr wrap="square" lIns="0" tIns="0" rIns="0" bIns="0" rtlCol="0" anchor="ctr"/>
          <a:lstStyle/>
          <a:p>
            <a:pPr indent="0" marL="0">
              <a:lnSpc>
                <a:spcPts val="1400"/>
              </a:lnSpc>
              <a:buNone/>
            </a:pPr>
            <a:r>
              <a:rPr lang="en-US" sz="1050" dirty="0">
                <a:solidFill>
                  <a:srgbClr val="EAEFF5"/>
                </a:solidFill>
                <a:latin typeface="Inter" pitchFamily="34" charset="0"/>
                <a:ea typeface="Inter" pitchFamily="34" charset="-122"/>
                <a:cs typeface="Inter" pitchFamily="34" charset="-120"/>
              </a:rPr>
              <a:t>La contraseña para operar en ARCA. La mayoría de los trámites exige nivel 3. Desde ahí se delegan permisos al estudio contable sin compartir la clave.</a:t>
            </a:r>
            <a:endParaRPr lang="en-US" sz="1050" dirty="0"/>
          </a:p>
        </p:txBody>
      </p:sp>
      <p:sp>
        <p:nvSpPr>
          <p:cNvPr id="17" name="Shape 14"/>
          <p:cNvSpPr/>
          <p:nvPr/>
        </p:nvSpPr>
        <p:spPr>
          <a:xfrm>
            <a:off x="603504" y="2761488"/>
            <a:ext cx="3950208" cy="1463040"/>
          </a:xfrm>
          <a:prstGeom prst="roundRect">
            <a:avLst>
              <a:gd name="adj" fmla="val 5625"/>
            </a:avLst>
          </a:prstGeom>
          <a:solidFill>
            <a:srgbClr val="08407C"/>
          </a:solidFill>
          <a:ln w="12700">
            <a:solidFill>
              <a:srgbClr val="08407C"/>
            </a:solidFill>
            <a:prstDash val="solid"/>
          </a:ln>
        </p:spPr>
      </p:sp>
      <p:sp>
        <p:nvSpPr>
          <p:cNvPr id="18" name="Shape 15"/>
          <p:cNvSpPr/>
          <p:nvPr/>
        </p:nvSpPr>
        <p:spPr>
          <a:xfrm>
            <a:off x="841248" y="2999232"/>
            <a:ext cx="365760" cy="365760"/>
          </a:xfrm>
          <a:prstGeom prst="roundRect">
            <a:avLst>
              <a:gd name="adj" fmla="val 125000"/>
            </a:avLst>
          </a:prstGeom>
          <a:solidFill>
            <a:srgbClr val="FFFFFF"/>
          </a:solidFill>
          <a:ln w="12700">
            <a:solidFill>
              <a:srgbClr val="FFFFFF"/>
            </a:solidFill>
            <a:prstDash val="solid"/>
          </a:ln>
        </p:spPr>
      </p:sp>
      <p:sp>
        <p:nvSpPr>
          <p:cNvPr id="19" name="Text 16"/>
          <p:cNvSpPr/>
          <p:nvPr/>
        </p:nvSpPr>
        <p:spPr>
          <a:xfrm>
            <a:off x="841248" y="2999232"/>
            <a:ext cx="365760" cy="365760"/>
          </a:xfrm>
          <a:prstGeom prst="rect">
            <a:avLst/>
          </a:prstGeom>
          <a:noFill/>
          <a:ln/>
        </p:spPr>
        <p:txBody>
          <a:bodyPr wrap="square" lIns="0" tIns="0" rIns="0" bIns="0" rtlCol="0" anchor="ctr"/>
          <a:lstStyle/>
          <a:p>
            <a:pPr algn="ctr" indent="0" marL="0">
              <a:buNone/>
            </a:pPr>
            <a:r>
              <a:rPr lang="en-US" sz="1200" b="1" dirty="0">
                <a:solidFill>
                  <a:srgbClr val="08407C"/>
                </a:solidFill>
                <a:latin typeface="Inter" pitchFamily="34" charset="0"/>
                <a:ea typeface="Inter" pitchFamily="34" charset="-122"/>
                <a:cs typeface="Inter" pitchFamily="34" charset="-120"/>
              </a:rPr>
              <a:t>3</a:t>
            </a:r>
            <a:endParaRPr lang="en-US" sz="1200" dirty="0"/>
          </a:p>
        </p:txBody>
      </p:sp>
      <p:sp>
        <p:nvSpPr>
          <p:cNvPr id="20" name="Text 17"/>
          <p:cNvSpPr/>
          <p:nvPr/>
        </p:nvSpPr>
        <p:spPr>
          <a:xfrm>
            <a:off x="1335024" y="2980944"/>
            <a:ext cx="3017520" cy="310896"/>
          </a:xfrm>
          <a:prstGeom prst="rect">
            <a:avLst/>
          </a:prstGeom>
          <a:noFill/>
          <a:ln/>
        </p:spPr>
        <p:txBody>
          <a:bodyPr wrap="square" lIns="0" tIns="0" rIns="0" bIns="0" rtlCol="0" anchor="ctr"/>
          <a:lstStyle/>
          <a:p>
            <a:pPr indent="0" marL="0">
              <a:buNone/>
            </a:pPr>
            <a:r>
              <a:rPr lang="en-US" sz="1450" b="1" dirty="0">
                <a:solidFill>
                  <a:srgbClr val="FFFFFF"/>
                </a:solidFill>
                <a:latin typeface="Inter" pitchFamily="34" charset="0"/>
                <a:ea typeface="Inter" pitchFamily="34" charset="-122"/>
                <a:cs typeface="Inter" pitchFamily="34" charset="-120"/>
              </a:rPr>
              <a:t>Domicilio Fiscal Electrónico</a:t>
            </a:r>
            <a:endParaRPr lang="en-US" sz="1450" dirty="0"/>
          </a:p>
        </p:txBody>
      </p:sp>
      <p:sp>
        <p:nvSpPr>
          <p:cNvPr id="21" name="Text 18"/>
          <p:cNvSpPr/>
          <p:nvPr/>
        </p:nvSpPr>
        <p:spPr>
          <a:xfrm>
            <a:off x="1335024" y="3346704"/>
            <a:ext cx="3017520" cy="749808"/>
          </a:xfrm>
          <a:prstGeom prst="rect">
            <a:avLst/>
          </a:prstGeom>
          <a:noFill/>
          <a:ln/>
        </p:spPr>
        <p:txBody>
          <a:bodyPr wrap="square" lIns="0" tIns="0" rIns="0" bIns="0" rtlCol="0" anchor="ctr"/>
          <a:lstStyle/>
          <a:p>
            <a:pPr indent="0" marL="0">
              <a:lnSpc>
                <a:spcPts val="1400"/>
              </a:lnSpc>
              <a:buNone/>
            </a:pPr>
            <a:r>
              <a:rPr lang="en-US" sz="1050" dirty="0">
                <a:solidFill>
                  <a:srgbClr val="EAEFF5"/>
                </a:solidFill>
                <a:latin typeface="Inter" pitchFamily="34" charset="0"/>
                <a:ea typeface="Inter" pitchFamily="34" charset="-122"/>
                <a:cs typeface="Inter" pitchFamily="34" charset="-120"/>
              </a:rPr>
              <a:t>Buzón digital obligatorio. Una intimación queda notificada apenas se deposita ahí, se haya leído o no. Hay que revisarlo con periodicidad.</a:t>
            </a:r>
            <a:endParaRPr lang="en-US" sz="1050" dirty="0"/>
          </a:p>
        </p:txBody>
      </p:sp>
      <p:sp>
        <p:nvSpPr>
          <p:cNvPr id="22" name="Shape 19"/>
          <p:cNvSpPr/>
          <p:nvPr/>
        </p:nvSpPr>
        <p:spPr>
          <a:xfrm>
            <a:off x="4736592" y="2761488"/>
            <a:ext cx="3950208" cy="1463040"/>
          </a:xfrm>
          <a:prstGeom prst="roundRect">
            <a:avLst>
              <a:gd name="adj" fmla="val 5625"/>
            </a:avLst>
          </a:prstGeom>
          <a:solidFill>
            <a:srgbClr val="7C8594"/>
          </a:solidFill>
          <a:ln w="12700">
            <a:solidFill>
              <a:srgbClr val="7C8594"/>
            </a:solidFill>
            <a:prstDash val="solid"/>
          </a:ln>
        </p:spPr>
      </p:sp>
      <p:sp>
        <p:nvSpPr>
          <p:cNvPr id="23" name="Shape 20"/>
          <p:cNvSpPr/>
          <p:nvPr/>
        </p:nvSpPr>
        <p:spPr>
          <a:xfrm>
            <a:off x="4974336" y="2999232"/>
            <a:ext cx="365760" cy="365760"/>
          </a:xfrm>
          <a:prstGeom prst="roundRect">
            <a:avLst>
              <a:gd name="adj" fmla="val 125000"/>
            </a:avLst>
          </a:prstGeom>
          <a:solidFill>
            <a:srgbClr val="FFFFFF"/>
          </a:solidFill>
          <a:ln w="12700">
            <a:solidFill>
              <a:srgbClr val="FFFFFF"/>
            </a:solidFill>
            <a:prstDash val="solid"/>
          </a:ln>
        </p:spPr>
      </p:sp>
      <p:sp>
        <p:nvSpPr>
          <p:cNvPr id="24" name="Text 21"/>
          <p:cNvSpPr/>
          <p:nvPr/>
        </p:nvSpPr>
        <p:spPr>
          <a:xfrm>
            <a:off x="4974336" y="2999232"/>
            <a:ext cx="365760" cy="365760"/>
          </a:xfrm>
          <a:prstGeom prst="rect">
            <a:avLst/>
          </a:prstGeom>
          <a:noFill/>
          <a:ln/>
        </p:spPr>
        <p:txBody>
          <a:bodyPr wrap="square" lIns="0" tIns="0" rIns="0" bIns="0" rtlCol="0" anchor="ctr"/>
          <a:lstStyle/>
          <a:p>
            <a:pPr algn="ctr" indent="0" marL="0">
              <a:buNone/>
            </a:pPr>
            <a:r>
              <a:rPr lang="en-US" sz="1200" b="1" dirty="0">
                <a:solidFill>
                  <a:srgbClr val="4E586E"/>
                </a:solidFill>
                <a:latin typeface="Inter" pitchFamily="34" charset="0"/>
                <a:ea typeface="Inter" pitchFamily="34" charset="-122"/>
                <a:cs typeface="Inter" pitchFamily="34" charset="-120"/>
              </a:rPr>
              <a:t>4</a:t>
            </a:r>
            <a:endParaRPr lang="en-US" sz="1200" dirty="0"/>
          </a:p>
        </p:txBody>
      </p:sp>
      <p:sp>
        <p:nvSpPr>
          <p:cNvPr id="25" name="Text 22"/>
          <p:cNvSpPr/>
          <p:nvPr/>
        </p:nvSpPr>
        <p:spPr>
          <a:xfrm>
            <a:off x="5468112" y="2980944"/>
            <a:ext cx="3017520" cy="310896"/>
          </a:xfrm>
          <a:prstGeom prst="rect">
            <a:avLst/>
          </a:prstGeom>
          <a:noFill/>
          <a:ln/>
        </p:spPr>
        <p:txBody>
          <a:bodyPr wrap="square" lIns="0" tIns="0" rIns="0" bIns="0" rtlCol="0" anchor="ctr"/>
          <a:lstStyle/>
          <a:p>
            <a:pPr indent="0" marL="0">
              <a:buNone/>
            </a:pPr>
            <a:r>
              <a:rPr lang="en-US" sz="1450" b="1" dirty="0">
                <a:solidFill>
                  <a:srgbClr val="FFFFFF"/>
                </a:solidFill>
                <a:latin typeface="Inter" pitchFamily="34" charset="0"/>
                <a:ea typeface="Inter" pitchFamily="34" charset="-122"/>
                <a:cs typeface="Inter" pitchFamily="34" charset="-120"/>
              </a:rPr>
              <a:t>Constancia de inscripción</a:t>
            </a:r>
            <a:endParaRPr lang="en-US" sz="1450" dirty="0"/>
          </a:p>
        </p:txBody>
      </p:sp>
      <p:sp>
        <p:nvSpPr>
          <p:cNvPr id="26" name="Text 23"/>
          <p:cNvSpPr/>
          <p:nvPr/>
        </p:nvSpPr>
        <p:spPr>
          <a:xfrm>
            <a:off x="5468112" y="3346704"/>
            <a:ext cx="3017520" cy="749808"/>
          </a:xfrm>
          <a:prstGeom prst="rect">
            <a:avLst/>
          </a:prstGeom>
          <a:noFill/>
          <a:ln/>
        </p:spPr>
        <p:txBody>
          <a:bodyPr wrap="square" lIns="0" tIns="0" rIns="0" bIns="0" rtlCol="0" anchor="ctr"/>
          <a:lstStyle/>
          <a:p>
            <a:pPr indent="0" marL="0">
              <a:lnSpc>
                <a:spcPts val="1400"/>
              </a:lnSpc>
              <a:buNone/>
            </a:pPr>
            <a:r>
              <a:rPr lang="en-US" sz="1050" dirty="0">
                <a:solidFill>
                  <a:srgbClr val="EAEFF5"/>
                </a:solidFill>
                <a:latin typeface="Inter" pitchFamily="34" charset="0"/>
                <a:ea typeface="Inter" pitchFamily="34" charset="-122"/>
                <a:cs typeface="Inter" pitchFamily="34" charset="-120"/>
              </a:rPr>
              <a:t>Resume la situación fiscal de un CUIT: en qué impuestos está inscripto, su categoría y desde cuándo. Se descarga gratis con solo cargar el CUIT.</a:t>
            </a:r>
            <a:endParaRPr lang="en-US" sz="1050" dirty="0"/>
          </a:p>
        </p:txBody>
      </p:sp>
      <p:sp>
        <p:nvSpPr>
          <p:cNvPr id="27" name="Shape 24"/>
          <p:cNvSpPr/>
          <p:nvPr/>
        </p:nvSpPr>
        <p:spPr>
          <a:xfrm>
            <a:off x="603504" y="4370832"/>
            <a:ext cx="8083296" cy="658368"/>
          </a:xfrm>
          <a:prstGeom prst="roundRect">
            <a:avLst>
              <a:gd name="adj" fmla="val 12500"/>
            </a:avLst>
          </a:prstGeom>
          <a:solidFill>
            <a:srgbClr val="08407C"/>
          </a:solidFill>
          <a:ln w="12700">
            <a:solidFill>
              <a:srgbClr val="08407C"/>
            </a:solidFill>
            <a:prstDash val="solid"/>
          </a:ln>
        </p:spPr>
      </p:sp>
      <p:sp>
        <p:nvSpPr>
          <p:cNvPr id="28" name="Text 25"/>
          <p:cNvSpPr/>
          <p:nvPr/>
        </p:nvSpPr>
        <p:spPr>
          <a:xfrm>
            <a:off x="841248" y="4416552"/>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REGLA</a:t>
            </a:r>
            <a:endParaRPr lang="en-US" sz="900" dirty="0"/>
          </a:p>
        </p:txBody>
      </p:sp>
      <p:sp>
        <p:nvSpPr>
          <p:cNvPr id="29" name="Text 26"/>
          <p:cNvSpPr/>
          <p:nvPr/>
        </p:nvSpPr>
        <p:spPr>
          <a:xfrm>
            <a:off x="841248" y="4617720"/>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Constancia de inscripción + CBU a nombre del mismo CUIT: es lo primero que se le pide a todo proveedor o cliente nuevo.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Monotributo o Responsable Inscripto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Define qué factura emite tu cliente, tu proveedor y vos mismo.</a:t>
            </a:r>
            <a:endParaRPr lang="en-US" sz="1200" dirty="0"/>
          </a:p>
        </p:txBody>
      </p:sp>
      <p:sp>
        <p:nvSpPr>
          <p:cNvPr id="7" name="Text 4"/>
          <p:cNvSpPr/>
          <p:nvPr/>
        </p:nvSpPr>
        <p:spPr>
          <a:xfrm>
            <a:off x="713232" y="1170432"/>
            <a:ext cx="2194560" cy="457200"/>
          </a:xfrm>
          <a:prstGeom prst="rect">
            <a:avLst/>
          </a:prstGeom>
          <a:noFill/>
          <a:ln/>
        </p:spPr>
        <p:txBody>
          <a:bodyPr wrap="square" lIns="0" tIns="0" rIns="0" bIns="0" rtlCol="0" anchor="ctr"/>
          <a:lstStyle/>
          <a:p>
            <a:pPr indent="0" marL="0">
              <a:buNone/>
            </a:pPr>
            <a:r>
              <a:rPr lang="en-US" sz="1000" b="1" spc="100" kern="0" dirty="0">
                <a:solidFill>
                  <a:srgbClr val="6A7686"/>
                </a:solidFill>
                <a:latin typeface="Inter" pitchFamily="34" charset="0"/>
                <a:ea typeface="Inter" pitchFamily="34" charset="-122"/>
                <a:cs typeface="Inter" pitchFamily="34" charset="-120"/>
              </a:rPr>
              <a:t>ASPECTO</a:t>
            </a:r>
            <a:endParaRPr lang="en-US" sz="1000" dirty="0"/>
          </a:p>
        </p:txBody>
      </p:sp>
      <p:sp>
        <p:nvSpPr>
          <p:cNvPr id="8" name="Shape 5"/>
          <p:cNvSpPr/>
          <p:nvPr/>
        </p:nvSpPr>
        <p:spPr>
          <a:xfrm>
            <a:off x="2935224" y="1170432"/>
            <a:ext cx="2834640" cy="457200"/>
          </a:xfrm>
          <a:prstGeom prst="roundRect">
            <a:avLst>
              <a:gd name="adj" fmla="val 18000"/>
            </a:avLst>
          </a:prstGeom>
          <a:solidFill>
            <a:srgbClr val="08407C"/>
          </a:solidFill>
          <a:ln w="12700">
            <a:solidFill>
              <a:srgbClr val="08407C"/>
            </a:solidFill>
            <a:prstDash val="solid"/>
          </a:ln>
        </p:spPr>
      </p:sp>
      <p:sp>
        <p:nvSpPr>
          <p:cNvPr id="9" name="Text 6"/>
          <p:cNvSpPr/>
          <p:nvPr/>
        </p:nvSpPr>
        <p:spPr>
          <a:xfrm>
            <a:off x="3154680" y="1170432"/>
            <a:ext cx="2468880"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MONOTRIBUTO</a:t>
            </a:r>
            <a:endParaRPr lang="en-US" sz="1150" dirty="0"/>
          </a:p>
        </p:txBody>
      </p:sp>
      <p:sp>
        <p:nvSpPr>
          <p:cNvPr id="10" name="Shape 7"/>
          <p:cNvSpPr/>
          <p:nvPr/>
        </p:nvSpPr>
        <p:spPr>
          <a:xfrm>
            <a:off x="5861304" y="1170432"/>
            <a:ext cx="2788920" cy="457200"/>
          </a:xfrm>
          <a:prstGeom prst="roundRect">
            <a:avLst>
              <a:gd name="adj" fmla="val 18000"/>
            </a:avLst>
          </a:prstGeom>
          <a:solidFill>
            <a:srgbClr val="7C8594"/>
          </a:solidFill>
          <a:ln w="12700">
            <a:solidFill>
              <a:srgbClr val="7C8594"/>
            </a:solidFill>
            <a:prstDash val="solid"/>
          </a:ln>
        </p:spPr>
      </p:sp>
      <p:sp>
        <p:nvSpPr>
          <p:cNvPr id="11" name="Text 8"/>
          <p:cNvSpPr/>
          <p:nvPr/>
        </p:nvSpPr>
        <p:spPr>
          <a:xfrm>
            <a:off x="6080760" y="1170432"/>
            <a:ext cx="2423160"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RESPONSABLE INSCRIPTO</a:t>
            </a:r>
            <a:endParaRPr lang="en-US" sz="1150" dirty="0"/>
          </a:p>
        </p:txBody>
      </p:sp>
      <p:sp>
        <p:nvSpPr>
          <p:cNvPr id="12" name="Shape 9"/>
          <p:cNvSpPr/>
          <p:nvPr/>
        </p:nvSpPr>
        <p:spPr>
          <a:xfrm>
            <a:off x="603504" y="1755648"/>
            <a:ext cx="8083296" cy="429768"/>
          </a:xfrm>
          <a:prstGeom prst="roundRect">
            <a:avLst>
              <a:gd name="adj" fmla="val 19149"/>
            </a:avLst>
          </a:prstGeom>
          <a:solidFill>
            <a:srgbClr val="F2F4F7"/>
          </a:solidFill>
          <a:ln w="12700">
            <a:solidFill>
              <a:srgbClr val="F2F4F7"/>
            </a:solidFill>
            <a:prstDash val="solid"/>
          </a:ln>
        </p:spPr>
      </p:sp>
      <p:sp>
        <p:nvSpPr>
          <p:cNvPr id="13" name="Text 10"/>
          <p:cNvSpPr/>
          <p:nvPr/>
        </p:nvSpPr>
        <p:spPr>
          <a:xfrm>
            <a:off x="713232" y="1755648"/>
            <a:ext cx="2194560" cy="429768"/>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Facturación</a:t>
            </a:r>
            <a:endParaRPr lang="en-US" sz="1150" dirty="0"/>
          </a:p>
        </p:txBody>
      </p:sp>
      <p:sp>
        <p:nvSpPr>
          <p:cNvPr id="14" name="Text 11"/>
          <p:cNvSpPr/>
          <p:nvPr/>
        </p:nvSpPr>
        <p:spPr>
          <a:xfrm>
            <a:off x="3154680" y="1755648"/>
            <a:ext cx="246888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Tope de la categoría K</a:t>
            </a:r>
            <a:endParaRPr lang="en-US" sz="1100" dirty="0"/>
          </a:p>
        </p:txBody>
      </p:sp>
      <p:sp>
        <p:nvSpPr>
          <p:cNvPr id="15" name="Text 12"/>
          <p:cNvSpPr/>
          <p:nvPr/>
        </p:nvSpPr>
        <p:spPr>
          <a:xfrm>
            <a:off x="6080760" y="1755648"/>
            <a:ext cx="242316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Sin tope</a:t>
            </a:r>
            <a:endParaRPr lang="en-US" sz="1100" dirty="0"/>
          </a:p>
        </p:txBody>
      </p:sp>
      <p:sp>
        <p:nvSpPr>
          <p:cNvPr id="16" name="Text 13"/>
          <p:cNvSpPr/>
          <p:nvPr/>
        </p:nvSpPr>
        <p:spPr>
          <a:xfrm>
            <a:off x="713232" y="2240280"/>
            <a:ext cx="2194560" cy="429768"/>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IVA</a:t>
            </a:r>
            <a:endParaRPr lang="en-US" sz="1150" dirty="0"/>
          </a:p>
        </p:txBody>
      </p:sp>
      <p:sp>
        <p:nvSpPr>
          <p:cNvPr id="17" name="Text 14"/>
          <p:cNvSpPr/>
          <p:nvPr/>
        </p:nvSpPr>
        <p:spPr>
          <a:xfrm>
            <a:off x="3154680" y="2240280"/>
            <a:ext cx="246888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No lo discrimina (va incluido)</a:t>
            </a:r>
            <a:endParaRPr lang="en-US" sz="1100" dirty="0"/>
          </a:p>
        </p:txBody>
      </p:sp>
      <p:sp>
        <p:nvSpPr>
          <p:cNvPr id="18" name="Text 15"/>
          <p:cNvSpPr/>
          <p:nvPr/>
        </p:nvSpPr>
        <p:spPr>
          <a:xfrm>
            <a:off x="6080760" y="2240280"/>
            <a:ext cx="242316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Discrimina 21% / 10,5% / 27%</a:t>
            </a:r>
            <a:endParaRPr lang="en-US" sz="1100" dirty="0"/>
          </a:p>
        </p:txBody>
      </p:sp>
      <p:sp>
        <p:nvSpPr>
          <p:cNvPr id="19" name="Shape 16"/>
          <p:cNvSpPr/>
          <p:nvPr/>
        </p:nvSpPr>
        <p:spPr>
          <a:xfrm>
            <a:off x="603504" y="2724912"/>
            <a:ext cx="8083296" cy="429768"/>
          </a:xfrm>
          <a:prstGeom prst="roundRect">
            <a:avLst>
              <a:gd name="adj" fmla="val 19149"/>
            </a:avLst>
          </a:prstGeom>
          <a:solidFill>
            <a:srgbClr val="F2F4F7"/>
          </a:solidFill>
          <a:ln w="12700">
            <a:solidFill>
              <a:srgbClr val="F2F4F7"/>
            </a:solidFill>
            <a:prstDash val="solid"/>
          </a:ln>
        </p:spPr>
      </p:sp>
      <p:sp>
        <p:nvSpPr>
          <p:cNvPr id="20" name="Text 17"/>
          <p:cNvSpPr/>
          <p:nvPr/>
        </p:nvSpPr>
        <p:spPr>
          <a:xfrm>
            <a:off x="713232" y="2724912"/>
            <a:ext cx="2194560" cy="429768"/>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Ganancias</a:t>
            </a:r>
            <a:endParaRPr lang="en-US" sz="1150" dirty="0"/>
          </a:p>
        </p:txBody>
      </p:sp>
      <p:sp>
        <p:nvSpPr>
          <p:cNvPr id="21" name="Text 18"/>
          <p:cNvSpPr/>
          <p:nvPr/>
        </p:nvSpPr>
        <p:spPr>
          <a:xfrm>
            <a:off x="3154680" y="2724912"/>
            <a:ext cx="246888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Incluido en la cuota fija</a:t>
            </a:r>
            <a:endParaRPr lang="en-US" sz="1100" dirty="0"/>
          </a:p>
        </p:txBody>
      </p:sp>
      <p:sp>
        <p:nvSpPr>
          <p:cNvPr id="22" name="Text 19"/>
          <p:cNvSpPr/>
          <p:nvPr/>
        </p:nvSpPr>
        <p:spPr>
          <a:xfrm>
            <a:off x="6080760" y="2724912"/>
            <a:ext cx="242316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DDJJ anual + anticipos</a:t>
            </a:r>
            <a:endParaRPr lang="en-US" sz="1100" dirty="0"/>
          </a:p>
        </p:txBody>
      </p:sp>
      <p:sp>
        <p:nvSpPr>
          <p:cNvPr id="23" name="Text 20"/>
          <p:cNvSpPr/>
          <p:nvPr/>
        </p:nvSpPr>
        <p:spPr>
          <a:xfrm>
            <a:off x="713232" y="3209544"/>
            <a:ext cx="2194560" cy="429768"/>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Aportes jubilatorios</a:t>
            </a:r>
            <a:endParaRPr lang="en-US" sz="1150" dirty="0"/>
          </a:p>
        </p:txBody>
      </p:sp>
      <p:sp>
        <p:nvSpPr>
          <p:cNvPr id="24" name="Text 21"/>
          <p:cNvSpPr/>
          <p:nvPr/>
        </p:nvSpPr>
        <p:spPr>
          <a:xfrm>
            <a:off x="3154680" y="3209544"/>
            <a:ext cx="246888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Incluidos en la cuota</a:t>
            </a:r>
            <a:endParaRPr lang="en-US" sz="1100" dirty="0"/>
          </a:p>
        </p:txBody>
      </p:sp>
      <p:sp>
        <p:nvSpPr>
          <p:cNvPr id="25" name="Text 22"/>
          <p:cNvSpPr/>
          <p:nvPr/>
        </p:nvSpPr>
        <p:spPr>
          <a:xfrm>
            <a:off x="6080760" y="3209544"/>
            <a:ext cx="242316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Régimen de Autónomos, aparte</a:t>
            </a:r>
            <a:endParaRPr lang="en-US" sz="1100" dirty="0"/>
          </a:p>
        </p:txBody>
      </p:sp>
      <p:sp>
        <p:nvSpPr>
          <p:cNvPr id="26" name="Shape 23"/>
          <p:cNvSpPr/>
          <p:nvPr/>
        </p:nvSpPr>
        <p:spPr>
          <a:xfrm>
            <a:off x="603504" y="3694176"/>
            <a:ext cx="8083296" cy="429768"/>
          </a:xfrm>
          <a:prstGeom prst="roundRect">
            <a:avLst>
              <a:gd name="adj" fmla="val 19149"/>
            </a:avLst>
          </a:prstGeom>
          <a:solidFill>
            <a:srgbClr val="F2F4F7"/>
          </a:solidFill>
          <a:ln w="12700">
            <a:solidFill>
              <a:srgbClr val="F2F4F7"/>
            </a:solidFill>
            <a:prstDash val="solid"/>
          </a:ln>
        </p:spPr>
      </p:sp>
      <p:sp>
        <p:nvSpPr>
          <p:cNvPr id="27" name="Text 24"/>
          <p:cNvSpPr/>
          <p:nvPr/>
        </p:nvSpPr>
        <p:spPr>
          <a:xfrm>
            <a:off x="713232" y="3694176"/>
            <a:ext cx="2194560" cy="429768"/>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Tipo de factura</a:t>
            </a:r>
            <a:endParaRPr lang="en-US" sz="1150" dirty="0"/>
          </a:p>
        </p:txBody>
      </p:sp>
      <p:sp>
        <p:nvSpPr>
          <p:cNvPr id="28" name="Text 25"/>
          <p:cNvSpPr/>
          <p:nvPr/>
        </p:nvSpPr>
        <p:spPr>
          <a:xfrm>
            <a:off x="3154680" y="3694176"/>
            <a:ext cx="246888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C</a:t>
            </a:r>
            <a:endParaRPr lang="en-US" sz="1100" dirty="0"/>
          </a:p>
        </p:txBody>
      </p:sp>
      <p:sp>
        <p:nvSpPr>
          <p:cNvPr id="29" name="Text 26"/>
          <p:cNvSpPr/>
          <p:nvPr/>
        </p:nvSpPr>
        <p:spPr>
          <a:xfrm>
            <a:off x="6080760" y="3694176"/>
            <a:ext cx="2423160" cy="429768"/>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A o B</a:t>
            </a:r>
            <a:endParaRPr lang="en-US" sz="1100" dirty="0"/>
          </a:p>
        </p:txBody>
      </p:sp>
      <p:sp>
        <p:nvSpPr>
          <p:cNvPr id="30" name="Shape 27"/>
          <p:cNvSpPr/>
          <p:nvPr/>
        </p:nvSpPr>
        <p:spPr>
          <a:xfrm>
            <a:off x="603504" y="4261104"/>
            <a:ext cx="8083296" cy="658368"/>
          </a:xfrm>
          <a:prstGeom prst="roundRect">
            <a:avLst>
              <a:gd name="adj" fmla="val 12500"/>
            </a:avLst>
          </a:prstGeom>
          <a:solidFill>
            <a:srgbClr val="08407C"/>
          </a:solidFill>
          <a:ln w="12700">
            <a:solidFill>
              <a:srgbClr val="08407C"/>
            </a:solidFill>
            <a:prstDash val="solid"/>
          </a:ln>
        </p:spPr>
      </p:sp>
      <p:sp>
        <p:nvSpPr>
          <p:cNvPr id="31" name="Text 28"/>
          <p:cNvSpPr/>
          <p:nvPr/>
        </p:nvSpPr>
        <p:spPr>
          <a:xfrm>
            <a:off x="841248" y="4306824"/>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OJO CON LAS FECHAS</a:t>
            </a:r>
            <a:endParaRPr lang="en-US" sz="900" dirty="0"/>
          </a:p>
        </p:txBody>
      </p:sp>
      <p:sp>
        <p:nvSpPr>
          <p:cNvPr id="32" name="Text 29"/>
          <p:cNvSpPr/>
          <p:nvPr/>
        </p:nvSpPr>
        <p:spPr>
          <a:xfrm>
            <a:off x="841248" y="4507992"/>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La recategorización del Monotributo es obligatoria en febrero y en agosto, aunque no cambie la categoría. Si no se hace, ARCA recategoriza de oficio.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factura corresponde</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El tipo de comprobante depende de la condición fiscal del emisor y del receptor.</a:t>
            </a:r>
            <a:endParaRPr lang="en-US" sz="1200" dirty="0"/>
          </a:p>
        </p:txBody>
      </p:sp>
      <p:sp>
        <p:nvSpPr>
          <p:cNvPr id="7" name="Shape 4"/>
          <p:cNvSpPr/>
          <p:nvPr/>
        </p:nvSpPr>
        <p:spPr>
          <a:xfrm>
            <a:off x="603504" y="1188720"/>
            <a:ext cx="1463040" cy="2606040"/>
          </a:xfrm>
          <a:prstGeom prst="roundRect">
            <a:avLst>
              <a:gd name="adj" fmla="val 5625"/>
            </a:avLst>
          </a:prstGeom>
          <a:solidFill>
            <a:srgbClr val="08407C"/>
          </a:solidFill>
          <a:ln w="12700">
            <a:solidFill>
              <a:srgbClr val="08407C"/>
            </a:solidFill>
            <a:prstDash val="solid"/>
          </a:ln>
        </p:spPr>
      </p:sp>
      <p:sp>
        <p:nvSpPr>
          <p:cNvPr id="8" name="Shape 5"/>
          <p:cNvSpPr/>
          <p:nvPr/>
        </p:nvSpPr>
        <p:spPr>
          <a:xfrm>
            <a:off x="1060704" y="1371600"/>
            <a:ext cx="548640" cy="548640"/>
          </a:xfrm>
          <a:prstGeom prst="roundRect">
            <a:avLst>
              <a:gd name="adj" fmla="val 26667"/>
            </a:avLst>
          </a:prstGeom>
          <a:solidFill>
            <a:srgbClr val="FFFFFF"/>
          </a:solidFill>
          <a:ln w="12700">
            <a:solidFill>
              <a:srgbClr val="FFFFFF"/>
            </a:solidFill>
            <a:prstDash val="solid"/>
          </a:ln>
        </p:spPr>
      </p:sp>
      <p:sp>
        <p:nvSpPr>
          <p:cNvPr id="9" name="Text 6"/>
          <p:cNvSpPr/>
          <p:nvPr/>
        </p:nvSpPr>
        <p:spPr>
          <a:xfrm>
            <a:off x="1060704" y="1371600"/>
            <a:ext cx="548640" cy="548640"/>
          </a:xfrm>
          <a:prstGeom prst="rect">
            <a:avLst/>
          </a:prstGeom>
          <a:noFill/>
          <a:ln/>
        </p:spPr>
        <p:txBody>
          <a:bodyPr wrap="square" lIns="0" tIns="0" rIns="0" bIns="0" rtlCol="0" anchor="ctr"/>
          <a:lstStyle/>
          <a:p>
            <a:pPr algn="ctr" indent="0" marL="0">
              <a:buNone/>
            </a:pPr>
            <a:r>
              <a:rPr lang="en-US" sz="2600" b="1" dirty="0">
                <a:solidFill>
                  <a:srgbClr val="08407C"/>
                </a:solidFill>
                <a:latin typeface="Inter" pitchFamily="34" charset="0"/>
                <a:ea typeface="Inter" pitchFamily="34" charset="-122"/>
                <a:cs typeface="Inter" pitchFamily="34" charset="-120"/>
              </a:rPr>
              <a:t>A</a:t>
            </a:r>
            <a:endParaRPr lang="en-US" sz="2600" dirty="0"/>
          </a:p>
        </p:txBody>
      </p:sp>
      <p:sp>
        <p:nvSpPr>
          <p:cNvPr id="10" name="Text 7"/>
          <p:cNvSpPr/>
          <p:nvPr/>
        </p:nvSpPr>
        <p:spPr>
          <a:xfrm>
            <a:off x="713232" y="2048256"/>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EMITE</a:t>
            </a:r>
            <a:endParaRPr lang="en-US" sz="800" dirty="0"/>
          </a:p>
        </p:txBody>
      </p:sp>
      <p:sp>
        <p:nvSpPr>
          <p:cNvPr id="11" name="Text 8"/>
          <p:cNvSpPr/>
          <p:nvPr/>
        </p:nvSpPr>
        <p:spPr>
          <a:xfrm>
            <a:off x="694944" y="2231136"/>
            <a:ext cx="1280160" cy="402336"/>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Resp. Inscripto</a:t>
            </a:r>
            <a:endParaRPr lang="en-US" sz="1000" dirty="0"/>
          </a:p>
        </p:txBody>
      </p:sp>
      <p:sp>
        <p:nvSpPr>
          <p:cNvPr id="12" name="Text 9"/>
          <p:cNvSpPr/>
          <p:nvPr/>
        </p:nvSpPr>
        <p:spPr>
          <a:xfrm>
            <a:off x="713232" y="2670048"/>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RECIBE</a:t>
            </a:r>
            <a:endParaRPr lang="en-US" sz="800" dirty="0"/>
          </a:p>
        </p:txBody>
      </p:sp>
      <p:sp>
        <p:nvSpPr>
          <p:cNvPr id="13" name="Text 10"/>
          <p:cNvSpPr/>
          <p:nvPr/>
        </p:nvSpPr>
        <p:spPr>
          <a:xfrm>
            <a:off x="694944" y="2852928"/>
            <a:ext cx="1280160" cy="457200"/>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Resp. Inscripto</a:t>
            </a:r>
            <a:endParaRPr lang="en-US" sz="1000" dirty="0"/>
          </a:p>
        </p:txBody>
      </p:sp>
      <p:sp>
        <p:nvSpPr>
          <p:cNvPr id="14" name="Text 11"/>
          <p:cNvSpPr/>
          <p:nvPr/>
        </p:nvSpPr>
        <p:spPr>
          <a:xfrm>
            <a:off x="694944" y="3346704"/>
            <a:ext cx="1280160" cy="384048"/>
          </a:xfrm>
          <a:prstGeom prst="rect">
            <a:avLst/>
          </a:prstGeom>
          <a:noFill/>
          <a:ln/>
        </p:spPr>
        <p:txBody>
          <a:bodyPr wrap="square" lIns="0" tIns="0" rIns="0" bIns="0" rtlCol="0" anchor="t"/>
          <a:lstStyle/>
          <a:p>
            <a:pPr algn="ctr" indent="0" marL="0">
              <a:lnSpc>
                <a:spcPts val="1100"/>
              </a:lnSpc>
              <a:buNone/>
            </a:pPr>
            <a:r>
              <a:rPr lang="en-US" sz="950" i="1" dirty="0">
                <a:solidFill>
                  <a:srgbClr val="DCE6F2"/>
                </a:solidFill>
                <a:latin typeface="Inter" pitchFamily="34" charset="0"/>
                <a:ea typeface="Inter" pitchFamily="34" charset="-122"/>
                <a:cs typeface="Inter" pitchFamily="34" charset="-120"/>
              </a:rPr>
              <a:t>IVA discriminado</a:t>
            </a:r>
            <a:endParaRPr lang="en-US" sz="950" dirty="0"/>
          </a:p>
        </p:txBody>
      </p:sp>
      <p:sp>
        <p:nvSpPr>
          <p:cNvPr id="15" name="Shape 12"/>
          <p:cNvSpPr/>
          <p:nvPr/>
        </p:nvSpPr>
        <p:spPr>
          <a:xfrm>
            <a:off x="2240280" y="1188720"/>
            <a:ext cx="1463040" cy="2606040"/>
          </a:xfrm>
          <a:prstGeom prst="roundRect">
            <a:avLst>
              <a:gd name="adj" fmla="val 5625"/>
            </a:avLst>
          </a:prstGeom>
          <a:solidFill>
            <a:srgbClr val="7C8594"/>
          </a:solidFill>
          <a:ln w="12700">
            <a:solidFill>
              <a:srgbClr val="7C8594"/>
            </a:solidFill>
            <a:prstDash val="solid"/>
          </a:ln>
        </p:spPr>
      </p:sp>
      <p:sp>
        <p:nvSpPr>
          <p:cNvPr id="16" name="Shape 13"/>
          <p:cNvSpPr/>
          <p:nvPr/>
        </p:nvSpPr>
        <p:spPr>
          <a:xfrm>
            <a:off x="2697480" y="1371600"/>
            <a:ext cx="548640" cy="548640"/>
          </a:xfrm>
          <a:prstGeom prst="roundRect">
            <a:avLst>
              <a:gd name="adj" fmla="val 26667"/>
            </a:avLst>
          </a:prstGeom>
          <a:solidFill>
            <a:srgbClr val="FFFFFF"/>
          </a:solidFill>
          <a:ln w="12700">
            <a:solidFill>
              <a:srgbClr val="FFFFFF"/>
            </a:solidFill>
            <a:prstDash val="solid"/>
          </a:ln>
        </p:spPr>
      </p:sp>
      <p:sp>
        <p:nvSpPr>
          <p:cNvPr id="17" name="Text 14"/>
          <p:cNvSpPr/>
          <p:nvPr/>
        </p:nvSpPr>
        <p:spPr>
          <a:xfrm>
            <a:off x="2697480" y="1371600"/>
            <a:ext cx="548640" cy="548640"/>
          </a:xfrm>
          <a:prstGeom prst="rect">
            <a:avLst/>
          </a:prstGeom>
          <a:noFill/>
          <a:ln/>
        </p:spPr>
        <p:txBody>
          <a:bodyPr wrap="square" lIns="0" tIns="0" rIns="0" bIns="0" rtlCol="0" anchor="ctr"/>
          <a:lstStyle/>
          <a:p>
            <a:pPr algn="ctr" indent="0" marL="0">
              <a:buNone/>
            </a:pPr>
            <a:r>
              <a:rPr lang="en-US" sz="2600" b="1" dirty="0">
                <a:solidFill>
                  <a:srgbClr val="4E586E"/>
                </a:solidFill>
                <a:latin typeface="Inter" pitchFamily="34" charset="0"/>
                <a:ea typeface="Inter" pitchFamily="34" charset="-122"/>
                <a:cs typeface="Inter" pitchFamily="34" charset="-120"/>
              </a:rPr>
              <a:t>B</a:t>
            </a:r>
            <a:endParaRPr lang="en-US" sz="2600" dirty="0"/>
          </a:p>
        </p:txBody>
      </p:sp>
      <p:sp>
        <p:nvSpPr>
          <p:cNvPr id="18" name="Text 15"/>
          <p:cNvSpPr/>
          <p:nvPr/>
        </p:nvSpPr>
        <p:spPr>
          <a:xfrm>
            <a:off x="2350008" y="2048256"/>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EMITE</a:t>
            </a:r>
            <a:endParaRPr lang="en-US" sz="800" dirty="0"/>
          </a:p>
        </p:txBody>
      </p:sp>
      <p:sp>
        <p:nvSpPr>
          <p:cNvPr id="19" name="Text 16"/>
          <p:cNvSpPr/>
          <p:nvPr/>
        </p:nvSpPr>
        <p:spPr>
          <a:xfrm>
            <a:off x="2331720" y="2231136"/>
            <a:ext cx="1280160" cy="402336"/>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Resp. Inscripto</a:t>
            </a:r>
            <a:endParaRPr lang="en-US" sz="1000" dirty="0"/>
          </a:p>
        </p:txBody>
      </p:sp>
      <p:sp>
        <p:nvSpPr>
          <p:cNvPr id="20" name="Text 17"/>
          <p:cNvSpPr/>
          <p:nvPr/>
        </p:nvSpPr>
        <p:spPr>
          <a:xfrm>
            <a:off x="2350008" y="2670048"/>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RECIBE</a:t>
            </a:r>
            <a:endParaRPr lang="en-US" sz="800" dirty="0"/>
          </a:p>
        </p:txBody>
      </p:sp>
      <p:sp>
        <p:nvSpPr>
          <p:cNvPr id="21" name="Text 18"/>
          <p:cNvSpPr/>
          <p:nvPr/>
        </p:nvSpPr>
        <p:spPr>
          <a:xfrm>
            <a:off x="2331720" y="2852928"/>
            <a:ext cx="1280160" cy="457200"/>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Cons. final o Monotributista</a:t>
            </a:r>
            <a:endParaRPr lang="en-US" sz="1000" dirty="0"/>
          </a:p>
        </p:txBody>
      </p:sp>
      <p:sp>
        <p:nvSpPr>
          <p:cNvPr id="22" name="Text 19"/>
          <p:cNvSpPr/>
          <p:nvPr/>
        </p:nvSpPr>
        <p:spPr>
          <a:xfrm>
            <a:off x="2331720" y="3346704"/>
            <a:ext cx="1280160" cy="384048"/>
          </a:xfrm>
          <a:prstGeom prst="rect">
            <a:avLst/>
          </a:prstGeom>
          <a:noFill/>
          <a:ln/>
        </p:spPr>
        <p:txBody>
          <a:bodyPr wrap="square" lIns="0" tIns="0" rIns="0" bIns="0" rtlCol="0" anchor="t"/>
          <a:lstStyle/>
          <a:p>
            <a:pPr algn="ctr" indent="0" marL="0">
              <a:lnSpc>
                <a:spcPts val="1100"/>
              </a:lnSpc>
              <a:buNone/>
            </a:pPr>
            <a:r>
              <a:rPr lang="en-US" sz="950" i="1" dirty="0">
                <a:solidFill>
                  <a:srgbClr val="DCE6F2"/>
                </a:solidFill>
                <a:latin typeface="Inter" pitchFamily="34" charset="0"/>
                <a:ea typeface="Inter" pitchFamily="34" charset="-122"/>
                <a:cs typeface="Inter" pitchFamily="34" charset="-120"/>
              </a:rPr>
              <a:t>IVA incluido</a:t>
            </a:r>
            <a:endParaRPr lang="en-US" sz="950" dirty="0"/>
          </a:p>
        </p:txBody>
      </p:sp>
      <p:sp>
        <p:nvSpPr>
          <p:cNvPr id="23" name="Shape 20"/>
          <p:cNvSpPr/>
          <p:nvPr/>
        </p:nvSpPr>
        <p:spPr>
          <a:xfrm>
            <a:off x="3877056" y="1188720"/>
            <a:ext cx="1463040" cy="2606040"/>
          </a:xfrm>
          <a:prstGeom prst="roundRect">
            <a:avLst>
              <a:gd name="adj" fmla="val 5625"/>
            </a:avLst>
          </a:prstGeom>
          <a:solidFill>
            <a:srgbClr val="7C8594"/>
          </a:solidFill>
          <a:ln w="12700">
            <a:solidFill>
              <a:srgbClr val="7C8594"/>
            </a:solidFill>
            <a:prstDash val="solid"/>
          </a:ln>
        </p:spPr>
      </p:sp>
      <p:sp>
        <p:nvSpPr>
          <p:cNvPr id="24" name="Shape 21"/>
          <p:cNvSpPr/>
          <p:nvPr/>
        </p:nvSpPr>
        <p:spPr>
          <a:xfrm>
            <a:off x="4334256" y="1371600"/>
            <a:ext cx="548640" cy="548640"/>
          </a:xfrm>
          <a:prstGeom prst="roundRect">
            <a:avLst>
              <a:gd name="adj" fmla="val 26667"/>
            </a:avLst>
          </a:prstGeom>
          <a:solidFill>
            <a:srgbClr val="FFFFFF"/>
          </a:solidFill>
          <a:ln w="12700">
            <a:solidFill>
              <a:srgbClr val="FFFFFF"/>
            </a:solidFill>
            <a:prstDash val="solid"/>
          </a:ln>
        </p:spPr>
      </p:sp>
      <p:sp>
        <p:nvSpPr>
          <p:cNvPr id="25" name="Text 22"/>
          <p:cNvSpPr/>
          <p:nvPr/>
        </p:nvSpPr>
        <p:spPr>
          <a:xfrm>
            <a:off x="4334256" y="1371600"/>
            <a:ext cx="548640" cy="548640"/>
          </a:xfrm>
          <a:prstGeom prst="rect">
            <a:avLst/>
          </a:prstGeom>
          <a:noFill/>
          <a:ln/>
        </p:spPr>
        <p:txBody>
          <a:bodyPr wrap="square" lIns="0" tIns="0" rIns="0" bIns="0" rtlCol="0" anchor="ctr"/>
          <a:lstStyle/>
          <a:p>
            <a:pPr algn="ctr" indent="0" marL="0">
              <a:buNone/>
            </a:pPr>
            <a:r>
              <a:rPr lang="en-US" sz="2600" b="1" dirty="0">
                <a:solidFill>
                  <a:srgbClr val="4E586E"/>
                </a:solidFill>
                <a:latin typeface="Inter" pitchFamily="34" charset="0"/>
                <a:ea typeface="Inter" pitchFamily="34" charset="-122"/>
                <a:cs typeface="Inter" pitchFamily="34" charset="-120"/>
              </a:rPr>
              <a:t>C</a:t>
            </a:r>
            <a:endParaRPr lang="en-US" sz="2600" dirty="0"/>
          </a:p>
        </p:txBody>
      </p:sp>
      <p:sp>
        <p:nvSpPr>
          <p:cNvPr id="26" name="Text 23"/>
          <p:cNvSpPr/>
          <p:nvPr/>
        </p:nvSpPr>
        <p:spPr>
          <a:xfrm>
            <a:off x="3986784" y="2048256"/>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EMITE</a:t>
            </a:r>
            <a:endParaRPr lang="en-US" sz="800" dirty="0"/>
          </a:p>
        </p:txBody>
      </p:sp>
      <p:sp>
        <p:nvSpPr>
          <p:cNvPr id="27" name="Text 24"/>
          <p:cNvSpPr/>
          <p:nvPr/>
        </p:nvSpPr>
        <p:spPr>
          <a:xfrm>
            <a:off x="3968496" y="2231136"/>
            <a:ext cx="1280160" cy="402336"/>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Monotributista</a:t>
            </a:r>
            <a:endParaRPr lang="en-US" sz="1000" dirty="0"/>
          </a:p>
        </p:txBody>
      </p:sp>
      <p:sp>
        <p:nvSpPr>
          <p:cNvPr id="28" name="Text 25"/>
          <p:cNvSpPr/>
          <p:nvPr/>
        </p:nvSpPr>
        <p:spPr>
          <a:xfrm>
            <a:off x="3986784" y="2670048"/>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RECIBE</a:t>
            </a:r>
            <a:endParaRPr lang="en-US" sz="800" dirty="0"/>
          </a:p>
        </p:txBody>
      </p:sp>
      <p:sp>
        <p:nvSpPr>
          <p:cNvPr id="29" name="Text 26"/>
          <p:cNvSpPr/>
          <p:nvPr/>
        </p:nvSpPr>
        <p:spPr>
          <a:xfrm>
            <a:off x="3968496" y="2852928"/>
            <a:ext cx="1280160" cy="457200"/>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Cualquiera</a:t>
            </a:r>
            <a:endParaRPr lang="en-US" sz="1000" dirty="0"/>
          </a:p>
        </p:txBody>
      </p:sp>
      <p:sp>
        <p:nvSpPr>
          <p:cNvPr id="30" name="Text 27"/>
          <p:cNvSpPr/>
          <p:nvPr/>
        </p:nvSpPr>
        <p:spPr>
          <a:xfrm>
            <a:off x="3968496" y="3346704"/>
            <a:ext cx="1280160" cy="384048"/>
          </a:xfrm>
          <a:prstGeom prst="rect">
            <a:avLst/>
          </a:prstGeom>
          <a:noFill/>
          <a:ln/>
        </p:spPr>
        <p:txBody>
          <a:bodyPr wrap="square" lIns="0" tIns="0" rIns="0" bIns="0" rtlCol="0" anchor="t"/>
          <a:lstStyle/>
          <a:p>
            <a:pPr algn="ctr" indent="0" marL="0">
              <a:lnSpc>
                <a:spcPts val="1100"/>
              </a:lnSpc>
              <a:buNone/>
            </a:pPr>
            <a:r>
              <a:rPr lang="en-US" sz="950" i="1" dirty="0">
                <a:solidFill>
                  <a:srgbClr val="DCE6F2"/>
                </a:solidFill>
                <a:latin typeface="Inter" pitchFamily="34" charset="0"/>
                <a:ea typeface="Inter" pitchFamily="34" charset="-122"/>
                <a:cs typeface="Inter" pitchFamily="34" charset="-120"/>
              </a:rPr>
              <a:t>Nunca discrimina IVA</a:t>
            </a:r>
            <a:endParaRPr lang="en-US" sz="950" dirty="0"/>
          </a:p>
        </p:txBody>
      </p:sp>
      <p:sp>
        <p:nvSpPr>
          <p:cNvPr id="31" name="Shape 28"/>
          <p:cNvSpPr/>
          <p:nvPr/>
        </p:nvSpPr>
        <p:spPr>
          <a:xfrm>
            <a:off x="5513832" y="1188720"/>
            <a:ext cx="1463040" cy="2606040"/>
          </a:xfrm>
          <a:prstGeom prst="roundRect">
            <a:avLst>
              <a:gd name="adj" fmla="val 5625"/>
            </a:avLst>
          </a:prstGeom>
          <a:solidFill>
            <a:srgbClr val="7C8594"/>
          </a:solidFill>
          <a:ln w="12700">
            <a:solidFill>
              <a:srgbClr val="7C8594"/>
            </a:solidFill>
            <a:prstDash val="solid"/>
          </a:ln>
        </p:spPr>
      </p:sp>
      <p:sp>
        <p:nvSpPr>
          <p:cNvPr id="32" name="Shape 29"/>
          <p:cNvSpPr/>
          <p:nvPr/>
        </p:nvSpPr>
        <p:spPr>
          <a:xfrm>
            <a:off x="5971032" y="1371600"/>
            <a:ext cx="548640" cy="548640"/>
          </a:xfrm>
          <a:prstGeom prst="roundRect">
            <a:avLst>
              <a:gd name="adj" fmla="val 26667"/>
            </a:avLst>
          </a:prstGeom>
          <a:solidFill>
            <a:srgbClr val="FFFFFF"/>
          </a:solidFill>
          <a:ln w="12700">
            <a:solidFill>
              <a:srgbClr val="FFFFFF"/>
            </a:solidFill>
            <a:prstDash val="solid"/>
          </a:ln>
        </p:spPr>
      </p:sp>
      <p:sp>
        <p:nvSpPr>
          <p:cNvPr id="33" name="Text 30"/>
          <p:cNvSpPr/>
          <p:nvPr/>
        </p:nvSpPr>
        <p:spPr>
          <a:xfrm>
            <a:off x="5971032" y="1371600"/>
            <a:ext cx="548640" cy="548640"/>
          </a:xfrm>
          <a:prstGeom prst="rect">
            <a:avLst/>
          </a:prstGeom>
          <a:noFill/>
          <a:ln/>
        </p:spPr>
        <p:txBody>
          <a:bodyPr wrap="square" lIns="0" tIns="0" rIns="0" bIns="0" rtlCol="0" anchor="ctr"/>
          <a:lstStyle/>
          <a:p>
            <a:pPr algn="ctr" indent="0" marL="0">
              <a:buNone/>
            </a:pPr>
            <a:r>
              <a:rPr lang="en-US" sz="2600" b="1" dirty="0">
                <a:solidFill>
                  <a:srgbClr val="4E586E"/>
                </a:solidFill>
                <a:latin typeface="Inter" pitchFamily="34" charset="0"/>
                <a:ea typeface="Inter" pitchFamily="34" charset="-122"/>
                <a:cs typeface="Inter" pitchFamily="34" charset="-120"/>
              </a:rPr>
              <a:t>E</a:t>
            </a:r>
            <a:endParaRPr lang="en-US" sz="2600" dirty="0"/>
          </a:p>
        </p:txBody>
      </p:sp>
      <p:sp>
        <p:nvSpPr>
          <p:cNvPr id="34" name="Text 31"/>
          <p:cNvSpPr/>
          <p:nvPr/>
        </p:nvSpPr>
        <p:spPr>
          <a:xfrm>
            <a:off x="5623560" y="2048256"/>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EMITE</a:t>
            </a:r>
            <a:endParaRPr lang="en-US" sz="800" dirty="0"/>
          </a:p>
        </p:txBody>
      </p:sp>
      <p:sp>
        <p:nvSpPr>
          <p:cNvPr id="35" name="Text 32"/>
          <p:cNvSpPr/>
          <p:nvPr/>
        </p:nvSpPr>
        <p:spPr>
          <a:xfrm>
            <a:off x="5605272" y="2231136"/>
            <a:ext cx="1280160" cy="402336"/>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Exportador</a:t>
            </a:r>
            <a:endParaRPr lang="en-US" sz="1000" dirty="0"/>
          </a:p>
        </p:txBody>
      </p:sp>
      <p:sp>
        <p:nvSpPr>
          <p:cNvPr id="36" name="Text 33"/>
          <p:cNvSpPr/>
          <p:nvPr/>
        </p:nvSpPr>
        <p:spPr>
          <a:xfrm>
            <a:off x="5623560" y="2670048"/>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RECIBE</a:t>
            </a:r>
            <a:endParaRPr lang="en-US" sz="800" dirty="0"/>
          </a:p>
        </p:txBody>
      </p:sp>
      <p:sp>
        <p:nvSpPr>
          <p:cNvPr id="37" name="Text 34"/>
          <p:cNvSpPr/>
          <p:nvPr/>
        </p:nvSpPr>
        <p:spPr>
          <a:xfrm>
            <a:off x="5605272" y="2852928"/>
            <a:ext cx="1280160" cy="457200"/>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Cliente del exterior</a:t>
            </a:r>
            <a:endParaRPr lang="en-US" sz="1000" dirty="0"/>
          </a:p>
        </p:txBody>
      </p:sp>
      <p:sp>
        <p:nvSpPr>
          <p:cNvPr id="38" name="Text 35"/>
          <p:cNvSpPr/>
          <p:nvPr/>
        </p:nvSpPr>
        <p:spPr>
          <a:xfrm>
            <a:off x="5605272" y="3346704"/>
            <a:ext cx="1280160" cy="384048"/>
          </a:xfrm>
          <a:prstGeom prst="rect">
            <a:avLst/>
          </a:prstGeom>
          <a:noFill/>
          <a:ln/>
        </p:spPr>
        <p:txBody>
          <a:bodyPr wrap="square" lIns="0" tIns="0" rIns="0" bIns="0" rtlCol="0" anchor="t"/>
          <a:lstStyle/>
          <a:p>
            <a:pPr algn="ctr" indent="0" marL="0">
              <a:lnSpc>
                <a:spcPts val="1100"/>
              </a:lnSpc>
              <a:buNone/>
            </a:pPr>
            <a:r>
              <a:rPr lang="en-US" sz="950" i="1" dirty="0">
                <a:solidFill>
                  <a:srgbClr val="DCE6F2"/>
                </a:solidFill>
                <a:latin typeface="Inter" pitchFamily="34" charset="0"/>
                <a:ea typeface="Inter" pitchFamily="34" charset="-122"/>
                <a:cs typeface="Inter" pitchFamily="34" charset="-120"/>
              </a:rPr>
              <a:t>No aplica</a:t>
            </a:r>
            <a:endParaRPr lang="en-US" sz="950" dirty="0"/>
          </a:p>
        </p:txBody>
      </p:sp>
      <p:sp>
        <p:nvSpPr>
          <p:cNvPr id="39" name="Shape 36"/>
          <p:cNvSpPr/>
          <p:nvPr/>
        </p:nvSpPr>
        <p:spPr>
          <a:xfrm>
            <a:off x="7150608" y="1188720"/>
            <a:ext cx="1463040" cy="2606040"/>
          </a:xfrm>
          <a:prstGeom prst="roundRect">
            <a:avLst>
              <a:gd name="adj" fmla="val 5625"/>
            </a:avLst>
          </a:prstGeom>
          <a:solidFill>
            <a:srgbClr val="7C8594"/>
          </a:solidFill>
          <a:ln w="12700">
            <a:solidFill>
              <a:srgbClr val="7C8594"/>
            </a:solidFill>
            <a:prstDash val="solid"/>
          </a:ln>
        </p:spPr>
      </p:sp>
      <p:sp>
        <p:nvSpPr>
          <p:cNvPr id="40" name="Shape 37"/>
          <p:cNvSpPr/>
          <p:nvPr/>
        </p:nvSpPr>
        <p:spPr>
          <a:xfrm>
            <a:off x="7607808" y="1371600"/>
            <a:ext cx="548640" cy="548640"/>
          </a:xfrm>
          <a:prstGeom prst="roundRect">
            <a:avLst>
              <a:gd name="adj" fmla="val 26667"/>
            </a:avLst>
          </a:prstGeom>
          <a:solidFill>
            <a:srgbClr val="FFFFFF"/>
          </a:solidFill>
          <a:ln w="12700">
            <a:solidFill>
              <a:srgbClr val="FFFFFF"/>
            </a:solidFill>
            <a:prstDash val="solid"/>
          </a:ln>
        </p:spPr>
      </p:sp>
      <p:sp>
        <p:nvSpPr>
          <p:cNvPr id="41" name="Text 38"/>
          <p:cNvSpPr/>
          <p:nvPr/>
        </p:nvSpPr>
        <p:spPr>
          <a:xfrm>
            <a:off x="7607808" y="1371600"/>
            <a:ext cx="548640" cy="548640"/>
          </a:xfrm>
          <a:prstGeom prst="rect">
            <a:avLst/>
          </a:prstGeom>
          <a:noFill/>
          <a:ln/>
        </p:spPr>
        <p:txBody>
          <a:bodyPr wrap="square" lIns="0" tIns="0" rIns="0" bIns="0" rtlCol="0" anchor="ctr"/>
          <a:lstStyle/>
          <a:p>
            <a:pPr algn="ctr" indent="0" marL="0">
              <a:buNone/>
            </a:pPr>
            <a:r>
              <a:rPr lang="en-US" sz="2600" b="1" dirty="0">
                <a:solidFill>
                  <a:srgbClr val="4E586E"/>
                </a:solidFill>
                <a:latin typeface="Inter" pitchFamily="34" charset="0"/>
                <a:ea typeface="Inter" pitchFamily="34" charset="-122"/>
                <a:cs typeface="Inter" pitchFamily="34" charset="-120"/>
              </a:rPr>
              <a:t>M</a:t>
            </a:r>
            <a:endParaRPr lang="en-US" sz="2600" dirty="0"/>
          </a:p>
        </p:txBody>
      </p:sp>
      <p:sp>
        <p:nvSpPr>
          <p:cNvPr id="42" name="Text 39"/>
          <p:cNvSpPr/>
          <p:nvPr/>
        </p:nvSpPr>
        <p:spPr>
          <a:xfrm>
            <a:off x="7260336" y="2048256"/>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EMITE</a:t>
            </a:r>
            <a:endParaRPr lang="en-US" sz="800" dirty="0"/>
          </a:p>
        </p:txBody>
      </p:sp>
      <p:sp>
        <p:nvSpPr>
          <p:cNvPr id="43" name="Text 40"/>
          <p:cNvSpPr/>
          <p:nvPr/>
        </p:nvSpPr>
        <p:spPr>
          <a:xfrm>
            <a:off x="7242048" y="2231136"/>
            <a:ext cx="1280160" cy="402336"/>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Sin solvencia verificada</a:t>
            </a:r>
            <a:endParaRPr lang="en-US" sz="1000" dirty="0"/>
          </a:p>
        </p:txBody>
      </p:sp>
      <p:sp>
        <p:nvSpPr>
          <p:cNvPr id="44" name="Text 41"/>
          <p:cNvSpPr/>
          <p:nvPr/>
        </p:nvSpPr>
        <p:spPr>
          <a:xfrm>
            <a:off x="7260336" y="2670048"/>
            <a:ext cx="1243584" cy="182880"/>
          </a:xfrm>
          <a:prstGeom prst="rect">
            <a:avLst/>
          </a:prstGeom>
          <a:noFill/>
          <a:ln/>
        </p:spPr>
        <p:txBody>
          <a:bodyPr wrap="square" lIns="0" tIns="0" rIns="0" bIns="0" rtlCol="0" anchor="ctr"/>
          <a:lstStyle/>
          <a:p>
            <a:pPr algn="ctr" indent="0" marL="0">
              <a:buNone/>
            </a:pPr>
            <a:r>
              <a:rPr lang="en-US" sz="800" b="1" spc="80" kern="0" dirty="0">
                <a:solidFill>
                  <a:srgbClr val="C9D6E6"/>
                </a:solidFill>
                <a:latin typeface="Inter" pitchFamily="34" charset="0"/>
                <a:ea typeface="Inter" pitchFamily="34" charset="-122"/>
                <a:cs typeface="Inter" pitchFamily="34" charset="-120"/>
              </a:rPr>
              <a:t>RECIBE</a:t>
            </a:r>
            <a:endParaRPr lang="en-US" sz="800" dirty="0"/>
          </a:p>
        </p:txBody>
      </p:sp>
      <p:sp>
        <p:nvSpPr>
          <p:cNvPr id="45" name="Text 42"/>
          <p:cNvSpPr/>
          <p:nvPr/>
        </p:nvSpPr>
        <p:spPr>
          <a:xfrm>
            <a:off x="7242048" y="2852928"/>
            <a:ext cx="1280160" cy="457200"/>
          </a:xfrm>
          <a:prstGeom prst="rect">
            <a:avLst/>
          </a:prstGeom>
          <a:noFill/>
          <a:ln/>
        </p:spPr>
        <p:txBody>
          <a:bodyPr wrap="square" lIns="0" tIns="0" rIns="0" bIns="0" rtlCol="0" anchor="t"/>
          <a:lstStyle/>
          <a:p>
            <a:pPr algn="ctr" indent="0" marL="0">
              <a:lnSpc>
                <a:spcPts val="1200"/>
              </a:lnSpc>
              <a:buNone/>
            </a:pPr>
            <a:r>
              <a:rPr lang="en-US" sz="1000" dirty="0">
                <a:solidFill>
                  <a:srgbClr val="FFFFFF"/>
                </a:solidFill>
                <a:latin typeface="Inter" pitchFamily="34" charset="0"/>
                <a:ea typeface="Inter" pitchFamily="34" charset="-122"/>
                <a:cs typeface="Inter" pitchFamily="34" charset="-120"/>
              </a:rPr>
              <a:t>Resp. Inscripto</a:t>
            </a:r>
            <a:endParaRPr lang="en-US" sz="1000" dirty="0"/>
          </a:p>
        </p:txBody>
      </p:sp>
      <p:sp>
        <p:nvSpPr>
          <p:cNvPr id="46" name="Text 43"/>
          <p:cNvSpPr/>
          <p:nvPr/>
        </p:nvSpPr>
        <p:spPr>
          <a:xfrm>
            <a:off x="7242048" y="3346704"/>
            <a:ext cx="1280160" cy="384048"/>
          </a:xfrm>
          <a:prstGeom prst="rect">
            <a:avLst/>
          </a:prstGeom>
          <a:noFill/>
          <a:ln/>
        </p:spPr>
        <p:txBody>
          <a:bodyPr wrap="square" lIns="0" tIns="0" rIns="0" bIns="0" rtlCol="0" anchor="t"/>
          <a:lstStyle/>
          <a:p>
            <a:pPr algn="ctr" indent="0" marL="0">
              <a:lnSpc>
                <a:spcPts val="1100"/>
              </a:lnSpc>
              <a:buNone/>
            </a:pPr>
            <a:r>
              <a:rPr lang="en-US" sz="950" i="1" dirty="0">
                <a:solidFill>
                  <a:srgbClr val="DCE6F2"/>
                </a:solidFill>
                <a:latin typeface="Inter" pitchFamily="34" charset="0"/>
                <a:ea typeface="Inter" pitchFamily="34" charset="-122"/>
                <a:cs typeface="Inter" pitchFamily="34" charset="-120"/>
              </a:rPr>
              <a:t>IVA + retención extra</a:t>
            </a:r>
            <a:endParaRPr lang="en-US" sz="950" dirty="0"/>
          </a:p>
        </p:txBody>
      </p:sp>
      <p:sp>
        <p:nvSpPr>
          <p:cNvPr id="47" name="Shape 44"/>
          <p:cNvSpPr/>
          <p:nvPr/>
        </p:nvSpPr>
        <p:spPr>
          <a:xfrm>
            <a:off x="603504" y="4005072"/>
            <a:ext cx="8083296" cy="658368"/>
          </a:xfrm>
          <a:prstGeom prst="roundRect">
            <a:avLst>
              <a:gd name="adj" fmla="val 12500"/>
            </a:avLst>
          </a:prstGeom>
          <a:solidFill>
            <a:srgbClr val="E74B3C"/>
          </a:solidFill>
          <a:ln w="12700">
            <a:solidFill>
              <a:srgbClr val="E74B3C"/>
            </a:solidFill>
            <a:prstDash val="solid"/>
          </a:ln>
        </p:spPr>
      </p:sp>
      <p:sp>
        <p:nvSpPr>
          <p:cNvPr id="48" name="Text 45"/>
          <p:cNvSpPr/>
          <p:nvPr/>
        </p:nvSpPr>
        <p:spPr>
          <a:xfrm>
            <a:off x="841248" y="4050792"/>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SEÑAL DE ALERTA</a:t>
            </a:r>
            <a:endParaRPr lang="en-US" sz="900" dirty="0"/>
          </a:p>
        </p:txBody>
      </p:sp>
      <p:sp>
        <p:nvSpPr>
          <p:cNvPr id="49" name="Text 46"/>
          <p:cNvSpPr/>
          <p:nvPr/>
        </p:nvSpPr>
        <p:spPr>
          <a:xfrm>
            <a:off x="841248" y="4251960"/>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Si el tipo de factura no coincide con la condición fiscal del emisor, algo está mal: hay que frenar y revisar la constancia antes de pagar.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CAE: sin eso, no se paga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Código de Autorización Electrónico — es lo que le da validez fiscal a la factura.</a:t>
            </a:r>
            <a:endParaRPr lang="en-US" sz="1200" dirty="0"/>
          </a:p>
        </p:txBody>
      </p:sp>
      <p:sp>
        <p:nvSpPr>
          <p:cNvPr id="7" name="Shape 4"/>
          <p:cNvSpPr/>
          <p:nvPr/>
        </p:nvSpPr>
        <p:spPr>
          <a:xfrm>
            <a:off x="603504" y="1188720"/>
            <a:ext cx="2834640" cy="3246120"/>
          </a:xfrm>
          <a:prstGeom prst="roundRect">
            <a:avLst>
              <a:gd name="adj" fmla="val 2903"/>
            </a:avLst>
          </a:prstGeom>
          <a:solidFill>
            <a:srgbClr val="08407C"/>
          </a:solidFill>
          <a:ln w="12700">
            <a:solidFill>
              <a:srgbClr val="08407C"/>
            </a:solidFill>
            <a:prstDash val="solid"/>
          </a:ln>
        </p:spPr>
      </p:sp>
      <p:sp>
        <p:nvSpPr>
          <p:cNvPr id="8" name="Text 5"/>
          <p:cNvSpPr/>
          <p:nvPr/>
        </p:nvSpPr>
        <p:spPr>
          <a:xfrm>
            <a:off x="841248" y="1371600"/>
            <a:ext cx="2377440" cy="310896"/>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¿Qué es?</a:t>
            </a:r>
            <a:endParaRPr lang="en-US" sz="1600" dirty="0"/>
          </a:p>
        </p:txBody>
      </p:sp>
      <p:sp>
        <p:nvSpPr>
          <p:cNvPr id="9" name="Text 6"/>
          <p:cNvSpPr/>
          <p:nvPr/>
        </p:nvSpPr>
        <p:spPr>
          <a:xfrm>
            <a:off x="841248" y="1783080"/>
            <a:ext cx="2377440" cy="1691640"/>
          </a:xfrm>
          <a:prstGeom prst="rect">
            <a:avLst/>
          </a:prstGeom>
          <a:noFill/>
          <a:ln/>
        </p:spPr>
        <p:txBody>
          <a:bodyPr wrap="square" lIns="0" tIns="0" rIns="0" bIns="0" rtlCol="0" anchor="ctr"/>
          <a:lstStyle/>
          <a:p>
            <a:pPr indent="0" marL="0">
              <a:lnSpc>
                <a:spcPts val="1500"/>
              </a:lnSpc>
              <a:buNone/>
            </a:pPr>
            <a:r>
              <a:rPr lang="en-US" sz="1050" dirty="0">
                <a:solidFill>
                  <a:srgbClr val="DCE6F2"/>
                </a:solidFill>
                <a:latin typeface="Inter" pitchFamily="34" charset="0"/>
                <a:ea typeface="Inter" pitchFamily="34" charset="-122"/>
                <a:cs typeface="Inter" pitchFamily="34" charset="-120"/>
              </a:rPr>
              <a:t>El número único que ARCA le asigna a cada comprobante al validarlo. Toda la facturación es electrónica: ya no existe el talonario impreso como opción habitual.</a:t>
            </a:r>
            <a:endParaRPr lang="en-US" sz="1050" dirty="0"/>
          </a:p>
          <a:p>
            <a:pPr indent="0" marL="0">
              <a:lnSpc>
                <a:spcPts val="1500"/>
              </a:lnSpc>
              <a:buNone/>
            </a:pPr>
            <a:endParaRPr lang="en-US" sz="1050" dirty="0"/>
          </a:p>
          <a:p>
            <a:pPr indent="0" marL="0">
              <a:lnSpc>
                <a:spcPts val="1500"/>
              </a:lnSpc>
              <a:buNone/>
            </a:pPr>
            <a:r>
              <a:rPr lang="en-US" sz="1050" dirty="0">
                <a:solidFill>
                  <a:srgbClr val="DCE6F2"/>
                </a:solidFill>
                <a:latin typeface="Inter" pitchFamily="34" charset="0"/>
                <a:ea typeface="Inter" pitchFamily="34" charset="-122"/>
                <a:cs typeface="Inter" pitchFamily="34" charset="-120"/>
              </a:rPr>
              <a:t>Sin CAE, o con el CAE vencido, el comprobante no tiene respaldo ante el fisco.</a:t>
            </a:r>
            <a:endParaRPr lang="en-US" sz="1050" dirty="0"/>
          </a:p>
        </p:txBody>
      </p:sp>
      <p:sp>
        <p:nvSpPr>
          <p:cNvPr id="10" name="Shape 7"/>
          <p:cNvSpPr/>
          <p:nvPr/>
        </p:nvSpPr>
        <p:spPr>
          <a:xfrm>
            <a:off x="841248" y="3566160"/>
            <a:ext cx="2377440" cy="658368"/>
          </a:xfrm>
          <a:prstGeom prst="roundRect">
            <a:avLst>
              <a:gd name="adj" fmla="val 12500"/>
            </a:avLst>
          </a:prstGeom>
          <a:solidFill>
            <a:srgbClr val="0A5296"/>
          </a:solidFill>
          <a:ln w="12700">
            <a:solidFill>
              <a:srgbClr val="0A5296"/>
            </a:solidFill>
            <a:prstDash val="solid"/>
          </a:ln>
        </p:spPr>
      </p:sp>
      <p:sp>
        <p:nvSpPr>
          <p:cNvPr id="11" name="Text 8"/>
          <p:cNvSpPr/>
          <p:nvPr/>
        </p:nvSpPr>
        <p:spPr>
          <a:xfrm>
            <a:off x="987552" y="3566160"/>
            <a:ext cx="2103120" cy="658368"/>
          </a:xfrm>
          <a:prstGeom prst="rect">
            <a:avLst/>
          </a:prstGeom>
          <a:noFill/>
          <a:ln/>
        </p:spPr>
        <p:txBody>
          <a:bodyPr wrap="square" lIns="0" tIns="0" rIns="0" bIns="0" rtlCol="0" anchor="ctr"/>
          <a:lstStyle/>
          <a:p>
            <a:pPr indent="0" marL="0">
              <a:lnSpc>
                <a:spcPts val="1200"/>
              </a:lnSpc>
              <a:buNone/>
            </a:pPr>
            <a:r>
              <a:rPr lang="en-US" sz="950" dirty="0">
                <a:solidFill>
                  <a:srgbClr val="FFFFFF"/>
                </a:solidFill>
                <a:latin typeface="Inter" pitchFamily="34" charset="0"/>
                <a:ea typeface="Inter" pitchFamily="34" charset="-122"/>
                <a:cs typeface="Inter" pitchFamily="34" charset="-120"/>
              </a:rPr>
              <a:t>Si pagás sin CAE válido, ARCA puede impugnar el gasto en IVA y Ganancias.</a:t>
            </a:r>
            <a:endParaRPr lang="en-US" sz="950" dirty="0"/>
          </a:p>
        </p:txBody>
      </p:sp>
      <p:sp>
        <p:nvSpPr>
          <p:cNvPr id="12" name="Text 9"/>
          <p:cNvSpPr/>
          <p:nvPr/>
        </p:nvSpPr>
        <p:spPr>
          <a:xfrm>
            <a:off x="3666744" y="1188720"/>
            <a:ext cx="5029200" cy="329184"/>
          </a:xfrm>
          <a:prstGeom prst="rect">
            <a:avLst/>
          </a:prstGeom>
          <a:noFill/>
          <a:ln/>
        </p:spPr>
        <p:txBody>
          <a:bodyPr wrap="square" lIns="0" tIns="0" rIns="0" bIns="0" rtlCol="0" anchor="ctr"/>
          <a:lstStyle/>
          <a:p>
            <a:pPr indent="0" marL="0">
              <a:buNone/>
            </a:pPr>
            <a:r>
              <a:rPr lang="en-US" sz="1500" b="1" dirty="0">
                <a:solidFill>
                  <a:srgbClr val="08407C"/>
                </a:solidFill>
                <a:latin typeface="Inter" pitchFamily="34" charset="0"/>
                <a:ea typeface="Inter" pitchFamily="34" charset="-122"/>
                <a:cs typeface="Inter" pitchFamily="34" charset="-120"/>
              </a:rPr>
              <a:t>Cómo validar el CAE de una factura recibida</a:t>
            </a:r>
            <a:endParaRPr lang="en-US" sz="1500" dirty="0"/>
          </a:p>
        </p:txBody>
      </p:sp>
      <p:sp>
        <p:nvSpPr>
          <p:cNvPr id="13" name="Shape 10"/>
          <p:cNvSpPr/>
          <p:nvPr/>
        </p:nvSpPr>
        <p:spPr>
          <a:xfrm>
            <a:off x="3666744" y="1700784"/>
            <a:ext cx="365760" cy="365760"/>
          </a:xfrm>
          <a:prstGeom prst="roundRect">
            <a:avLst>
              <a:gd name="adj" fmla="val 125000"/>
            </a:avLst>
          </a:prstGeom>
          <a:solidFill>
            <a:srgbClr val="08407C"/>
          </a:solidFill>
          <a:ln w="12700">
            <a:solidFill>
              <a:srgbClr val="08407C"/>
            </a:solidFill>
            <a:prstDash val="solid"/>
          </a:ln>
        </p:spPr>
      </p:sp>
      <p:sp>
        <p:nvSpPr>
          <p:cNvPr id="14" name="Text 11"/>
          <p:cNvSpPr/>
          <p:nvPr/>
        </p:nvSpPr>
        <p:spPr>
          <a:xfrm>
            <a:off x="3666744" y="170078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1</a:t>
            </a:r>
            <a:endParaRPr lang="en-US" sz="1150" dirty="0"/>
          </a:p>
        </p:txBody>
      </p:sp>
      <p:sp>
        <p:nvSpPr>
          <p:cNvPr id="15" name="Text 12"/>
          <p:cNvSpPr/>
          <p:nvPr/>
        </p:nvSpPr>
        <p:spPr>
          <a:xfrm>
            <a:off x="4169664" y="1664208"/>
            <a:ext cx="4526280" cy="438912"/>
          </a:xfrm>
          <a:prstGeom prst="rect">
            <a:avLst/>
          </a:prstGeom>
          <a:noFill/>
          <a:ln/>
        </p:spPr>
        <p:txBody>
          <a:bodyPr wrap="square" lIns="0" tIns="0" rIns="0" bIns="0" rtlCol="0" anchor="ctr"/>
          <a:lstStyle/>
          <a:p>
            <a:pPr indent="0" marL="0">
              <a:lnSpc>
                <a:spcPts val="1400"/>
              </a:lnSpc>
              <a:buNone/>
            </a:pPr>
            <a:r>
              <a:rPr lang="en-US" sz="1150" dirty="0">
                <a:solidFill>
                  <a:srgbClr val="2E4258"/>
                </a:solidFill>
                <a:latin typeface="Inter" pitchFamily="34" charset="0"/>
                <a:ea typeface="Inter" pitchFamily="34" charset="-122"/>
                <a:cs typeface="Inter" pitchFamily="34" charset="-120"/>
              </a:rPr>
              <a:t>Ubicar el CAE y su fecha de vencimiento, al pie del comprobante.</a:t>
            </a:r>
            <a:endParaRPr lang="en-US" sz="1150" dirty="0"/>
          </a:p>
        </p:txBody>
      </p:sp>
      <p:sp>
        <p:nvSpPr>
          <p:cNvPr id="16" name="Shape 13"/>
          <p:cNvSpPr/>
          <p:nvPr/>
        </p:nvSpPr>
        <p:spPr>
          <a:xfrm>
            <a:off x="3666744" y="2267712"/>
            <a:ext cx="365760" cy="365760"/>
          </a:xfrm>
          <a:prstGeom prst="roundRect">
            <a:avLst>
              <a:gd name="adj" fmla="val 125000"/>
            </a:avLst>
          </a:prstGeom>
          <a:solidFill>
            <a:srgbClr val="08407C"/>
          </a:solidFill>
          <a:ln w="12700">
            <a:solidFill>
              <a:srgbClr val="08407C"/>
            </a:solidFill>
            <a:prstDash val="solid"/>
          </a:ln>
        </p:spPr>
      </p:sp>
      <p:sp>
        <p:nvSpPr>
          <p:cNvPr id="17" name="Text 14"/>
          <p:cNvSpPr/>
          <p:nvPr/>
        </p:nvSpPr>
        <p:spPr>
          <a:xfrm>
            <a:off x="3666744" y="226771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2</a:t>
            </a:r>
            <a:endParaRPr lang="en-US" sz="1150" dirty="0"/>
          </a:p>
        </p:txBody>
      </p:sp>
      <p:sp>
        <p:nvSpPr>
          <p:cNvPr id="18" name="Text 15"/>
          <p:cNvSpPr/>
          <p:nvPr/>
        </p:nvSpPr>
        <p:spPr>
          <a:xfrm>
            <a:off x="4169664" y="2231136"/>
            <a:ext cx="4526280" cy="438912"/>
          </a:xfrm>
          <a:prstGeom prst="rect">
            <a:avLst/>
          </a:prstGeom>
          <a:noFill/>
          <a:ln/>
        </p:spPr>
        <p:txBody>
          <a:bodyPr wrap="square" lIns="0" tIns="0" rIns="0" bIns="0" rtlCol="0" anchor="ctr"/>
          <a:lstStyle/>
          <a:p>
            <a:pPr indent="0" marL="0">
              <a:lnSpc>
                <a:spcPts val="1400"/>
              </a:lnSpc>
              <a:buNone/>
            </a:pPr>
            <a:r>
              <a:rPr lang="en-US" sz="1150" dirty="0">
                <a:solidFill>
                  <a:srgbClr val="2E4258"/>
                </a:solidFill>
                <a:latin typeface="Inter" pitchFamily="34" charset="0"/>
                <a:ea typeface="Inter" pitchFamily="34" charset="-122"/>
                <a:cs typeface="Inter" pitchFamily="34" charset="-120"/>
              </a:rPr>
              <a:t>Entrar a arca.gob.ar → Comprobantes en línea.</a:t>
            </a:r>
            <a:endParaRPr lang="en-US" sz="1150" dirty="0"/>
          </a:p>
        </p:txBody>
      </p:sp>
      <p:sp>
        <p:nvSpPr>
          <p:cNvPr id="19" name="Shape 16"/>
          <p:cNvSpPr/>
          <p:nvPr/>
        </p:nvSpPr>
        <p:spPr>
          <a:xfrm>
            <a:off x="3666744" y="2834640"/>
            <a:ext cx="365760" cy="365760"/>
          </a:xfrm>
          <a:prstGeom prst="roundRect">
            <a:avLst>
              <a:gd name="adj" fmla="val 125000"/>
            </a:avLst>
          </a:prstGeom>
          <a:solidFill>
            <a:srgbClr val="08407C"/>
          </a:solidFill>
          <a:ln w="12700">
            <a:solidFill>
              <a:srgbClr val="08407C"/>
            </a:solidFill>
            <a:prstDash val="solid"/>
          </a:ln>
        </p:spPr>
      </p:sp>
      <p:sp>
        <p:nvSpPr>
          <p:cNvPr id="20" name="Text 17"/>
          <p:cNvSpPr/>
          <p:nvPr/>
        </p:nvSpPr>
        <p:spPr>
          <a:xfrm>
            <a:off x="3666744" y="283464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3</a:t>
            </a:r>
            <a:endParaRPr lang="en-US" sz="1150" dirty="0"/>
          </a:p>
        </p:txBody>
      </p:sp>
      <p:sp>
        <p:nvSpPr>
          <p:cNvPr id="21" name="Text 18"/>
          <p:cNvSpPr/>
          <p:nvPr/>
        </p:nvSpPr>
        <p:spPr>
          <a:xfrm>
            <a:off x="4169664" y="2798064"/>
            <a:ext cx="4526280" cy="438912"/>
          </a:xfrm>
          <a:prstGeom prst="rect">
            <a:avLst/>
          </a:prstGeom>
          <a:noFill/>
          <a:ln/>
        </p:spPr>
        <p:txBody>
          <a:bodyPr wrap="square" lIns="0" tIns="0" rIns="0" bIns="0" rtlCol="0" anchor="ctr"/>
          <a:lstStyle/>
          <a:p>
            <a:pPr indent="0" marL="0">
              <a:lnSpc>
                <a:spcPts val="1400"/>
              </a:lnSpc>
              <a:buNone/>
            </a:pPr>
            <a:r>
              <a:rPr lang="en-US" sz="1150" dirty="0">
                <a:solidFill>
                  <a:srgbClr val="2E4258"/>
                </a:solidFill>
                <a:latin typeface="Inter" pitchFamily="34" charset="0"/>
                <a:ea typeface="Inter" pitchFamily="34" charset="-122"/>
                <a:cs typeface="Inter" pitchFamily="34" charset="-120"/>
              </a:rPr>
              <a:t>Cargar el CUIT del emisor y el tipo y número de comprobante.</a:t>
            </a:r>
            <a:endParaRPr lang="en-US" sz="1150" dirty="0"/>
          </a:p>
        </p:txBody>
      </p:sp>
      <p:sp>
        <p:nvSpPr>
          <p:cNvPr id="22" name="Shape 19"/>
          <p:cNvSpPr/>
          <p:nvPr/>
        </p:nvSpPr>
        <p:spPr>
          <a:xfrm>
            <a:off x="3666744" y="3401568"/>
            <a:ext cx="365760" cy="365760"/>
          </a:xfrm>
          <a:prstGeom prst="roundRect">
            <a:avLst>
              <a:gd name="adj" fmla="val 125000"/>
            </a:avLst>
          </a:prstGeom>
          <a:solidFill>
            <a:srgbClr val="08407C"/>
          </a:solidFill>
          <a:ln w="12700">
            <a:solidFill>
              <a:srgbClr val="08407C"/>
            </a:solidFill>
            <a:prstDash val="solid"/>
          </a:ln>
        </p:spPr>
      </p:sp>
      <p:sp>
        <p:nvSpPr>
          <p:cNvPr id="23" name="Text 20"/>
          <p:cNvSpPr/>
          <p:nvPr/>
        </p:nvSpPr>
        <p:spPr>
          <a:xfrm>
            <a:off x="3666744" y="340156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4</a:t>
            </a:r>
            <a:endParaRPr lang="en-US" sz="1150" dirty="0"/>
          </a:p>
        </p:txBody>
      </p:sp>
      <p:sp>
        <p:nvSpPr>
          <p:cNvPr id="24" name="Text 21"/>
          <p:cNvSpPr/>
          <p:nvPr/>
        </p:nvSpPr>
        <p:spPr>
          <a:xfrm>
            <a:off x="4169664" y="3364992"/>
            <a:ext cx="4526280" cy="438912"/>
          </a:xfrm>
          <a:prstGeom prst="rect">
            <a:avLst/>
          </a:prstGeom>
          <a:noFill/>
          <a:ln/>
        </p:spPr>
        <p:txBody>
          <a:bodyPr wrap="square" lIns="0" tIns="0" rIns="0" bIns="0" rtlCol="0" anchor="ctr"/>
          <a:lstStyle/>
          <a:p>
            <a:pPr indent="0" marL="0">
              <a:lnSpc>
                <a:spcPts val="1400"/>
              </a:lnSpc>
              <a:buNone/>
            </a:pPr>
            <a:r>
              <a:rPr lang="en-US" sz="1150" dirty="0">
                <a:solidFill>
                  <a:srgbClr val="2E4258"/>
                </a:solidFill>
                <a:latin typeface="Inter" pitchFamily="34" charset="0"/>
                <a:ea typeface="Inter" pitchFamily="34" charset="-122"/>
                <a:cs typeface="Inter" pitchFamily="34" charset="-120"/>
              </a:rPr>
              <a:t>Verificar que el CAE informado coincida con el de la factura.</a:t>
            </a:r>
            <a:endParaRPr lang="en-US" sz="1150" dirty="0"/>
          </a:p>
        </p:txBody>
      </p:sp>
      <p:sp>
        <p:nvSpPr>
          <p:cNvPr id="25" name="Shape 22"/>
          <p:cNvSpPr/>
          <p:nvPr/>
        </p:nvSpPr>
        <p:spPr>
          <a:xfrm>
            <a:off x="3666744" y="3968496"/>
            <a:ext cx="365760" cy="365760"/>
          </a:xfrm>
          <a:prstGeom prst="roundRect">
            <a:avLst>
              <a:gd name="adj" fmla="val 125000"/>
            </a:avLst>
          </a:prstGeom>
          <a:solidFill>
            <a:srgbClr val="E74B3C"/>
          </a:solidFill>
          <a:ln w="12700">
            <a:solidFill>
              <a:srgbClr val="E74B3C"/>
            </a:solidFill>
            <a:prstDash val="solid"/>
          </a:ln>
        </p:spPr>
      </p:sp>
      <p:sp>
        <p:nvSpPr>
          <p:cNvPr id="26" name="Text 23"/>
          <p:cNvSpPr/>
          <p:nvPr/>
        </p:nvSpPr>
        <p:spPr>
          <a:xfrm>
            <a:off x="3666744" y="39684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5</a:t>
            </a:r>
            <a:endParaRPr lang="en-US" sz="1150" dirty="0"/>
          </a:p>
        </p:txBody>
      </p:sp>
      <p:sp>
        <p:nvSpPr>
          <p:cNvPr id="27" name="Text 24"/>
          <p:cNvSpPr/>
          <p:nvPr/>
        </p:nvSpPr>
        <p:spPr>
          <a:xfrm>
            <a:off x="4169664" y="3931920"/>
            <a:ext cx="4526280" cy="438912"/>
          </a:xfrm>
          <a:prstGeom prst="rect">
            <a:avLst/>
          </a:prstGeom>
          <a:noFill/>
          <a:ln/>
        </p:spPr>
        <p:txBody>
          <a:bodyPr wrap="square" lIns="0" tIns="0" rIns="0" bIns="0" rtlCol="0" anchor="ctr"/>
          <a:lstStyle/>
          <a:p>
            <a:pPr indent="0" marL="0">
              <a:lnSpc>
                <a:spcPts val="1400"/>
              </a:lnSpc>
              <a:buNone/>
            </a:pPr>
            <a:r>
              <a:rPr lang="en-US" sz="1150" dirty="0">
                <a:solidFill>
                  <a:srgbClr val="2E4258"/>
                </a:solidFill>
                <a:latin typeface="Inter" pitchFamily="34" charset="0"/>
                <a:ea typeface="Inter" pitchFamily="34" charset="-122"/>
                <a:cs typeface="Inter" pitchFamily="34" charset="-120"/>
              </a:rPr>
              <a:t>Si no coincide o no existe: no pagar y avisar al proveedor.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IVA y Ganancias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Los dos impuestos nacionales que atraviesan toda la operación.</a:t>
            </a:r>
            <a:endParaRPr lang="en-US" sz="1200" dirty="0"/>
          </a:p>
        </p:txBody>
      </p:sp>
      <p:sp>
        <p:nvSpPr>
          <p:cNvPr id="7" name="Shape 4"/>
          <p:cNvSpPr/>
          <p:nvPr/>
        </p:nvSpPr>
        <p:spPr>
          <a:xfrm>
            <a:off x="603504" y="1188720"/>
            <a:ext cx="3950208" cy="3246120"/>
          </a:xfrm>
          <a:prstGeom prst="roundRect">
            <a:avLst>
              <a:gd name="adj" fmla="val 2535"/>
            </a:avLst>
          </a:prstGeom>
          <a:solidFill>
            <a:srgbClr val="08407C"/>
          </a:solidFill>
          <a:ln w="12700">
            <a:solidFill>
              <a:srgbClr val="08407C"/>
            </a:solidFill>
            <a:prstDash val="solid"/>
          </a:ln>
        </p:spPr>
      </p:sp>
      <p:sp>
        <p:nvSpPr>
          <p:cNvPr id="8" name="Text 5"/>
          <p:cNvSpPr/>
          <p:nvPr/>
        </p:nvSpPr>
        <p:spPr>
          <a:xfrm>
            <a:off x="859536" y="1371600"/>
            <a:ext cx="3383280" cy="347472"/>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IVA</a:t>
            </a:r>
            <a:endParaRPr lang="en-US" sz="2000" dirty="0"/>
          </a:p>
        </p:txBody>
      </p:sp>
      <p:sp>
        <p:nvSpPr>
          <p:cNvPr id="9" name="Text 6"/>
          <p:cNvSpPr/>
          <p:nvPr/>
        </p:nvSpPr>
        <p:spPr>
          <a:xfrm>
            <a:off x="859536" y="1755648"/>
            <a:ext cx="3438144" cy="548640"/>
          </a:xfrm>
          <a:prstGeom prst="rect">
            <a:avLst/>
          </a:prstGeom>
          <a:noFill/>
          <a:ln/>
        </p:spPr>
        <p:txBody>
          <a:bodyPr wrap="square" lIns="0" tIns="0" rIns="0" bIns="0" rtlCol="0" anchor="ctr"/>
          <a:lstStyle/>
          <a:p>
            <a:pPr indent="0" marL="0">
              <a:lnSpc>
                <a:spcPts val="1400"/>
              </a:lnSpc>
              <a:buNone/>
            </a:pPr>
            <a:r>
              <a:rPr lang="en-US" sz="1050" dirty="0">
                <a:solidFill>
                  <a:srgbClr val="DCE6F2"/>
                </a:solidFill>
                <a:latin typeface="Inter" pitchFamily="34" charset="0"/>
                <a:ea typeface="Inter" pitchFamily="34" charset="-122"/>
                <a:cs typeface="Inter" pitchFamily="34" charset="-120"/>
              </a:rPr>
              <a:t>Indirecto: lo paga el consumidor final dentro del precio, pero cada eslabón lo liquida ante ARCA. Declaración jurada mensual.</a:t>
            </a:r>
            <a:endParaRPr lang="en-US" sz="1050" dirty="0"/>
          </a:p>
        </p:txBody>
      </p:sp>
      <p:sp>
        <p:nvSpPr>
          <p:cNvPr id="10" name="Text 7"/>
          <p:cNvSpPr/>
          <p:nvPr/>
        </p:nvSpPr>
        <p:spPr>
          <a:xfrm>
            <a:off x="859536" y="2377440"/>
            <a:ext cx="1133856" cy="402336"/>
          </a:xfrm>
          <a:prstGeom prst="rect">
            <a:avLst/>
          </a:prstGeom>
          <a:noFill/>
          <a:ln/>
        </p:spPr>
        <p:txBody>
          <a:bodyPr wrap="square" lIns="0" tIns="0" rIns="0" bIns="0" rtlCol="0" anchor="ctr"/>
          <a:lstStyle/>
          <a:p>
            <a:pPr indent="0" marL="0">
              <a:buNone/>
            </a:pPr>
            <a:r>
              <a:rPr lang="en-US" sz="2300" b="1" dirty="0">
                <a:solidFill>
                  <a:srgbClr val="FFFFFF"/>
                </a:solidFill>
                <a:latin typeface="Inter" pitchFamily="34" charset="0"/>
                <a:ea typeface="Inter" pitchFamily="34" charset="-122"/>
                <a:cs typeface="Inter" pitchFamily="34" charset="-120"/>
              </a:rPr>
              <a:t>21%</a:t>
            </a:r>
            <a:endParaRPr lang="en-US" sz="2300" dirty="0"/>
          </a:p>
        </p:txBody>
      </p:sp>
      <p:sp>
        <p:nvSpPr>
          <p:cNvPr id="11" name="Text 8"/>
          <p:cNvSpPr/>
          <p:nvPr/>
        </p:nvSpPr>
        <p:spPr>
          <a:xfrm>
            <a:off x="859536" y="2798064"/>
            <a:ext cx="1097280" cy="566928"/>
          </a:xfrm>
          <a:prstGeom prst="rect">
            <a:avLst/>
          </a:prstGeom>
          <a:noFill/>
          <a:ln/>
        </p:spPr>
        <p:txBody>
          <a:bodyPr wrap="square" lIns="0" tIns="0" rIns="0" bIns="0" rtlCol="0" anchor="t"/>
          <a:lstStyle/>
          <a:p>
            <a:pPr indent="0" marL="0">
              <a:lnSpc>
                <a:spcPts val="1100"/>
              </a:lnSpc>
              <a:buNone/>
            </a:pPr>
            <a:r>
              <a:rPr lang="en-US" sz="900" dirty="0">
                <a:solidFill>
                  <a:srgbClr val="C9D6E6"/>
                </a:solidFill>
                <a:latin typeface="Inter" pitchFamily="34" charset="0"/>
                <a:ea typeface="Inter" pitchFamily="34" charset="-122"/>
                <a:cs typeface="Inter" pitchFamily="34" charset="-120"/>
              </a:rPr>
              <a:t>Alícuota general</a:t>
            </a:r>
            <a:endParaRPr lang="en-US" sz="900" dirty="0"/>
          </a:p>
        </p:txBody>
      </p:sp>
      <p:sp>
        <p:nvSpPr>
          <p:cNvPr id="12" name="Text 9"/>
          <p:cNvSpPr/>
          <p:nvPr/>
        </p:nvSpPr>
        <p:spPr>
          <a:xfrm>
            <a:off x="2039112" y="2377440"/>
            <a:ext cx="1133856" cy="402336"/>
          </a:xfrm>
          <a:prstGeom prst="rect">
            <a:avLst/>
          </a:prstGeom>
          <a:noFill/>
          <a:ln/>
        </p:spPr>
        <p:txBody>
          <a:bodyPr wrap="square" lIns="0" tIns="0" rIns="0" bIns="0" rtlCol="0" anchor="ctr"/>
          <a:lstStyle/>
          <a:p>
            <a:pPr indent="0" marL="0">
              <a:buNone/>
            </a:pPr>
            <a:r>
              <a:rPr lang="en-US" sz="2300" b="1" dirty="0">
                <a:solidFill>
                  <a:srgbClr val="FFFFFF"/>
                </a:solidFill>
                <a:latin typeface="Inter" pitchFamily="34" charset="0"/>
                <a:ea typeface="Inter" pitchFamily="34" charset="-122"/>
                <a:cs typeface="Inter" pitchFamily="34" charset="-120"/>
              </a:rPr>
              <a:t>10,5%</a:t>
            </a:r>
            <a:endParaRPr lang="en-US" sz="2300" dirty="0"/>
          </a:p>
        </p:txBody>
      </p:sp>
      <p:sp>
        <p:nvSpPr>
          <p:cNvPr id="13" name="Text 10"/>
          <p:cNvSpPr/>
          <p:nvPr/>
        </p:nvSpPr>
        <p:spPr>
          <a:xfrm>
            <a:off x="2039112" y="2798064"/>
            <a:ext cx="1097280" cy="566928"/>
          </a:xfrm>
          <a:prstGeom prst="rect">
            <a:avLst/>
          </a:prstGeom>
          <a:noFill/>
          <a:ln/>
        </p:spPr>
        <p:txBody>
          <a:bodyPr wrap="square" lIns="0" tIns="0" rIns="0" bIns="0" rtlCol="0" anchor="t"/>
          <a:lstStyle/>
          <a:p>
            <a:pPr indent="0" marL="0">
              <a:lnSpc>
                <a:spcPts val="1100"/>
              </a:lnSpc>
              <a:buNone/>
            </a:pPr>
            <a:r>
              <a:rPr lang="en-US" sz="900" dirty="0">
                <a:solidFill>
                  <a:srgbClr val="C9D6E6"/>
                </a:solidFill>
                <a:latin typeface="Inter" pitchFamily="34" charset="0"/>
                <a:ea typeface="Inter" pitchFamily="34" charset="-122"/>
                <a:cs typeface="Inter" pitchFamily="34" charset="-120"/>
              </a:rPr>
              <a:t>Construcción, transporte, prepagas</a:t>
            </a:r>
            <a:endParaRPr lang="en-US" sz="900" dirty="0"/>
          </a:p>
        </p:txBody>
      </p:sp>
      <p:sp>
        <p:nvSpPr>
          <p:cNvPr id="14" name="Text 11"/>
          <p:cNvSpPr/>
          <p:nvPr/>
        </p:nvSpPr>
        <p:spPr>
          <a:xfrm>
            <a:off x="3218688" y="2377440"/>
            <a:ext cx="1133856" cy="402336"/>
          </a:xfrm>
          <a:prstGeom prst="rect">
            <a:avLst/>
          </a:prstGeom>
          <a:noFill/>
          <a:ln/>
        </p:spPr>
        <p:txBody>
          <a:bodyPr wrap="square" lIns="0" tIns="0" rIns="0" bIns="0" rtlCol="0" anchor="ctr"/>
          <a:lstStyle/>
          <a:p>
            <a:pPr indent="0" marL="0">
              <a:buNone/>
            </a:pPr>
            <a:r>
              <a:rPr lang="en-US" sz="2300" b="1" dirty="0">
                <a:solidFill>
                  <a:srgbClr val="FFFFFF"/>
                </a:solidFill>
                <a:latin typeface="Inter" pitchFamily="34" charset="0"/>
                <a:ea typeface="Inter" pitchFamily="34" charset="-122"/>
                <a:cs typeface="Inter" pitchFamily="34" charset="-120"/>
              </a:rPr>
              <a:t>27%</a:t>
            </a:r>
            <a:endParaRPr lang="en-US" sz="2300" dirty="0"/>
          </a:p>
        </p:txBody>
      </p:sp>
      <p:sp>
        <p:nvSpPr>
          <p:cNvPr id="15" name="Text 12"/>
          <p:cNvSpPr/>
          <p:nvPr/>
        </p:nvSpPr>
        <p:spPr>
          <a:xfrm>
            <a:off x="3218688" y="2798064"/>
            <a:ext cx="1097280" cy="566928"/>
          </a:xfrm>
          <a:prstGeom prst="rect">
            <a:avLst/>
          </a:prstGeom>
          <a:noFill/>
          <a:ln/>
        </p:spPr>
        <p:txBody>
          <a:bodyPr wrap="square" lIns="0" tIns="0" rIns="0" bIns="0" rtlCol="0" anchor="t"/>
          <a:lstStyle/>
          <a:p>
            <a:pPr indent="0" marL="0">
              <a:lnSpc>
                <a:spcPts val="1100"/>
              </a:lnSpc>
              <a:buNone/>
            </a:pPr>
            <a:r>
              <a:rPr lang="en-US" sz="900" dirty="0">
                <a:solidFill>
                  <a:srgbClr val="C9D6E6"/>
                </a:solidFill>
                <a:latin typeface="Inter" pitchFamily="34" charset="0"/>
                <a:ea typeface="Inter" pitchFamily="34" charset="-122"/>
                <a:cs typeface="Inter" pitchFamily="34" charset="-120"/>
              </a:rPr>
              <a:t>Luz, gas y teléfono comerciales</a:t>
            </a:r>
            <a:endParaRPr lang="en-US" sz="900" dirty="0"/>
          </a:p>
        </p:txBody>
      </p:sp>
      <p:sp>
        <p:nvSpPr>
          <p:cNvPr id="16" name="Shape 13"/>
          <p:cNvSpPr/>
          <p:nvPr/>
        </p:nvSpPr>
        <p:spPr>
          <a:xfrm>
            <a:off x="859536" y="3456432"/>
            <a:ext cx="3438144" cy="768096"/>
          </a:xfrm>
          <a:prstGeom prst="roundRect">
            <a:avLst>
              <a:gd name="adj" fmla="val 10714"/>
            </a:avLst>
          </a:prstGeom>
          <a:solidFill>
            <a:srgbClr val="0A5296"/>
          </a:solidFill>
          <a:ln w="12700">
            <a:solidFill>
              <a:srgbClr val="0A5296"/>
            </a:solidFill>
            <a:prstDash val="solid"/>
          </a:ln>
        </p:spPr>
      </p:sp>
      <p:sp>
        <p:nvSpPr>
          <p:cNvPr id="17" name="Text 14"/>
          <p:cNvSpPr/>
          <p:nvPr/>
        </p:nvSpPr>
        <p:spPr>
          <a:xfrm>
            <a:off x="1024128" y="3456432"/>
            <a:ext cx="3108960" cy="768096"/>
          </a:xfrm>
          <a:prstGeom prst="rect">
            <a:avLst/>
          </a:prstGeom>
          <a:noFill/>
          <a:ln/>
        </p:spPr>
        <p:txBody>
          <a:bodyPr wrap="square" lIns="0" tIns="0" rIns="0" bIns="0" rtlCol="0" anchor="ctr"/>
          <a:lstStyle/>
          <a:p>
            <a:pPr indent="0" marL="0">
              <a:lnSpc>
                <a:spcPts val="1300"/>
              </a:lnSpc>
              <a:buNone/>
            </a:pPr>
            <a:r>
              <a:rPr lang="en-US" sz="1000" dirty="0">
                <a:solidFill>
                  <a:srgbClr val="FFFFFF"/>
                </a:solidFill>
                <a:latin typeface="Inter" pitchFamily="34" charset="0"/>
                <a:ea typeface="Inter" pitchFamily="34" charset="-122"/>
                <a:cs typeface="Inter" pitchFamily="34" charset="-120"/>
              </a:rPr>
              <a:t>Crédito fiscal es el IVA que pagaste en tus compras; débito fiscal, el que cobraste en tus ventas. Se liquida la diferencia.</a:t>
            </a:r>
            <a:endParaRPr lang="en-US" sz="1000" dirty="0"/>
          </a:p>
        </p:txBody>
      </p:sp>
      <p:sp>
        <p:nvSpPr>
          <p:cNvPr id="18" name="Shape 15"/>
          <p:cNvSpPr/>
          <p:nvPr/>
        </p:nvSpPr>
        <p:spPr>
          <a:xfrm>
            <a:off x="4736592" y="1188720"/>
            <a:ext cx="3950208" cy="3246120"/>
          </a:xfrm>
          <a:prstGeom prst="roundRect">
            <a:avLst>
              <a:gd name="adj" fmla="val 2535"/>
            </a:avLst>
          </a:prstGeom>
          <a:solidFill>
            <a:srgbClr val="7C8594"/>
          </a:solidFill>
          <a:ln w="12700">
            <a:solidFill>
              <a:srgbClr val="7C8594"/>
            </a:solidFill>
            <a:prstDash val="solid"/>
          </a:ln>
        </p:spPr>
      </p:sp>
      <p:sp>
        <p:nvSpPr>
          <p:cNvPr id="19" name="Text 16"/>
          <p:cNvSpPr/>
          <p:nvPr/>
        </p:nvSpPr>
        <p:spPr>
          <a:xfrm>
            <a:off x="4992624" y="1371600"/>
            <a:ext cx="3383280" cy="347472"/>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Ganancias</a:t>
            </a:r>
            <a:endParaRPr lang="en-US" sz="2000" dirty="0"/>
          </a:p>
        </p:txBody>
      </p:sp>
      <p:sp>
        <p:nvSpPr>
          <p:cNvPr id="20" name="Text 17"/>
          <p:cNvSpPr/>
          <p:nvPr/>
        </p:nvSpPr>
        <p:spPr>
          <a:xfrm>
            <a:off x="4992624" y="1755648"/>
            <a:ext cx="3438144" cy="457200"/>
          </a:xfrm>
          <a:prstGeom prst="rect">
            <a:avLst/>
          </a:prstGeom>
          <a:noFill/>
          <a:ln/>
        </p:spPr>
        <p:txBody>
          <a:bodyPr wrap="square" lIns="0" tIns="0" rIns="0" bIns="0" rtlCol="0" anchor="ctr"/>
          <a:lstStyle/>
          <a:p>
            <a:pPr indent="0" marL="0">
              <a:lnSpc>
                <a:spcPts val="1400"/>
              </a:lnSpc>
              <a:buNone/>
            </a:pPr>
            <a:r>
              <a:rPr lang="en-US" sz="1050" dirty="0">
                <a:solidFill>
                  <a:srgbClr val="F0F2F5"/>
                </a:solidFill>
                <a:latin typeface="Inter" pitchFamily="34" charset="0"/>
                <a:ea typeface="Inter" pitchFamily="34" charset="-122"/>
                <a:cs typeface="Inter" pitchFamily="34" charset="-120"/>
              </a:rPr>
              <a:t>Grava la renta de personas y empresas. Declaración jurada anual, con anticipos durante el año.</a:t>
            </a:r>
            <a:endParaRPr lang="en-US" sz="1050" dirty="0"/>
          </a:p>
        </p:txBody>
      </p:sp>
      <p:sp>
        <p:nvSpPr>
          <p:cNvPr id="21" name="Text 18"/>
          <p:cNvSpPr/>
          <p:nvPr/>
        </p:nvSpPr>
        <p:spPr>
          <a:xfrm>
            <a:off x="4992624" y="2304288"/>
            <a:ext cx="3474720" cy="23774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En relación de dependencia</a:t>
            </a:r>
            <a:endParaRPr lang="en-US" sz="1150" dirty="0"/>
          </a:p>
        </p:txBody>
      </p:sp>
      <p:sp>
        <p:nvSpPr>
          <p:cNvPr id="22" name="Text 19"/>
          <p:cNvSpPr/>
          <p:nvPr/>
        </p:nvSpPr>
        <p:spPr>
          <a:xfrm>
            <a:off x="4992624" y="2542032"/>
            <a:ext cx="3474720" cy="457200"/>
          </a:xfrm>
          <a:prstGeom prst="rect">
            <a:avLst/>
          </a:prstGeom>
          <a:noFill/>
          <a:ln/>
        </p:spPr>
        <p:txBody>
          <a:bodyPr wrap="square" lIns="0" tIns="0" rIns="0" bIns="0" rtlCol="0" anchor="ctr"/>
          <a:lstStyle/>
          <a:p>
            <a:pPr indent="0" marL="0">
              <a:lnSpc>
                <a:spcPts val="1200"/>
              </a:lnSpc>
              <a:buNone/>
            </a:pPr>
            <a:r>
              <a:rPr lang="en-US" sz="950" dirty="0">
                <a:solidFill>
                  <a:srgbClr val="F0F2F5"/>
                </a:solidFill>
                <a:latin typeface="Inter" pitchFamily="34" charset="0"/>
                <a:ea typeface="Inter" pitchFamily="34" charset="-122"/>
                <a:cs typeface="Inter" pitchFamily="34" charset="-120"/>
              </a:rPr>
              <a:t>El empleador retiene del sueldo cuando supera el mínimo no imponible vigente.</a:t>
            </a:r>
            <a:endParaRPr lang="en-US" sz="950" dirty="0"/>
          </a:p>
        </p:txBody>
      </p:sp>
      <p:sp>
        <p:nvSpPr>
          <p:cNvPr id="23" name="Text 20"/>
          <p:cNvSpPr/>
          <p:nvPr/>
        </p:nvSpPr>
        <p:spPr>
          <a:xfrm>
            <a:off x="4992624" y="3017520"/>
            <a:ext cx="3474720" cy="23774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En sociedades</a:t>
            </a:r>
            <a:endParaRPr lang="en-US" sz="1150" dirty="0"/>
          </a:p>
        </p:txBody>
      </p:sp>
      <p:sp>
        <p:nvSpPr>
          <p:cNvPr id="24" name="Text 21"/>
          <p:cNvSpPr/>
          <p:nvPr/>
        </p:nvSpPr>
        <p:spPr>
          <a:xfrm>
            <a:off x="4992624" y="3255264"/>
            <a:ext cx="3474720" cy="457200"/>
          </a:xfrm>
          <a:prstGeom prst="rect">
            <a:avLst/>
          </a:prstGeom>
          <a:noFill/>
          <a:ln/>
        </p:spPr>
        <p:txBody>
          <a:bodyPr wrap="square" lIns="0" tIns="0" rIns="0" bIns="0" rtlCol="0" anchor="ctr"/>
          <a:lstStyle/>
          <a:p>
            <a:pPr indent="0" marL="0">
              <a:lnSpc>
                <a:spcPts val="1200"/>
              </a:lnSpc>
              <a:buNone/>
            </a:pPr>
            <a:r>
              <a:rPr lang="en-US" sz="950" dirty="0">
                <a:solidFill>
                  <a:srgbClr val="F0F2F5"/>
                </a:solidFill>
                <a:latin typeface="Inter" pitchFamily="34" charset="0"/>
                <a:ea typeface="Inter" pitchFamily="34" charset="-122"/>
                <a:cs typeface="Inter" pitchFamily="34" charset="-120"/>
              </a:rPr>
              <a:t>Grava la utilidad fiscal, con alícuotas escalonadas según la ganancia y si se reinvierte (Ley 27.630).</a:t>
            </a:r>
            <a:endParaRPr lang="en-US" sz="950" dirty="0"/>
          </a:p>
        </p:txBody>
      </p:sp>
      <p:sp>
        <p:nvSpPr>
          <p:cNvPr id="25" name="Text 22"/>
          <p:cNvSpPr/>
          <p:nvPr/>
        </p:nvSpPr>
        <p:spPr>
          <a:xfrm>
            <a:off x="4992624" y="3730752"/>
            <a:ext cx="3474720" cy="23774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Bienes Personales</a:t>
            </a:r>
            <a:endParaRPr lang="en-US" sz="1150" dirty="0"/>
          </a:p>
        </p:txBody>
      </p:sp>
      <p:sp>
        <p:nvSpPr>
          <p:cNvPr id="26" name="Text 23"/>
          <p:cNvSpPr/>
          <p:nvPr/>
        </p:nvSpPr>
        <p:spPr>
          <a:xfrm>
            <a:off x="4992624" y="3968496"/>
            <a:ext cx="3474720" cy="457200"/>
          </a:xfrm>
          <a:prstGeom prst="rect">
            <a:avLst/>
          </a:prstGeom>
          <a:noFill/>
          <a:ln/>
        </p:spPr>
        <p:txBody>
          <a:bodyPr wrap="square" lIns="0" tIns="0" rIns="0" bIns="0" rtlCol="0" anchor="ctr"/>
          <a:lstStyle/>
          <a:p>
            <a:pPr indent="0" marL="0">
              <a:lnSpc>
                <a:spcPts val="1200"/>
              </a:lnSpc>
              <a:buNone/>
            </a:pPr>
            <a:r>
              <a:rPr lang="en-US" sz="950" dirty="0">
                <a:solidFill>
                  <a:srgbClr val="F0F2F5"/>
                </a:solidFill>
                <a:latin typeface="Inter" pitchFamily="34" charset="0"/>
                <a:ea typeface="Inter" pitchFamily="34" charset="-122"/>
                <a:cs typeface="Inter" pitchFamily="34" charset="-120"/>
              </a:rPr>
              <a:t>Impuesto anual al patrimonio al 31/12: inmuebles, vehículos, inversiones y participaciones societarias.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Las escalas de Ganancias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Son dos regímenes distintos, y para la venta de un inmueble hay un tercero.</a:t>
            </a:r>
            <a:endParaRPr lang="en-US" sz="1200" dirty="0"/>
          </a:p>
        </p:txBody>
      </p:sp>
      <p:sp>
        <p:nvSpPr>
          <p:cNvPr id="7" name="Shape 4"/>
          <p:cNvSpPr/>
          <p:nvPr/>
        </p:nvSpPr>
        <p:spPr>
          <a:xfrm>
            <a:off x="603504" y="1170432"/>
            <a:ext cx="3950208" cy="1737360"/>
          </a:xfrm>
          <a:prstGeom prst="roundRect">
            <a:avLst>
              <a:gd name="adj" fmla="val 4737"/>
            </a:avLst>
          </a:prstGeom>
          <a:solidFill>
            <a:srgbClr val="08407C"/>
          </a:solidFill>
          <a:ln w="12700">
            <a:solidFill>
              <a:srgbClr val="08407C"/>
            </a:solidFill>
            <a:prstDash val="solid"/>
          </a:ln>
        </p:spPr>
      </p:sp>
      <p:sp>
        <p:nvSpPr>
          <p:cNvPr id="8" name="Text 5"/>
          <p:cNvSpPr/>
          <p:nvPr/>
        </p:nvSpPr>
        <p:spPr>
          <a:xfrm>
            <a:off x="859536" y="1316736"/>
            <a:ext cx="3383280" cy="292608"/>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Sociedades</a:t>
            </a:r>
            <a:endParaRPr lang="en-US" sz="1700" dirty="0"/>
          </a:p>
        </p:txBody>
      </p:sp>
      <p:sp>
        <p:nvSpPr>
          <p:cNvPr id="9" name="Text 6"/>
          <p:cNvSpPr/>
          <p:nvPr/>
        </p:nvSpPr>
        <p:spPr>
          <a:xfrm>
            <a:off x="859536" y="1645920"/>
            <a:ext cx="3456432" cy="402336"/>
          </a:xfrm>
          <a:prstGeom prst="rect">
            <a:avLst/>
          </a:prstGeom>
          <a:noFill/>
          <a:ln/>
        </p:spPr>
        <p:txBody>
          <a:bodyPr wrap="square" lIns="0" tIns="0" rIns="0" bIns="0" rtlCol="0" anchor="ctr"/>
          <a:lstStyle/>
          <a:p>
            <a:pPr indent="0" marL="0">
              <a:lnSpc>
                <a:spcPts val="1300"/>
              </a:lnSpc>
              <a:buNone/>
            </a:pPr>
            <a:r>
              <a:rPr lang="en-US" sz="1000" dirty="0">
                <a:solidFill>
                  <a:srgbClr val="DCE6F2"/>
                </a:solidFill>
                <a:latin typeface="Inter" pitchFamily="34" charset="0"/>
                <a:ea typeface="Inter" pitchFamily="34" charset="-122"/>
                <a:cs typeface="Inter" pitchFamily="34" charset="-120"/>
              </a:rPr>
              <a:t>Tres tramos sobre la ganancia neta acumulada. Cada alícuota se aplica solo sobre el excedente del tramo.</a:t>
            </a:r>
            <a:endParaRPr lang="en-US" sz="1000" dirty="0"/>
          </a:p>
        </p:txBody>
      </p:sp>
      <p:sp>
        <p:nvSpPr>
          <p:cNvPr id="10" name="Text 7"/>
          <p:cNvSpPr/>
          <p:nvPr/>
        </p:nvSpPr>
        <p:spPr>
          <a:xfrm>
            <a:off x="859536" y="2084832"/>
            <a:ext cx="1097280" cy="365760"/>
          </a:xfrm>
          <a:prstGeom prst="rect">
            <a:avLst/>
          </a:prstGeom>
          <a:noFill/>
          <a:ln/>
        </p:spPr>
        <p:txBody>
          <a:bodyPr wrap="square" lIns="0" tIns="0" rIns="0" bIns="0" rtlCol="0" anchor="ctr"/>
          <a:lstStyle/>
          <a:p>
            <a:pPr indent="0" marL="0">
              <a:buNone/>
            </a:pPr>
            <a:r>
              <a:rPr lang="en-US" sz="2200" b="1" dirty="0">
                <a:solidFill>
                  <a:srgbClr val="FFFFFF"/>
                </a:solidFill>
                <a:latin typeface="Inter" pitchFamily="34" charset="0"/>
                <a:ea typeface="Inter" pitchFamily="34" charset="-122"/>
                <a:cs typeface="Inter" pitchFamily="34" charset="-120"/>
              </a:rPr>
              <a:t>25%</a:t>
            </a:r>
            <a:endParaRPr lang="en-US" sz="2200" dirty="0"/>
          </a:p>
        </p:txBody>
      </p:sp>
      <p:sp>
        <p:nvSpPr>
          <p:cNvPr id="11" name="Text 8"/>
          <p:cNvSpPr/>
          <p:nvPr/>
        </p:nvSpPr>
        <p:spPr>
          <a:xfrm>
            <a:off x="859536" y="2450592"/>
            <a:ext cx="1097280" cy="201168"/>
          </a:xfrm>
          <a:prstGeom prst="rect">
            <a:avLst/>
          </a:prstGeom>
          <a:noFill/>
          <a:ln/>
        </p:spPr>
        <p:txBody>
          <a:bodyPr wrap="square" lIns="0" tIns="0" rIns="0" bIns="0" rtlCol="0" anchor="ctr"/>
          <a:lstStyle/>
          <a:p>
            <a:pPr indent="0" marL="0">
              <a:buNone/>
            </a:pPr>
            <a:r>
              <a:rPr lang="en-US" sz="900" dirty="0">
                <a:solidFill>
                  <a:srgbClr val="C9D6E6"/>
                </a:solidFill>
                <a:latin typeface="Inter" pitchFamily="34" charset="0"/>
                <a:ea typeface="Inter" pitchFamily="34" charset="-122"/>
                <a:cs typeface="Inter" pitchFamily="34" charset="-120"/>
              </a:rPr>
              <a:t>1.er tramo</a:t>
            </a:r>
            <a:endParaRPr lang="en-US" sz="900" dirty="0"/>
          </a:p>
        </p:txBody>
      </p:sp>
      <p:sp>
        <p:nvSpPr>
          <p:cNvPr id="12" name="Text 9"/>
          <p:cNvSpPr/>
          <p:nvPr/>
        </p:nvSpPr>
        <p:spPr>
          <a:xfrm>
            <a:off x="2029968" y="2084832"/>
            <a:ext cx="1097280" cy="365760"/>
          </a:xfrm>
          <a:prstGeom prst="rect">
            <a:avLst/>
          </a:prstGeom>
          <a:noFill/>
          <a:ln/>
        </p:spPr>
        <p:txBody>
          <a:bodyPr wrap="square" lIns="0" tIns="0" rIns="0" bIns="0" rtlCol="0" anchor="ctr"/>
          <a:lstStyle/>
          <a:p>
            <a:pPr indent="0" marL="0">
              <a:buNone/>
            </a:pPr>
            <a:r>
              <a:rPr lang="en-US" sz="2200" b="1" dirty="0">
                <a:solidFill>
                  <a:srgbClr val="FFFFFF"/>
                </a:solidFill>
                <a:latin typeface="Inter" pitchFamily="34" charset="0"/>
                <a:ea typeface="Inter" pitchFamily="34" charset="-122"/>
                <a:cs typeface="Inter" pitchFamily="34" charset="-120"/>
              </a:rPr>
              <a:t>30%</a:t>
            </a:r>
            <a:endParaRPr lang="en-US" sz="2200" dirty="0"/>
          </a:p>
        </p:txBody>
      </p:sp>
      <p:sp>
        <p:nvSpPr>
          <p:cNvPr id="13" name="Text 10"/>
          <p:cNvSpPr/>
          <p:nvPr/>
        </p:nvSpPr>
        <p:spPr>
          <a:xfrm>
            <a:off x="2029968" y="2450592"/>
            <a:ext cx="1097280" cy="201168"/>
          </a:xfrm>
          <a:prstGeom prst="rect">
            <a:avLst/>
          </a:prstGeom>
          <a:noFill/>
          <a:ln/>
        </p:spPr>
        <p:txBody>
          <a:bodyPr wrap="square" lIns="0" tIns="0" rIns="0" bIns="0" rtlCol="0" anchor="ctr"/>
          <a:lstStyle/>
          <a:p>
            <a:pPr indent="0" marL="0">
              <a:buNone/>
            </a:pPr>
            <a:r>
              <a:rPr lang="en-US" sz="900" dirty="0">
                <a:solidFill>
                  <a:srgbClr val="C9D6E6"/>
                </a:solidFill>
                <a:latin typeface="Inter" pitchFamily="34" charset="0"/>
                <a:ea typeface="Inter" pitchFamily="34" charset="-122"/>
                <a:cs typeface="Inter" pitchFamily="34" charset="-120"/>
              </a:rPr>
              <a:t>2.º tramo</a:t>
            </a:r>
            <a:endParaRPr lang="en-US" sz="900" dirty="0"/>
          </a:p>
        </p:txBody>
      </p:sp>
      <p:sp>
        <p:nvSpPr>
          <p:cNvPr id="14" name="Text 11"/>
          <p:cNvSpPr/>
          <p:nvPr/>
        </p:nvSpPr>
        <p:spPr>
          <a:xfrm>
            <a:off x="3200400" y="2084832"/>
            <a:ext cx="1097280" cy="365760"/>
          </a:xfrm>
          <a:prstGeom prst="rect">
            <a:avLst/>
          </a:prstGeom>
          <a:noFill/>
          <a:ln/>
        </p:spPr>
        <p:txBody>
          <a:bodyPr wrap="square" lIns="0" tIns="0" rIns="0" bIns="0" rtlCol="0" anchor="ctr"/>
          <a:lstStyle/>
          <a:p>
            <a:pPr indent="0" marL="0">
              <a:buNone/>
            </a:pPr>
            <a:r>
              <a:rPr lang="en-US" sz="2200" b="1" dirty="0">
                <a:solidFill>
                  <a:srgbClr val="FFFFFF"/>
                </a:solidFill>
                <a:latin typeface="Inter" pitchFamily="34" charset="0"/>
                <a:ea typeface="Inter" pitchFamily="34" charset="-122"/>
                <a:cs typeface="Inter" pitchFamily="34" charset="-120"/>
              </a:rPr>
              <a:t>35%</a:t>
            </a:r>
            <a:endParaRPr lang="en-US" sz="2200" dirty="0"/>
          </a:p>
        </p:txBody>
      </p:sp>
      <p:sp>
        <p:nvSpPr>
          <p:cNvPr id="15" name="Text 12"/>
          <p:cNvSpPr/>
          <p:nvPr/>
        </p:nvSpPr>
        <p:spPr>
          <a:xfrm>
            <a:off x="3200400" y="2450592"/>
            <a:ext cx="1097280" cy="201168"/>
          </a:xfrm>
          <a:prstGeom prst="rect">
            <a:avLst/>
          </a:prstGeom>
          <a:noFill/>
          <a:ln/>
        </p:spPr>
        <p:txBody>
          <a:bodyPr wrap="square" lIns="0" tIns="0" rIns="0" bIns="0" rtlCol="0" anchor="ctr"/>
          <a:lstStyle/>
          <a:p>
            <a:pPr indent="0" marL="0">
              <a:buNone/>
            </a:pPr>
            <a:r>
              <a:rPr lang="en-US" sz="900" dirty="0">
                <a:solidFill>
                  <a:srgbClr val="C9D6E6"/>
                </a:solidFill>
                <a:latin typeface="Inter" pitchFamily="34" charset="0"/>
                <a:ea typeface="Inter" pitchFamily="34" charset="-122"/>
                <a:cs typeface="Inter" pitchFamily="34" charset="-120"/>
              </a:rPr>
              <a:t>3.er tramo</a:t>
            </a:r>
            <a:endParaRPr lang="en-US" sz="900" dirty="0"/>
          </a:p>
        </p:txBody>
      </p:sp>
      <p:sp>
        <p:nvSpPr>
          <p:cNvPr id="16" name="Text 13"/>
          <p:cNvSpPr/>
          <p:nvPr/>
        </p:nvSpPr>
        <p:spPr>
          <a:xfrm>
            <a:off x="859536" y="2615184"/>
            <a:ext cx="3456432" cy="219456"/>
          </a:xfrm>
          <a:prstGeom prst="rect">
            <a:avLst/>
          </a:prstGeom>
          <a:noFill/>
          <a:ln/>
        </p:spPr>
        <p:txBody>
          <a:bodyPr wrap="square" lIns="0" tIns="0" rIns="0" bIns="0" rtlCol="0" anchor="ctr"/>
          <a:lstStyle/>
          <a:p>
            <a:pPr indent="0" marL="0">
              <a:buNone/>
            </a:pPr>
            <a:r>
              <a:rPr lang="en-US" sz="950" b="1" dirty="0">
                <a:solidFill>
                  <a:srgbClr val="FFFFFF"/>
                </a:solidFill>
                <a:latin typeface="Inter" pitchFamily="34" charset="0"/>
                <a:ea typeface="Inter" pitchFamily="34" charset="-122"/>
                <a:cs typeface="Inter" pitchFamily="34" charset="-120"/>
              </a:rPr>
              <a:t>+ 7% adicional si la utilidad se distribuye como dividendo.</a:t>
            </a:r>
            <a:endParaRPr lang="en-US" sz="950" dirty="0"/>
          </a:p>
        </p:txBody>
      </p:sp>
      <p:sp>
        <p:nvSpPr>
          <p:cNvPr id="17" name="Shape 14"/>
          <p:cNvSpPr/>
          <p:nvPr/>
        </p:nvSpPr>
        <p:spPr>
          <a:xfrm>
            <a:off x="4736592" y="1170432"/>
            <a:ext cx="3950208" cy="1737360"/>
          </a:xfrm>
          <a:prstGeom prst="roundRect">
            <a:avLst>
              <a:gd name="adj" fmla="val 4737"/>
            </a:avLst>
          </a:prstGeom>
          <a:solidFill>
            <a:srgbClr val="7C8594"/>
          </a:solidFill>
          <a:ln w="12700">
            <a:solidFill>
              <a:srgbClr val="7C8594"/>
            </a:solidFill>
            <a:prstDash val="solid"/>
          </a:ln>
        </p:spPr>
      </p:sp>
      <p:sp>
        <p:nvSpPr>
          <p:cNvPr id="18" name="Text 15"/>
          <p:cNvSpPr/>
          <p:nvPr/>
        </p:nvSpPr>
        <p:spPr>
          <a:xfrm>
            <a:off x="4992624" y="1316736"/>
            <a:ext cx="3383280" cy="292608"/>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Personas humanas</a:t>
            </a:r>
            <a:endParaRPr lang="en-US" sz="1700" dirty="0"/>
          </a:p>
        </p:txBody>
      </p:sp>
      <p:sp>
        <p:nvSpPr>
          <p:cNvPr id="19" name="Text 16"/>
          <p:cNvSpPr/>
          <p:nvPr/>
        </p:nvSpPr>
        <p:spPr>
          <a:xfrm>
            <a:off x="4992624" y="1645920"/>
            <a:ext cx="3456432" cy="402336"/>
          </a:xfrm>
          <a:prstGeom prst="rect">
            <a:avLst/>
          </a:prstGeom>
          <a:noFill/>
          <a:ln/>
        </p:spPr>
        <p:txBody>
          <a:bodyPr wrap="square" lIns="0" tIns="0" rIns="0" bIns="0" rtlCol="0" anchor="ctr"/>
          <a:lstStyle/>
          <a:p>
            <a:pPr indent="0" marL="0">
              <a:lnSpc>
                <a:spcPts val="1300"/>
              </a:lnSpc>
              <a:buNone/>
            </a:pPr>
            <a:r>
              <a:rPr lang="en-US" sz="1000" dirty="0">
                <a:solidFill>
                  <a:srgbClr val="F0F2F5"/>
                </a:solidFill>
                <a:latin typeface="Inter" pitchFamily="34" charset="0"/>
                <a:ea typeface="Inter" pitchFamily="34" charset="-122"/>
                <a:cs typeface="Inter" pitchFamily="34" charset="-120"/>
              </a:rPr>
              <a:t>Sueldos en relación de dependencia, lo que factura un agente como autónomo y los alquileres cobrados.</a:t>
            </a:r>
            <a:endParaRPr lang="en-US" sz="1000" dirty="0"/>
          </a:p>
        </p:txBody>
      </p:sp>
      <p:sp>
        <p:nvSpPr>
          <p:cNvPr id="20" name="Text 17"/>
          <p:cNvSpPr/>
          <p:nvPr/>
        </p:nvSpPr>
        <p:spPr>
          <a:xfrm>
            <a:off x="4992624" y="2084832"/>
            <a:ext cx="2011680" cy="38404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5% → 35%</a:t>
            </a:r>
            <a:endParaRPr lang="en-US" sz="2400" dirty="0"/>
          </a:p>
        </p:txBody>
      </p:sp>
      <p:sp>
        <p:nvSpPr>
          <p:cNvPr id="21" name="Text 18"/>
          <p:cNvSpPr/>
          <p:nvPr/>
        </p:nvSpPr>
        <p:spPr>
          <a:xfrm>
            <a:off x="4992624" y="2468880"/>
            <a:ext cx="2194560" cy="201168"/>
          </a:xfrm>
          <a:prstGeom prst="rect">
            <a:avLst/>
          </a:prstGeom>
          <a:noFill/>
          <a:ln/>
        </p:spPr>
        <p:txBody>
          <a:bodyPr wrap="square" lIns="0" tIns="0" rIns="0" bIns="0" rtlCol="0" anchor="ctr"/>
          <a:lstStyle/>
          <a:p>
            <a:pPr indent="0" marL="0">
              <a:buNone/>
            </a:pPr>
            <a:r>
              <a:rPr lang="en-US" sz="900" dirty="0">
                <a:solidFill>
                  <a:srgbClr val="E4E7EC"/>
                </a:solidFill>
                <a:latin typeface="Inter" pitchFamily="34" charset="0"/>
                <a:ea typeface="Inter" pitchFamily="34" charset="-122"/>
                <a:cs typeface="Inter" pitchFamily="34" charset="-120"/>
              </a:rPr>
              <a:t>Nueve tramos progresivos</a:t>
            </a:r>
            <a:endParaRPr lang="en-US" sz="900" dirty="0"/>
          </a:p>
        </p:txBody>
      </p:sp>
      <p:sp>
        <p:nvSpPr>
          <p:cNvPr id="22" name="Text 19"/>
          <p:cNvSpPr/>
          <p:nvPr/>
        </p:nvSpPr>
        <p:spPr>
          <a:xfrm>
            <a:off x="6912864" y="2084832"/>
            <a:ext cx="1554480" cy="603504"/>
          </a:xfrm>
          <a:prstGeom prst="rect">
            <a:avLst/>
          </a:prstGeom>
          <a:noFill/>
          <a:ln/>
        </p:spPr>
        <p:txBody>
          <a:bodyPr wrap="square" lIns="0" tIns="0" rIns="0" bIns="0" rtlCol="0" anchor="ctr"/>
          <a:lstStyle/>
          <a:p>
            <a:pPr indent="0" marL="0">
              <a:lnSpc>
                <a:spcPts val="1100"/>
              </a:lnSpc>
              <a:buNone/>
            </a:pPr>
            <a:r>
              <a:rPr lang="en-US" sz="900" dirty="0">
                <a:solidFill>
                  <a:srgbClr val="F0F2F5"/>
                </a:solidFill>
                <a:latin typeface="Inter" pitchFamily="34" charset="0"/>
                <a:ea typeface="Inter" pitchFamily="34" charset="-122"/>
                <a:cs typeface="Inter" pitchFamily="34" charset="-120"/>
              </a:rPr>
              <a:t>ARCA publica una tabla para enero–junio y otra para julio–diciembre.</a:t>
            </a:r>
            <a:endParaRPr lang="en-US" sz="900" dirty="0"/>
          </a:p>
        </p:txBody>
      </p:sp>
      <p:sp>
        <p:nvSpPr>
          <p:cNvPr id="23" name="Text 20"/>
          <p:cNvSpPr/>
          <p:nvPr/>
        </p:nvSpPr>
        <p:spPr>
          <a:xfrm>
            <a:off x="603504" y="2980944"/>
            <a:ext cx="8083296" cy="256032"/>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Cuando se vende un inmueble, la fecha de compra define el impuesto</a:t>
            </a:r>
            <a:endParaRPr lang="en-US" sz="1250" dirty="0"/>
          </a:p>
        </p:txBody>
      </p:sp>
      <p:sp>
        <p:nvSpPr>
          <p:cNvPr id="24" name="Shape 21"/>
          <p:cNvSpPr/>
          <p:nvPr/>
        </p:nvSpPr>
        <p:spPr>
          <a:xfrm>
            <a:off x="603504" y="3291840"/>
            <a:ext cx="2560320" cy="1188720"/>
          </a:xfrm>
          <a:prstGeom prst="roundRect">
            <a:avLst>
              <a:gd name="adj" fmla="val 6923"/>
            </a:avLst>
          </a:prstGeom>
          <a:solidFill>
            <a:srgbClr val="F2F4F7"/>
          </a:solidFill>
          <a:ln w="12700">
            <a:solidFill>
              <a:srgbClr val="F2F4F7"/>
            </a:solidFill>
            <a:prstDash val="solid"/>
          </a:ln>
        </p:spPr>
      </p:sp>
      <p:sp>
        <p:nvSpPr>
          <p:cNvPr id="25" name="Text 22"/>
          <p:cNvSpPr/>
          <p:nvPr/>
        </p:nvSpPr>
        <p:spPr>
          <a:xfrm>
            <a:off x="804672" y="3401568"/>
            <a:ext cx="2194560" cy="182880"/>
          </a:xfrm>
          <a:prstGeom prst="rect">
            <a:avLst/>
          </a:prstGeom>
          <a:noFill/>
          <a:ln/>
        </p:spPr>
        <p:txBody>
          <a:bodyPr wrap="square" lIns="0" tIns="0" rIns="0" bIns="0" rtlCol="0" anchor="ctr"/>
          <a:lstStyle/>
          <a:p>
            <a:pPr indent="0" marL="0">
              <a:buNone/>
            </a:pPr>
            <a:r>
              <a:rPr lang="en-US" sz="850" b="1" spc="80" kern="0" dirty="0">
                <a:solidFill>
                  <a:srgbClr val="6A7686"/>
                </a:solidFill>
                <a:latin typeface="Inter" pitchFamily="34" charset="0"/>
                <a:ea typeface="Inter" pitchFamily="34" charset="-122"/>
                <a:cs typeface="Inter" pitchFamily="34" charset="-120"/>
              </a:rPr>
              <a:t>COMPRADO HASTA EL 31/12/2017</a:t>
            </a:r>
            <a:endParaRPr lang="en-US" sz="850" dirty="0"/>
          </a:p>
        </p:txBody>
      </p:sp>
      <p:sp>
        <p:nvSpPr>
          <p:cNvPr id="26" name="Text 23"/>
          <p:cNvSpPr/>
          <p:nvPr/>
        </p:nvSpPr>
        <p:spPr>
          <a:xfrm>
            <a:off x="804672" y="3602736"/>
            <a:ext cx="2194560" cy="347472"/>
          </a:xfrm>
          <a:prstGeom prst="rect">
            <a:avLst/>
          </a:prstGeom>
          <a:noFill/>
          <a:ln/>
        </p:spPr>
        <p:txBody>
          <a:bodyPr wrap="square" lIns="0" tIns="0" rIns="0" bIns="0" rtlCol="0" anchor="ctr"/>
          <a:lstStyle/>
          <a:p>
            <a:pPr indent="0" marL="0">
              <a:buNone/>
            </a:pPr>
            <a:r>
              <a:rPr lang="en-US" sz="2000" b="1" dirty="0">
                <a:solidFill>
                  <a:srgbClr val="08407C"/>
                </a:solidFill>
                <a:latin typeface="Inter" pitchFamily="34" charset="0"/>
                <a:ea typeface="Inter" pitchFamily="34" charset="-122"/>
                <a:cs typeface="Inter" pitchFamily="34" charset="-120"/>
              </a:rPr>
              <a:t>No paga</a:t>
            </a:r>
            <a:endParaRPr lang="en-US" sz="2000" dirty="0"/>
          </a:p>
        </p:txBody>
      </p:sp>
      <p:sp>
        <p:nvSpPr>
          <p:cNvPr id="27" name="Text 24"/>
          <p:cNvSpPr/>
          <p:nvPr/>
        </p:nvSpPr>
        <p:spPr>
          <a:xfrm>
            <a:off x="804672" y="3986784"/>
            <a:ext cx="2231136" cy="42062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El ITI de 1,5% quedó derogado por la Ley 27.743 en julio de 2024.</a:t>
            </a:r>
            <a:endParaRPr lang="en-US" sz="950" dirty="0"/>
          </a:p>
        </p:txBody>
      </p:sp>
      <p:sp>
        <p:nvSpPr>
          <p:cNvPr id="28" name="Shape 25"/>
          <p:cNvSpPr/>
          <p:nvPr/>
        </p:nvSpPr>
        <p:spPr>
          <a:xfrm>
            <a:off x="3364992" y="3291840"/>
            <a:ext cx="2560320" cy="1188720"/>
          </a:xfrm>
          <a:prstGeom prst="roundRect">
            <a:avLst>
              <a:gd name="adj" fmla="val 6923"/>
            </a:avLst>
          </a:prstGeom>
          <a:solidFill>
            <a:srgbClr val="F2F4F7"/>
          </a:solidFill>
          <a:ln w="12700">
            <a:solidFill>
              <a:srgbClr val="F2F4F7"/>
            </a:solidFill>
            <a:prstDash val="solid"/>
          </a:ln>
        </p:spPr>
      </p:sp>
      <p:sp>
        <p:nvSpPr>
          <p:cNvPr id="29" name="Text 26"/>
          <p:cNvSpPr/>
          <p:nvPr/>
        </p:nvSpPr>
        <p:spPr>
          <a:xfrm>
            <a:off x="3566160" y="3401568"/>
            <a:ext cx="2194560" cy="182880"/>
          </a:xfrm>
          <a:prstGeom prst="rect">
            <a:avLst/>
          </a:prstGeom>
          <a:noFill/>
          <a:ln/>
        </p:spPr>
        <p:txBody>
          <a:bodyPr wrap="square" lIns="0" tIns="0" rIns="0" bIns="0" rtlCol="0" anchor="ctr"/>
          <a:lstStyle/>
          <a:p>
            <a:pPr indent="0" marL="0">
              <a:buNone/>
            </a:pPr>
            <a:r>
              <a:rPr lang="en-US" sz="850" b="1" spc="80" kern="0" dirty="0">
                <a:solidFill>
                  <a:srgbClr val="6A7686"/>
                </a:solidFill>
                <a:latin typeface="Inter" pitchFamily="34" charset="0"/>
                <a:ea typeface="Inter" pitchFamily="34" charset="-122"/>
                <a:cs typeface="Inter" pitchFamily="34" charset="-120"/>
              </a:rPr>
              <a:t>COMPRADO DESDE EL 1/1/2018</a:t>
            </a:r>
            <a:endParaRPr lang="en-US" sz="850" dirty="0"/>
          </a:p>
        </p:txBody>
      </p:sp>
      <p:sp>
        <p:nvSpPr>
          <p:cNvPr id="30" name="Text 27"/>
          <p:cNvSpPr/>
          <p:nvPr/>
        </p:nvSpPr>
        <p:spPr>
          <a:xfrm>
            <a:off x="3566160" y="3602736"/>
            <a:ext cx="2194560" cy="347472"/>
          </a:xfrm>
          <a:prstGeom prst="rect">
            <a:avLst/>
          </a:prstGeom>
          <a:noFill/>
          <a:ln/>
        </p:spPr>
        <p:txBody>
          <a:bodyPr wrap="square" lIns="0" tIns="0" rIns="0" bIns="0" rtlCol="0" anchor="ctr"/>
          <a:lstStyle/>
          <a:p>
            <a:pPr indent="0" marL="0">
              <a:buNone/>
            </a:pPr>
            <a:r>
              <a:rPr lang="en-US" sz="2000" b="1" dirty="0">
                <a:solidFill>
                  <a:srgbClr val="08407C"/>
                </a:solidFill>
                <a:latin typeface="Inter" pitchFamily="34" charset="0"/>
                <a:ea typeface="Inter" pitchFamily="34" charset="-122"/>
                <a:cs typeface="Inter" pitchFamily="34" charset="-120"/>
              </a:rPr>
              <a:t>15%</a:t>
            </a:r>
            <a:endParaRPr lang="en-US" sz="2000" dirty="0"/>
          </a:p>
        </p:txBody>
      </p:sp>
      <p:sp>
        <p:nvSpPr>
          <p:cNvPr id="31" name="Text 28"/>
          <p:cNvSpPr/>
          <p:nvPr/>
        </p:nvSpPr>
        <p:spPr>
          <a:xfrm>
            <a:off x="3566160" y="3986784"/>
            <a:ext cx="2231136" cy="42062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Impuesto cedular sobre la ganancia: precio menos costo actualizado y gastos.</a:t>
            </a:r>
            <a:endParaRPr lang="en-US" sz="950" dirty="0"/>
          </a:p>
        </p:txBody>
      </p:sp>
      <p:sp>
        <p:nvSpPr>
          <p:cNvPr id="32" name="Shape 29"/>
          <p:cNvSpPr/>
          <p:nvPr/>
        </p:nvSpPr>
        <p:spPr>
          <a:xfrm>
            <a:off x="6126480" y="3291840"/>
            <a:ext cx="2560320" cy="1188720"/>
          </a:xfrm>
          <a:prstGeom prst="roundRect">
            <a:avLst>
              <a:gd name="adj" fmla="val 6923"/>
            </a:avLst>
          </a:prstGeom>
          <a:solidFill>
            <a:srgbClr val="F2F4F7"/>
          </a:solidFill>
          <a:ln w="12700">
            <a:solidFill>
              <a:srgbClr val="F2F4F7"/>
            </a:solidFill>
            <a:prstDash val="solid"/>
          </a:ln>
        </p:spPr>
      </p:sp>
      <p:sp>
        <p:nvSpPr>
          <p:cNvPr id="33" name="Text 30"/>
          <p:cNvSpPr/>
          <p:nvPr/>
        </p:nvSpPr>
        <p:spPr>
          <a:xfrm>
            <a:off x="6327648" y="3401568"/>
            <a:ext cx="2194560" cy="182880"/>
          </a:xfrm>
          <a:prstGeom prst="rect">
            <a:avLst/>
          </a:prstGeom>
          <a:noFill/>
          <a:ln/>
        </p:spPr>
        <p:txBody>
          <a:bodyPr wrap="square" lIns="0" tIns="0" rIns="0" bIns="0" rtlCol="0" anchor="ctr"/>
          <a:lstStyle/>
          <a:p>
            <a:pPr indent="0" marL="0">
              <a:buNone/>
            </a:pPr>
            <a:r>
              <a:rPr lang="en-US" sz="850" b="1" spc="80" kern="0" dirty="0">
                <a:solidFill>
                  <a:srgbClr val="6A7686"/>
                </a:solidFill>
                <a:latin typeface="Inter" pitchFamily="34" charset="0"/>
                <a:ea typeface="Inter" pitchFamily="34" charset="-122"/>
                <a:cs typeface="Inter" pitchFamily="34" charset="-120"/>
              </a:rPr>
              <a:t>CASA-HABITACIÓN</a:t>
            </a:r>
            <a:endParaRPr lang="en-US" sz="850" dirty="0"/>
          </a:p>
        </p:txBody>
      </p:sp>
      <p:sp>
        <p:nvSpPr>
          <p:cNvPr id="34" name="Text 31"/>
          <p:cNvSpPr/>
          <p:nvPr/>
        </p:nvSpPr>
        <p:spPr>
          <a:xfrm>
            <a:off x="6327648" y="3602736"/>
            <a:ext cx="2194560" cy="347472"/>
          </a:xfrm>
          <a:prstGeom prst="rect">
            <a:avLst/>
          </a:prstGeom>
          <a:noFill/>
          <a:ln/>
        </p:spPr>
        <p:txBody>
          <a:bodyPr wrap="square" lIns="0" tIns="0" rIns="0" bIns="0" rtlCol="0" anchor="ctr"/>
          <a:lstStyle/>
          <a:p>
            <a:pPr indent="0" marL="0">
              <a:buNone/>
            </a:pPr>
            <a:r>
              <a:rPr lang="en-US" sz="2000" b="1" dirty="0">
                <a:solidFill>
                  <a:srgbClr val="08407C"/>
                </a:solidFill>
                <a:latin typeface="Inter" pitchFamily="34" charset="0"/>
                <a:ea typeface="Inter" pitchFamily="34" charset="-122"/>
                <a:cs typeface="Inter" pitchFamily="34" charset="-120"/>
              </a:rPr>
              <a:t>Exenta</a:t>
            </a:r>
            <a:endParaRPr lang="en-US" sz="2000" dirty="0"/>
          </a:p>
        </p:txBody>
      </p:sp>
      <p:sp>
        <p:nvSpPr>
          <p:cNvPr id="35" name="Text 32"/>
          <p:cNvSpPr/>
          <p:nvPr/>
        </p:nvSpPr>
        <p:spPr>
          <a:xfrm>
            <a:off x="6327648" y="3986784"/>
            <a:ext cx="2231136" cy="42062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La vivienda única de residencia permanente no tributa el cedular.</a:t>
            </a:r>
            <a:endParaRPr lang="en-US" sz="950" dirty="0"/>
          </a:p>
        </p:txBody>
      </p:sp>
      <p:sp>
        <p:nvSpPr>
          <p:cNvPr id="36" name="Text 33"/>
          <p:cNvSpPr/>
          <p:nvPr/>
        </p:nvSpPr>
        <p:spPr>
          <a:xfrm>
            <a:off x="603504" y="4562856"/>
            <a:ext cx="8083296" cy="274320"/>
          </a:xfrm>
          <a:prstGeom prst="rect">
            <a:avLst/>
          </a:prstGeom>
          <a:noFill/>
          <a:ln/>
        </p:spPr>
        <p:txBody>
          <a:bodyPr wrap="square" lIns="0" tIns="0" rIns="0" bIns="0" rtlCol="0" anchor="ctr"/>
          <a:lstStyle/>
          <a:p>
            <a:pPr indent="0" marL="0">
              <a:buNone/>
            </a:pPr>
            <a:r>
              <a:rPr lang="en-US" sz="950" i="1" dirty="0">
                <a:solidFill>
                  <a:srgbClr val="6A7686"/>
                </a:solidFill>
                <a:latin typeface="Inter" pitchFamily="34" charset="0"/>
                <a:ea typeface="Inter" pitchFamily="34" charset="-122"/>
                <a:cs typeface="Inter" pitchFamily="34" charset="-120"/>
              </a:rPr>
              <a:t>Las alícuotas las fija la ley, pero los montos de cada tramo se actualizan todos los años: confirmar siempre los valores vigentes en arca.gob.ar antes de hacer un número.</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Ingresos Brutos: el que más duele</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Provincial, mensual y calculado sobre lo facturado — exista o no ganancia.</a:t>
            </a:r>
            <a:endParaRPr lang="en-US" sz="1200" dirty="0"/>
          </a:p>
        </p:txBody>
      </p:sp>
      <p:sp>
        <p:nvSpPr>
          <p:cNvPr id="7" name="Shape 4"/>
          <p:cNvSpPr/>
          <p:nvPr/>
        </p:nvSpPr>
        <p:spPr>
          <a:xfrm>
            <a:off x="603504" y="1188720"/>
            <a:ext cx="3950208" cy="2103120"/>
          </a:xfrm>
          <a:prstGeom prst="roundRect">
            <a:avLst>
              <a:gd name="adj" fmla="val 3913"/>
            </a:avLst>
          </a:prstGeom>
          <a:solidFill>
            <a:srgbClr val="08407C"/>
          </a:solidFill>
          <a:ln w="12700">
            <a:solidFill>
              <a:srgbClr val="08407C"/>
            </a:solidFill>
            <a:prstDash val="solid"/>
          </a:ln>
        </p:spPr>
      </p:sp>
      <p:sp>
        <p:nvSpPr>
          <p:cNvPr id="8" name="Text 5"/>
          <p:cNvSpPr/>
          <p:nvPr/>
        </p:nvSpPr>
        <p:spPr>
          <a:xfrm>
            <a:off x="859536" y="1371600"/>
            <a:ext cx="3438144" cy="73152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Inter" pitchFamily="34" charset="0"/>
                <a:ea typeface="Inter" pitchFamily="34" charset="-122"/>
                <a:cs typeface="Inter" pitchFamily="34" charset="-120"/>
              </a:rPr>
              <a:t>Se paga sobre la facturación, no sobre la rentabilidad.</a:t>
            </a:r>
            <a:endParaRPr lang="en-US" sz="1700" dirty="0"/>
          </a:p>
        </p:txBody>
      </p:sp>
      <p:sp>
        <p:nvSpPr>
          <p:cNvPr id="9" name="Text 6"/>
          <p:cNvSpPr/>
          <p:nvPr/>
        </p:nvSpPr>
        <p:spPr>
          <a:xfrm>
            <a:off x="859536" y="2212848"/>
            <a:ext cx="3438144" cy="914400"/>
          </a:xfrm>
          <a:prstGeom prst="rect">
            <a:avLst/>
          </a:prstGeom>
          <a:noFill/>
          <a:ln/>
        </p:spPr>
        <p:txBody>
          <a:bodyPr wrap="square" lIns="0" tIns="0" rIns="0" bIns="0" rtlCol="0" anchor="ctr"/>
          <a:lstStyle/>
          <a:p>
            <a:pPr indent="0" marL="0">
              <a:lnSpc>
                <a:spcPts val="1500"/>
              </a:lnSpc>
              <a:buNone/>
            </a:pPr>
            <a:r>
              <a:rPr lang="en-US" sz="1050" dirty="0">
                <a:solidFill>
                  <a:srgbClr val="DCE6F2"/>
                </a:solidFill>
                <a:latin typeface="Inter" pitchFamily="34" charset="0"/>
                <a:ea typeface="Inter" pitchFamily="34" charset="-122"/>
                <a:cs typeface="Inter" pitchFamily="34" charset="-120"/>
              </a:rPr>
              <a:t>Cada provincia fija su propia alícuota según el rubro: la de real estate no es la misma que la de venta de herramientas o marketing. Se liquida mensualmente ante ARBA, AGIP u otra provincia.</a:t>
            </a:r>
            <a:endParaRPr lang="en-US" sz="1050" dirty="0"/>
          </a:p>
        </p:txBody>
      </p:sp>
      <p:sp>
        <p:nvSpPr>
          <p:cNvPr id="10" name="Shape 7"/>
          <p:cNvSpPr/>
          <p:nvPr/>
        </p:nvSpPr>
        <p:spPr>
          <a:xfrm>
            <a:off x="4736592" y="1188720"/>
            <a:ext cx="3950208" cy="2103120"/>
          </a:xfrm>
          <a:prstGeom prst="roundRect">
            <a:avLst>
              <a:gd name="adj" fmla="val 3913"/>
            </a:avLst>
          </a:prstGeom>
          <a:solidFill>
            <a:srgbClr val="7C8594"/>
          </a:solidFill>
          <a:ln w="12700">
            <a:solidFill>
              <a:srgbClr val="7C8594"/>
            </a:solidFill>
            <a:prstDash val="solid"/>
          </a:ln>
        </p:spPr>
      </p:sp>
      <p:sp>
        <p:nvSpPr>
          <p:cNvPr id="11" name="Text 8"/>
          <p:cNvSpPr/>
          <p:nvPr/>
        </p:nvSpPr>
        <p:spPr>
          <a:xfrm>
            <a:off x="4992624" y="1371600"/>
            <a:ext cx="3438144" cy="329184"/>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Convenio Multilateral</a:t>
            </a:r>
            <a:endParaRPr lang="en-US" sz="1700" dirty="0"/>
          </a:p>
        </p:txBody>
      </p:sp>
      <p:sp>
        <p:nvSpPr>
          <p:cNvPr id="12" name="Text 9"/>
          <p:cNvSpPr/>
          <p:nvPr/>
        </p:nvSpPr>
        <p:spPr>
          <a:xfrm>
            <a:off x="4992624" y="1773936"/>
            <a:ext cx="3438144" cy="822960"/>
          </a:xfrm>
          <a:prstGeom prst="rect">
            <a:avLst/>
          </a:prstGeom>
          <a:noFill/>
          <a:ln/>
        </p:spPr>
        <p:txBody>
          <a:bodyPr wrap="square" lIns="0" tIns="0" rIns="0" bIns="0" rtlCol="0" anchor="ctr"/>
          <a:lstStyle/>
          <a:p>
            <a:pPr indent="0" marL="0">
              <a:lnSpc>
                <a:spcPts val="1400"/>
              </a:lnSpc>
              <a:buNone/>
            </a:pPr>
            <a:r>
              <a:rPr lang="en-US" sz="1050" dirty="0">
                <a:solidFill>
                  <a:srgbClr val="F0F2F5"/>
                </a:solidFill>
                <a:latin typeface="Inter" pitchFamily="34" charset="0"/>
                <a:ea typeface="Inter" pitchFamily="34" charset="-122"/>
                <a:cs typeface="Inter" pitchFamily="34" charset="-120"/>
              </a:rPr>
              <a:t>Si la inmobiliaria factura en CABA y en PBA, no paga Ingresos Brutos completo en cada jurisdicción por el mismo ingreso: el Convenio reparte la base imponible entre ambas.</a:t>
            </a:r>
            <a:endParaRPr lang="en-US" sz="1050" dirty="0"/>
          </a:p>
        </p:txBody>
      </p:sp>
      <p:sp>
        <p:nvSpPr>
          <p:cNvPr id="13" name="Shape 10"/>
          <p:cNvSpPr/>
          <p:nvPr/>
        </p:nvSpPr>
        <p:spPr>
          <a:xfrm>
            <a:off x="4992624" y="2615184"/>
            <a:ext cx="3438144" cy="548640"/>
          </a:xfrm>
          <a:prstGeom prst="roundRect">
            <a:avLst>
              <a:gd name="adj" fmla="val 15000"/>
            </a:avLst>
          </a:prstGeom>
          <a:solidFill>
            <a:srgbClr val="4E586E"/>
          </a:solidFill>
          <a:ln w="12700">
            <a:solidFill>
              <a:srgbClr val="4E586E"/>
            </a:solidFill>
            <a:prstDash val="solid"/>
          </a:ln>
        </p:spPr>
      </p:sp>
      <p:sp>
        <p:nvSpPr>
          <p:cNvPr id="14" name="Text 11"/>
          <p:cNvSpPr/>
          <p:nvPr/>
        </p:nvSpPr>
        <p:spPr>
          <a:xfrm>
            <a:off x="5138928" y="2615184"/>
            <a:ext cx="3154680" cy="548640"/>
          </a:xfrm>
          <a:prstGeom prst="rect">
            <a:avLst/>
          </a:prstGeom>
          <a:noFill/>
          <a:ln/>
        </p:spPr>
        <p:txBody>
          <a:bodyPr wrap="square" lIns="0" tIns="0" rIns="0" bIns="0" rtlCol="0" anchor="ctr"/>
          <a:lstStyle/>
          <a:p>
            <a:pPr indent="0" marL="0">
              <a:lnSpc>
                <a:spcPts val="1200"/>
              </a:lnSpc>
              <a:buNone/>
            </a:pPr>
            <a:r>
              <a:rPr lang="en-US" sz="1000" dirty="0">
                <a:solidFill>
                  <a:srgbClr val="FFFFFF"/>
                </a:solidFill>
                <a:latin typeface="Inter" pitchFamily="34" charset="0"/>
                <a:ea typeface="Inter" pitchFamily="34" charset="-122"/>
                <a:cs typeface="Inter" pitchFamily="34" charset="-120"/>
              </a:rPr>
              <a:t>Una única DDJJ mensual (SIFERE) + el CM05 anual al cierre del ejercicio.</a:t>
            </a:r>
            <a:endParaRPr lang="en-US" sz="1000" dirty="0"/>
          </a:p>
        </p:txBody>
      </p:sp>
      <p:sp>
        <p:nvSpPr>
          <p:cNvPr id="15" name="Shape 12"/>
          <p:cNvSpPr/>
          <p:nvPr/>
        </p:nvSpPr>
        <p:spPr>
          <a:xfrm>
            <a:off x="603504" y="3456432"/>
            <a:ext cx="3950208" cy="1005840"/>
          </a:xfrm>
          <a:prstGeom prst="roundRect">
            <a:avLst>
              <a:gd name="adj" fmla="val 8182"/>
            </a:avLst>
          </a:prstGeom>
          <a:solidFill>
            <a:srgbClr val="F2F4F7"/>
          </a:solidFill>
          <a:ln w="12700">
            <a:solidFill>
              <a:srgbClr val="F2F4F7"/>
            </a:solidFill>
            <a:prstDash val="solid"/>
          </a:ln>
        </p:spPr>
      </p:sp>
      <p:sp>
        <p:nvSpPr>
          <p:cNvPr id="16" name="Text 13"/>
          <p:cNvSpPr/>
          <p:nvPr/>
        </p:nvSpPr>
        <p:spPr>
          <a:xfrm>
            <a:off x="822960" y="3566160"/>
            <a:ext cx="1554480" cy="256032"/>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Retención</a:t>
            </a:r>
            <a:endParaRPr lang="en-US" sz="1250" dirty="0"/>
          </a:p>
        </p:txBody>
      </p:sp>
      <p:sp>
        <p:nvSpPr>
          <p:cNvPr id="17" name="Text 14"/>
          <p:cNvSpPr/>
          <p:nvPr/>
        </p:nvSpPr>
        <p:spPr>
          <a:xfrm>
            <a:off x="2340864" y="3566160"/>
            <a:ext cx="2011680" cy="256032"/>
          </a:xfrm>
          <a:prstGeom prst="rect">
            <a:avLst/>
          </a:prstGeom>
          <a:noFill/>
          <a:ln/>
        </p:spPr>
        <p:txBody>
          <a:bodyPr wrap="square" lIns="0" tIns="0" rIns="0" bIns="0" rtlCol="0" anchor="ctr"/>
          <a:lstStyle/>
          <a:p>
            <a:pPr algn="r" indent="0" marL="0">
              <a:buNone/>
            </a:pPr>
            <a:r>
              <a:rPr lang="en-US" sz="850" b="1" spc="80" kern="0" dirty="0">
                <a:solidFill>
                  <a:srgbClr val="6A7686"/>
                </a:solidFill>
                <a:latin typeface="Inter" pitchFamily="34" charset="0"/>
                <a:ea typeface="Inter" pitchFamily="34" charset="-122"/>
                <a:cs typeface="Inter" pitchFamily="34" charset="-120"/>
              </a:rPr>
              <a:t>LA COBRA QUIEN PAGA</a:t>
            </a:r>
            <a:endParaRPr lang="en-US" sz="850" dirty="0"/>
          </a:p>
        </p:txBody>
      </p:sp>
      <p:sp>
        <p:nvSpPr>
          <p:cNvPr id="18" name="Text 15"/>
          <p:cNvSpPr/>
          <p:nvPr/>
        </p:nvSpPr>
        <p:spPr>
          <a:xfrm>
            <a:off x="822960" y="3840480"/>
            <a:ext cx="3529584" cy="51206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Descuenta un porcentaje de la factura del proveedor y lo deposita al fisco a cuenta de ese proveedor, que recibe un certificado.</a:t>
            </a:r>
            <a:endParaRPr lang="en-US" sz="950" dirty="0"/>
          </a:p>
        </p:txBody>
      </p:sp>
      <p:sp>
        <p:nvSpPr>
          <p:cNvPr id="19" name="Shape 16"/>
          <p:cNvSpPr/>
          <p:nvPr/>
        </p:nvSpPr>
        <p:spPr>
          <a:xfrm>
            <a:off x="4736592" y="3456432"/>
            <a:ext cx="3950208" cy="1005840"/>
          </a:xfrm>
          <a:prstGeom prst="roundRect">
            <a:avLst>
              <a:gd name="adj" fmla="val 8182"/>
            </a:avLst>
          </a:prstGeom>
          <a:solidFill>
            <a:srgbClr val="F2F4F7"/>
          </a:solidFill>
          <a:ln w="12700">
            <a:solidFill>
              <a:srgbClr val="F2F4F7"/>
            </a:solidFill>
            <a:prstDash val="solid"/>
          </a:ln>
        </p:spPr>
      </p:sp>
      <p:sp>
        <p:nvSpPr>
          <p:cNvPr id="20" name="Text 17"/>
          <p:cNvSpPr/>
          <p:nvPr/>
        </p:nvSpPr>
        <p:spPr>
          <a:xfrm>
            <a:off x="4956048" y="3566160"/>
            <a:ext cx="1554480" cy="256032"/>
          </a:xfrm>
          <a:prstGeom prst="rect">
            <a:avLst/>
          </a:prstGeom>
          <a:noFill/>
          <a:ln/>
        </p:spPr>
        <p:txBody>
          <a:bodyPr wrap="square" lIns="0" tIns="0" rIns="0" bIns="0" rtlCol="0" anchor="ctr"/>
          <a:lstStyle/>
          <a:p>
            <a:pPr indent="0" marL="0">
              <a:buNone/>
            </a:pPr>
            <a:r>
              <a:rPr lang="en-US" sz="1250" b="1" dirty="0">
                <a:solidFill>
                  <a:srgbClr val="08407C"/>
                </a:solidFill>
                <a:latin typeface="Inter" pitchFamily="34" charset="0"/>
                <a:ea typeface="Inter" pitchFamily="34" charset="-122"/>
                <a:cs typeface="Inter" pitchFamily="34" charset="-120"/>
              </a:rPr>
              <a:t>Percepción</a:t>
            </a:r>
            <a:endParaRPr lang="en-US" sz="1250" dirty="0"/>
          </a:p>
        </p:txBody>
      </p:sp>
      <p:sp>
        <p:nvSpPr>
          <p:cNvPr id="21" name="Text 18"/>
          <p:cNvSpPr/>
          <p:nvPr/>
        </p:nvSpPr>
        <p:spPr>
          <a:xfrm>
            <a:off x="6473952" y="3566160"/>
            <a:ext cx="2011680" cy="256032"/>
          </a:xfrm>
          <a:prstGeom prst="rect">
            <a:avLst/>
          </a:prstGeom>
          <a:noFill/>
          <a:ln/>
        </p:spPr>
        <p:txBody>
          <a:bodyPr wrap="square" lIns="0" tIns="0" rIns="0" bIns="0" rtlCol="0" anchor="ctr"/>
          <a:lstStyle/>
          <a:p>
            <a:pPr algn="r" indent="0" marL="0">
              <a:buNone/>
            </a:pPr>
            <a:r>
              <a:rPr lang="en-US" sz="850" b="1" spc="80" kern="0" dirty="0">
                <a:solidFill>
                  <a:srgbClr val="6A7686"/>
                </a:solidFill>
                <a:latin typeface="Inter" pitchFamily="34" charset="0"/>
                <a:ea typeface="Inter" pitchFamily="34" charset="-122"/>
                <a:cs typeface="Inter" pitchFamily="34" charset="-120"/>
              </a:rPr>
              <a:t>LA COBRA QUIEN VENDE</a:t>
            </a:r>
            <a:endParaRPr lang="en-US" sz="850" dirty="0"/>
          </a:p>
        </p:txBody>
      </p:sp>
      <p:sp>
        <p:nvSpPr>
          <p:cNvPr id="22" name="Text 19"/>
          <p:cNvSpPr/>
          <p:nvPr/>
        </p:nvSpPr>
        <p:spPr>
          <a:xfrm>
            <a:off x="4956048" y="3840480"/>
            <a:ext cx="3529584" cy="51206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Suma un importe por encima del precio y lo deposita al fisco a cuenta de las obligaciones futuras del comprador.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Sellos: el impuesto de la firma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Impuesto provincial sobre la instrumentación de actos y contratos.</a:t>
            </a:r>
            <a:endParaRPr lang="en-US" sz="1200" dirty="0"/>
          </a:p>
        </p:txBody>
      </p:sp>
      <p:sp>
        <p:nvSpPr>
          <p:cNvPr id="7" name="Shape 4"/>
          <p:cNvSpPr/>
          <p:nvPr/>
        </p:nvSpPr>
        <p:spPr>
          <a:xfrm>
            <a:off x="603504" y="1188720"/>
            <a:ext cx="3200400" cy="3246120"/>
          </a:xfrm>
          <a:prstGeom prst="roundRect">
            <a:avLst>
              <a:gd name="adj" fmla="val 2571"/>
            </a:avLst>
          </a:prstGeom>
          <a:solidFill>
            <a:srgbClr val="08407C"/>
          </a:solidFill>
          <a:ln w="12700">
            <a:solidFill>
              <a:srgbClr val="08407C"/>
            </a:solidFill>
            <a:prstDash val="solid"/>
          </a:ln>
        </p:spPr>
      </p:sp>
      <p:sp>
        <p:nvSpPr>
          <p:cNvPr id="8" name="Text 5"/>
          <p:cNvSpPr/>
          <p:nvPr/>
        </p:nvSpPr>
        <p:spPr>
          <a:xfrm>
            <a:off x="859536" y="1417320"/>
            <a:ext cx="2697480" cy="1005840"/>
          </a:xfrm>
          <a:prstGeom prst="rect">
            <a:avLst/>
          </a:prstGeom>
          <a:noFill/>
          <a:ln/>
        </p:spPr>
        <p:txBody>
          <a:bodyPr wrap="square" lIns="0" tIns="0" rIns="0" bIns="0" rtlCol="0" anchor="t"/>
          <a:lstStyle/>
          <a:p>
            <a:pPr indent="0" marL="0">
              <a:lnSpc>
                <a:spcPts val="2300"/>
              </a:lnSpc>
              <a:buNone/>
            </a:pPr>
            <a:r>
              <a:rPr lang="en-US" sz="1700" b="1" dirty="0">
                <a:solidFill>
                  <a:srgbClr val="FFFFFF"/>
                </a:solidFill>
                <a:latin typeface="Inter" pitchFamily="34" charset="0"/>
                <a:ea typeface="Inter" pitchFamily="34" charset="-122"/>
                <a:cs typeface="Inter" pitchFamily="34" charset="-120"/>
              </a:rPr>
              <a:t>Se paga una sola vez, al firmar, sobre el valor total del acto.</a:t>
            </a:r>
            <a:endParaRPr lang="en-US" sz="1700" dirty="0"/>
          </a:p>
        </p:txBody>
      </p:sp>
      <p:sp>
        <p:nvSpPr>
          <p:cNvPr id="9" name="Text 6"/>
          <p:cNvSpPr/>
          <p:nvPr/>
        </p:nvSpPr>
        <p:spPr>
          <a:xfrm>
            <a:off x="859536" y="2514600"/>
            <a:ext cx="2697480" cy="1737360"/>
          </a:xfrm>
          <a:prstGeom prst="rect">
            <a:avLst/>
          </a:prstGeom>
          <a:noFill/>
          <a:ln/>
        </p:spPr>
        <p:txBody>
          <a:bodyPr wrap="square" lIns="0" tIns="0" rIns="0" bIns="0" rtlCol="0" anchor="ctr"/>
          <a:lstStyle/>
          <a:p>
            <a:pPr indent="0" marL="0">
              <a:lnSpc>
                <a:spcPts val="1600"/>
              </a:lnSpc>
              <a:buNone/>
            </a:pPr>
            <a:r>
              <a:rPr lang="en-US" sz="1100" dirty="0">
                <a:solidFill>
                  <a:srgbClr val="DCE6F2"/>
                </a:solidFill>
                <a:latin typeface="Inter" pitchFamily="34" charset="0"/>
                <a:ea typeface="Inter" pitchFamily="34" charset="-122"/>
                <a:cs typeface="Inter" pitchFamily="34" charset="-120"/>
              </a:rPr>
              <a:t>Alcanza alquileres, boletos de compraventa y contratos comerciales o societarios.</a:t>
            </a:r>
            <a:endParaRPr lang="en-US" sz="1100" dirty="0"/>
          </a:p>
          <a:p>
            <a:pPr indent="0" marL="0">
              <a:lnSpc>
                <a:spcPts val="1600"/>
              </a:lnSpc>
              <a:buNone/>
            </a:pPr>
            <a:endParaRPr lang="en-US" sz="1100" dirty="0"/>
          </a:p>
          <a:p>
            <a:pPr indent="0" marL="0">
              <a:lnSpc>
                <a:spcPts val="1600"/>
              </a:lnSpc>
              <a:buNone/>
            </a:pPr>
            <a:r>
              <a:rPr lang="en-US" sz="1100" dirty="0">
                <a:solidFill>
                  <a:srgbClr val="DCE6F2"/>
                </a:solidFill>
                <a:latin typeface="Inter" pitchFamily="34" charset="0"/>
                <a:ea typeface="Inter" pitchFamily="34" charset="-122"/>
                <a:cs typeface="Inter" pitchFamily="34" charset="-120"/>
              </a:rPr>
              <a:t>A diferencia de Ingresos Brutos, que se liquida mes a mes, Sellos es un pago único al momento de la firma.</a:t>
            </a:r>
            <a:endParaRPr lang="en-US" sz="1100" dirty="0"/>
          </a:p>
        </p:txBody>
      </p:sp>
      <p:sp>
        <p:nvSpPr>
          <p:cNvPr id="10" name="Shape 7"/>
          <p:cNvSpPr/>
          <p:nvPr/>
        </p:nvSpPr>
        <p:spPr>
          <a:xfrm>
            <a:off x="4005072" y="1188720"/>
            <a:ext cx="4681728" cy="731520"/>
          </a:xfrm>
          <a:prstGeom prst="roundRect">
            <a:avLst>
              <a:gd name="adj" fmla="val 11250"/>
            </a:avLst>
          </a:prstGeom>
          <a:solidFill>
            <a:srgbClr val="F2F4F7"/>
          </a:solidFill>
          <a:ln w="12700">
            <a:solidFill>
              <a:srgbClr val="F2F4F7"/>
            </a:solidFill>
            <a:prstDash val="solid"/>
          </a:ln>
        </p:spPr>
      </p:sp>
      <p:sp>
        <p:nvSpPr>
          <p:cNvPr id="11" name="Shape 8"/>
          <p:cNvSpPr/>
          <p:nvPr/>
        </p:nvSpPr>
        <p:spPr>
          <a:xfrm>
            <a:off x="4206240" y="1389888"/>
            <a:ext cx="329184" cy="329184"/>
          </a:xfrm>
          <a:prstGeom prst="roundRect">
            <a:avLst>
              <a:gd name="adj" fmla="val 138889"/>
            </a:avLst>
          </a:prstGeom>
          <a:solidFill>
            <a:srgbClr val="08407C"/>
          </a:solidFill>
          <a:ln w="12700">
            <a:solidFill>
              <a:srgbClr val="08407C"/>
            </a:solidFill>
            <a:prstDash val="solid"/>
          </a:ln>
        </p:spPr>
      </p:sp>
      <p:sp>
        <p:nvSpPr>
          <p:cNvPr id="12" name="Text 9"/>
          <p:cNvSpPr/>
          <p:nvPr/>
        </p:nvSpPr>
        <p:spPr>
          <a:xfrm>
            <a:off x="4206240" y="138988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1</a:t>
            </a:r>
            <a:endParaRPr lang="en-US" sz="1050" dirty="0"/>
          </a:p>
        </p:txBody>
      </p:sp>
      <p:sp>
        <p:nvSpPr>
          <p:cNvPr id="13" name="Text 10"/>
          <p:cNvSpPr/>
          <p:nvPr/>
        </p:nvSpPr>
        <p:spPr>
          <a:xfrm>
            <a:off x="4663440" y="1280160"/>
            <a:ext cx="3913632" cy="237744"/>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La base es el valor total del acto</a:t>
            </a:r>
            <a:endParaRPr lang="en-US" sz="1150" dirty="0"/>
          </a:p>
        </p:txBody>
      </p:sp>
      <p:sp>
        <p:nvSpPr>
          <p:cNvPr id="14" name="Text 11"/>
          <p:cNvSpPr/>
          <p:nvPr/>
        </p:nvSpPr>
        <p:spPr>
          <a:xfrm>
            <a:off x="4663440" y="1527048"/>
            <a:ext cx="3913632" cy="32918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En un alquiler, la suma de todos los meses del contrato — no un mes suelto.</a:t>
            </a:r>
            <a:endParaRPr lang="en-US" sz="950" dirty="0"/>
          </a:p>
        </p:txBody>
      </p:sp>
      <p:sp>
        <p:nvSpPr>
          <p:cNvPr id="15" name="Shape 12"/>
          <p:cNvSpPr/>
          <p:nvPr/>
        </p:nvSpPr>
        <p:spPr>
          <a:xfrm>
            <a:off x="4005072" y="2029968"/>
            <a:ext cx="4681728" cy="731520"/>
          </a:xfrm>
          <a:prstGeom prst="roundRect">
            <a:avLst>
              <a:gd name="adj" fmla="val 11250"/>
            </a:avLst>
          </a:prstGeom>
          <a:solidFill>
            <a:srgbClr val="F2F4F7"/>
          </a:solidFill>
          <a:ln w="12700">
            <a:solidFill>
              <a:srgbClr val="F2F4F7"/>
            </a:solidFill>
            <a:prstDash val="solid"/>
          </a:ln>
        </p:spPr>
      </p:sp>
      <p:sp>
        <p:nvSpPr>
          <p:cNvPr id="16" name="Shape 13"/>
          <p:cNvSpPr/>
          <p:nvPr/>
        </p:nvSpPr>
        <p:spPr>
          <a:xfrm>
            <a:off x="4206240" y="2231136"/>
            <a:ext cx="329184" cy="329184"/>
          </a:xfrm>
          <a:prstGeom prst="roundRect">
            <a:avLst>
              <a:gd name="adj" fmla="val 138889"/>
            </a:avLst>
          </a:prstGeom>
          <a:solidFill>
            <a:srgbClr val="08407C"/>
          </a:solidFill>
          <a:ln w="12700">
            <a:solidFill>
              <a:srgbClr val="08407C"/>
            </a:solidFill>
            <a:prstDash val="solid"/>
          </a:ln>
        </p:spPr>
      </p:sp>
      <p:sp>
        <p:nvSpPr>
          <p:cNvPr id="17" name="Text 14"/>
          <p:cNvSpPr/>
          <p:nvPr/>
        </p:nvSpPr>
        <p:spPr>
          <a:xfrm>
            <a:off x="4206240" y="223113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2</a:t>
            </a:r>
            <a:endParaRPr lang="en-US" sz="1050" dirty="0"/>
          </a:p>
        </p:txBody>
      </p:sp>
      <p:sp>
        <p:nvSpPr>
          <p:cNvPr id="18" name="Text 15"/>
          <p:cNvSpPr/>
          <p:nvPr/>
        </p:nvSpPr>
        <p:spPr>
          <a:xfrm>
            <a:off x="4663440" y="2121408"/>
            <a:ext cx="3913632" cy="237744"/>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Impacta la rentabilidad neta</a:t>
            </a:r>
            <a:endParaRPr lang="en-US" sz="1150" dirty="0"/>
          </a:p>
        </p:txBody>
      </p:sp>
      <p:sp>
        <p:nvSpPr>
          <p:cNvPr id="19" name="Text 16"/>
          <p:cNvSpPr/>
          <p:nvPr/>
        </p:nvSpPr>
        <p:spPr>
          <a:xfrm>
            <a:off x="4663440" y="2368296"/>
            <a:ext cx="3913632" cy="32918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Sellos es un costo de la operación: hay que sumarlo al cálculo, no mirar solo la comisión.</a:t>
            </a:r>
            <a:endParaRPr lang="en-US" sz="950" dirty="0"/>
          </a:p>
        </p:txBody>
      </p:sp>
      <p:sp>
        <p:nvSpPr>
          <p:cNvPr id="20" name="Shape 17"/>
          <p:cNvSpPr/>
          <p:nvPr/>
        </p:nvSpPr>
        <p:spPr>
          <a:xfrm>
            <a:off x="4005072" y="2871216"/>
            <a:ext cx="4681728" cy="731520"/>
          </a:xfrm>
          <a:prstGeom prst="roundRect">
            <a:avLst>
              <a:gd name="adj" fmla="val 11250"/>
            </a:avLst>
          </a:prstGeom>
          <a:solidFill>
            <a:srgbClr val="F2F4F7"/>
          </a:solidFill>
          <a:ln w="12700">
            <a:solidFill>
              <a:srgbClr val="F2F4F7"/>
            </a:solidFill>
            <a:prstDash val="solid"/>
          </a:ln>
        </p:spPr>
      </p:sp>
      <p:sp>
        <p:nvSpPr>
          <p:cNvPr id="21" name="Shape 18"/>
          <p:cNvSpPr/>
          <p:nvPr/>
        </p:nvSpPr>
        <p:spPr>
          <a:xfrm>
            <a:off x="4206240" y="3072384"/>
            <a:ext cx="329184" cy="329184"/>
          </a:xfrm>
          <a:prstGeom prst="roundRect">
            <a:avLst>
              <a:gd name="adj" fmla="val 138889"/>
            </a:avLst>
          </a:prstGeom>
          <a:solidFill>
            <a:srgbClr val="08407C"/>
          </a:solidFill>
          <a:ln w="12700">
            <a:solidFill>
              <a:srgbClr val="08407C"/>
            </a:solidFill>
            <a:prstDash val="solid"/>
          </a:ln>
        </p:spPr>
      </p:sp>
      <p:sp>
        <p:nvSpPr>
          <p:cNvPr id="22" name="Text 19"/>
          <p:cNvSpPr/>
          <p:nvPr/>
        </p:nvSpPr>
        <p:spPr>
          <a:xfrm>
            <a:off x="4206240" y="3072384"/>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3</a:t>
            </a:r>
            <a:endParaRPr lang="en-US" sz="1050" dirty="0"/>
          </a:p>
        </p:txBody>
      </p:sp>
      <p:sp>
        <p:nvSpPr>
          <p:cNvPr id="23" name="Text 20"/>
          <p:cNvSpPr/>
          <p:nvPr/>
        </p:nvSpPr>
        <p:spPr>
          <a:xfrm>
            <a:off x="4663440" y="2962656"/>
            <a:ext cx="3913632" cy="237744"/>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El sellado da fecha cierta</a:t>
            </a:r>
            <a:endParaRPr lang="en-US" sz="1150" dirty="0"/>
          </a:p>
        </p:txBody>
      </p:sp>
      <p:sp>
        <p:nvSpPr>
          <p:cNvPr id="24" name="Text 21"/>
          <p:cNvSpPr/>
          <p:nvPr/>
        </p:nvSpPr>
        <p:spPr>
          <a:xfrm>
            <a:off x="4663440" y="3209544"/>
            <a:ext cx="3913632" cy="32918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Sin sellar, el contrato pierde fuerza probatoria ante el fisco y ante la contraparte.</a:t>
            </a:r>
            <a:endParaRPr lang="en-US" sz="950" dirty="0"/>
          </a:p>
        </p:txBody>
      </p:sp>
      <p:sp>
        <p:nvSpPr>
          <p:cNvPr id="25" name="Shape 22"/>
          <p:cNvSpPr/>
          <p:nvPr/>
        </p:nvSpPr>
        <p:spPr>
          <a:xfrm>
            <a:off x="4005072" y="3712464"/>
            <a:ext cx="4681728" cy="731520"/>
          </a:xfrm>
          <a:prstGeom prst="roundRect">
            <a:avLst>
              <a:gd name="adj" fmla="val 11250"/>
            </a:avLst>
          </a:prstGeom>
          <a:solidFill>
            <a:srgbClr val="F2F4F7"/>
          </a:solidFill>
          <a:ln w="12700">
            <a:solidFill>
              <a:srgbClr val="F2F4F7"/>
            </a:solidFill>
            <a:prstDash val="solid"/>
          </a:ln>
        </p:spPr>
      </p:sp>
      <p:sp>
        <p:nvSpPr>
          <p:cNvPr id="26" name="Shape 23"/>
          <p:cNvSpPr/>
          <p:nvPr/>
        </p:nvSpPr>
        <p:spPr>
          <a:xfrm>
            <a:off x="4206240" y="3913632"/>
            <a:ext cx="329184" cy="329184"/>
          </a:xfrm>
          <a:prstGeom prst="roundRect">
            <a:avLst>
              <a:gd name="adj" fmla="val 138889"/>
            </a:avLst>
          </a:prstGeom>
          <a:solidFill>
            <a:srgbClr val="08407C"/>
          </a:solidFill>
          <a:ln w="12700">
            <a:solidFill>
              <a:srgbClr val="08407C"/>
            </a:solidFill>
            <a:prstDash val="solid"/>
          </a:ln>
        </p:spPr>
      </p:sp>
      <p:sp>
        <p:nvSpPr>
          <p:cNvPr id="27" name="Text 24"/>
          <p:cNvSpPr/>
          <p:nvPr/>
        </p:nvSpPr>
        <p:spPr>
          <a:xfrm>
            <a:off x="4206240" y="3913632"/>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4</a:t>
            </a:r>
            <a:endParaRPr lang="en-US" sz="1050" dirty="0"/>
          </a:p>
        </p:txBody>
      </p:sp>
      <p:sp>
        <p:nvSpPr>
          <p:cNvPr id="28" name="Text 25"/>
          <p:cNvSpPr/>
          <p:nvPr/>
        </p:nvSpPr>
        <p:spPr>
          <a:xfrm>
            <a:off x="4663440" y="3803904"/>
            <a:ext cx="3913632" cy="237744"/>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Se coordina antes de firmar</a:t>
            </a:r>
            <a:endParaRPr lang="en-US" sz="1150" dirty="0"/>
          </a:p>
        </p:txBody>
      </p:sp>
      <p:sp>
        <p:nvSpPr>
          <p:cNvPr id="29" name="Text 26"/>
          <p:cNvSpPr/>
          <p:nvPr/>
        </p:nvSpPr>
        <p:spPr>
          <a:xfrm>
            <a:off x="4663440" y="4050792"/>
            <a:ext cx="3913632" cy="329184"/>
          </a:xfrm>
          <a:prstGeom prst="rect">
            <a:avLst/>
          </a:prstGeom>
          <a:noFill/>
          <a:ln/>
        </p:spPr>
        <p:txBody>
          <a:bodyPr wrap="square" lIns="0" tIns="0" rIns="0" bIns="0" rtlCol="0" anchor="ctr"/>
          <a:lstStyle/>
          <a:p>
            <a:pPr indent="0" marL="0">
              <a:lnSpc>
                <a:spcPts val="1200"/>
              </a:lnSpc>
              <a:buNone/>
            </a:pPr>
            <a:r>
              <a:rPr lang="en-US" sz="950" dirty="0">
                <a:solidFill>
                  <a:srgbClr val="2E4258"/>
                </a:solidFill>
                <a:latin typeface="Inter" pitchFamily="34" charset="0"/>
                <a:ea typeface="Inter" pitchFamily="34" charset="-122"/>
                <a:cs typeface="Inter" pitchFamily="34" charset="-120"/>
              </a:rPr>
              <a:t>Conviene resolver el trámite ante ARBA o AGIP para no atrasar la firma.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Los impuestos del inmueble</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Lo que paga el propietario — y lo que hay que saber leer para tasar y asesorar.</a:t>
            </a:r>
            <a:endParaRPr lang="en-US" sz="1200" dirty="0"/>
          </a:p>
        </p:txBody>
      </p:sp>
      <p:sp>
        <p:nvSpPr>
          <p:cNvPr id="7" name="Shape 4"/>
          <p:cNvSpPr/>
          <p:nvPr/>
        </p:nvSpPr>
        <p:spPr>
          <a:xfrm>
            <a:off x="603504" y="1188720"/>
            <a:ext cx="1883664" cy="2606040"/>
          </a:xfrm>
          <a:prstGeom prst="roundRect">
            <a:avLst>
              <a:gd name="adj" fmla="val 4369"/>
            </a:avLst>
          </a:prstGeom>
          <a:solidFill>
            <a:srgbClr val="08407C"/>
          </a:solidFill>
          <a:ln w="12700">
            <a:solidFill>
              <a:srgbClr val="08407C"/>
            </a:solidFill>
            <a:prstDash val="solid"/>
          </a:ln>
        </p:spPr>
      </p:sp>
      <p:sp>
        <p:nvSpPr>
          <p:cNvPr id="8" name="Text 5"/>
          <p:cNvSpPr/>
          <p:nvPr/>
        </p:nvSpPr>
        <p:spPr>
          <a:xfrm>
            <a:off x="804672" y="1353312"/>
            <a:ext cx="1536192" cy="54864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Inter" pitchFamily="34" charset="0"/>
                <a:ea typeface="Inter" pitchFamily="34" charset="-122"/>
                <a:cs typeface="Inter" pitchFamily="34" charset="-120"/>
              </a:rPr>
              <a:t>Impuesto Inmobiliario</a:t>
            </a:r>
            <a:endParaRPr lang="en-US" sz="1350" dirty="0"/>
          </a:p>
        </p:txBody>
      </p:sp>
      <p:sp>
        <p:nvSpPr>
          <p:cNvPr id="9" name="Text 6"/>
          <p:cNvSpPr/>
          <p:nvPr/>
        </p:nvSpPr>
        <p:spPr>
          <a:xfrm>
            <a:off x="804672" y="1938528"/>
            <a:ext cx="1554480" cy="201168"/>
          </a:xfrm>
          <a:prstGeom prst="rect">
            <a:avLst/>
          </a:prstGeom>
          <a:noFill/>
          <a:ln/>
        </p:spPr>
        <p:txBody>
          <a:bodyPr wrap="square" lIns="0" tIns="0" rIns="0" bIns="0" rtlCol="0" anchor="ctr"/>
          <a:lstStyle/>
          <a:p>
            <a:pPr indent="0" marL="0">
              <a:buNone/>
            </a:pPr>
            <a:r>
              <a:rPr lang="en-US" sz="850" b="1" spc="80" kern="0" dirty="0">
                <a:solidFill>
                  <a:srgbClr val="C9D6E6"/>
                </a:solidFill>
                <a:latin typeface="Inter" pitchFamily="34" charset="0"/>
                <a:ea typeface="Inter" pitchFamily="34" charset="-122"/>
                <a:cs typeface="Inter" pitchFamily="34" charset="-120"/>
              </a:rPr>
              <a:t>ARBA (PBA)</a:t>
            </a:r>
            <a:endParaRPr lang="en-US" sz="850" dirty="0"/>
          </a:p>
        </p:txBody>
      </p:sp>
      <p:sp>
        <p:nvSpPr>
          <p:cNvPr id="10" name="Text 7"/>
          <p:cNvSpPr/>
          <p:nvPr/>
        </p:nvSpPr>
        <p:spPr>
          <a:xfrm>
            <a:off x="804672" y="2231136"/>
            <a:ext cx="1554480" cy="1417320"/>
          </a:xfrm>
          <a:prstGeom prst="rect">
            <a:avLst/>
          </a:prstGeom>
          <a:noFill/>
          <a:ln/>
        </p:spPr>
        <p:txBody>
          <a:bodyPr wrap="square" lIns="0" tIns="0" rIns="0" bIns="0" rtlCol="0" anchor="ctr"/>
          <a:lstStyle/>
          <a:p>
            <a:pPr indent="0" marL="0">
              <a:lnSpc>
                <a:spcPts val="1200"/>
              </a:lnSpc>
              <a:buNone/>
            </a:pPr>
            <a:r>
              <a:rPr lang="en-US" sz="950" dirty="0">
                <a:solidFill>
                  <a:srgbClr val="EAEFF5"/>
                </a:solidFill>
                <a:latin typeface="Inter" pitchFamily="34" charset="0"/>
                <a:ea typeface="Inter" pitchFamily="34" charset="-122"/>
                <a:cs typeface="Inter" pitchFamily="34" charset="-120"/>
              </a:rPr>
              <a:t>Sobre la titularidad del inmueble, calculado sobre la valuación fiscal. Vencimientos bimestrales o trimestrales. En CABA no existe por separado: va dentro del ABL.</a:t>
            </a:r>
            <a:endParaRPr lang="en-US" sz="950" dirty="0"/>
          </a:p>
        </p:txBody>
      </p:sp>
      <p:sp>
        <p:nvSpPr>
          <p:cNvPr id="11" name="Shape 8"/>
          <p:cNvSpPr/>
          <p:nvPr/>
        </p:nvSpPr>
        <p:spPr>
          <a:xfrm>
            <a:off x="2670048" y="1188720"/>
            <a:ext cx="1883664" cy="2606040"/>
          </a:xfrm>
          <a:prstGeom prst="roundRect">
            <a:avLst>
              <a:gd name="adj" fmla="val 4369"/>
            </a:avLst>
          </a:prstGeom>
          <a:solidFill>
            <a:srgbClr val="7C8594"/>
          </a:solidFill>
          <a:ln w="12700">
            <a:solidFill>
              <a:srgbClr val="7C8594"/>
            </a:solidFill>
            <a:prstDash val="solid"/>
          </a:ln>
        </p:spPr>
      </p:sp>
      <p:sp>
        <p:nvSpPr>
          <p:cNvPr id="12" name="Text 9"/>
          <p:cNvSpPr/>
          <p:nvPr/>
        </p:nvSpPr>
        <p:spPr>
          <a:xfrm>
            <a:off x="2871216" y="1353312"/>
            <a:ext cx="1536192" cy="54864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Inter" pitchFamily="34" charset="0"/>
                <a:ea typeface="Inter" pitchFamily="34" charset="-122"/>
                <a:cs typeface="Inter" pitchFamily="34" charset="-120"/>
              </a:rPr>
              <a:t>ABL / TSU</a:t>
            </a:r>
            <a:endParaRPr lang="en-US" sz="1350" dirty="0"/>
          </a:p>
        </p:txBody>
      </p:sp>
      <p:sp>
        <p:nvSpPr>
          <p:cNvPr id="13" name="Text 10"/>
          <p:cNvSpPr/>
          <p:nvPr/>
        </p:nvSpPr>
        <p:spPr>
          <a:xfrm>
            <a:off x="2871216" y="1938528"/>
            <a:ext cx="1554480" cy="201168"/>
          </a:xfrm>
          <a:prstGeom prst="rect">
            <a:avLst/>
          </a:prstGeom>
          <a:noFill/>
          <a:ln/>
        </p:spPr>
        <p:txBody>
          <a:bodyPr wrap="square" lIns="0" tIns="0" rIns="0" bIns="0" rtlCol="0" anchor="ctr"/>
          <a:lstStyle/>
          <a:p>
            <a:pPr indent="0" marL="0">
              <a:buNone/>
            </a:pPr>
            <a:r>
              <a:rPr lang="en-US" sz="850" b="1" spc="80" kern="0" dirty="0">
                <a:solidFill>
                  <a:srgbClr val="C9D6E6"/>
                </a:solidFill>
                <a:latin typeface="Inter" pitchFamily="34" charset="0"/>
                <a:ea typeface="Inter" pitchFamily="34" charset="-122"/>
                <a:cs typeface="Inter" pitchFamily="34" charset="-120"/>
              </a:rPr>
              <a:t>AGIP · MUNICIPIO</a:t>
            </a:r>
            <a:endParaRPr lang="en-US" sz="850" dirty="0"/>
          </a:p>
        </p:txBody>
      </p:sp>
      <p:sp>
        <p:nvSpPr>
          <p:cNvPr id="14" name="Text 11"/>
          <p:cNvSpPr/>
          <p:nvPr/>
        </p:nvSpPr>
        <p:spPr>
          <a:xfrm>
            <a:off x="2871216" y="2231136"/>
            <a:ext cx="1554480" cy="1417320"/>
          </a:xfrm>
          <a:prstGeom prst="rect">
            <a:avLst/>
          </a:prstGeom>
          <a:noFill/>
          <a:ln/>
        </p:spPr>
        <p:txBody>
          <a:bodyPr wrap="square" lIns="0" tIns="0" rIns="0" bIns="0" rtlCol="0" anchor="ctr"/>
          <a:lstStyle/>
          <a:p>
            <a:pPr indent="0" marL="0">
              <a:lnSpc>
                <a:spcPts val="1200"/>
              </a:lnSpc>
              <a:buNone/>
            </a:pPr>
            <a:r>
              <a:rPr lang="en-US" sz="950" dirty="0">
                <a:solidFill>
                  <a:srgbClr val="EAEFF5"/>
                </a:solidFill>
                <a:latin typeface="Inter" pitchFamily="34" charset="0"/>
                <a:ea typeface="Inter" pitchFamily="34" charset="-122"/>
                <a:cs typeface="Inter" pitchFamily="34" charset="-120"/>
              </a:rPr>
              <a:t>Alumbrado, Barrido y Limpieza en CABA; fuera, cada municipio tiene su Tasa de Servicios Urbanos. Retribuye servicios urbanos sobre el inmueble.</a:t>
            </a:r>
            <a:endParaRPr lang="en-US" sz="950" dirty="0"/>
          </a:p>
        </p:txBody>
      </p:sp>
      <p:sp>
        <p:nvSpPr>
          <p:cNvPr id="15" name="Shape 12"/>
          <p:cNvSpPr/>
          <p:nvPr/>
        </p:nvSpPr>
        <p:spPr>
          <a:xfrm>
            <a:off x="4736592" y="1188720"/>
            <a:ext cx="1883664" cy="2606040"/>
          </a:xfrm>
          <a:prstGeom prst="roundRect">
            <a:avLst>
              <a:gd name="adj" fmla="val 4369"/>
            </a:avLst>
          </a:prstGeom>
          <a:solidFill>
            <a:srgbClr val="08407C"/>
          </a:solidFill>
          <a:ln w="12700">
            <a:solidFill>
              <a:srgbClr val="08407C"/>
            </a:solidFill>
            <a:prstDash val="solid"/>
          </a:ln>
        </p:spPr>
      </p:sp>
      <p:sp>
        <p:nvSpPr>
          <p:cNvPr id="16" name="Text 13"/>
          <p:cNvSpPr/>
          <p:nvPr/>
        </p:nvSpPr>
        <p:spPr>
          <a:xfrm>
            <a:off x="4937760" y="1353312"/>
            <a:ext cx="1536192" cy="54864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Inter" pitchFamily="34" charset="0"/>
                <a:ea typeface="Inter" pitchFamily="34" charset="-122"/>
                <a:cs typeface="Inter" pitchFamily="34" charset="-120"/>
              </a:rPr>
              <a:t>Patentes</a:t>
            </a:r>
            <a:endParaRPr lang="en-US" sz="1350" dirty="0"/>
          </a:p>
        </p:txBody>
      </p:sp>
      <p:sp>
        <p:nvSpPr>
          <p:cNvPr id="17" name="Text 14"/>
          <p:cNvSpPr/>
          <p:nvPr/>
        </p:nvSpPr>
        <p:spPr>
          <a:xfrm>
            <a:off x="4937760" y="1938528"/>
            <a:ext cx="1554480" cy="201168"/>
          </a:xfrm>
          <a:prstGeom prst="rect">
            <a:avLst/>
          </a:prstGeom>
          <a:noFill/>
          <a:ln/>
        </p:spPr>
        <p:txBody>
          <a:bodyPr wrap="square" lIns="0" tIns="0" rIns="0" bIns="0" rtlCol="0" anchor="ctr"/>
          <a:lstStyle/>
          <a:p>
            <a:pPr indent="0" marL="0">
              <a:buNone/>
            </a:pPr>
            <a:r>
              <a:rPr lang="en-US" sz="850" b="1" spc="80" kern="0" dirty="0">
                <a:solidFill>
                  <a:srgbClr val="C9D6E6"/>
                </a:solidFill>
                <a:latin typeface="Inter" pitchFamily="34" charset="0"/>
                <a:ea typeface="Inter" pitchFamily="34" charset="-122"/>
                <a:cs typeface="Inter" pitchFamily="34" charset="-120"/>
              </a:rPr>
              <a:t>ARBA · AGIP</a:t>
            </a:r>
            <a:endParaRPr lang="en-US" sz="850" dirty="0"/>
          </a:p>
        </p:txBody>
      </p:sp>
      <p:sp>
        <p:nvSpPr>
          <p:cNvPr id="18" name="Text 15"/>
          <p:cNvSpPr/>
          <p:nvPr/>
        </p:nvSpPr>
        <p:spPr>
          <a:xfrm>
            <a:off x="4937760" y="2231136"/>
            <a:ext cx="1554480" cy="1417320"/>
          </a:xfrm>
          <a:prstGeom prst="rect">
            <a:avLst/>
          </a:prstGeom>
          <a:noFill/>
          <a:ln/>
        </p:spPr>
        <p:txBody>
          <a:bodyPr wrap="square" lIns="0" tIns="0" rIns="0" bIns="0" rtlCol="0" anchor="ctr"/>
          <a:lstStyle/>
          <a:p>
            <a:pPr indent="0" marL="0">
              <a:lnSpc>
                <a:spcPts val="1200"/>
              </a:lnSpc>
              <a:buNone/>
            </a:pPr>
            <a:r>
              <a:rPr lang="en-US" sz="950" dirty="0">
                <a:solidFill>
                  <a:srgbClr val="EAEFF5"/>
                </a:solidFill>
                <a:latin typeface="Inter" pitchFamily="34" charset="0"/>
                <a:ea typeface="Inter" pitchFamily="34" charset="-122"/>
                <a:cs typeface="Inter" pitchFamily="34" charset="-120"/>
              </a:rPr>
              <a:t>Sobre la titularidad de un vehículo, según valuación fiscal por marca, modelo y año. En PBA se cobra habitualmente en cinco cuotas anuales.</a:t>
            </a:r>
            <a:endParaRPr lang="en-US" sz="950" dirty="0"/>
          </a:p>
        </p:txBody>
      </p:sp>
      <p:sp>
        <p:nvSpPr>
          <p:cNvPr id="19" name="Shape 16"/>
          <p:cNvSpPr/>
          <p:nvPr/>
        </p:nvSpPr>
        <p:spPr>
          <a:xfrm>
            <a:off x="6803136" y="1188720"/>
            <a:ext cx="1883664" cy="2606040"/>
          </a:xfrm>
          <a:prstGeom prst="roundRect">
            <a:avLst>
              <a:gd name="adj" fmla="val 4369"/>
            </a:avLst>
          </a:prstGeom>
          <a:solidFill>
            <a:srgbClr val="7C8594"/>
          </a:solidFill>
          <a:ln w="12700">
            <a:solidFill>
              <a:srgbClr val="7C8594"/>
            </a:solidFill>
            <a:prstDash val="solid"/>
          </a:ln>
        </p:spPr>
      </p:sp>
      <p:sp>
        <p:nvSpPr>
          <p:cNvPr id="20" name="Text 17"/>
          <p:cNvSpPr/>
          <p:nvPr/>
        </p:nvSpPr>
        <p:spPr>
          <a:xfrm>
            <a:off x="7004304" y="1353312"/>
            <a:ext cx="1536192" cy="548640"/>
          </a:xfrm>
          <a:prstGeom prst="rect">
            <a:avLst/>
          </a:prstGeom>
          <a:noFill/>
          <a:ln/>
        </p:spPr>
        <p:txBody>
          <a:bodyPr wrap="square" lIns="0" tIns="0" rIns="0" bIns="0" rtlCol="0" anchor="t"/>
          <a:lstStyle/>
          <a:p>
            <a:pPr indent="0" marL="0">
              <a:lnSpc>
                <a:spcPts val="1600"/>
              </a:lnSpc>
              <a:buNone/>
            </a:pPr>
            <a:r>
              <a:rPr lang="en-US" sz="1350" b="1" dirty="0">
                <a:solidFill>
                  <a:srgbClr val="FFFFFF"/>
                </a:solidFill>
                <a:latin typeface="Inter" pitchFamily="34" charset="0"/>
                <a:ea typeface="Inter" pitchFamily="34" charset="-122"/>
                <a:cs typeface="Inter" pitchFamily="34" charset="-120"/>
              </a:rPr>
              <a:t>Seguridad e Higiene</a:t>
            </a:r>
            <a:endParaRPr lang="en-US" sz="1350" dirty="0"/>
          </a:p>
        </p:txBody>
      </p:sp>
      <p:sp>
        <p:nvSpPr>
          <p:cNvPr id="21" name="Text 18"/>
          <p:cNvSpPr/>
          <p:nvPr/>
        </p:nvSpPr>
        <p:spPr>
          <a:xfrm>
            <a:off x="7004304" y="1938528"/>
            <a:ext cx="1554480" cy="201168"/>
          </a:xfrm>
          <a:prstGeom prst="rect">
            <a:avLst/>
          </a:prstGeom>
          <a:noFill/>
          <a:ln/>
        </p:spPr>
        <p:txBody>
          <a:bodyPr wrap="square" lIns="0" tIns="0" rIns="0" bIns="0" rtlCol="0" anchor="ctr"/>
          <a:lstStyle/>
          <a:p>
            <a:pPr indent="0" marL="0">
              <a:buNone/>
            </a:pPr>
            <a:r>
              <a:rPr lang="en-US" sz="850" b="1" spc="80" kern="0" dirty="0">
                <a:solidFill>
                  <a:srgbClr val="C9D6E6"/>
                </a:solidFill>
                <a:latin typeface="Inter" pitchFamily="34" charset="0"/>
                <a:ea typeface="Inter" pitchFamily="34" charset="-122"/>
                <a:cs typeface="Inter" pitchFamily="34" charset="-120"/>
              </a:rPr>
              <a:t>MUNICIPIO</a:t>
            </a:r>
            <a:endParaRPr lang="en-US" sz="850" dirty="0"/>
          </a:p>
        </p:txBody>
      </p:sp>
      <p:sp>
        <p:nvSpPr>
          <p:cNvPr id="22" name="Text 19"/>
          <p:cNvSpPr/>
          <p:nvPr/>
        </p:nvSpPr>
        <p:spPr>
          <a:xfrm>
            <a:off x="7004304" y="2231136"/>
            <a:ext cx="1554480" cy="1417320"/>
          </a:xfrm>
          <a:prstGeom prst="rect">
            <a:avLst/>
          </a:prstGeom>
          <a:noFill/>
          <a:ln/>
        </p:spPr>
        <p:txBody>
          <a:bodyPr wrap="square" lIns="0" tIns="0" rIns="0" bIns="0" rtlCol="0" anchor="ctr"/>
          <a:lstStyle/>
          <a:p>
            <a:pPr indent="0" marL="0">
              <a:lnSpc>
                <a:spcPts val="1200"/>
              </a:lnSpc>
              <a:buNone/>
            </a:pPr>
            <a:r>
              <a:rPr lang="en-US" sz="950" dirty="0">
                <a:solidFill>
                  <a:srgbClr val="EAEFF5"/>
                </a:solidFill>
                <a:latin typeface="Inter" pitchFamily="34" charset="0"/>
                <a:ea typeface="Inter" pitchFamily="34" charset="-122"/>
                <a:cs typeface="Inter" pitchFamily="34" charset="-120"/>
              </a:rPr>
              <a:t>Tasa municipal por desarrollar actividad comercial en un local. Base variable: ingresos, superficie o ambas. Va de la mano de la habilitación.</a:t>
            </a:r>
            <a:endParaRPr lang="en-US" sz="950" dirty="0"/>
          </a:p>
        </p:txBody>
      </p:sp>
      <p:sp>
        <p:nvSpPr>
          <p:cNvPr id="23" name="Shape 20"/>
          <p:cNvSpPr/>
          <p:nvPr/>
        </p:nvSpPr>
        <p:spPr>
          <a:xfrm>
            <a:off x="603504" y="4005072"/>
            <a:ext cx="8083296" cy="658368"/>
          </a:xfrm>
          <a:prstGeom prst="roundRect">
            <a:avLst>
              <a:gd name="adj" fmla="val 12500"/>
            </a:avLst>
          </a:prstGeom>
          <a:solidFill>
            <a:srgbClr val="08407C"/>
          </a:solidFill>
          <a:ln w="12700">
            <a:solidFill>
              <a:srgbClr val="08407C"/>
            </a:solidFill>
            <a:prstDash val="solid"/>
          </a:ln>
        </p:spPr>
      </p:sp>
      <p:sp>
        <p:nvSpPr>
          <p:cNvPr id="24" name="Text 21"/>
          <p:cNvSpPr/>
          <p:nvPr/>
        </p:nvSpPr>
        <p:spPr>
          <a:xfrm>
            <a:off x="841248" y="4050792"/>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IMPUESTO NO ES LO MISMO QUE TASA</a:t>
            </a:r>
            <a:endParaRPr lang="en-US" sz="900" dirty="0"/>
          </a:p>
        </p:txBody>
      </p:sp>
      <p:sp>
        <p:nvSpPr>
          <p:cNvPr id="25" name="Text 22"/>
          <p:cNvSpPr/>
          <p:nvPr/>
        </p:nvSpPr>
        <p:spPr>
          <a:xfrm>
            <a:off x="841248" y="4251960"/>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impuesto no tiene contraprestación directa (Ganancias, IVA). La tasa siempre retribuye un servicio concreto: alumbrado, inspecciones, habilitación.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impuestos/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control de todos los días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Qué verificar antes de pagar, y qué errores salen más caros.</a:t>
            </a:r>
            <a:endParaRPr lang="en-US" sz="1200" dirty="0"/>
          </a:p>
        </p:txBody>
      </p:sp>
      <p:sp>
        <p:nvSpPr>
          <p:cNvPr id="7" name="Shape 4"/>
          <p:cNvSpPr/>
          <p:nvPr/>
        </p:nvSpPr>
        <p:spPr>
          <a:xfrm>
            <a:off x="603504" y="1188720"/>
            <a:ext cx="3950208" cy="475488"/>
          </a:xfrm>
          <a:prstGeom prst="roundRect">
            <a:avLst>
              <a:gd name="adj" fmla="val 17308"/>
            </a:avLst>
          </a:prstGeom>
          <a:solidFill>
            <a:srgbClr val="26AE60"/>
          </a:solidFill>
          <a:ln w="12700">
            <a:solidFill>
              <a:srgbClr val="26AE60"/>
            </a:solidFill>
            <a:prstDash val="solid"/>
          </a:ln>
        </p:spPr>
      </p:sp>
      <p:sp>
        <p:nvSpPr>
          <p:cNvPr id="8" name="Text 5"/>
          <p:cNvSpPr/>
          <p:nvPr/>
        </p:nvSpPr>
        <p:spPr>
          <a:xfrm>
            <a:off x="877824" y="1188720"/>
            <a:ext cx="3566160" cy="475488"/>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SÍ — CONTROLAR SIEMPRE</a:t>
            </a:r>
            <a:endParaRPr lang="en-US" sz="1150" dirty="0"/>
          </a:p>
        </p:txBody>
      </p:sp>
      <p:sp>
        <p:nvSpPr>
          <p:cNvPr id="9" name="Shape 6"/>
          <p:cNvSpPr/>
          <p:nvPr/>
        </p:nvSpPr>
        <p:spPr>
          <a:xfrm>
            <a:off x="4736592" y="1188720"/>
            <a:ext cx="3950208" cy="475488"/>
          </a:xfrm>
          <a:prstGeom prst="roundRect">
            <a:avLst>
              <a:gd name="adj" fmla="val 17308"/>
            </a:avLst>
          </a:prstGeom>
          <a:solidFill>
            <a:srgbClr val="E74B3C"/>
          </a:solidFill>
          <a:ln w="12700">
            <a:solidFill>
              <a:srgbClr val="E74B3C"/>
            </a:solidFill>
            <a:prstDash val="solid"/>
          </a:ln>
        </p:spPr>
      </p:sp>
      <p:sp>
        <p:nvSpPr>
          <p:cNvPr id="10" name="Text 7"/>
          <p:cNvSpPr/>
          <p:nvPr/>
        </p:nvSpPr>
        <p:spPr>
          <a:xfrm>
            <a:off x="5010912" y="1188720"/>
            <a:ext cx="3566160" cy="475488"/>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NO — ERRORES QUE SALEN CAROS</a:t>
            </a:r>
            <a:endParaRPr lang="en-US" sz="1150" dirty="0"/>
          </a:p>
        </p:txBody>
      </p:sp>
      <p:sp>
        <p:nvSpPr>
          <p:cNvPr id="11" name="Shape 8"/>
          <p:cNvSpPr/>
          <p:nvPr/>
        </p:nvSpPr>
        <p:spPr>
          <a:xfrm>
            <a:off x="603504" y="1828800"/>
            <a:ext cx="310896" cy="310896"/>
          </a:xfrm>
          <a:prstGeom prst="roundRect">
            <a:avLst>
              <a:gd name="adj" fmla="val 147059"/>
            </a:avLst>
          </a:prstGeom>
          <a:solidFill>
            <a:srgbClr val="26AE60"/>
          </a:solidFill>
          <a:ln w="12700">
            <a:solidFill>
              <a:srgbClr val="26AE60"/>
            </a:solidFill>
            <a:prstDash val="solid"/>
          </a:ln>
        </p:spPr>
      </p:sp>
      <p:sp>
        <p:nvSpPr>
          <p:cNvPr id="12" name="Text 9"/>
          <p:cNvSpPr/>
          <p:nvPr/>
        </p:nvSpPr>
        <p:spPr>
          <a:xfrm>
            <a:off x="603504" y="1828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3" name="Text 10"/>
          <p:cNvSpPr/>
          <p:nvPr/>
        </p:nvSpPr>
        <p:spPr>
          <a:xfrm>
            <a:off x="1042416" y="1810512"/>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Que el CUIT esté activo y no dado de baja.</a:t>
            </a:r>
            <a:endParaRPr lang="en-US" sz="1050" dirty="0"/>
          </a:p>
        </p:txBody>
      </p:sp>
      <p:sp>
        <p:nvSpPr>
          <p:cNvPr id="14" name="Shape 11"/>
          <p:cNvSpPr/>
          <p:nvPr/>
        </p:nvSpPr>
        <p:spPr>
          <a:xfrm>
            <a:off x="603504" y="2340864"/>
            <a:ext cx="310896" cy="310896"/>
          </a:xfrm>
          <a:prstGeom prst="roundRect">
            <a:avLst>
              <a:gd name="adj" fmla="val 147059"/>
            </a:avLst>
          </a:prstGeom>
          <a:solidFill>
            <a:srgbClr val="26AE60"/>
          </a:solidFill>
          <a:ln w="12700">
            <a:solidFill>
              <a:srgbClr val="26AE60"/>
            </a:solidFill>
            <a:prstDash val="solid"/>
          </a:ln>
        </p:spPr>
      </p:sp>
      <p:sp>
        <p:nvSpPr>
          <p:cNvPr id="15" name="Text 12"/>
          <p:cNvSpPr/>
          <p:nvPr/>
        </p:nvSpPr>
        <p:spPr>
          <a:xfrm>
            <a:off x="603504" y="23408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6" name="Text 13"/>
          <p:cNvSpPr/>
          <p:nvPr/>
        </p:nvSpPr>
        <p:spPr>
          <a:xfrm>
            <a:off x="1042416" y="2322576"/>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Que la condición de IVA de la constancia coincida con el tipo de factura.</a:t>
            </a:r>
            <a:endParaRPr lang="en-US" sz="1050" dirty="0"/>
          </a:p>
        </p:txBody>
      </p:sp>
      <p:sp>
        <p:nvSpPr>
          <p:cNvPr id="17" name="Shape 14"/>
          <p:cNvSpPr/>
          <p:nvPr/>
        </p:nvSpPr>
        <p:spPr>
          <a:xfrm>
            <a:off x="603504" y="2852928"/>
            <a:ext cx="310896" cy="310896"/>
          </a:xfrm>
          <a:prstGeom prst="roundRect">
            <a:avLst>
              <a:gd name="adj" fmla="val 147059"/>
            </a:avLst>
          </a:prstGeom>
          <a:solidFill>
            <a:srgbClr val="26AE60"/>
          </a:solidFill>
          <a:ln w="12700">
            <a:solidFill>
              <a:srgbClr val="26AE60"/>
            </a:solidFill>
            <a:prstDash val="solid"/>
          </a:ln>
        </p:spPr>
      </p:sp>
      <p:sp>
        <p:nvSpPr>
          <p:cNvPr id="18" name="Text 15"/>
          <p:cNvSpPr/>
          <p:nvPr/>
        </p:nvSpPr>
        <p:spPr>
          <a:xfrm>
            <a:off x="603504" y="28529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9" name="Text 16"/>
          <p:cNvSpPr/>
          <p:nvPr/>
        </p:nvSpPr>
        <p:spPr>
          <a:xfrm>
            <a:off x="1042416" y="2834640"/>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Que el comprobante tenga CAE vigente.</a:t>
            </a:r>
            <a:endParaRPr lang="en-US" sz="1050" dirty="0"/>
          </a:p>
        </p:txBody>
      </p:sp>
      <p:sp>
        <p:nvSpPr>
          <p:cNvPr id="20" name="Shape 17"/>
          <p:cNvSpPr/>
          <p:nvPr/>
        </p:nvSpPr>
        <p:spPr>
          <a:xfrm>
            <a:off x="603504" y="3364992"/>
            <a:ext cx="310896" cy="310896"/>
          </a:xfrm>
          <a:prstGeom prst="roundRect">
            <a:avLst>
              <a:gd name="adj" fmla="val 147059"/>
            </a:avLst>
          </a:prstGeom>
          <a:solidFill>
            <a:srgbClr val="26AE60"/>
          </a:solidFill>
          <a:ln w="12700">
            <a:solidFill>
              <a:srgbClr val="26AE60"/>
            </a:solidFill>
            <a:prstDash val="solid"/>
          </a:ln>
        </p:spPr>
      </p:sp>
      <p:sp>
        <p:nvSpPr>
          <p:cNvPr id="21" name="Text 18"/>
          <p:cNvSpPr/>
          <p:nvPr/>
        </p:nvSpPr>
        <p:spPr>
          <a:xfrm>
            <a:off x="603504" y="33649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2" name="Text 19"/>
          <p:cNvSpPr/>
          <p:nvPr/>
        </p:nvSpPr>
        <p:spPr>
          <a:xfrm>
            <a:off x="1042416" y="3346704"/>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Que el CBU esté a nombre del mismo CUIT que factura.</a:t>
            </a:r>
            <a:endParaRPr lang="en-US" sz="1050" dirty="0"/>
          </a:p>
        </p:txBody>
      </p:sp>
      <p:sp>
        <p:nvSpPr>
          <p:cNvPr id="23" name="Shape 20"/>
          <p:cNvSpPr/>
          <p:nvPr/>
        </p:nvSpPr>
        <p:spPr>
          <a:xfrm>
            <a:off x="603504" y="3877056"/>
            <a:ext cx="310896" cy="310896"/>
          </a:xfrm>
          <a:prstGeom prst="roundRect">
            <a:avLst>
              <a:gd name="adj" fmla="val 147059"/>
            </a:avLst>
          </a:prstGeom>
          <a:solidFill>
            <a:srgbClr val="26AE60"/>
          </a:solidFill>
          <a:ln w="12700">
            <a:solidFill>
              <a:srgbClr val="26AE60"/>
            </a:solidFill>
            <a:prstDash val="solid"/>
          </a:ln>
        </p:spPr>
      </p:sp>
      <p:sp>
        <p:nvSpPr>
          <p:cNvPr id="24" name="Text 21"/>
          <p:cNvSpPr/>
          <p:nvPr/>
        </p:nvSpPr>
        <p:spPr>
          <a:xfrm>
            <a:off x="603504" y="38770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5" name="Text 22"/>
          <p:cNvSpPr/>
          <p:nvPr/>
        </p:nvSpPr>
        <p:spPr>
          <a:xfrm>
            <a:off x="1042416" y="3858768"/>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Que el contrato de alquiler esté sellado antes de firmar.</a:t>
            </a:r>
            <a:endParaRPr lang="en-US" sz="1050" dirty="0"/>
          </a:p>
        </p:txBody>
      </p:sp>
      <p:sp>
        <p:nvSpPr>
          <p:cNvPr id="26" name="Shape 23"/>
          <p:cNvSpPr/>
          <p:nvPr/>
        </p:nvSpPr>
        <p:spPr>
          <a:xfrm>
            <a:off x="4736592" y="1828800"/>
            <a:ext cx="310896" cy="310896"/>
          </a:xfrm>
          <a:prstGeom prst="roundRect">
            <a:avLst>
              <a:gd name="adj" fmla="val 147059"/>
            </a:avLst>
          </a:prstGeom>
          <a:solidFill>
            <a:srgbClr val="E74B3C"/>
          </a:solidFill>
          <a:ln w="12700">
            <a:solidFill>
              <a:srgbClr val="E74B3C"/>
            </a:solidFill>
            <a:prstDash val="solid"/>
          </a:ln>
        </p:spPr>
      </p:sp>
      <p:sp>
        <p:nvSpPr>
          <p:cNvPr id="27" name="Text 24"/>
          <p:cNvSpPr/>
          <p:nvPr/>
        </p:nvSpPr>
        <p:spPr>
          <a:xfrm>
            <a:off x="4736592" y="1828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8" name="Text 25"/>
          <p:cNvSpPr/>
          <p:nvPr/>
        </p:nvSpPr>
        <p:spPr>
          <a:xfrm>
            <a:off x="5175504" y="1810512"/>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Pagar una factura sin verificar el CAE.</a:t>
            </a:r>
            <a:endParaRPr lang="en-US" sz="1050" dirty="0"/>
          </a:p>
        </p:txBody>
      </p:sp>
      <p:sp>
        <p:nvSpPr>
          <p:cNvPr id="29" name="Shape 26"/>
          <p:cNvSpPr/>
          <p:nvPr/>
        </p:nvSpPr>
        <p:spPr>
          <a:xfrm>
            <a:off x="4736592" y="2340864"/>
            <a:ext cx="310896" cy="310896"/>
          </a:xfrm>
          <a:prstGeom prst="roundRect">
            <a:avLst>
              <a:gd name="adj" fmla="val 147059"/>
            </a:avLst>
          </a:prstGeom>
          <a:solidFill>
            <a:srgbClr val="E74B3C"/>
          </a:solidFill>
          <a:ln w="12700">
            <a:solidFill>
              <a:srgbClr val="E74B3C"/>
            </a:solidFill>
            <a:prstDash val="solid"/>
          </a:ln>
        </p:spPr>
      </p:sp>
      <p:sp>
        <p:nvSpPr>
          <p:cNvPr id="30" name="Text 27"/>
          <p:cNvSpPr/>
          <p:nvPr/>
        </p:nvSpPr>
        <p:spPr>
          <a:xfrm>
            <a:off x="4736592" y="23408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1" name="Text 28"/>
          <p:cNvSpPr/>
          <p:nvPr/>
        </p:nvSpPr>
        <p:spPr>
          <a:xfrm>
            <a:off x="5175504" y="2322576"/>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No presentar la DDJJ por no tener actividad en el período.</a:t>
            </a:r>
            <a:endParaRPr lang="en-US" sz="1050" dirty="0"/>
          </a:p>
        </p:txBody>
      </p:sp>
      <p:sp>
        <p:nvSpPr>
          <p:cNvPr id="32" name="Shape 29"/>
          <p:cNvSpPr/>
          <p:nvPr/>
        </p:nvSpPr>
        <p:spPr>
          <a:xfrm>
            <a:off x="4736592" y="2852928"/>
            <a:ext cx="310896" cy="310896"/>
          </a:xfrm>
          <a:prstGeom prst="roundRect">
            <a:avLst>
              <a:gd name="adj" fmla="val 147059"/>
            </a:avLst>
          </a:prstGeom>
          <a:solidFill>
            <a:srgbClr val="E74B3C"/>
          </a:solidFill>
          <a:ln w="12700">
            <a:solidFill>
              <a:srgbClr val="E74B3C"/>
            </a:solidFill>
            <a:prstDash val="solid"/>
          </a:ln>
        </p:spPr>
      </p:sp>
      <p:sp>
        <p:nvSpPr>
          <p:cNvPr id="33" name="Text 30"/>
          <p:cNvSpPr/>
          <p:nvPr/>
        </p:nvSpPr>
        <p:spPr>
          <a:xfrm>
            <a:off x="4736592" y="28529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4" name="Text 31"/>
          <p:cNvSpPr/>
          <p:nvPr/>
        </p:nvSpPr>
        <p:spPr>
          <a:xfrm>
            <a:off x="5175504" y="2834640"/>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No recategorizar el Monotributo en febrero y agosto.</a:t>
            </a:r>
            <a:endParaRPr lang="en-US" sz="1050" dirty="0"/>
          </a:p>
        </p:txBody>
      </p:sp>
      <p:sp>
        <p:nvSpPr>
          <p:cNvPr id="35" name="Shape 32"/>
          <p:cNvSpPr/>
          <p:nvPr/>
        </p:nvSpPr>
        <p:spPr>
          <a:xfrm>
            <a:off x="4736592" y="3364992"/>
            <a:ext cx="310896" cy="310896"/>
          </a:xfrm>
          <a:prstGeom prst="roundRect">
            <a:avLst>
              <a:gd name="adj" fmla="val 147059"/>
            </a:avLst>
          </a:prstGeom>
          <a:solidFill>
            <a:srgbClr val="E74B3C"/>
          </a:solidFill>
          <a:ln w="12700">
            <a:solidFill>
              <a:srgbClr val="E74B3C"/>
            </a:solidFill>
            <a:prstDash val="solid"/>
          </a:ln>
        </p:spPr>
      </p:sp>
      <p:sp>
        <p:nvSpPr>
          <p:cNvPr id="36" name="Text 33"/>
          <p:cNvSpPr/>
          <p:nvPr/>
        </p:nvSpPr>
        <p:spPr>
          <a:xfrm>
            <a:off x="4736592" y="33649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7" name="Text 34"/>
          <p:cNvSpPr/>
          <p:nvPr/>
        </p:nvSpPr>
        <p:spPr>
          <a:xfrm>
            <a:off x="5175504" y="3346704"/>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Operar con un proveedor de alto riesgo fiscal.</a:t>
            </a:r>
            <a:endParaRPr lang="en-US" sz="1050" dirty="0"/>
          </a:p>
        </p:txBody>
      </p:sp>
      <p:sp>
        <p:nvSpPr>
          <p:cNvPr id="38" name="Shape 35"/>
          <p:cNvSpPr/>
          <p:nvPr/>
        </p:nvSpPr>
        <p:spPr>
          <a:xfrm>
            <a:off x="4736592" y="3877056"/>
            <a:ext cx="310896" cy="310896"/>
          </a:xfrm>
          <a:prstGeom prst="roundRect">
            <a:avLst>
              <a:gd name="adj" fmla="val 147059"/>
            </a:avLst>
          </a:prstGeom>
          <a:solidFill>
            <a:srgbClr val="E74B3C"/>
          </a:solidFill>
          <a:ln w="12700">
            <a:solidFill>
              <a:srgbClr val="E74B3C"/>
            </a:solidFill>
            <a:prstDash val="solid"/>
          </a:ln>
        </p:spPr>
      </p:sp>
      <p:sp>
        <p:nvSpPr>
          <p:cNvPr id="39" name="Text 36"/>
          <p:cNvSpPr/>
          <p:nvPr/>
        </p:nvSpPr>
        <p:spPr>
          <a:xfrm>
            <a:off x="4736592" y="38770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40" name="Text 37"/>
          <p:cNvSpPr/>
          <p:nvPr/>
        </p:nvSpPr>
        <p:spPr>
          <a:xfrm>
            <a:off x="5175504" y="3858768"/>
            <a:ext cx="3511296" cy="365760"/>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Firmar un contrato de alquiler sin sellar.</a:t>
            </a:r>
            <a:endParaRPr lang="en-US" sz="1050" dirty="0"/>
          </a:p>
        </p:txBody>
      </p:sp>
      <p:sp>
        <p:nvSpPr>
          <p:cNvPr id="41" name="Shape 38"/>
          <p:cNvSpPr/>
          <p:nvPr/>
        </p:nvSpPr>
        <p:spPr>
          <a:xfrm>
            <a:off x="603504" y="4352544"/>
            <a:ext cx="8083296" cy="658368"/>
          </a:xfrm>
          <a:prstGeom prst="roundRect">
            <a:avLst>
              <a:gd name="adj" fmla="val 12500"/>
            </a:avLst>
          </a:prstGeom>
          <a:solidFill>
            <a:srgbClr val="08407C"/>
          </a:solidFill>
          <a:ln w="12700">
            <a:solidFill>
              <a:srgbClr val="08407C"/>
            </a:solidFill>
            <a:prstDash val="solid"/>
          </a:ln>
        </p:spPr>
      </p:sp>
      <p:sp>
        <p:nvSpPr>
          <p:cNvPr id="42" name="Text 39"/>
          <p:cNvSpPr/>
          <p:nvPr/>
        </p:nvSpPr>
        <p:spPr>
          <a:xfrm>
            <a:off x="841248" y="4398264"/>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PARA DAR DE ALTA A UN PROVEEDOR</a:t>
            </a:r>
            <a:endParaRPr lang="en-US" sz="900" dirty="0"/>
          </a:p>
        </p:txBody>
      </p:sp>
      <p:sp>
        <p:nvSpPr>
          <p:cNvPr id="43" name="Text 40"/>
          <p:cNvSpPr/>
          <p:nvPr/>
        </p:nvSpPr>
        <p:spPr>
          <a:xfrm>
            <a:off x="841248" y="4599432"/>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Constancia de inscripción actualizada, CBU a nombre del mismo CUIT, condición frente al IVA y certificado de ART vigente si tiene personal a cargo.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impuestos/brand/logo_stack.png">    </p:cNvPr>
          <p:cNvPicPr>
            <a:picLocks noChangeAspect="1"/>
          </p:cNvPicPr>
          <p:nvPr/>
        </p:nvPicPr>
        <p:blipFill>
          <a:blip r:embed="rId2"/>
          <a:stretch>
            <a:fillRect/>
          </a:stretch>
        </p:blipFill>
        <p:spPr>
          <a:xfrm>
            <a:off x="7315200" y="411480"/>
            <a:ext cx="859536" cy="1463040"/>
          </a:xfrm>
          <a:prstGeom prst="rect">
            <a:avLst/>
          </a:prstGeom>
        </p:spPr>
      </p:pic>
      <p:sp>
        <p:nvSpPr>
          <p:cNvPr id="3" name="Text 0"/>
          <p:cNvSpPr/>
          <p:nvPr/>
        </p:nvSpPr>
        <p:spPr>
          <a:xfrm>
            <a:off x="749808" y="1874520"/>
            <a:ext cx="5943600" cy="658368"/>
          </a:xfrm>
          <a:prstGeom prst="rect">
            <a:avLst/>
          </a:prstGeom>
          <a:noFill/>
          <a:ln/>
        </p:spPr>
        <p:txBody>
          <a:bodyPr wrap="square" lIns="0" tIns="0" rIns="0" bIns="0" rtlCol="0" anchor="ctr"/>
          <a:lstStyle/>
          <a:p>
            <a:pPr indent="0" marL="0">
              <a:buNone/>
            </a:pPr>
            <a:r>
              <a:rPr lang="en-US" sz="3800" b="1" dirty="0">
                <a:solidFill>
                  <a:srgbClr val="08407C"/>
                </a:solidFill>
                <a:latin typeface="Inter" pitchFamily="34" charset="0"/>
                <a:ea typeface="Inter" pitchFamily="34" charset="-122"/>
                <a:cs typeface="Inter" pitchFamily="34" charset="-120"/>
              </a:rPr>
              <a:t>Muchas gracias.</a:t>
            </a:r>
            <a:endParaRPr lang="en-US" sz="3800" dirty="0"/>
          </a:p>
        </p:txBody>
      </p:sp>
      <p:sp>
        <p:nvSpPr>
          <p:cNvPr id="4" name="Text 1"/>
          <p:cNvSpPr/>
          <p:nvPr/>
        </p:nvSpPr>
        <p:spPr>
          <a:xfrm>
            <a:off x="777240" y="2606040"/>
            <a:ext cx="5943600" cy="329184"/>
          </a:xfrm>
          <a:prstGeom prst="rect">
            <a:avLst/>
          </a:prstGeom>
          <a:noFill/>
          <a:ln/>
        </p:spPr>
        <p:txBody>
          <a:bodyPr wrap="square" lIns="0" tIns="0" rIns="0" bIns="0" rtlCol="0" anchor="ctr"/>
          <a:lstStyle/>
          <a:p>
            <a:pPr indent="0" marL="0">
              <a:buNone/>
            </a:pPr>
            <a:r>
              <a:rPr lang="en-US" sz="1500" dirty="0">
                <a:solidFill>
                  <a:srgbClr val="4E586E"/>
                </a:solidFill>
                <a:latin typeface="Inter" pitchFamily="34" charset="0"/>
                <a:ea typeface="Inter" pitchFamily="34" charset="-122"/>
                <a:cs typeface="Inter" pitchFamily="34" charset="-120"/>
              </a:rPr>
              <a:t>Ante la duda: preguntar antes de pagar, nunca después.</a:t>
            </a:r>
            <a:endParaRPr lang="en-US" sz="1500" dirty="0"/>
          </a:p>
        </p:txBody>
      </p:sp>
      <p:sp>
        <p:nvSpPr>
          <p:cNvPr id="5" name="Text 2"/>
          <p:cNvSpPr/>
          <p:nvPr/>
        </p:nvSpPr>
        <p:spPr>
          <a:xfrm>
            <a:off x="777240" y="4224528"/>
            <a:ext cx="7498080" cy="274320"/>
          </a:xfrm>
          <a:prstGeom prst="rect">
            <a:avLst/>
          </a:prstGeom>
          <a:noFill/>
          <a:ln/>
        </p:spPr>
        <p:txBody>
          <a:bodyPr wrap="square" lIns="0" tIns="0" rIns="0" bIns="0" rtlCol="0" anchor="ctr"/>
          <a:lstStyle/>
          <a:p>
            <a:pPr indent="0" marL="0">
              <a:buNone/>
            </a:pPr>
            <a:r>
              <a:rPr lang="en-US" sz="950" dirty="0">
                <a:solidFill>
                  <a:srgbClr val="6A7686"/>
                </a:solidFill>
                <a:latin typeface="Inter" pitchFamily="34" charset="0"/>
                <a:ea typeface="Inter" pitchFamily="34" charset="-122"/>
                <a:cs typeface="Inter" pitchFamily="34" charset="-120"/>
              </a:rPr>
              <a:t>Capacitaciones Krak Real Estate · 2026 · Material de consulta: Manual de Impuestos para Administrativos en Argentina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Impuestos para Agentes Inmobiliarios</dc:title>
  <dc:subject>PptxGenJS Presentation</dc:subject>
  <dc:creator>Krak Real Estate</dc:creator>
  <cp:lastModifiedBy>Krak Real Estate</cp:lastModifiedBy>
  <cp:revision>1</cp:revision>
  <dcterms:created xsi:type="dcterms:W3CDTF">2026-09-08T13:28:31Z</dcterms:created>
  <dcterms:modified xsi:type="dcterms:W3CDTF">2026-09-08T13:28:31Z</dcterms:modified>
</cp:coreProperties>
</file>