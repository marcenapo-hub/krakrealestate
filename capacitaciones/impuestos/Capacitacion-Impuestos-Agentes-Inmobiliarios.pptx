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la capacitación. Objetivo: que el equipo pueda identificar rápido qué impuesto aparece en cada operación, quién lo cobra y qué hay que controlar antes de pagar o cobrar. No busca convertir a nadie en contador.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no hay un único fisco. Nación, provincia y municipio tienen potestad tributaria propia y no se piden permiso entre sí. Antes de cerrar una operación conviene preguntarse siempre: ¿dónde está el inmueble? ¿dónde se presta el servicio? Eso define qué organismos intervienen.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CUIT y la Clave Fiscal son la puerta de entrada. El Domicilio Fiscal Electrónico es el punto que más problemas genera: la gente asume que si no le llegó un mail no le notificaron nada, y no es así. La constancia de inscripción es la herramienta de control diaria.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Casi todos los contratistas y proveedores chicos con los que trabajamos son monotributistas: pintores, fotógrafos, service. Saber en qué categoría están evita sorpresas. Y si un monotributista factura por encima del tope de su categoría, hay que avisarle: puede quedar excluido de oficio.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práctica: ¿quién emite y quién recibe? Nuestra inmobiliaria, como Responsable Inscripto, factura A a empresas y B a consumidores finales. Un monotributista siempre factura C, incluso a una empresa grande: el comprador simplemente no computa crédito fiscal.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control más concreto del día a día. Toma dos minutos y evita el problema más caro de la lista. Complemento: notas de crédito (anulan o reducen una factura ya emitida) y notas de débito (la aumentan, por intereses o gastos). Ambas necesitan su propio CAE y deben referenciar la factura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IVA: lo importante es entender que no es un costo para la empresa (se descuenta), pero sí para el consumidor final. Ganancias y Bienes Personales son anuales y los liquida el estudio contable; lo que nos toca es tener la documentación ordenada. Caso típico: un cliente argentino que compra un departamento en el exterior tributa allá, pero acá puede impactarle Bienes Personales.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IIBB es el impuesto que más impacta el margen del negocio inmobiliario porque se calcula sobre la comisión bruta, no sobre lo que queda. Al presupuestar, siempre netear IIBB antes de calcular el margen real. Y sí: se paga aunque el período cierre en pérdida. Para retener hay que estar designado agente de retención; no se le retiene a cualquiera.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Sellos es el impuesto más propio del negocio inmobiliario y el que más se olvida al presupuestar. Regla de oro del manual: siempre pedir el contrato de alquiler sellado. Sin sellado no hay fecha cierta y, ante un conflicto o una inspección, el contrato pierde valor probatorio.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agente esto sirve en dos momentos: al tasar (la valuación fiscal y las boletas dicen mucho del inmueble) y al asesorar al propietario o al inquilino sobre qué gastos corren por cuenta de quién. Para leer cualquier boleta, buscar siempre lo mismo: qué impuesto es, número de partida o padrón, período, importe y vencimiento.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operativo de la capacitación. Estos cuatro chequeos son el 90% del control diario. Recordar también qué hacer ante una fiscalización: verificar la notificación en el Domicilio Fiscal Electrónico, identificar período e impuesto, reunir la documentación y avisar al estudio contable ANTES de entregar o responder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Recordar que el manual completo (40 puntos, glosario, FAQ y modelos de mensajes) queda disponible como material de consulta, y que es un documento vivo: cuando aparezca un caso nuevo, se actualiza.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83C"/>
        </a:solidFill>
      </p:bgPr>
    </p:bg>
    <p:spTree>
      <p:nvGrpSpPr>
        <p:cNvPr id="1" name=""/>
        <p:cNvGrpSpPr/>
        <p:nvPr/>
      </p:nvGrpSpPr>
      <p:grpSpPr>
        <a:xfrm>
          <a:off x="0" y="0"/>
          <a:ext cx="0" cy="0"/>
          <a:chOff x="0" y="0"/>
          <a:chExt cx="0" cy="0"/>
        </a:xfrm>
      </p:grpSpPr>
      <p:sp>
        <p:nvSpPr>
          <p:cNvPr id="2" name="Shape 0"/>
          <p:cNvSpPr/>
          <p:nvPr/>
        </p:nvSpPr>
        <p:spPr>
          <a:xfrm rot="1200000">
            <a:off x="5120640" y="-1097280"/>
            <a:ext cx="5852160" cy="5852160"/>
          </a:xfrm>
          <a:prstGeom prst="roundRect">
            <a:avLst>
              <a:gd name="adj" fmla="val 781"/>
            </a:avLst>
          </a:prstGeom>
          <a:solidFill>
            <a:srgbClr val="2A4763"/>
          </a:solidFill>
          <a:ln w="12700">
            <a:solidFill>
              <a:srgbClr val="2A4763"/>
            </a:solidFill>
            <a:prstDash val="solid"/>
          </a:ln>
        </p:spPr>
      </p:sp>
      <p:sp>
        <p:nvSpPr>
          <p:cNvPr id="3" name="Text 1"/>
          <p:cNvSpPr/>
          <p:nvPr/>
        </p:nvSpPr>
        <p:spPr>
          <a:xfrm>
            <a:off x="640080" y="777240"/>
            <a:ext cx="5486400" cy="274320"/>
          </a:xfrm>
          <a:prstGeom prst="rect">
            <a:avLst/>
          </a:prstGeom>
          <a:noFill/>
          <a:ln/>
        </p:spPr>
        <p:txBody>
          <a:bodyPr wrap="square" lIns="0" tIns="0" rIns="0" bIns="0" rtlCol="0" anchor="ctr"/>
          <a:lstStyle/>
          <a:p>
            <a:pPr indent="0" marL="0">
              <a:buNone/>
            </a:pPr>
            <a:r>
              <a:rPr lang="en-US" sz="1050" b="1" spc="160" kern="0" dirty="0">
                <a:solidFill>
                  <a:srgbClr val="B8862B"/>
                </a:solidFill>
                <a:latin typeface="Calibri" pitchFamily="34" charset="0"/>
                <a:ea typeface="Calibri" pitchFamily="34" charset="-122"/>
                <a:cs typeface="Calibri" pitchFamily="34" charset="-120"/>
              </a:rPr>
              <a:t>KRAK REAL ESTATE  ·  CAPACITACIÓN INTERNA</a:t>
            </a:r>
            <a:endParaRPr lang="en-US" sz="1050" dirty="0"/>
          </a:p>
        </p:txBody>
      </p:sp>
      <p:sp>
        <p:nvSpPr>
          <p:cNvPr id="4" name="Text 2"/>
          <p:cNvSpPr/>
          <p:nvPr/>
        </p:nvSpPr>
        <p:spPr>
          <a:xfrm>
            <a:off x="640080" y="1234440"/>
            <a:ext cx="5669280" cy="7772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Impuestos</a:t>
            </a:r>
            <a:endParaRPr lang="en-US" sz="4800" dirty="0"/>
          </a:p>
        </p:txBody>
      </p:sp>
      <p:sp>
        <p:nvSpPr>
          <p:cNvPr id="5" name="Text 3"/>
          <p:cNvSpPr/>
          <p:nvPr/>
        </p:nvSpPr>
        <p:spPr>
          <a:xfrm>
            <a:off x="640080" y="1993392"/>
            <a:ext cx="5669280" cy="548640"/>
          </a:xfrm>
          <a:prstGeom prst="rect">
            <a:avLst/>
          </a:prstGeom>
          <a:noFill/>
          <a:ln/>
        </p:spPr>
        <p:txBody>
          <a:bodyPr wrap="square" lIns="0" tIns="0" rIns="0" bIns="0" rtlCol="0" anchor="ctr"/>
          <a:lstStyle/>
          <a:p>
            <a:pPr indent="0" marL="0">
              <a:buNone/>
            </a:pPr>
            <a:r>
              <a:rPr lang="en-US" sz="3000" dirty="0">
                <a:solidFill>
                  <a:srgbClr val="B8862B"/>
                </a:solidFill>
                <a:latin typeface="Cambria" pitchFamily="34" charset="0"/>
                <a:ea typeface="Cambria" pitchFamily="34" charset="-122"/>
                <a:cs typeface="Cambria" pitchFamily="34" charset="-120"/>
              </a:rPr>
              <a:t>para agentes inmobiliarios</a:t>
            </a:r>
            <a:endParaRPr lang="en-US" sz="3000" dirty="0"/>
          </a:p>
        </p:txBody>
      </p:sp>
      <p:sp>
        <p:nvSpPr>
          <p:cNvPr id="6" name="Text 4"/>
          <p:cNvSpPr/>
          <p:nvPr/>
        </p:nvSpPr>
        <p:spPr>
          <a:xfrm>
            <a:off x="640080" y="2788920"/>
            <a:ext cx="5120640" cy="822960"/>
          </a:xfrm>
          <a:prstGeom prst="rect">
            <a:avLst/>
          </a:prstGeom>
          <a:noFill/>
          <a:ln/>
        </p:spPr>
        <p:txBody>
          <a:bodyPr wrap="square" lIns="0" tIns="0" rIns="0" bIns="0" rtlCol="0" anchor="ctr"/>
          <a:lstStyle/>
          <a:p>
            <a:pPr indent="0" marL="0">
              <a:lnSpc>
                <a:spcPts val="2000"/>
              </a:lnSpc>
              <a:buNone/>
            </a:pPr>
            <a:r>
              <a:rPr lang="en-US" sz="1300" dirty="0">
                <a:solidFill>
                  <a:srgbClr val="C3CEDA"/>
                </a:solidFill>
                <a:latin typeface="Calibri" pitchFamily="34" charset="0"/>
                <a:ea typeface="Calibri" pitchFamily="34" charset="-122"/>
                <a:cs typeface="Calibri" pitchFamily="34" charset="-120"/>
              </a:rPr>
              <a:t>Los conceptos básicos del sistema tributario argentino aplicados al día a día de una operación inmobiliaria: qué impuesto es, quién lo cobra y cuándo mirarlo.</a:t>
            </a:r>
            <a:endParaRPr lang="en-US" sz="1300" dirty="0"/>
          </a:p>
        </p:txBody>
      </p:sp>
      <p:sp>
        <p:nvSpPr>
          <p:cNvPr id="7" name="Shape 5"/>
          <p:cNvSpPr/>
          <p:nvPr/>
        </p:nvSpPr>
        <p:spPr>
          <a:xfrm>
            <a:off x="640080" y="3977640"/>
            <a:ext cx="1965960" cy="384048"/>
          </a:xfrm>
          <a:prstGeom prst="roundRect">
            <a:avLst>
              <a:gd name="adj" fmla="val 47619"/>
            </a:avLst>
          </a:prstGeom>
          <a:solidFill>
            <a:srgbClr val="B8862B"/>
          </a:solidFill>
          <a:ln w="12700">
            <a:solidFill>
              <a:srgbClr val="B8862B"/>
            </a:solidFill>
            <a:prstDash val="solid"/>
          </a:ln>
        </p:spPr>
      </p:sp>
      <p:sp>
        <p:nvSpPr>
          <p:cNvPr id="8" name="Text 6"/>
          <p:cNvSpPr/>
          <p:nvPr/>
        </p:nvSpPr>
        <p:spPr>
          <a:xfrm>
            <a:off x="640080" y="3977640"/>
            <a:ext cx="19659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Edición 2026</a:t>
            </a:r>
            <a:endParaRPr lang="en-US" sz="1150" dirty="0"/>
          </a:p>
        </p:txBody>
      </p:sp>
      <p:sp>
        <p:nvSpPr>
          <p:cNvPr id="9" name="Text 7"/>
          <p:cNvSpPr/>
          <p:nvPr/>
        </p:nvSpPr>
        <p:spPr>
          <a:xfrm>
            <a:off x="2788920" y="3977640"/>
            <a:ext cx="4572000" cy="384048"/>
          </a:xfrm>
          <a:prstGeom prst="rect">
            <a:avLst/>
          </a:prstGeom>
          <a:noFill/>
          <a:ln/>
        </p:spPr>
        <p:txBody>
          <a:bodyPr wrap="square" lIns="0" tIns="0" rIns="0" bIns="0" rtlCol="0" anchor="ctr"/>
          <a:lstStyle/>
          <a:p>
            <a:pPr indent="0" marL="0">
              <a:buNone/>
            </a:pPr>
            <a:r>
              <a:rPr lang="en-US" sz="1000" i="1" dirty="0">
                <a:solidFill>
                  <a:srgbClr val="8FA3B5"/>
                </a:solidFill>
                <a:latin typeface="Calibri" pitchFamily="34" charset="0"/>
                <a:ea typeface="Calibri" pitchFamily="34" charset="-122"/>
                <a:cs typeface="Calibri" pitchFamily="34" charset="-120"/>
              </a:rPr>
              <a:t>Basado en el Manual de Impuestos para Administrativos en Argentina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roundRect">
            <a:avLst>
              <a:gd name="adj" fmla="val 96154"/>
            </a:avLst>
          </a:prstGeom>
          <a:solidFill>
            <a:srgbClr val="B8862B"/>
          </a:solidFill>
          <a:ln w="12700">
            <a:solidFill>
              <a:srgbClr val="B8862B"/>
            </a:solidFill>
            <a:prstDash val="solid"/>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4" name="Text 2"/>
          <p:cNvSpPr/>
          <p:nvPr/>
        </p:nvSpPr>
        <p:spPr>
          <a:xfrm>
            <a:off x="1078992" y="274320"/>
            <a:ext cx="7589520" cy="384048"/>
          </a:xfrm>
          <a:prstGeom prst="rect">
            <a:avLst/>
          </a:prstGeom>
          <a:noFill/>
          <a:ln/>
        </p:spPr>
        <p:txBody>
          <a:bodyPr wrap="square" lIns="0" tIns="0" rIns="0" bIns="0" rtlCol="0" anchor="ctr"/>
          <a:lstStyle/>
          <a:p>
            <a:pPr algn="l" indent="0" marL="0">
              <a:buNone/>
            </a:pPr>
            <a:r>
              <a:rPr lang="en-US" sz="2500" b="1" dirty="0">
                <a:solidFill>
                  <a:srgbClr val="16283C"/>
                </a:solidFill>
                <a:latin typeface="Cambria" pitchFamily="34" charset="0"/>
                <a:ea typeface="Cambria" pitchFamily="34" charset="-122"/>
                <a:cs typeface="Cambria" pitchFamily="34" charset="-120"/>
              </a:rPr>
              <a:t>Un país, tres niveles que cobran</a:t>
            </a:r>
            <a:endParaRPr lang="en-US" sz="2500" dirty="0"/>
          </a:p>
        </p:txBody>
      </p:sp>
      <p:sp>
        <p:nvSpPr>
          <p:cNvPr id="5" name="Text 3"/>
          <p:cNvSpPr/>
          <p:nvPr/>
        </p:nvSpPr>
        <p:spPr>
          <a:xfrm>
            <a:off x="1078992" y="676656"/>
            <a:ext cx="7589520" cy="256032"/>
          </a:xfrm>
          <a:prstGeom prst="rect">
            <a:avLst/>
          </a:prstGeom>
          <a:noFill/>
          <a:ln/>
        </p:spPr>
        <p:txBody>
          <a:bodyPr wrap="square" lIns="0" tIns="0" rIns="0" bIns="0" rtlCol="0" anchor="ctr"/>
          <a:lstStyle/>
          <a:p>
            <a:pPr algn="l" indent="0" marL="0">
              <a:buNone/>
            </a:pPr>
            <a:r>
              <a:rPr lang="en-US" sz="1150" dirty="0">
                <a:solidFill>
                  <a:srgbClr val="5B6B7C"/>
                </a:solidFill>
                <a:latin typeface="Calibri" pitchFamily="34" charset="0"/>
                <a:ea typeface="Calibri" pitchFamily="34" charset="-122"/>
                <a:cs typeface="Calibri" pitchFamily="34" charset="-120"/>
              </a:rPr>
              <a:t>Toda operación puede generar obligaciones en más de un nivel a la vez</a:t>
            </a:r>
            <a:endParaRPr lang="en-US" sz="1150" dirty="0"/>
          </a:p>
        </p:txBody>
      </p:sp>
      <p:sp>
        <p:nvSpPr>
          <p:cNvPr id="6" name="Shape 4"/>
          <p:cNvSpPr/>
          <p:nvPr/>
        </p:nvSpPr>
        <p:spPr>
          <a:xfrm>
            <a:off x="457200" y="1097280"/>
            <a:ext cx="2624328" cy="2606040"/>
          </a:xfrm>
          <a:prstGeom prst="roundRect">
            <a:avLst>
              <a:gd name="adj" fmla="val 2807"/>
            </a:avLst>
          </a:prstGeom>
          <a:solidFill>
            <a:srgbClr val="F1F3F6"/>
          </a:solidFill>
          <a:ln w="12700">
            <a:solidFill>
              <a:srgbClr val="F1F3F6"/>
            </a:solidFill>
            <a:prstDash val="solid"/>
          </a:ln>
        </p:spPr>
      </p:sp>
      <p:sp>
        <p:nvSpPr>
          <p:cNvPr id="7" name="Text 5"/>
          <p:cNvSpPr/>
          <p:nvPr/>
        </p:nvSpPr>
        <p:spPr>
          <a:xfrm>
            <a:off x="658368" y="1225296"/>
            <a:ext cx="2240280" cy="219456"/>
          </a:xfrm>
          <a:prstGeom prst="rect">
            <a:avLst/>
          </a:prstGeom>
          <a:noFill/>
          <a:ln/>
        </p:spPr>
        <p:txBody>
          <a:bodyPr wrap="square" lIns="0" tIns="0" rIns="0" bIns="0" rtlCol="0" anchor="ctr"/>
          <a:lstStyle/>
          <a:p>
            <a:pPr indent="0" marL="0">
              <a:buNone/>
            </a:pPr>
            <a:r>
              <a:rPr lang="en-US" sz="950" b="1" spc="120" kern="0" dirty="0">
                <a:solidFill>
                  <a:srgbClr val="B8862B"/>
                </a:solidFill>
                <a:latin typeface="Calibri" pitchFamily="34" charset="0"/>
                <a:ea typeface="Calibri" pitchFamily="34" charset="-122"/>
                <a:cs typeface="Calibri" pitchFamily="34" charset="-120"/>
              </a:rPr>
              <a:t>NACIÓN</a:t>
            </a:r>
            <a:endParaRPr lang="en-US" sz="950" dirty="0"/>
          </a:p>
        </p:txBody>
      </p:sp>
      <p:sp>
        <p:nvSpPr>
          <p:cNvPr id="8" name="Text 6"/>
          <p:cNvSpPr/>
          <p:nvPr/>
        </p:nvSpPr>
        <p:spPr>
          <a:xfrm>
            <a:off x="658368" y="1463040"/>
            <a:ext cx="2240280" cy="292608"/>
          </a:xfrm>
          <a:prstGeom prst="rect">
            <a:avLst/>
          </a:prstGeom>
          <a:noFill/>
          <a:ln/>
        </p:spPr>
        <p:txBody>
          <a:bodyPr wrap="square" lIns="0" tIns="0" rIns="0" bIns="0" rtlCol="0" anchor="ctr"/>
          <a:lstStyle/>
          <a:p>
            <a:pPr indent="0" marL="0">
              <a:buNone/>
            </a:pPr>
            <a:r>
              <a:rPr lang="en-US" sz="1550" b="1" dirty="0">
                <a:solidFill>
                  <a:srgbClr val="16283C"/>
                </a:solidFill>
                <a:latin typeface="Cambria" pitchFamily="34" charset="0"/>
                <a:ea typeface="Cambria" pitchFamily="34" charset="-122"/>
                <a:cs typeface="Cambria" pitchFamily="34" charset="-120"/>
              </a:rPr>
              <a:t>ARCA (ex AFIP)</a:t>
            </a:r>
            <a:endParaRPr lang="en-US" sz="1550" dirty="0"/>
          </a:p>
        </p:txBody>
      </p:sp>
      <p:sp>
        <p:nvSpPr>
          <p:cNvPr id="9" name="Text 7"/>
          <p:cNvSpPr/>
          <p:nvPr/>
        </p:nvSpPr>
        <p:spPr>
          <a:xfrm>
            <a:off x="658368" y="1828800"/>
            <a:ext cx="2240280" cy="12801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6283C"/>
                </a:solidFill>
                <a:latin typeface="Calibri" pitchFamily="34" charset="0"/>
                <a:ea typeface="Calibri" pitchFamily="34" charset="-122"/>
                <a:cs typeface="Calibri" pitchFamily="34" charset="-120"/>
              </a:rPr>
              <a:t>IVA</a:t>
            </a:r>
            <a:endParaRPr lang="en-US" sz="1100" dirty="0"/>
          </a:p>
          <a:p>
            <a:pPr marL="342900" indent="-342900">
              <a:spcAft>
                <a:spcPts val="500"/>
              </a:spcAft>
              <a:buSzPct val="100000"/>
              <a:buChar char="•"/>
            </a:pPr>
            <a:r>
              <a:rPr lang="en-US" sz="1100" dirty="0">
                <a:solidFill>
                  <a:srgbClr val="16283C"/>
                </a:solidFill>
                <a:latin typeface="Calibri" pitchFamily="34" charset="0"/>
                <a:ea typeface="Calibri" pitchFamily="34" charset="-122"/>
                <a:cs typeface="Calibri" pitchFamily="34" charset="-120"/>
              </a:rPr>
              <a:t>Ganancias</a:t>
            </a:r>
            <a:endParaRPr lang="en-US" sz="1100" dirty="0"/>
          </a:p>
          <a:p>
            <a:pPr marL="342900" indent="-342900">
              <a:spcAft>
                <a:spcPts val="500"/>
              </a:spcAft>
              <a:buSzPct val="100000"/>
              <a:buChar char="•"/>
            </a:pPr>
            <a:r>
              <a:rPr lang="en-US" sz="1100" dirty="0">
                <a:solidFill>
                  <a:srgbClr val="16283C"/>
                </a:solidFill>
                <a:latin typeface="Calibri" pitchFamily="34" charset="0"/>
                <a:ea typeface="Calibri" pitchFamily="34" charset="-122"/>
                <a:cs typeface="Calibri" pitchFamily="34" charset="-120"/>
              </a:rPr>
              <a:t>Bienes Personales</a:t>
            </a:r>
            <a:endParaRPr lang="en-US" sz="1100" dirty="0"/>
          </a:p>
          <a:p>
            <a:pPr marL="342900" indent="-342900">
              <a:spcAft>
                <a:spcPts val="500"/>
              </a:spcAft>
              <a:buSzPct val="100000"/>
              <a:buChar char="•"/>
            </a:pPr>
            <a:r>
              <a:rPr lang="en-US" sz="1100" dirty="0">
                <a:solidFill>
                  <a:srgbClr val="16283C"/>
                </a:solidFill>
                <a:latin typeface="Calibri" pitchFamily="34" charset="0"/>
                <a:ea typeface="Calibri" pitchFamily="34" charset="-122"/>
                <a:cs typeface="Calibri" pitchFamily="34" charset="-120"/>
              </a:rPr>
              <a:t>Monotributo y Autónomos</a:t>
            </a:r>
            <a:endParaRPr lang="en-US" sz="1100" dirty="0"/>
          </a:p>
          <a:p>
            <a:pPr marL="342900" indent="-342900">
              <a:spcAft>
                <a:spcPts val="500"/>
              </a:spcAft>
              <a:buSzPct val="100000"/>
              <a:buChar char="•"/>
            </a:pPr>
            <a:r>
              <a:rPr lang="en-US" sz="1100" dirty="0">
                <a:solidFill>
                  <a:srgbClr val="16283C"/>
                </a:solidFill>
                <a:latin typeface="Calibri" pitchFamily="34" charset="0"/>
                <a:ea typeface="Calibri" pitchFamily="34" charset="-122"/>
                <a:cs typeface="Calibri" pitchFamily="34" charset="-120"/>
              </a:rPr>
              <a:t>Aportes y aduana</a:t>
            </a:r>
            <a:endParaRPr lang="en-US" sz="1100" dirty="0"/>
          </a:p>
        </p:txBody>
      </p:sp>
      <p:sp>
        <p:nvSpPr>
          <p:cNvPr id="10" name="Text 8"/>
          <p:cNvSpPr/>
          <p:nvPr/>
        </p:nvSpPr>
        <p:spPr>
          <a:xfrm>
            <a:off x="658368" y="3273552"/>
            <a:ext cx="2240280" cy="274320"/>
          </a:xfrm>
          <a:prstGeom prst="rect">
            <a:avLst/>
          </a:prstGeom>
          <a:noFill/>
          <a:ln/>
        </p:spPr>
        <p:txBody>
          <a:bodyPr wrap="square" lIns="0" tIns="0" rIns="0" bIns="0" rtlCol="0" anchor="ctr"/>
          <a:lstStyle/>
          <a:p>
            <a:pPr indent="0" marL="0">
              <a:buNone/>
            </a:pPr>
            <a:r>
              <a:rPr lang="en-US" sz="950" i="1" dirty="0">
                <a:solidFill>
                  <a:srgbClr val="5B6B7C"/>
                </a:solidFill>
                <a:latin typeface="Calibri" pitchFamily="34" charset="0"/>
                <a:ea typeface="Calibri" pitchFamily="34" charset="-122"/>
                <a:cs typeface="Calibri" pitchFamily="34" charset="-120"/>
              </a:rPr>
              <a:t>arca.gob.ar</a:t>
            </a:r>
            <a:endParaRPr lang="en-US" sz="950" dirty="0"/>
          </a:p>
        </p:txBody>
      </p:sp>
      <p:sp>
        <p:nvSpPr>
          <p:cNvPr id="11" name="Shape 9"/>
          <p:cNvSpPr/>
          <p:nvPr/>
        </p:nvSpPr>
        <p:spPr>
          <a:xfrm>
            <a:off x="3259836" y="1097280"/>
            <a:ext cx="2624328" cy="2606040"/>
          </a:xfrm>
          <a:prstGeom prst="roundRect">
            <a:avLst>
              <a:gd name="adj" fmla="val 2807"/>
            </a:avLst>
          </a:prstGeom>
          <a:solidFill>
            <a:srgbClr val="F1F3F6"/>
          </a:solidFill>
          <a:ln w="12700">
            <a:solidFill>
              <a:srgbClr val="F1F3F6"/>
            </a:solidFill>
            <a:prstDash val="solid"/>
          </a:ln>
        </p:spPr>
      </p:sp>
      <p:sp>
        <p:nvSpPr>
          <p:cNvPr id="12" name="Text 10"/>
          <p:cNvSpPr/>
          <p:nvPr/>
        </p:nvSpPr>
        <p:spPr>
          <a:xfrm>
            <a:off x="3461004" y="1225296"/>
            <a:ext cx="2240280" cy="219456"/>
          </a:xfrm>
          <a:prstGeom prst="rect">
            <a:avLst/>
          </a:prstGeom>
          <a:noFill/>
          <a:ln/>
        </p:spPr>
        <p:txBody>
          <a:bodyPr wrap="square" lIns="0" tIns="0" rIns="0" bIns="0" rtlCol="0" anchor="ctr"/>
          <a:lstStyle/>
          <a:p>
            <a:pPr indent="0" marL="0">
              <a:buNone/>
            </a:pPr>
            <a:r>
              <a:rPr lang="en-US" sz="950" b="1" spc="120" kern="0" dirty="0">
                <a:solidFill>
                  <a:srgbClr val="B8862B"/>
                </a:solidFill>
                <a:latin typeface="Calibri" pitchFamily="34" charset="0"/>
                <a:ea typeface="Calibri" pitchFamily="34" charset="-122"/>
                <a:cs typeface="Calibri" pitchFamily="34" charset="-120"/>
              </a:rPr>
              <a:t>PROVINCIA / CABA</a:t>
            </a:r>
            <a:endParaRPr lang="en-US" sz="950" dirty="0"/>
          </a:p>
        </p:txBody>
      </p:sp>
      <p:sp>
        <p:nvSpPr>
          <p:cNvPr id="13" name="Text 11"/>
          <p:cNvSpPr/>
          <p:nvPr/>
        </p:nvSpPr>
        <p:spPr>
          <a:xfrm>
            <a:off x="3461004" y="1463040"/>
            <a:ext cx="2240280" cy="292608"/>
          </a:xfrm>
          <a:prstGeom prst="rect">
            <a:avLst/>
          </a:prstGeom>
          <a:noFill/>
          <a:ln/>
        </p:spPr>
        <p:txBody>
          <a:bodyPr wrap="square" lIns="0" tIns="0" rIns="0" bIns="0" rtlCol="0" anchor="ctr"/>
          <a:lstStyle/>
          <a:p>
            <a:pPr indent="0" marL="0">
              <a:buNone/>
            </a:pPr>
            <a:r>
              <a:rPr lang="en-US" sz="1550" b="1" dirty="0">
                <a:solidFill>
                  <a:srgbClr val="16283C"/>
                </a:solidFill>
                <a:latin typeface="Cambria" pitchFamily="34" charset="0"/>
                <a:ea typeface="Cambria" pitchFamily="34" charset="-122"/>
                <a:cs typeface="Cambria" pitchFamily="34" charset="-120"/>
              </a:rPr>
              <a:t>ARBA  ·  AGIP</a:t>
            </a:r>
            <a:endParaRPr lang="en-US" sz="1550" dirty="0"/>
          </a:p>
        </p:txBody>
      </p:sp>
      <p:sp>
        <p:nvSpPr>
          <p:cNvPr id="14" name="Text 12"/>
          <p:cNvSpPr/>
          <p:nvPr/>
        </p:nvSpPr>
        <p:spPr>
          <a:xfrm>
            <a:off x="3461004" y="1828800"/>
            <a:ext cx="2240280" cy="12801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6283C"/>
                </a:solidFill>
                <a:latin typeface="Calibri" pitchFamily="34" charset="0"/>
                <a:ea typeface="Calibri" pitchFamily="34" charset="-122"/>
                <a:cs typeface="Calibri" pitchFamily="34" charset="-120"/>
              </a:rPr>
              <a:t>Ingresos Brutos</a:t>
            </a:r>
            <a:endParaRPr lang="en-US" sz="1100" dirty="0"/>
          </a:p>
          <a:p>
            <a:pPr marL="342900" indent="-342900">
              <a:spcAft>
                <a:spcPts val="500"/>
              </a:spcAft>
              <a:buSzPct val="100000"/>
              <a:buChar char="•"/>
            </a:pPr>
            <a:r>
              <a:rPr lang="en-US" sz="1100" dirty="0">
                <a:solidFill>
                  <a:srgbClr val="16283C"/>
                </a:solidFill>
                <a:latin typeface="Calibri" pitchFamily="34" charset="0"/>
                <a:ea typeface="Calibri" pitchFamily="34" charset="-122"/>
                <a:cs typeface="Calibri" pitchFamily="34" charset="-120"/>
              </a:rPr>
              <a:t>Sellos</a:t>
            </a:r>
            <a:endParaRPr lang="en-US" sz="1100" dirty="0"/>
          </a:p>
          <a:p>
            <a:pPr marL="342900" indent="-342900">
              <a:spcAft>
                <a:spcPts val="500"/>
              </a:spcAft>
              <a:buSzPct val="100000"/>
              <a:buChar char="•"/>
            </a:pPr>
            <a:r>
              <a:rPr lang="en-US" sz="1100" dirty="0">
                <a:solidFill>
                  <a:srgbClr val="16283C"/>
                </a:solidFill>
                <a:latin typeface="Calibri" pitchFamily="34" charset="0"/>
                <a:ea typeface="Calibri" pitchFamily="34" charset="-122"/>
                <a:cs typeface="Calibri" pitchFamily="34" charset="-120"/>
              </a:rPr>
              <a:t>Impuesto Inmobiliario</a:t>
            </a:r>
            <a:endParaRPr lang="en-US" sz="1100" dirty="0"/>
          </a:p>
          <a:p>
            <a:pPr marL="342900" indent="-342900">
              <a:spcAft>
                <a:spcPts val="500"/>
              </a:spcAft>
              <a:buSzPct val="100000"/>
              <a:buChar char="•"/>
            </a:pPr>
            <a:r>
              <a:rPr lang="en-US" sz="1100" dirty="0">
                <a:solidFill>
                  <a:srgbClr val="16283C"/>
                </a:solidFill>
                <a:latin typeface="Calibri" pitchFamily="34" charset="0"/>
                <a:ea typeface="Calibri" pitchFamily="34" charset="-122"/>
                <a:cs typeface="Calibri" pitchFamily="34" charset="-120"/>
              </a:rPr>
              <a:t>Patentes</a:t>
            </a:r>
            <a:endParaRPr lang="en-US" sz="1100" dirty="0"/>
          </a:p>
          <a:p>
            <a:pPr marL="342900" indent="-342900">
              <a:spcAft>
                <a:spcPts val="500"/>
              </a:spcAft>
              <a:buSzPct val="100000"/>
              <a:buChar char="•"/>
            </a:pPr>
            <a:r>
              <a:rPr lang="en-US" sz="1100" dirty="0">
                <a:solidFill>
                  <a:srgbClr val="16283C"/>
                </a:solidFill>
                <a:latin typeface="Calibri" pitchFamily="34" charset="0"/>
                <a:ea typeface="Calibri" pitchFamily="34" charset="-122"/>
                <a:cs typeface="Calibri" pitchFamily="34" charset="-120"/>
              </a:rPr>
              <a:t>ABL (solo CABA, vía AGIP)</a:t>
            </a:r>
            <a:endParaRPr lang="en-US" sz="1100" dirty="0"/>
          </a:p>
        </p:txBody>
      </p:sp>
      <p:sp>
        <p:nvSpPr>
          <p:cNvPr id="15" name="Text 13"/>
          <p:cNvSpPr/>
          <p:nvPr/>
        </p:nvSpPr>
        <p:spPr>
          <a:xfrm>
            <a:off x="3461004" y="3273552"/>
            <a:ext cx="2240280" cy="274320"/>
          </a:xfrm>
          <a:prstGeom prst="rect">
            <a:avLst/>
          </a:prstGeom>
          <a:noFill/>
          <a:ln/>
        </p:spPr>
        <p:txBody>
          <a:bodyPr wrap="square" lIns="0" tIns="0" rIns="0" bIns="0" rtlCol="0" anchor="ctr"/>
          <a:lstStyle/>
          <a:p>
            <a:pPr indent="0" marL="0">
              <a:buNone/>
            </a:pPr>
            <a:r>
              <a:rPr lang="en-US" sz="950" i="1" dirty="0">
                <a:solidFill>
                  <a:srgbClr val="5B6B7C"/>
                </a:solidFill>
                <a:latin typeface="Calibri" pitchFamily="34" charset="0"/>
                <a:ea typeface="Calibri" pitchFamily="34" charset="-122"/>
                <a:cs typeface="Calibri" pitchFamily="34" charset="-120"/>
              </a:rPr>
              <a:t>arba.gob.ar · agip.gob.ar</a:t>
            </a:r>
            <a:endParaRPr lang="en-US" sz="950" dirty="0"/>
          </a:p>
        </p:txBody>
      </p:sp>
      <p:sp>
        <p:nvSpPr>
          <p:cNvPr id="16" name="Shape 14"/>
          <p:cNvSpPr/>
          <p:nvPr/>
        </p:nvSpPr>
        <p:spPr>
          <a:xfrm>
            <a:off x="6062472" y="1097280"/>
            <a:ext cx="2624328" cy="2606040"/>
          </a:xfrm>
          <a:prstGeom prst="roundRect">
            <a:avLst>
              <a:gd name="adj" fmla="val 2807"/>
            </a:avLst>
          </a:prstGeom>
          <a:solidFill>
            <a:srgbClr val="F1F3F6"/>
          </a:solidFill>
          <a:ln w="12700">
            <a:solidFill>
              <a:srgbClr val="F1F3F6"/>
            </a:solidFill>
            <a:prstDash val="solid"/>
          </a:ln>
        </p:spPr>
      </p:sp>
      <p:sp>
        <p:nvSpPr>
          <p:cNvPr id="17" name="Text 15"/>
          <p:cNvSpPr/>
          <p:nvPr/>
        </p:nvSpPr>
        <p:spPr>
          <a:xfrm>
            <a:off x="6263640" y="1225296"/>
            <a:ext cx="2240280" cy="219456"/>
          </a:xfrm>
          <a:prstGeom prst="rect">
            <a:avLst/>
          </a:prstGeom>
          <a:noFill/>
          <a:ln/>
        </p:spPr>
        <p:txBody>
          <a:bodyPr wrap="square" lIns="0" tIns="0" rIns="0" bIns="0" rtlCol="0" anchor="ctr"/>
          <a:lstStyle/>
          <a:p>
            <a:pPr indent="0" marL="0">
              <a:buNone/>
            </a:pPr>
            <a:r>
              <a:rPr lang="en-US" sz="950" b="1" spc="120" kern="0" dirty="0">
                <a:solidFill>
                  <a:srgbClr val="B8862B"/>
                </a:solidFill>
                <a:latin typeface="Calibri" pitchFamily="34" charset="0"/>
                <a:ea typeface="Calibri" pitchFamily="34" charset="-122"/>
                <a:cs typeface="Calibri" pitchFamily="34" charset="-120"/>
              </a:rPr>
              <a:t>MUNICIPIO</a:t>
            </a:r>
            <a:endParaRPr lang="en-US" sz="950" dirty="0"/>
          </a:p>
        </p:txBody>
      </p:sp>
      <p:sp>
        <p:nvSpPr>
          <p:cNvPr id="18" name="Text 16"/>
          <p:cNvSpPr/>
          <p:nvPr/>
        </p:nvSpPr>
        <p:spPr>
          <a:xfrm>
            <a:off x="6263640" y="1463040"/>
            <a:ext cx="2240280" cy="292608"/>
          </a:xfrm>
          <a:prstGeom prst="rect">
            <a:avLst/>
          </a:prstGeom>
          <a:noFill/>
          <a:ln/>
        </p:spPr>
        <p:txBody>
          <a:bodyPr wrap="square" lIns="0" tIns="0" rIns="0" bIns="0" rtlCol="0" anchor="ctr"/>
          <a:lstStyle/>
          <a:p>
            <a:pPr indent="0" marL="0">
              <a:buNone/>
            </a:pPr>
            <a:r>
              <a:rPr lang="en-US" sz="1550" b="1" dirty="0">
                <a:solidFill>
                  <a:srgbClr val="16283C"/>
                </a:solidFill>
                <a:latin typeface="Cambria" pitchFamily="34" charset="0"/>
                <a:ea typeface="Cambria" pitchFamily="34" charset="-122"/>
                <a:cs typeface="Cambria" pitchFamily="34" charset="-120"/>
              </a:rPr>
              <a:t>Rentas municipales</a:t>
            </a:r>
            <a:endParaRPr lang="en-US" sz="1550" dirty="0"/>
          </a:p>
        </p:txBody>
      </p:sp>
      <p:sp>
        <p:nvSpPr>
          <p:cNvPr id="19" name="Text 17"/>
          <p:cNvSpPr/>
          <p:nvPr/>
        </p:nvSpPr>
        <p:spPr>
          <a:xfrm>
            <a:off x="6263640" y="1828800"/>
            <a:ext cx="2240280" cy="12801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6283C"/>
                </a:solidFill>
                <a:latin typeface="Calibri" pitchFamily="34" charset="0"/>
                <a:ea typeface="Calibri" pitchFamily="34" charset="-122"/>
                <a:cs typeface="Calibri" pitchFamily="34" charset="-120"/>
              </a:rPr>
              <a:t>Seguridad e Higiene</a:t>
            </a:r>
            <a:endParaRPr lang="en-US" sz="1100" dirty="0"/>
          </a:p>
          <a:p>
            <a:pPr marL="342900" indent="-342900">
              <a:spcAft>
                <a:spcPts val="500"/>
              </a:spcAft>
              <a:buSzPct val="100000"/>
              <a:buChar char="•"/>
            </a:pPr>
            <a:r>
              <a:rPr lang="en-US" sz="1100" dirty="0">
                <a:solidFill>
                  <a:srgbClr val="16283C"/>
                </a:solidFill>
                <a:latin typeface="Calibri" pitchFamily="34" charset="0"/>
                <a:ea typeface="Calibri" pitchFamily="34" charset="-122"/>
                <a:cs typeface="Calibri" pitchFamily="34" charset="-120"/>
              </a:rPr>
              <a:t>ABL / Tasa de Servicios Urbanos</a:t>
            </a:r>
            <a:endParaRPr lang="en-US" sz="1100" dirty="0"/>
          </a:p>
          <a:p>
            <a:pPr marL="342900" indent="-342900">
              <a:spcAft>
                <a:spcPts val="500"/>
              </a:spcAft>
              <a:buSzPct val="100000"/>
              <a:buChar char="•"/>
            </a:pPr>
            <a:r>
              <a:rPr lang="en-US" sz="1100" dirty="0">
                <a:solidFill>
                  <a:srgbClr val="16283C"/>
                </a:solidFill>
                <a:latin typeface="Calibri" pitchFamily="34" charset="0"/>
                <a:ea typeface="Calibri" pitchFamily="34" charset="-122"/>
                <a:cs typeface="Calibri" pitchFamily="34" charset="-120"/>
              </a:rPr>
              <a:t>Habilitaciones</a:t>
            </a:r>
            <a:endParaRPr lang="en-US" sz="1100" dirty="0"/>
          </a:p>
          <a:p>
            <a:pPr marL="342900" indent="-342900">
              <a:spcAft>
                <a:spcPts val="500"/>
              </a:spcAft>
              <a:buSzPct val="100000"/>
              <a:buChar char="•"/>
            </a:pPr>
            <a:r>
              <a:rPr lang="en-US" sz="1100" dirty="0">
                <a:solidFill>
                  <a:srgbClr val="16283C"/>
                </a:solidFill>
                <a:latin typeface="Calibri" pitchFamily="34" charset="0"/>
                <a:ea typeface="Calibri" pitchFamily="34" charset="-122"/>
                <a:cs typeface="Calibri" pitchFamily="34" charset="-120"/>
              </a:rPr>
              <a:t>Tasa vial y publicidad</a:t>
            </a:r>
            <a:endParaRPr lang="en-US" sz="1100" dirty="0"/>
          </a:p>
        </p:txBody>
      </p:sp>
      <p:sp>
        <p:nvSpPr>
          <p:cNvPr id="20" name="Text 18"/>
          <p:cNvSpPr/>
          <p:nvPr/>
        </p:nvSpPr>
        <p:spPr>
          <a:xfrm>
            <a:off x="6263640" y="3273552"/>
            <a:ext cx="2240280" cy="274320"/>
          </a:xfrm>
          <a:prstGeom prst="rect">
            <a:avLst/>
          </a:prstGeom>
          <a:noFill/>
          <a:ln/>
        </p:spPr>
        <p:txBody>
          <a:bodyPr wrap="square" lIns="0" tIns="0" rIns="0" bIns="0" rtlCol="0" anchor="ctr"/>
          <a:lstStyle/>
          <a:p>
            <a:pPr indent="0" marL="0">
              <a:buNone/>
            </a:pPr>
            <a:r>
              <a:rPr lang="en-US" sz="950" i="1" dirty="0">
                <a:solidFill>
                  <a:srgbClr val="5B6B7C"/>
                </a:solidFill>
                <a:latin typeface="Calibri" pitchFamily="34" charset="0"/>
                <a:ea typeface="Calibri" pitchFamily="34" charset="-122"/>
                <a:cs typeface="Calibri" pitchFamily="34" charset="-120"/>
              </a:rPr>
              <a:t>Cada municipio, su propio portal</a:t>
            </a:r>
            <a:endParaRPr lang="en-US" sz="950" dirty="0"/>
          </a:p>
        </p:txBody>
      </p:sp>
      <p:sp>
        <p:nvSpPr>
          <p:cNvPr id="21" name="Shape 19"/>
          <p:cNvSpPr/>
          <p:nvPr/>
        </p:nvSpPr>
        <p:spPr>
          <a:xfrm>
            <a:off x="457200" y="3913632"/>
            <a:ext cx="8229600" cy="640080"/>
          </a:xfrm>
          <a:prstGeom prst="roundRect">
            <a:avLst>
              <a:gd name="adj" fmla="val 11429"/>
            </a:avLst>
          </a:prstGeom>
          <a:solidFill>
            <a:srgbClr val="F6EEDD"/>
          </a:solidFill>
          <a:ln w="12700">
            <a:solidFill>
              <a:srgbClr val="F6EEDD"/>
            </a:solidFill>
            <a:prstDash val="solid"/>
          </a:ln>
        </p:spPr>
      </p:sp>
      <p:sp>
        <p:nvSpPr>
          <p:cNvPr id="22" name="Text 20"/>
          <p:cNvSpPr/>
          <p:nvPr/>
        </p:nvSpPr>
        <p:spPr>
          <a:xfrm>
            <a:off x="658368" y="3959352"/>
            <a:ext cx="4572000" cy="201168"/>
          </a:xfrm>
          <a:prstGeom prst="rect">
            <a:avLst/>
          </a:prstGeom>
          <a:noFill/>
          <a:ln/>
        </p:spPr>
        <p:txBody>
          <a:bodyPr wrap="square" lIns="0" tIns="0" rIns="0" bIns="0" rtlCol="0" anchor="ctr"/>
          <a:lstStyle/>
          <a:p>
            <a:pPr indent="0" marL="0">
              <a:buNone/>
            </a:pPr>
            <a:r>
              <a:rPr lang="en-US" sz="900" b="1" spc="100" kern="0" dirty="0">
                <a:solidFill>
                  <a:srgbClr val="B8862B"/>
                </a:solidFill>
                <a:latin typeface="Calibri" pitchFamily="34" charset="0"/>
                <a:ea typeface="Calibri" pitchFamily="34" charset="-122"/>
                <a:cs typeface="Calibri" pitchFamily="34" charset="-120"/>
              </a:rPr>
              <a:t>EN LA PRÁCTICA</a:t>
            </a:r>
            <a:endParaRPr lang="en-US" sz="900" dirty="0"/>
          </a:p>
        </p:txBody>
      </p:sp>
      <p:sp>
        <p:nvSpPr>
          <p:cNvPr id="23" name="Text 21"/>
          <p:cNvSpPr/>
          <p:nvPr/>
        </p:nvSpPr>
        <p:spPr>
          <a:xfrm>
            <a:off x="658368" y="4160520"/>
            <a:ext cx="7863840" cy="329184"/>
          </a:xfrm>
          <a:prstGeom prst="rect">
            <a:avLst/>
          </a:prstGeom>
          <a:noFill/>
          <a:ln/>
        </p:spPr>
        <p:txBody>
          <a:bodyPr wrap="square" lIns="0" tIns="0" rIns="0" bIns="0" rtlCol="0" anchor="ctr"/>
          <a:lstStyle/>
          <a:p>
            <a:pPr indent="0" marL="0">
              <a:lnSpc>
                <a:spcPts val="1400"/>
              </a:lnSpc>
              <a:buNone/>
            </a:pPr>
            <a:r>
              <a:rPr lang="en-US" sz="1100" dirty="0">
                <a:solidFill>
                  <a:srgbClr val="16283C"/>
                </a:solidFill>
                <a:latin typeface="Calibri" pitchFamily="34" charset="0"/>
                <a:ea typeface="Calibri" pitchFamily="34" charset="-122"/>
                <a:cs typeface="Calibri" pitchFamily="34" charset="-120"/>
              </a:rPr>
              <a:t>Alquilar una oficina en PBA activa los tres niveles: Sellos e IIBB (ARBA), el Inmobiliario del propietario y la tasa municipal del local.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roundRect">
            <a:avLst>
              <a:gd name="adj" fmla="val 96154"/>
            </a:avLst>
          </a:prstGeom>
          <a:solidFill>
            <a:srgbClr val="B8862B"/>
          </a:solidFill>
          <a:ln w="12700">
            <a:solidFill>
              <a:srgbClr val="B8862B"/>
            </a:solidFill>
            <a:prstDash val="solid"/>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4" name="Text 2"/>
          <p:cNvSpPr/>
          <p:nvPr/>
        </p:nvSpPr>
        <p:spPr>
          <a:xfrm>
            <a:off x="1078992" y="274320"/>
            <a:ext cx="7589520" cy="384048"/>
          </a:xfrm>
          <a:prstGeom prst="rect">
            <a:avLst/>
          </a:prstGeom>
          <a:noFill/>
          <a:ln/>
        </p:spPr>
        <p:txBody>
          <a:bodyPr wrap="square" lIns="0" tIns="0" rIns="0" bIns="0" rtlCol="0" anchor="ctr"/>
          <a:lstStyle/>
          <a:p>
            <a:pPr algn="l" indent="0" marL="0">
              <a:buNone/>
            </a:pPr>
            <a:r>
              <a:rPr lang="en-US" sz="2500" b="1" dirty="0">
                <a:solidFill>
                  <a:srgbClr val="16283C"/>
                </a:solidFill>
                <a:latin typeface="Cambria" pitchFamily="34" charset="0"/>
                <a:ea typeface="Cambria" pitchFamily="34" charset="-122"/>
                <a:cs typeface="Cambria" pitchFamily="34" charset="-120"/>
              </a:rPr>
              <a:t>Tu identidad fiscal</a:t>
            </a:r>
            <a:endParaRPr lang="en-US" sz="2500" dirty="0"/>
          </a:p>
        </p:txBody>
      </p:sp>
      <p:sp>
        <p:nvSpPr>
          <p:cNvPr id="5" name="Text 3"/>
          <p:cNvSpPr/>
          <p:nvPr/>
        </p:nvSpPr>
        <p:spPr>
          <a:xfrm>
            <a:off x="1078992" y="676656"/>
            <a:ext cx="7589520" cy="256032"/>
          </a:xfrm>
          <a:prstGeom prst="rect">
            <a:avLst/>
          </a:prstGeom>
          <a:noFill/>
          <a:ln/>
        </p:spPr>
        <p:txBody>
          <a:bodyPr wrap="square" lIns="0" tIns="0" rIns="0" bIns="0" rtlCol="0" anchor="ctr"/>
          <a:lstStyle/>
          <a:p>
            <a:pPr algn="l" indent="0" marL="0">
              <a:buNone/>
            </a:pPr>
            <a:r>
              <a:rPr lang="en-US" sz="1150" dirty="0">
                <a:solidFill>
                  <a:srgbClr val="5B6B7C"/>
                </a:solidFill>
                <a:latin typeface="Calibri" pitchFamily="34" charset="0"/>
                <a:ea typeface="Calibri" pitchFamily="34" charset="-122"/>
                <a:cs typeface="Calibri" pitchFamily="34" charset="-120"/>
              </a:rPr>
              <a:t>Los cuatro elementos sin los cuales no se puede facturar ni operar</a:t>
            </a:r>
            <a:endParaRPr lang="en-US" sz="1150" dirty="0"/>
          </a:p>
        </p:txBody>
      </p:sp>
      <p:sp>
        <p:nvSpPr>
          <p:cNvPr id="6" name="Shape 4"/>
          <p:cNvSpPr/>
          <p:nvPr/>
        </p:nvSpPr>
        <p:spPr>
          <a:xfrm>
            <a:off x="457200" y="1078992"/>
            <a:ext cx="3977640" cy="1481328"/>
          </a:xfrm>
          <a:prstGeom prst="roundRect">
            <a:avLst>
              <a:gd name="adj" fmla="val 4938"/>
            </a:avLst>
          </a:prstGeom>
          <a:solidFill>
            <a:srgbClr val="F1F3F6"/>
          </a:solidFill>
          <a:ln w="12700">
            <a:solidFill>
              <a:srgbClr val="F1F3F6"/>
            </a:solidFill>
            <a:prstDash val="solid"/>
          </a:ln>
        </p:spPr>
      </p:sp>
      <p:sp>
        <p:nvSpPr>
          <p:cNvPr id="7" name="Shape 5"/>
          <p:cNvSpPr/>
          <p:nvPr/>
        </p:nvSpPr>
        <p:spPr>
          <a:xfrm>
            <a:off x="658368" y="1298448"/>
            <a:ext cx="384048" cy="384048"/>
          </a:xfrm>
          <a:prstGeom prst="roundRect">
            <a:avLst>
              <a:gd name="adj" fmla="val 119048"/>
            </a:avLst>
          </a:prstGeom>
          <a:solidFill>
            <a:srgbClr val="16283C"/>
          </a:solidFill>
          <a:ln w="12700">
            <a:solidFill>
              <a:srgbClr val="16283C"/>
            </a:solidFill>
            <a:prstDash val="solid"/>
          </a:ln>
        </p:spPr>
      </p:sp>
      <p:sp>
        <p:nvSpPr>
          <p:cNvPr id="8" name="Text 6"/>
          <p:cNvSpPr/>
          <p:nvPr/>
        </p:nvSpPr>
        <p:spPr>
          <a:xfrm>
            <a:off x="658368" y="1298448"/>
            <a:ext cx="384048" cy="384048"/>
          </a:xfrm>
          <a:prstGeom prst="rect">
            <a:avLst/>
          </a:prstGeom>
          <a:noFill/>
          <a:ln/>
        </p:spPr>
        <p:txBody>
          <a:bodyPr wrap="square" lIns="0" tIns="0" rIns="0" bIns="0" rtlCol="0" anchor="ctr"/>
          <a:lstStyle/>
          <a:p>
            <a:pPr algn="ctr" indent="0" marL="0">
              <a:buNone/>
            </a:pPr>
            <a:r>
              <a:rPr lang="en-US" sz="1200" b="1" dirty="0">
                <a:solidFill>
                  <a:srgbClr val="B8862B"/>
                </a:solidFill>
                <a:latin typeface="Calibri" pitchFamily="34" charset="0"/>
                <a:ea typeface="Calibri" pitchFamily="34" charset="-122"/>
                <a:cs typeface="Calibri" pitchFamily="34" charset="-120"/>
              </a:rPr>
              <a:t>1</a:t>
            </a:r>
            <a:endParaRPr lang="en-US" sz="1200" dirty="0"/>
          </a:p>
        </p:txBody>
      </p:sp>
      <p:sp>
        <p:nvSpPr>
          <p:cNvPr id="9" name="Text 7"/>
          <p:cNvSpPr/>
          <p:nvPr/>
        </p:nvSpPr>
        <p:spPr>
          <a:xfrm>
            <a:off x="1170432" y="1280160"/>
            <a:ext cx="3108960" cy="292608"/>
          </a:xfrm>
          <a:prstGeom prst="rect">
            <a:avLst/>
          </a:prstGeom>
          <a:noFill/>
          <a:ln/>
        </p:spPr>
        <p:txBody>
          <a:bodyPr wrap="square" lIns="0" tIns="0" rIns="0" bIns="0" rtlCol="0" anchor="ctr"/>
          <a:lstStyle/>
          <a:p>
            <a:pPr indent="0" marL="0">
              <a:buNone/>
            </a:pPr>
            <a:r>
              <a:rPr lang="en-US" sz="1550" b="1" dirty="0">
                <a:solidFill>
                  <a:srgbClr val="16283C"/>
                </a:solidFill>
                <a:latin typeface="Cambria" pitchFamily="34" charset="0"/>
                <a:ea typeface="Cambria" pitchFamily="34" charset="-122"/>
                <a:cs typeface="Cambria" pitchFamily="34" charset="-120"/>
              </a:rPr>
              <a:t>CUIT</a:t>
            </a:r>
            <a:endParaRPr lang="en-US" sz="1550" dirty="0"/>
          </a:p>
        </p:txBody>
      </p:sp>
      <p:sp>
        <p:nvSpPr>
          <p:cNvPr id="10" name="Text 8"/>
          <p:cNvSpPr/>
          <p:nvPr/>
        </p:nvSpPr>
        <p:spPr>
          <a:xfrm>
            <a:off x="1170432" y="1627632"/>
            <a:ext cx="3063240" cy="822960"/>
          </a:xfrm>
          <a:prstGeom prst="rect">
            <a:avLst/>
          </a:prstGeom>
          <a:noFill/>
          <a:ln/>
        </p:spPr>
        <p:txBody>
          <a:bodyPr wrap="square" lIns="0" tIns="0" rIns="0" bIns="0" rtlCol="0" anchor="ctr"/>
          <a:lstStyle/>
          <a:p>
            <a:pPr indent="0" marL="0">
              <a:lnSpc>
                <a:spcPts val="1400"/>
              </a:lnSpc>
              <a:buNone/>
            </a:pPr>
            <a:r>
              <a:rPr lang="en-US" sz="1050" dirty="0">
                <a:solidFill>
                  <a:srgbClr val="5B6B7C"/>
                </a:solidFill>
                <a:latin typeface="Calibri" pitchFamily="34" charset="0"/>
                <a:ea typeface="Calibri" pitchFamily="34" charset="-122"/>
                <a:cs typeface="Calibri" pitchFamily="34" charset="-120"/>
              </a:rPr>
              <a:t>11 dígitos que te identifican ante todos los organismos, no solo ARCA. Prefijo 20/23/24/27 personas humanas, 30/33/34 sociedades. Es el mismo número de por vida.</a:t>
            </a:r>
            <a:endParaRPr lang="en-US" sz="1050" dirty="0"/>
          </a:p>
        </p:txBody>
      </p:sp>
      <p:sp>
        <p:nvSpPr>
          <p:cNvPr id="11" name="Shape 9"/>
          <p:cNvSpPr/>
          <p:nvPr/>
        </p:nvSpPr>
        <p:spPr>
          <a:xfrm>
            <a:off x="4709160" y="1078992"/>
            <a:ext cx="3977640" cy="1481328"/>
          </a:xfrm>
          <a:prstGeom prst="roundRect">
            <a:avLst>
              <a:gd name="adj" fmla="val 4938"/>
            </a:avLst>
          </a:prstGeom>
          <a:solidFill>
            <a:srgbClr val="F1F3F6"/>
          </a:solidFill>
          <a:ln w="12700">
            <a:solidFill>
              <a:srgbClr val="F1F3F6"/>
            </a:solidFill>
            <a:prstDash val="solid"/>
          </a:ln>
        </p:spPr>
      </p:sp>
      <p:sp>
        <p:nvSpPr>
          <p:cNvPr id="12" name="Shape 10"/>
          <p:cNvSpPr/>
          <p:nvPr/>
        </p:nvSpPr>
        <p:spPr>
          <a:xfrm>
            <a:off x="4910328" y="1298448"/>
            <a:ext cx="384048" cy="384048"/>
          </a:xfrm>
          <a:prstGeom prst="roundRect">
            <a:avLst>
              <a:gd name="adj" fmla="val 119048"/>
            </a:avLst>
          </a:prstGeom>
          <a:solidFill>
            <a:srgbClr val="16283C"/>
          </a:solidFill>
          <a:ln w="12700">
            <a:solidFill>
              <a:srgbClr val="16283C"/>
            </a:solidFill>
            <a:prstDash val="solid"/>
          </a:ln>
        </p:spPr>
      </p:sp>
      <p:sp>
        <p:nvSpPr>
          <p:cNvPr id="13" name="Text 11"/>
          <p:cNvSpPr/>
          <p:nvPr/>
        </p:nvSpPr>
        <p:spPr>
          <a:xfrm>
            <a:off x="4910328" y="1298448"/>
            <a:ext cx="384048" cy="384048"/>
          </a:xfrm>
          <a:prstGeom prst="rect">
            <a:avLst/>
          </a:prstGeom>
          <a:noFill/>
          <a:ln/>
        </p:spPr>
        <p:txBody>
          <a:bodyPr wrap="square" lIns="0" tIns="0" rIns="0" bIns="0" rtlCol="0" anchor="ctr"/>
          <a:lstStyle/>
          <a:p>
            <a:pPr algn="ctr" indent="0" marL="0">
              <a:buNone/>
            </a:pPr>
            <a:r>
              <a:rPr lang="en-US" sz="1200" b="1" dirty="0">
                <a:solidFill>
                  <a:srgbClr val="B8862B"/>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5422392" y="1280160"/>
            <a:ext cx="3108960" cy="292608"/>
          </a:xfrm>
          <a:prstGeom prst="rect">
            <a:avLst/>
          </a:prstGeom>
          <a:noFill/>
          <a:ln/>
        </p:spPr>
        <p:txBody>
          <a:bodyPr wrap="square" lIns="0" tIns="0" rIns="0" bIns="0" rtlCol="0" anchor="ctr"/>
          <a:lstStyle/>
          <a:p>
            <a:pPr indent="0" marL="0">
              <a:buNone/>
            </a:pPr>
            <a:r>
              <a:rPr lang="en-US" sz="1550" b="1" dirty="0">
                <a:solidFill>
                  <a:srgbClr val="16283C"/>
                </a:solidFill>
                <a:latin typeface="Cambria" pitchFamily="34" charset="0"/>
                <a:ea typeface="Cambria" pitchFamily="34" charset="-122"/>
                <a:cs typeface="Cambria" pitchFamily="34" charset="-120"/>
              </a:rPr>
              <a:t>Clave Fiscal</a:t>
            </a:r>
            <a:endParaRPr lang="en-US" sz="1550" dirty="0"/>
          </a:p>
        </p:txBody>
      </p:sp>
      <p:sp>
        <p:nvSpPr>
          <p:cNvPr id="15" name="Text 13"/>
          <p:cNvSpPr/>
          <p:nvPr/>
        </p:nvSpPr>
        <p:spPr>
          <a:xfrm>
            <a:off x="5422392" y="1627632"/>
            <a:ext cx="3063240" cy="822960"/>
          </a:xfrm>
          <a:prstGeom prst="rect">
            <a:avLst/>
          </a:prstGeom>
          <a:noFill/>
          <a:ln/>
        </p:spPr>
        <p:txBody>
          <a:bodyPr wrap="square" lIns="0" tIns="0" rIns="0" bIns="0" rtlCol="0" anchor="ctr"/>
          <a:lstStyle/>
          <a:p>
            <a:pPr indent="0" marL="0">
              <a:lnSpc>
                <a:spcPts val="1400"/>
              </a:lnSpc>
              <a:buNone/>
            </a:pPr>
            <a:r>
              <a:rPr lang="en-US" sz="1050" dirty="0">
                <a:solidFill>
                  <a:srgbClr val="5B6B7C"/>
                </a:solidFill>
                <a:latin typeface="Calibri" pitchFamily="34" charset="0"/>
                <a:ea typeface="Calibri" pitchFamily="34" charset="-122"/>
                <a:cs typeface="Calibri" pitchFamily="34" charset="-120"/>
              </a:rPr>
              <a:t>La contraseña para operar en ARCA. La mayoría de los trámites exige nivel 3. Desde ahí se delegan permisos al estudio contable sin compartir la clave.</a:t>
            </a:r>
            <a:endParaRPr lang="en-US" sz="1050" dirty="0"/>
          </a:p>
        </p:txBody>
      </p:sp>
      <p:sp>
        <p:nvSpPr>
          <p:cNvPr id="16" name="Shape 14"/>
          <p:cNvSpPr/>
          <p:nvPr/>
        </p:nvSpPr>
        <p:spPr>
          <a:xfrm>
            <a:off x="457200" y="2633472"/>
            <a:ext cx="3977640" cy="1481328"/>
          </a:xfrm>
          <a:prstGeom prst="roundRect">
            <a:avLst>
              <a:gd name="adj" fmla="val 4938"/>
            </a:avLst>
          </a:prstGeom>
          <a:solidFill>
            <a:srgbClr val="F1F3F6"/>
          </a:solidFill>
          <a:ln w="12700">
            <a:solidFill>
              <a:srgbClr val="F1F3F6"/>
            </a:solidFill>
            <a:prstDash val="solid"/>
          </a:ln>
        </p:spPr>
      </p:sp>
      <p:sp>
        <p:nvSpPr>
          <p:cNvPr id="17" name="Shape 15"/>
          <p:cNvSpPr/>
          <p:nvPr/>
        </p:nvSpPr>
        <p:spPr>
          <a:xfrm>
            <a:off x="658368" y="2852928"/>
            <a:ext cx="384048" cy="384048"/>
          </a:xfrm>
          <a:prstGeom prst="roundRect">
            <a:avLst>
              <a:gd name="adj" fmla="val 119048"/>
            </a:avLst>
          </a:prstGeom>
          <a:solidFill>
            <a:srgbClr val="16283C"/>
          </a:solidFill>
          <a:ln w="12700">
            <a:solidFill>
              <a:srgbClr val="16283C"/>
            </a:solidFill>
            <a:prstDash val="solid"/>
          </a:ln>
        </p:spPr>
      </p:sp>
      <p:sp>
        <p:nvSpPr>
          <p:cNvPr id="18" name="Text 16"/>
          <p:cNvSpPr/>
          <p:nvPr/>
        </p:nvSpPr>
        <p:spPr>
          <a:xfrm>
            <a:off x="658368" y="2852928"/>
            <a:ext cx="384048" cy="384048"/>
          </a:xfrm>
          <a:prstGeom prst="rect">
            <a:avLst/>
          </a:prstGeom>
          <a:noFill/>
          <a:ln/>
        </p:spPr>
        <p:txBody>
          <a:bodyPr wrap="square" lIns="0" tIns="0" rIns="0" bIns="0" rtlCol="0" anchor="ctr"/>
          <a:lstStyle/>
          <a:p>
            <a:pPr algn="ctr" indent="0" marL="0">
              <a:buNone/>
            </a:pPr>
            <a:r>
              <a:rPr lang="en-US" sz="1200" b="1" dirty="0">
                <a:solidFill>
                  <a:srgbClr val="B8862B"/>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1170432" y="2834640"/>
            <a:ext cx="3108960" cy="292608"/>
          </a:xfrm>
          <a:prstGeom prst="rect">
            <a:avLst/>
          </a:prstGeom>
          <a:noFill/>
          <a:ln/>
        </p:spPr>
        <p:txBody>
          <a:bodyPr wrap="square" lIns="0" tIns="0" rIns="0" bIns="0" rtlCol="0" anchor="ctr"/>
          <a:lstStyle/>
          <a:p>
            <a:pPr indent="0" marL="0">
              <a:buNone/>
            </a:pPr>
            <a:r>
              <a:rPr lang="en-US" sz="1550" b="1" dirty="0">
                <a:solidFill>
                  <a:srgbClr val="16283C"/>
                </a:solidFill>
                <a:latin typeface="Cambria" pitchFamily="34" charset="0"/>
                <a:ea typeface="Cambria" pitchFamily="34" charset="-122"/>
                <a:cs typeface="Cambria" pitchFamily="34" charset="-120"/>
              </a:rPr>
              <a:t>Domicilio Fiscal Electrónico</a:t>
            </a:r>
            <a:endParaRPr lang="en-US" sz="1550" dirty="0"/>
          </a:p>
        </p:txBody>
      </p:sp>
      <p:sp>
        <p:nvSpPr>
          <p:cNvPr id="20" name="Text 18"/>
          <p:cNvSpPr/>
          <p:nvPr/>
        </p:nvSpPr>
        <p:spPr>
          <a:xfrm>
            <a:off x="1170432" y="3182112"/>
            <a:ext cx="3063240" cy="822960"/>
          </a:xfrm>
          <a:prstGeom prst="rect">
            <a:avLst/>
          </a:prstGeom>
          <a:noFill/>
          <a:ln/>
        </p:spPr>
        <p:txBody>
          <a:bodyPr wrap="square" lIns="0" tIns="0" rIns="0" bIns="0" rtlCol="0" anchor="ctr"/>
          <a:lstStyle/>
          <a:p>
            <a:pPr indent="0" marL="0">
              <a:lnSpc>
                <a:spcPts val="1400"/>
              </a:lnSpc>
              <a:buNone/>
            </a:pPr>
            <a:r>
              <a:rPr lang="en-US" sz="1050" dirty="0">
                <a:solidFill>
                  <a:srgbClr val="5B6B7C"/>
                </a:solidFill>
                <a:latin typeface="Calibri" pitchFamily="34" charset="0"/>
                <a:ea typeface="Calibri" pitchFamily="34" charset="-122"/>
                <a:cs typeface="Calibri" pitchFamily="34" charset="-120"/>
              </a:rPr>
              <a:t>Buzón digital obligatorio. Una intimación queda notificada apenas se deposita ahí, se haya leído o no. Hay que revisarlo con periodicidad.</a:t>
            </a:r>
            <a:endParaRPr lang="en-US" sz="1050" dirty="0"/>
          </a:p>
        </p:txBody>
      </p:sp>
      <p:sp>
        <p:nvSpPr>
          <p:cNvPr id="21" name="Shape 19"/>
          <p:cNvSpPr/>
          <p:nvPr/>
        </p:nvSpPr>
        <p:spPr>
          <a:xfrm>
            <a:off x="4709160" y="2633472"/>
            <a:ext cx="3977640" cy="1481328"/>
          </a:xfrm>
          <a:prstGeom prst="roundRect">
            <a:avLst>
              <a:gd name="adj" fmla="val 4938"/>
            </a:avLst>
          </a:prstGeom>
          <a:solidFill>
            <a:srgbClr val="F1F3F6"/>
          </a:solidFill>
          <a:ln w="12700">
            <a:solidFill>
              <a:srgbClr val="F1F3F6"/>
            </a:solidFill>
            <a:prstDash val="solid"/>
          </a:ln>
        </p:spPr>
      </p:sp>
      <p:sp>
        <p:nvSpPr>
          <p:cNvPr id="22" name="Shape 20"/>
          <p:cNvSpPr/>
          <p:nvPr/>
        </p:nvSpPr>
        <p:spPr>
          <a:xfrm>
            <a:off x="4910328" y="2852928"/>
            <a:ext cx="384048" cy="384048"/>
          </a:xfrm>
          <a:prstGeom prst="roundRect">
            <a:avLst>
              <a:gd name="adj" fmla="val 119048"/>
            </a:avLst>
          </a:prstGeom>
          <a:solidFill>
            <a:srgbClr val="16283C"/>
          </a:solidFill>
          <a:ln w="12700">
            <a:solidFill>
              <a:srgbClr val="16283C"/>
            </a:solidFill>
            <a:prstDash val="solid"/>
          </a:ln>
        </p:spPr>
      </p:sp>
      <p:sp>
        <p:nvSpPr>
          <p:cNvPr id="23" name="Text 21"/>
          <p:cNvSpPr/>
          <p:nvPr/>
        </p:nvSpPr>
        <p:spPr>
          <a:xfrm>
            <a:off x="4910328" y="2852928"/>
            <a:ext cx="384048" cy="384048"/>
          </a:xfrm>
          <a:prstGeom prst="rect">
            <a:avLst/>
          </a:prstGeom>
          <a:noFill/>
          <a:ln/>
        </p:spPr>
        <p:txBody>
          <a:bodyPr wrap="square" lIns="0" tIns="0" rIns="0" bIns="0" rtlCol="0" anchor="ctr"/>
          <a:lstStyle/>
          <a:p>
            <a:pPr algn="ctr" indent="0" marL="0">
              <a:buNone/>
            </a:pPr>
            <a:r>
              <a:rPr lang="en-US" sz="1200" b="1" dirty="0">
                <a:solidFill>
                  <a:srgbClr val="B8862B"/>
                </a:solidFill>
                <a:latin typeface="Calibri" pitchFamily="34" charset="0"/>
                <a:ea typeface="Calibri" pitchFamily="34" charset="-122"/>
                <a:cs typeface="Calibri" pitchFamily="34" charset="-120"/>
              </a:rPr>
              <a:t>4</a:t>
            </a:r>
            <a:endParaRPr lang="en-US" sz="1200" dirty="0"/>
          </a:p>
        </p:txBody>
      </p:sp>
      <p:sp>
        <p:nvSpPr>
          <p:cNvPr id="24" name="Text 22"/>
          <p:cNvSpPr/>
          <p:nvPr/>
        </p:nvSpPr>
        <p:spPr>
          <a:xfrm>
            <a:off x="5422392" y="2834640"/>
            <a:ext cx="3108960" cy="292608"/>
          </a:xfrm>
          <a:prstGeom prst="rect">
            <a:avLst/>
          </a:prstGeom>
          <a:noFill/>
          <a:ln/>
        </p:spPr>
        <p:txBody>
          <a:bodyPr wrap="square" lIns="0" tIns="0" rIns="0" bIns="0" rtlCol="0" anchor="ctr"/>
          <a:lstStyle/>
          <a:p>
            <a:pPr indent="0" marL="0">
              <a:buNone/>
            </a:pPr>
            <a:r>
              <a:rPr lang="en-US" sz="1550" b="1" dirty="0">
                <a:solidFill>
                  <a:srgbClr val="16283C"/>
                </a:solidFill>
                <a:latin typeface="Cambria" pitchFamily="34" charset="0"/>
                <a:ea typeface="Cambria" pitchFamily="34" charset="-122"/>
                <a:cs typeface="Cambria" pitchFamily="34" charset="-120"/>
              </a:rPr>
              <a:t>Constancia de inscripción</a:t>
            </a:r>
            <a:endParaRPr lang="en-US" sz="1550" dirty="0"/>
          </a:p>
        </p:txBody>
      </p:sp>
      <p:sp>
        <p:nvSpPr>
          <p:cNvPr id="25" name="Text 23"/>
          <p:cNvSpPr/>
          <p:nvPr/>
        </p:nvSpPr>
        <p:spPr>
          <a:xfrm>
            <a:off x="5422392" y="3182112"/>
            <a:ext cx="3063240" cy="822960"/>
          </a:xfrm>
          <a:prstGeom prst="rect">
            <a:avLst/>
          </a:prstGeom>
          <a:noFill/>
          <a:ln/>
        </p:spPr>
        <p:txBody>
          <a:bodyPr wrap="square" lIns="0" tIns="0" rIns="0" bIns="0" rtlCol="0" anchor="ctr"/>
          <a:lstStyle/>
          <a:p>
            <a:pPr indent="0" marL="0">
              <a:lnSpc>
                <a:spcPts val="1400"/>
              </a:lnSpc>
              <a:buNone/>
            </a:pPr>
            <a:r>
              <a:rPr lang="en-US" sz="1050" dirty="0">
                <a:solidFill>
                  <a:srgbClr val="5B6B7C"/>
                </a:solidFill>
                <a:latin typeface="Calibri" pitchFamily="34" charset="0"/>
                <a:ea typeface="Calibri" pitchFamily="34" charset="-122"/>
                <a:cs typeface="Calibri" pitchFamily="34" charset="-120"/>
              </a:rPr>
              <a:t>Resume la situación fiscal de un CUIT: en qué impuestos está inscripto y desde cuándo. Gratis, con solo cargar el CUIT.</a:t>
            </a:r>
            <a:endParaRPr lang="en-US" sz="1050" dirty="0"/>
          </a:p>
        </p:txBody>
      </p:sp>
      <p:sp>
        <p:nvSpPr>
          <p:cNvPr id="26" name="Shape 24"/>
          <p:cNvSpPr/>
          <p:nvPr/>
        </p:nvSpPr>
        <p:spPr>
          <a:xfrm>
            <a:off x="457200" y="4297680"/>
            <a:ext cx="8229600" cy="640080"/>
          </a:xfrm>
          <a:prstGeom prst="roundRect">
            <a:avLst>
              <a:gd name="adj" fmla="val 11429"/>
            </a:avLst>
          </a:prstGeom>
          <a:solidFill>
            <a:srgbClr val="F6EEDD"/>
          </a:solidFill>
          <a:ln w="12700">
            <a:solidFill>
              <a:srgbClr val="F6EEDD"/>
            </a:solidFill>
            <a:prstDash val="solid"/>
          </a:ln>
        </p:spPr>
      </p:sp>
      <p:sp>
        <p:nvSpPr>
          <p:cNvPr id="27" name="Text 25"/>
          <p:cNvSpPr/>
          <p:nvPr/>
        </p:nvSpPr>
        <p:spPr>
          <a:xfrm>
            <a:off x="658368" y="4343400"/>
            <a:ext cx="4572000" cy="201168"/>
          </a:xfrm>
          <a:prstGeom prst="rect">
            <a:avLst/>
          </a:prstGeom>
          <a:noFill/>
          <a:ln/>
        </p:spPr>
        <p:txBody>
          <a:bodyPr wrap="square" lIns="0" tIns="0" rIns="0" bIns="0" rtlCol="0" anchor="ctr"/>
          <a:lstStyle/>
          <a:p>
            <a:pPr indent="0" marL="0">
              <a:buNone/>
            </a:pPr>
            <a:r>
              <a:rPr lang="en-US" sz="900" b="1" spc="100" kern="0" dirty="0">
                <a:solidFill>
                  <a:srgbClr val="B8862B"/>
                </a:solidFill>
                <a:latin typeface="Calibri" pitchFamily="34" charset="0"/>
                <a:ea typeface="Calibri" pitchFamily="34" charset="-122"/>
                <a:cs typeface="Calibri" pitchFamily="34" charset="-120"/>
              </a:rPr>
              <a:t>REGLA</a:t>
            </a:r>
            <a:endParaRPr lang="en-US" sz="900" dirty="0"/>
          </a:p>
        </p:txBody>
      </p:sp>
      <p:sp>
        <p:nvSpPr>
          <p:cNvPr id="28" name="Text 26"/>
          <p:cNvSpPr/>
          <p:nvPr/>
        </p:nvSpPr>
        <p:spPr>
          <a:xfrm>
            <a:off x="658368" y="4544568"/>
            <a:ext cx="7863840" cy="329184"/>
          </a:xfrm>
          <a:prstGeom prst="rect">
            <a:avLst/>
          </a:prstGeom>
          <a:noFill/>
          <a:ln/>
        </p:spPr>
        <p:txBody>
          <a:bodyPr wrap="square" lIns="0" tIns="0" rIns="0" bIns="0" rtlCol="0" anchor="ctr"/>
          <a:lstStyle/>
          <a:p>
            <a:pPr indent="0" marL="0">
              <a:lnSpc>
                <a:spcPts val="1400"/>
              </a:lnSpc>
              <a:buNone/>
            </a:pPr>
            <a:r>
              <a:rPr lang="en-US" sz="1100" dirty="0">
                <a:solidFill>
                  <a:srgbClr val="16283C"/>
                </a:solidFill>
                <a:latin typeface="Calibri" pitchFamily="34" charset="0"/>
                <a:ea typeface="Calibri" pitchFamily="34" charset="-122"/>
                <a:cs typeface="Calibri" pitchFamily="34" charset="-120"/>
              </a:rPr>
              <a:t>Constancia de inscripción + CBU a nombre del mismo CUIT: es lo primero que se le pide a todo proveedor o cliente nuevo.</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roundRect">
            <a:avLst>
              <a:gd name="adj" fmla="val 96154"/>
            </a:avLst>
          </a:prstGeom>
          <a:solidFill>
            <a:srgbClr val="B8862B"/>
          </a:solidFill>
          <a:ln w="12700">
            <a:solidFill>
              <a:srgbClr val="B8862B"/>
            </a:solidFill>
            <a:prstDash val="solid"/>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4" name="Text 2"/>
          <p:cNvSpPr/>
          <p:nvPr/>
        </p:nvSpPr>
        <p:spPr>
          <a:xfrm>
            <a:off x="1078992" y="274320"/>
            <a:ext cx="7589520" cy="384048"/>
          </a:xfrm>
          <a:prstGeom prst="rect">
            <a:avLst/>
          </a:prstGeom>
          <a:noFill/>
          <a:ln/>
        </p:spPr>
        <p:txBody>
          <a:bodyPr wrap="square" lIns="0" tIns="0" rIns="0" bIns="0" rtlCol="0" anchor="ctr"/>
          <a:lstStyle/>
          <a:p>
            <a:pPr algn="l" indent="0" marL="0">
              <a:buNone/>
            </a:pPr>
            <a:r>
              <a:rPr lang="en-US" sz="2500" b="1" dirty="0">
                <a:solidFill>
                  <a:srgbClr val="16283C"/>
                </a:solidFill>
                <a:latin typeface="Cambria" pitchFamily="34" charset="0"/>
                <a:ea typeface="Cambria" pitchFamily="34" charset="-122"/>
                <a:cs typeface="Cambria" pitchFamily="34" charset="-120"/>
              </a:rPr>
              <a:t>Monotributo o Responsable Inscripto</a:t>
            </a:r>
            <a:endParaRPr lang="en-US" sz="2500" dirty="0"/>
          </a:p>
        </p:txBody>
      </p:sp>
      <p:sp>
        <p:nvSpPr>
          <p:cNvPr id="5" name="Text 3"/>
          <p:cNvSpPr/>
          <p:nvPr/>
        </p:nvSpPr>
        <p:spPr>
          <a:xfrm>
            <a:off x="1078992" y="676656"/>
            <a:ext cx="7589520" cy="256032"/>
          </a:xfrm>
          <a:prstGeom prst="rect">
            <a:avLst/>
          </a:prstGeom>
          <a:noFill/>
          <a:ln/>
        </p:spPr>
        <p:txBody>
          <a:bodyPr wrap="square" lIns="0" tIns="0" rIns="0" bIns="0" rtlCol="0" anchor="ctr"/>
          <a:lstStyle/>
          <a:p>
            <a:pPr algn="l" indent="0" marL="0">
              <a:buNone/>
            </a:pPr>
            <a:r>
              <a:rPr lang="en-US" sz="1150" dirty="0">
                <a:solidFill>
                  <a:srgbClr val="5B6B7C"/>
                </a:solidFill>
                <a:latin typeface="Calibri" pitchFamily="34" charset="0"/>
                <a:ea typeface="Calibri" pitchFamily="34" charset="-122"/>
                <a:cs typeface="Calibri" pitchFamily="34" charset="-120"/>
              </a:rPr>
              <a:t>Define qué factura emite tu cliente, tu proveedor y vos mismo</a:t>
            </a:r>
            <a:endParaRPr lang="en-US" sz="1150" dirty="0"/>
          </a:p>
        </p:txBody>
      </p:sp>
      <p:sp>
        <p:nvSpPr>
          <p:cNvPr id="6" name="Text 4"/>
          <p:cNvSpPr/>
          <p:nvPr/>
        </p:nvSpPr>
        <p:spPr>
          <a:xfrm>
            <a:off x="594360" y="1097280"/>
            <a:ext cx="2240280" cy="274320"/>
          </a:xfrm>
          <a:prstGeom prst="rect">
            <a:avLst/>
          </a:prstGeom>
          <a:noFill/>
          <a:ln/>
        </p:spPr>
        <p:txBody>
          <a:bodyPr wrap="square" lIns="0" tIns="0" rIns="0" bIns="0" rtlCol="0" anchor="ctr"/>
          <a:lstStyle/>
          <a:p>
            <a:pPr indent="0" marL="0">
              <a:buNone/>
            </a:pPr>
            <a:r>
              <a:rPr lang="en-US" sz="950" b="1" spc="120" kern="0" dirty="0">
                <a:solidFill>
                  <a:srgbClr val="5B6B7C"/>
                </a:solidFill>
                <a:latin typeface="Calibri" pitchFamily="34" charset="0"/>
                <a:ea typeface="Calibri" pitchFamily="34" charset="-122"/>
                <a:cs typeface="Calibri" pitchFamily="34" charset="-120"/>
              </a:rPr>
              <a:t>ASPECTO</a:t>
            </a:r>
            <a:endParaRPr lang="en-US" sz="950" dirty="0"/>
          </a:p>
        </p:txBody>
      </p:sp>
      <p:sp>
        <p:nvSpPr>
          <p:cNvPr id="7" name="Shape 5"/>
          <p:cNvSpPr/>
          <p:nvPr/>
        </p:nvSpPr>
        <p:spPr>
          <a:xfrm>
            <a:off x="2788920" y="1051560"/>
            <a:ext cx="2880360" cy="384048"/>
          </a:xfrm>
          <a:prstGeom prst="roundRect">
            <a:avLst>
              <a:gd name="adj" fmla="val 19048"/>
            </a:avLst>
          </a:prstGeom>
          <a:solidFill>
            <a:srgbClr val="F6EEDD"/>
          </a:solidFill>
          <a:ln w="12700">
            <a:solidFill>
              <a:srgbClr val="F6EEDD"/>
            </a:solidFill>
            <a:prstDash val="solid"/>
          </a:ln>
        </p:spPr>
      </p:sp>
      <p:sp>
        <p:nvSpPr>
          <p:cNvPr id="8" name="Text 6"/>
          <p:cNvSpPr/>
          <p:nvPr/>
        </p:nvSpPr>
        <p:spPr>
          <a:xfrm>
            <a:off x="2953512" y="1051560"/>
            <a:ext cx="2606040" cy="384048"/>
          </a:xfrm>
          <a:prstGeom prst="rect">
            <a:avLst/>
          </a:prstGeom>
          <a:noFill/>
          <a:ln/>
        </p:spPr>
        <p:txBody>
          <a:bodyPr wrap="square" lIns="0" tIns="0" rIns="0" bIns="0" rtlCol="0" anchor="ctr"/>
          <a:lstStyle/>
          <a:p>
            <a:pPr indent="0" marL="0">
              <a:buNone/>
            </a:pPr>
            <a:r>
              <a:rPr lang="en-US" sz="1050" b="1" spc="100" kern="0" dirty="0">
                <a:solidFill>
                  <a:srgbClr val="B8862B"/>
                </a:solidFill>
                <a:latin typeface="Calibri" pitchFamily="34" charset="0"/>
                <a:ea typeface="Calibri" pitchFamily="34" charset="-122"/>
                <a:cs typeface="Calibri" pitchFamily="34" charset="-120"/>
              </a:rPr>
              <a:t>MONOTRIBUTO</a:t>
            </a:r>
            <a:endParaRPr lang="en-US" sz="1050" dirty="0"/>
          </a:p>
        </p:txBody>
      </p:sp>
      <p:sp>
        <p:nvSpPr>
          <p:cNvPr id="9" name="Shape 7"/>
          <p:cNvSpPr/>
          <p:nvPr/>
        </p:nvSpPr>
        <p:spPr>
          <a:xfrm>
            <a:off x="5760720" y="1051560"/>
            <a:ext cx="2926080" cy="384048"/>
          </a:xfrm>
          <a:prstGeom prst="roundRect">
            <a:avLst>
              <a:gd name="adj" fmla="val 19048"/>
            </a:avLst>
          </a:prstGeom>
          <a:solidFill>
            <a:srgbClr val="16283C"/>
          </a:solidFill>
          <a:ln w="12700">
            <a:solidFill>
              <a:srgbClr val="16283C"/>
            </a:solidFill>
            <a:prstDash val="solid"/>
          </a:ln>
        </p:spPr>
      </p:sp>
      <p:sp>
        <p:nvSpPr>
          <p:cNvPr id="10" name="Text 8"/>
          <p:cNvSpPr/>
          <p:nvPr/>
        </p:nvSpPr>
        <p:spPr>
          <a:xfrm>
            <a:off x="5925312" y="1051560"/>
            <a:ext cx="2651760" cy="384048"/>
          </a:xfrm>
          <a:prstGeom prst="rect">
            <a:avLst/>
          </a:prstGeom>
          <a:noFill/>
          <a:ln/>
        </p:spPr>
        <p:txBody>
          <a:bodyPr wrap="square" lIns="0" tIns="0" rIns="0" bIns="0" rtlCol="0" anchor="ctr"/>
          <a:lstStyle/>
          <a:p>
            <a:pPr indent="0" marL="0">
              <a:buNone/>
            </a:pPr>
            <a:r>
              <a:rPr lang="en-US" sz="1050" b="1" spc="100" kern="0" dirty="0">
                <a:solidFill>
                  <a:srgbClr val="FFFFFF"/>
                </a:solidFill>
                <a:latin typeface="Calibri" pitchFamily="34" charset="0"/>
                <a:ea typeface="Calibri" pitchFamily="34" charset="-122"/>
                <a:cs typeface="Calibri" pitchFamily="34" charset="-120"/>
              </a:rPr>
              <a:t>RESPONSABLE INSCRIPTO</a:t>
            </a:r>
            <a:endParaRPr lang="en-US" sz="1050" dirty="0"/>
          </a:p>
        </p:txBody>
      </p:sp>
      <p:sp>
        <p:nvSpPr>
          <p:cNvPr id="11" name="Shape 9"/>
          <p:cNvSpPr/>
          <p:nvPr/>
        </p:nvSpPr>
        <p:spPr>
          <a:xfrm>
            <a:off x="457200" y="1536192"/>
            <a:ext cx="8229600" cy="420624"/>
          </a:xfrm>
          <a:prstGeom prst="roundRect">
            <a:avLst>
              <a:gd name="adj" fmla="val 17391"/>
            </a:avLst>
          </a:prstGeom>
          <a:solidFill>
            <a:srgbClr val="F7F8FA"/>
          </a:solidFill>
          <a:ln w="12700">
            <a:solidFill>
              <a:srgbClr val="F7F8FA"/>
            </a:solidFill>
            <a:prstDash val="solid"/>
          </a:ln>
        </p:spPr>
      </p:sp>
      <p:sp>
        <p:nvSpPr>
          <p:cNvPr id="12" name="Text 10"/>
          <p:cNvSpPr/>
          <p:nvPr/>
        </p:nvSpPr>
        <p:spPr>
          <a:xfrm>
            <a:off x="594360" y="1536192"/>
            <a:ext cx="2240280" cy="420624"/>
          </a:xfrm>
          <a:prstGeom prst="rect">
            <a:avLst/>
          </a:prstGeom>
          <a:noFill/>
          <a:ln/>
        </p:spPr>
        <p:txBody>
          <a:bodyPr wrap="square" lIns="0" tIns="0" rIns="0" bIns="0" rtlCol="0" anchor="ctr"/>
          <a:lstStyle/>
          <a:p>
            <a:pPr indent="0" marL="0">
              <a:buNone/>
            </a:pPr>
            <a:r>
              <a:rPr lang="en-US" sz="1150" b="1" dirty="0">
                <a:solidFill>
                  <a:srgbClr val="16283C"/>
                </a:solidFill>
                <a:latin typeface="Calibri" pitchFamily="34" charset="0"/>
                <a:ea typeface="Calibri" pitchFamily="34" charset="-122"/>
                <a:cs typeface="Calibri" pitchFamily="34" charset="-120"/>
              </a:rPr>
              <a:t>Facturación</a:t>
            </a:r>
            <a:endParaRPr lang="en-US" sz="1150" dirty="0"/>
          </a:p>
        </p:txBody>
      </p:sp>
      <p:sp>
        <p:nvSpPr>
          <p:cNvPr id="13" name="Text 11"/>
          <p:cNvSpPr/>
          <p:nvPr/>
        </p:nvSpPr>
        <p:spPr>
          <a:xfrm>
            <a:off x="2953512" y="1536192"/>
            <a:ext cx="2606040" cy="420624"/>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Tope de la categoría K</a:t>
            </a:r>
            <a:endParaRPr lang="en-US" sz="1100" dirty="0"/>
          </a:p>
        </p:txBody>
      </p:sp>
      <p:sp>
        <p:nvSpPr>
          <p:cNvPr id="14" name="Text 12"/>
          <p:cNvSpPr/>
          <p:nvPr/>
        </p:nvSpPr>
        <p:spPr>
          <a:xfrm>
            <a:off x="5925312" y="1536192"/>
            <a:ext cx="2651760" cy="420624"/>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Sin tope</a:t>
            </a:r>
            <a:endParaRPr lang="en-US" sz="1100" dirty="0"/>
          </a:p>
        </p:txBody>
      </p:sp>
      <p:sp>
        <p:nvSpPr>
          <p:cNvPr id="15" name="Text 13"/>
          <p:cNvSpPr/>
          <p:nvPr/>
        </p:nvSpPr>
        <p:spPr>
          <a:xfrm>
            <a:off x="594360" y="2011680"/>
            <a:ext cx="2240280" cy="420624"/>
          </a:xfrm>
          <a:prstGeom prst="rect">
            <a:avLst/>
          </a:prstGeom>
          <a:noFill/>
          <a:ln/>
        </p:spPr>
        <p:txBody>
          <a:bodyPr wrap="square" lIns="0" tIns="0" rIns="0" bIns="0" rtlCol="0" anchor="ctr"/>
          <a:lstStyle/>
          <a:p>
            <a:pPr indent="0" marL="0">
              <a:buNone/>
            </a:pPr>
            <a:r>
              <a:rPr lang="en-US" sz="1150" b="1" dirty="0">
                <a:solidFill>
                  <a:srgbClr val="16283C"/>
                </a:solidFill>
                <a:latin typeface="Calibri" pitchFamily="34" charset="0"/>
                <a:ea typeface="Calibri" pitchFamily="34" charset="-122"/>
                <a:cs typeface="Calibri" pitchFamily="34" charset="-120"/>
              </a:rPr>
              <a:t>IVA</a:t>
            </a:r>
            <a:endParaRPr lang="en-US" sz="1150" dirty="0"/>
          </a:p>
        </p:txBody>
      </p:sp>
      <p:sp>
        <p:nvSpPr>
          <p:cNvPr id="16" name="Text 14"/>
          <p:cNvSpPr/>
          <p:nvPr/>
        </p:nvSpPr>
        <p:spPr>
          <a:xfrm>
            <a:off x="2953512" y="2011680"/>
            <a:ext cx="2606040" cy="420624"/>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No lo discrimina (va incluido)</a:t>
            </a:r>
            <a:endParaRPr lang="en-US" sz="1100" dirty="0"/>
          </a:p>
        </p:txBody>
      </p:sp>
      <p:sp>
        <p:nvSpPr>
          <p:cNvPr id="17" name="Text 15"/>
          <p:cNvSpPr/>
          <p:nvPr/>
        </p:nvSpPr>
        <p:spPr>
          <a:xfrm>
            <a:off x="5925312" y="2011680"/>
            <a:ext cx="2651760" cy="420624"/>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Discrimina 21% / 10,5% / 27%</a:t>
            </a:r>
            <a:endParaRPr lang="en-US" sz="1100" dirty="0"/>
          </a:p>
        </p:txBody>
      </p:sp>
      <p:sp>
        <p:nvSpPr>
          <p:cNvPr id="18" name="Shape 16"/>
          <p:cNvSpPr/>
          <p:nvPr/>
        </p:nvSpPr>
        <p:spPr>
          <a:xfrm>
            <a:off x="457200" y="2487168"/>
            <a:ext cx="8229600" cy="420624"/>
          </a:xfrm>
          <a:prstGeom prst="roundRect">
            <a:avLst>
              <a:gd name="adj" fmla="val 17391"/>
            </a:avLst>
          </a:prstGeom>
          <a:solidFill>
            <a:srgbClr val="F7F8FA"/>
          </a:solidFill>
          <a:ln w="12700">
            <a:solidFill>
              <a:srgbClr val="F7F8FA"/>
            </a:solidFill>
            <a:prstDash val="solid"/>
          </a:ln>
        </p:spPr>
      </p:sp>
      <p:sp>
        <p:nvSpPr>
          <p:cNvPr id="19" name="Text 17"/>
          <p:cNvSpPr/>
          <p:nvPr/>
        </p:nvSpPr>
        <p:spPr>
          <a:xfrm>
            <a:off x="594360" y="2487168"/>
            <a:ext cx="2240280" cy="420624"/>
          </a:xfrm>
          <a:prstGeom prst="rect">
            <a:avLst/>
          </a:prstGeom>
          <a:noFill/>
          <a:ln/>
        </p:spPr>
        <p:txBody>
          <a:bodyPr wrap="square" lIns="0" tIns="0" rIns="0" bIns="0" rtlCol="0" anchor="ctr"/>
          <a:lstStyle/>
          <a:p>
            <a:pPr indent="0" marL="0">
              <a:buNone/>
            </a:pPr>
            <a:r>
              <a:rPr lang="en-US" sz="1150" b="1" dirty="0">
                <a:solidFill>
                  <a:srgbClr val="16283C"/>
                </a:solidFill>
                <a:latin typeface="Calibri" pitchFamily="34" charset="0"/>
                <a:ea typeface="Calibri" pitchFamily="34" charset="-122"/>
                <a:cs typeface="Calibri" pitchFamily="34" charset="-120"/>
              </a:rPr>
              <a:t>Ganancias</a:t>
            </a:r>
            <a:endParaRPr lang="en-US" sz="1150" dirty="0"/>
          </a:p>
        </p:txBody>
      </p:sp>
      <p:sp>
        <p:nvSpPr>
          <p:cNvPr id="20" name="Text 18"/>
          <p:cNvSpPr/>
          <p:nvPr/>
        </p:nvSpPr>
        <p:spPr>
          <a:xfrm>
            <a:off x="2953512" y="2487168"/>
            <a:ext cx="2606040" cy="420624"/>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Incluido en la cuota fija</a:t>
            </a:r>
            <a:endParaRPr lang="en-US" sz="1100" dirty="0"/>
          </a:p>
        </p:txBody>
      </p:sp>
      <p:sp>
        <p:nvSpPr>
          <p:cNvPr id="21" name="Text 19"/>
          <p:cNvSpPr/>
          <p:nvPr/>
        </p:nvSpPr>
        <p:spPr>
          <a:xfrm>
            <a:off x="5925312" y="2487168"/>
            <a:ext cx="2651760" cy="420624"/>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DDJJ anual + anticipos</a:t>
            </a:r>
            <a:endParaRPr lang="en-US" sz="1100" dirty="0"/>
          </a:p>
        </p:txBody>
      </p:sp>
      <p:sp>
        <p:nvSpPr>
          <p:cNvPr id="22" name="Text 20"/>
          <p:cNvSpPr/>
          <p:nvPr/>
        </p:nvSpPr>
        <p:spPr>
          <a:xfrm>
            <a:off x="594360" y="2962656"/>
            <a:ext cx="2240280" cy="420624"/>
          </a:xfrm>
          <a:prstGeom prst="rect">
            <a:avLst/>
          </a:prstGeom>
          <a:noFill/>
          <a:ln/>
        </p:spPr>
        <p:txBody>
          <a:bodyPr wrap="square" lIns="0" tIns="0" rIns="0" bIns="0" rtlCol="0" anchor="ctr"/>
          <a:lstStyle/>
          <a:p>
            <a:pPr indent="0" marL="0">
              <a:buNone/>
            </a:pPr>
            <a:r>
              <a:rPr lang="en-US" sz="1150" b="1" dirty="0">
                <a:solidFill>
                  <a:srgbClr val="16283C"/>
                </a:solidFill>
                <a:latin typeface="Calibri" pitchFamily="34" charset="0"/>
                <a:ea typeface="Calibri" pitchFamily="34" charset="-122"/>
                <a:cs typeface="Calibri" pitchFamily="34" charset="-120"/>
              </a:rPr>
              <a:t>Aportes jubilatorios</a:t>
            </a:r>
            <a:endParaRPr lang="en-US" sz="1150" dirty="0"/>
          </a:p>
        </p:txBody>
      </p:sp>
      <p:sp>
        <p:nvSpPr>
          <p:cNvPr id="23" name="Text 21"/>
          <p:cNvSpPr/>
          <p:nvPr/>
        </p:nvSpPr>
        <p:spPr>
          <a:xfrm>
            <a:off x="2953512" y="2962656"/>
            <a:ext cx="2606040" cy="420624"/>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Incluidos en la cuota</a:t>
            </a:r>
            <a:endParaRPr lang="en-US" sz="1100" dirty="0"/>
          </a:p>
        </p:txBody>
      </p:sp>
      <p:sp>
        <p:nvSpPr>
          <p:cNvPr id="24" name="Text 22"/>
          <p:cNvSpPr/>
          <p:nvPr/>
        </p:nvSpPr>
        <p:spPr>
          <a:xfrm>
            <a:off x="5925312" y="2962656"/>
            <a:ext cx="2651760" cy="420624"/>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Régimen de Autónomos, aparte</a:t>
            </a:r>
            <a:endParaRPr lang="en-US" sz="1100" dirty="0"/>
          </a:p>
        </p:txBody>
      </p:sp>
      <p:sp>
        <p:nvSpPr>
          <p:cNvPr id="25" name="Shape 23"/>
          <p:cNvSpPr/>
          <p:nvPr/>
        </p:nvSpPr>
        <p:spPr>
          <a:xfrm>
            <a:off x="457200" y="3438144"/>
            <a:ext cx="8229600" cy="420624"/>
          </a:xfrm>
          <a:prstGeom prst="roundRect">
            <a:avLst>
              <a:gd name="adj" fmla="val 17391"/>
            </a:avLst>
          </a:prstGeom>
          <a:solidFill>
            <a:srgbClr val="F7F8FA"/>
          </a:solidFill>
          <a:ln w="12700">
            <a:solidFill>
              <a:srgbClr val="F7F8FA"/>
            </a:solidFill>
            <a:prstDash val="solid"/>
          </a:ln>
        </p:spPr>
      </p:sp>
      <p:sp>
        <p:nvSpPr>
          <p:cNvPr id="26" name="Text 24"/>
          <p:cNvSpPr/>
          <p:nvPr/>
        </p:nvSpPr>
        <p:spPr>
          <a:xfrm>
            <a:off x="594360" y="3438144"/>
            <a:ext cx="2240280" cy="420624"/>
          </a:xfrm>
          <a:prstGeom prst="rect">
            <a:avLst/>
          </a:prstGeom>
          <a:noFill/>
          <a:ln/>
        </p:spPr>
        <p:txBody>
          <a:bodyPr wrap="square" lIns="0" tIns="0" rIns="0" bIns="0" rtlCol="0" anchor="ctr"/>
          <a:lstStyle/>
          <a:p>
            <a:pPr indent="0" marL="0">
              <a:buNone/>
            </a:pPr>
            <a:r>
              <a:rPr lang="en-US" sz="1150" b="1" dirty="0">
                <a:solidFill>
                  <a:srgbClr val="16283C"/>
                </a:solidFill>
                <a:latin typeface="Calibri" pitchFamily="34" charset="0"/>
                <a:ea typeface="Calibri" pitchFamily="34" charset="-122"/>
                <a:cs typeface="Calibri" pitchFamily="34" charset="-120"/>
              </a:rPr>
              <a:t>Tipo de factura</a:t>
            </a:r>
            <a:endParaRPr lang="en-US" sz="1150" dirty="0"/>
          </a:p>
        </p:txBody>
      </p:sp>
      <p:sp>
        <p:nvSpPr>
          <p:cNvPr id="27" name="Text 25"/>
          <p:cNvSpPr/>
          <p:nvPr/>
        </p:nvSpPr>
        <p:spPr>
          <a:xfrm>
            <a:off x="2953512" y="3438144"/>
            <a:ext cx="2606040" cy="420624"/>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C</a:t>
            </a:r>
            <a:endParaRPr lang="en-US" sz="1100" dirty="0"/>
          </a:p>
        </p:txBody>
      </p:sp>
      <p:sp>
        <p:nvSpPr>
          <p:cNvPr id="28" name="Text 26"/>
          <p:cNvSpPr/>
          <p:nvPr/>
        </p:nvSpPr>
        <p:spPr>
          <a:xfrm>
            <a:off x="5925312" y="3438144"/>
            <a:ext cx="2651760" cy="420624"/>
          </a:xfrm>
          <a:prstGeom prst="rect">
            <a:avLst/>
          </a:prstGeom>
          <a:noFill/>
          <a:ln/>
        </p:spPr>
        <p:txBody>
          <a:bodyPr wrap="square" lIns="0" tIns="0" rIns="0" bIns="0" rtlCol="0" anchor="ctr"/>
          <a:lstStyle/>
          <a:p>
            <a:pPr indent="0" marL="0">
              <a:buNone/>
            </a:pPr>
            <a:r>
              <a:rPr lang="en-US" sz="1100" dirty="0">
                <a:solidFill>
                  <a:srgbClr val="5B6B7C"/>
                </a:solidFill>
                <a:latin typeface="Calibri" pitchFamily="34" charset="0"/>
                <a:ea typeface="Calibri" pitchFamily="34" charset="-122"/>
                <a:cs typeface="Calibri" pitchFamily="34" charset="-120"/>
              </a:rPr>
              <a:t>A o B</a:t>
            </a:r>
            <a:endParaRPr lang="en-US" sz="1100" dirty="0"/>
          </a:p>
        </p:txBody>
      </p:sp>
      <p:sp>
        <p:nvSpPr>
          <p:cNvPr id="29" name="Shape 27"/>
          <p:cNvSpPr/>
          <p:nvPr/>
        </p:nvSpPr>
        <p:spPr>
          <a:xfrm>
            <a:off x="457200" y="4023360"/>
            <a:ext cx="8229600" cy="640080"/>
          </a:xfrm>
          <a:prstGeom prst="roundRect">
            <a:avLst>
              <a:gd name="adj" fmla="val 11429"/>
            </a:avLst>
          </a:prstGeom>
          <a:solidFill>
            <a:srgbClr val="F6EEDD"/>
          </a:solidFill>
          <a:ln w="12700">
            <a:solidFill>
              <a:srgbClr val="F6EEDD"/>
            </a:solidFill>
            <a:prstDash val="solid"/>
          </a:ln>
        </p:spPr>
      </p:sp>
      <p:sp>
        <p:nvSpPr>
          <p:cNvPr id="30" name="Text 28"/>
          <p:cNvSpPr/>
          <p:nvPr/>
        </p:nvSpPr>
        <p:spPr>
          <a:xfrm>
            <a:off x="658368" y="4069080"/>
            <a:ext cx="4572000" cy="201168"/>
          </a:xfrm>
          <a:prstGeom prst="rect">
            <a:avLst/>
          </a:prstGeom>
          <a:noFill/>
          <a:ln/>
        </p:spPr>
        <p:txBody>
          <a:bodyPr wrap="square" lIns="0" tIns="0" rIns="0" bIns="0" rtlCol="0" anchor="ctr"/>
          <a:lstStyle/>
          <a:p>
            <a:pPr indent="0" marL="0">
              <a:buNone/>
            </a:pPr>
            <a:r>
              <a:rPr lang="en-US" sz="900" b="1" spc="100" kern="0" dirty="0">
                <a:solidFill>
                  <a:srgbClr val="B8862B"/>
                </a:solidFill>
                <a:latin typeface="Calibri" pitchFamily="34" charset="0"/>
                <a:ea typeface="Calibri" pitchFamily="34" charset="-122"/>
                <a:cs typeface="Calibri" pitchFamily="34" charset="-120"/>
              </a:rPr>
              <a:t>OJO CON LAS FECHAS</a:t>
            </a:r>
            <a:endParaRPr lang="en-US" sz="900" dirty="0"/>
          </a:p>
        </p:txBody>
      </p:sp>
      <p:sp>
        <p:nvSpPr>
          <p:cNvPr id="31" name="Text 29"/>
          <p:cNvSpPr/>
          <p:nvPr/>
        </p:nvSpPr>
        <p:spPr>
          <a:xfrm>
            <a:off x="658368" y="4270248"/>
            <a:ext cx="7863840" cy="329184"/>
          </a:xfrm>
          <a:prstGeom prst="rect">
            <a:avLst/>
          </a:prstGeom>
          <a:noFill/>
          <a:ln/>
        </p:spPr>
        <p:txBody>
          <a:bodyPr wrap="square" lIns="0" tIns="0" rIns="0" bIns="0" rtlCol="0" anchor="ctr"/>
          <a:lstStyle/>
          <a:p>
            <a:pPr indent="0" marL="0">
              <a:lnSpc>
                <a:spcPts val="1400"/>
              </a:lnSpc>
              <a:buNone/>
            </a:pPr>
            <a:r>
              <a:rPr lang="en-US" sz="1100" dirty="0">
                <a:solidFill>
                  <a:srgbClr val="16283C"/>
                </a:solidFill>
                <a:latin typeface="Calibri" pitchFamily="34" charset="0"/>
                <a:ea typeface="Calibri" pitchFamily="34" charset="-122"/>
                <a:cs typeface="Calibri" pitchFamily="34" charset="-120"/>
              </a:rPr>
              <a:t>La recategorización del Monotributo es obligatoria en febrero y en agosto, aunque no cambie la categoría. Si no, ARCA recategoriza de oficio.</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roundRect">
            <a:avLst>
              <a:gd name="adj" fmla="val 96154"/>
            </a:avLst>
          </a:prstGeom>
          <a:solidFill>
            <a:srgbClr val="B8862B"/>
          </a:solidFill>
          <a:ln w="12700">
            <a:solidFill>
              <a:srgbClr val="B8862B"/>
            </a:solidFill>
            <a:prstDash val="solid"/>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4" name="Text 2"/>
          <p:cNvSpPr/>
          <p:nvPr/>
        </p:nvSpPr>
        <p:spPr>
          <a:xfrm>
            <a:off x="1078992" y="274320"/>
            <a:ext cx="7589520" cy="384048"/>
          </a:xfrm>
          <a:prstGeom prst="rect">
            <a:avLst/>
          </a:prstGeom>
          <a:noFill/>
          <a:ln/>
        </p:spPr>
        <p:txBody>
          <a:bodyPr wrap="square" lIns="0" tIns="0" rIns="0" bIns="0" rtlCol="0" anchor="ctr"/>
          <a:lstStyle/>
          <a:p>
            <a:pPr algn="l" indent="0" marL="0">
              <a:buNone/>
            </a:pPr>
            <a:r>
              <a:rPr lang="en-US" sz="2500" b="1" dirty="0">
                <a:solidFill>
                  <a:srgbClr val="16283C"/>
                </a:solidFill>
                <a:latin typeface="Cambria" pitchFamily="34" charset="0"/>
                <a:ea typeface="Cambria" pitchFamily="34" charset="-122"/>
                <a:cs typeface="Cambria" pitchFamily="34" charset="-120"/>
              </a:rPr>
              <a:t>Qué factura corresponde</a:t>
            </a:r>
            <a:endParaRPr lang="en-US" sz="2500" dirty="0"/>
          </a:p>
        </p:txBody>
      </p:sp>
      <p:sp>
        <p:nvSpPr>
          <p:cNvPr id="5" name="Text 3"/>
          <p:cNvSpPr/>
          <p:nvPr/>
        </p:nvSpPr>
        <p:spPr>
          <a:xfrm>
            <a:off x="1078992" y="676656"/>
            <a:ext cx="7589520" cy="256032"/>
          </a:xfrm>
          <a:prstGeom prst="rect">
            <a:avLst/>
          </a:prstGeom>
          <a:noFill/>
          <a:ln/>
        </p:spPr>
        <p:txBody>
          <a:bodyPr wrap="square" lIns="0" tIns="0" rIns="0" bIns="0" rtlCol="0" anchor="ctr"/>
          <a:lstStyle/>
          <a:p>
            <a:pPr algn="l" indent="0" marL="0">
              <a:buNone/>
            </a:pPr>
            <a:r>
              <a:rPr lang="en-US" sz="1150" dirty="0">
                <a:solidFill>
                  <a:srgbClr val="5B6B7C"/>
                </a:solidFill>
                <a:latin typeface="Calibri" pitchFamily="34" charset="0"/>
                <a:ea typeface="Calibri" pitchFamily="34" charset="-122"/>
                <a:cs typeface="Calibri" pitchFamily="34" charset="-120"/>
              </a:rPr>
              <a:t>El tipo depende de la condición fiscal del emisor y del receptor</a:t>
            </a:r>
            <a:endParaRPr lang="en-US" sz="1150" dirty="0"/>
          </a:p>
        </p:txBody>
      </p:sp>
      <p:sp>
        <p:nvSpPr>
          <p:cNvPr id="6" name="Shape 4"/>
          <p:cNvSpPr/>
          <p:nvPr/>
        </p:nvSpPr>
        <p:spPr>
          <a:xfrm>
            <a:off x="457200" y="1097280"/>
            <a:ext cx="1499616" cy="2651760"/>
          </a:xfrm>
          <a:prstGeom prst="roundRect">
            <a:avLst>
              <a:gd name="adj" fmla="val 4878"/>
            </a:avLst>
          </a:prstGeom>
          <a:solidFill>
            <a:srgbClr val="F1F3F6"/>
          </a:solidFill>
          <a:ln w="12700">
            <a:solidFill>
              <a:srgbClr val="F1F3F6"/>
            </a:solidFill>
            <a:prstDash val="solid"/>
          </a:ln>
        </p:spPr>
      </p:sp>
      <p:sp>
        <p:nvSpPr>
          <p:cNvPr id="7" name="Shape 5"/>
          <p:cNvSpPr/>
          <p:nvPr/>
        </p:nvSpPr>
        <p:spPr>
          <a:xfrm>
            <a:off x="932688" y="1298448"/>
            <a:ext cx="548640" cy="548640"/>
          </a:xfrm>
          <a:prstGeom prst="roundRect">
            <a:avLst>
              <a:gd name="adj" fmla="val 20000"/>
            </a:avLst>
          </a:prstGeom>
          <a:solidFill>
            <a:srgbClr val="B8862B"/>
          </a:solidFill>
          <a:ln w="12700">
            <a:solidFill>
              <a:srgbClr val="B8862B"/>
            </a:solidFill>
            <a:prstDash val="solid"/>
          </a:ln>
        </p:spPr>
      </p:sp>
      <p:sp>
        <p:nvSpPr>
          <p:cNvPr id="8" name="Text 6"/>
          <p:cNvSpPr/>
          <p:nvPr/>
        </p:nvSpPr>
        <p:spPr>
          <a:xfrm>
            <a:off x="932688" y="1298448"/>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A</a:t>
            </a:r>
            <a:endParaRPr lang="en-US" sz="2400" dirty="0"/>
          </a:p>
        </p:txBody>
      </p:sp>
      <p:sp>
        <p:nvSpPr>
          <p:cNvPr id="9" name="Text 7"/>
          <p:cNvSpPr/>
          <p:nvPr/>
        </p:nvSpPr>
        <p:spPr>
          <a:xfrm>
            <a:off x="603504" y="1975104"/>
            <a:ext cx="1207008" cy="182880"/>
          </a:xfrm>
          <a:prstGeom prst="rect">
            <a:avLst/>
          </a:prstGeom>
          <a:noFill/>
          <a:ln/>
        </p:spPr>
        <p:txBody>
          <a:bodyPr wrap="square" lIns="0" tIns="0" rIns="0" bIns="0" rtlCol="0" anchor="ctr"/>
          <a:lstStyle/>
          <a:p>
            <a:pPr algn="ctr" indent="0" marL="0">
              <a:buNone/>
            </a:pPr>
            <a:r>
              <a:rPr lang="en-US" sz="800" b="1" spc="80" kern="0" dirty="0">
                <a:solidFill>
                  <a:srgbClr val="B8862B"/>
                </a:solidFill>
                <a:latin typeface="Calibri" pitchFamily="34" charset="0"/>
                <a:ea typeface="Calibri" pitchFamily="34" charset="-122"/>
                <a:cs typeface="Calibri" pitchFamily="34" charset="-120"/>
              </a:rPr>
              <a:t>EMITE</a:t>
            </a:r>
            <a:endParaRPr lang="en-US" sz="800" dirty="0"/>
          </a:p>
        </p:txBody>
      </p:sp>
      <p:sp>
        <p:nvSpPr>
          <p:cNvPr id="10" name="Text 8"/>
          <p:cNvSpPr/>
          <p:nvPr/>
        </p:nvSpPr>
        <p:spPr>
          <a:xfrm>
            <a:off x="566928" y="2157984"/>
            <a:ext cx="1280160" cy="402336"/>
          </a:xfrm>
          <a:prstGeom prst="rect">
            <a:avLst/>
          </a:prstGeom>
          <a:noFill/>
          <a:ln/>
        </p:spPr>
        <p:txBody>
          <a:bodyPr wrap="square" lIns="0" tIns="0" rIns="0" bIns="0" rtlCol="0" anchor="ctr"/>
          <a:lstStyle/>
          <a:p>
            <a:pPr algn="ctr" indent="0" marL="0">
              <a:buNone/>
            </a:pPr>
            <a:r>
              <a:rPr lang="en-US" sz="1000" dirty="0">
                <a:solidFill>
                  <a:srgbClr val="16283C"/>
                </a:solidFill>
                <a:latin typeface="Calibri" pitchFamily="34" charset="0"/>
                <a:ea typeface="Calibri" pitchFamily="34" charset="-122"/>
                <a:cs typeface="Calibri" pitchFamily="34" charset="-120"/>
              </a:rPr>
              <a:t>Resp. Inscripto</a:t>
            </a:r>
            <a:endParaRPr lang="en-US" sz="1000" dirty="0"/>
          </a:p>
        </p:txBody>
      </p:sp>
      <p:sp>
        <p:nvSpPr>
          <p:cNvPr id="11" name="Text 9"/>
          <p:cNvSpPr/>
          <p:nvPr/>
        </p:nvSpPr>
        <p:spPr>
          <a:xfrm>
            <a:off x="603504" y="2578608"/>
            <a:ext cx="1207008" cy="182880"/>
          </a:xfrm>
          <a:prstGeom prst="rect">
            <a:avLst/>
          </a:prstGeom>
          <a:noFill/>
          <a:ln/>
        </p:spPr>
        <p:txBody>
          <a:bodyPr wrap="square" lIns="0" tIns="0" rIns="0" bIns="0" rtlCol="0" anchor="ctr"/>
          <a:lstStyle/>
          <a:p>
            <a:pPr algn="ctr" indent="0" marL="0">
              <a:buNone/>
            </a:pPr>
            <a:r>
              <a:rPr lang="en-US" sz="800" b="1" spc="80" kern="0" dirty="0">
                <a:solidFill>
                  <a:srgbClr val="B8862B"/>
                </a:solidFill>
                <a:latin typeface="Calibri" pitchFamily="34" charset="0"/>
                <a:ea typeface="Calibri" pitchFamily="34" charset="-122"/>
                <a:cs typeface="Calibri" pitchFamily="34" charset="-120"/>
              </a:rPr>
              <a:t>RECIBE</a:t>
            </a:r>
            <a:endParaRPr lang="en-US" sz="800" dirty="0"/>
          </a:p>
        </p:txBody>
      </p:sp>
      <p:sp>
        <p:nvSpPr>
          <p:cNvPr id="12" name="Text 10"/>
          <p:cNvSpPr/>
          <p:nvPr/>
        </p:nvSpPr>
        <p:spPr>
          <a:xfrm>
            <a:off x="566928" y="2761488"/>
            <a:ext cx="1280160" cy="457200"/>
          </a:xfrm>
          <a:prstGeom prst="rect">
            <a:avLst/>
          </a:prstGeom>
          <a:noFill/>
          <a:ln/>
        </p:spPr>
        <p:txBody>
          <a:bodyPr wrap="square" lIns="0" tIns="0" rIns="0" bIns="0" rtlCol="0" anchor="ctr"/>
          <a:lstStyle/>
          <a:p>
            <a:pPr algn="ctr" indent="0" marL="0">
              <a:buNone/>
            </a:pPr>
            <a:r>
              <a:rPr lang="en-US" sz="1000" dirty="0">
                <a:solidFill>
                  <a:srgbClr val="16283C"/>
                </a:solidFill>
                <a:latin typeface="Calibri" pitchFamily="34" charset="0"/>
                <a:ea typeface="Calibri" pitchFamily="34" charset="-122"/>
                <a:cs typeface="Calibri" pitchFamily="34" charset="-120"/>
              </a:rPr>
              <a:t>Resp. Inscripto</a:t>
            </a:r>
            <a:endParaRPr lang="en-US" sz="1000" dirty="0"/>
          </a:p>
        </p:txBody>
      </p:sp>
      <p:sp>
        <p:nvSpPr>
          <p:cNvPr id="13" name="Text 11"/>
          <p:cNvSpPr/>
          <p:nvPr/>
        </p:nvSpPr>
        <p:spPr>
          <a:xfrm>
            <a:off x="566928" y="3273552"/>
            <a:ext cx="1280160" cy="384048"/>
          </a:xfrm>
          <a:prstGeom prst="rect">
            <a:avLst/>
          </a:prstGeom>
          <a:noFill/>
          <a:ln/>
        </p:spPr>
        <p:txBody>
          <a:bodyPr wrap="square" lIns="0" tIns="0" rIns="0" bIns="0" rtlCol="0" anchor="ctr"/>
          <a:lstStyle/>
          <a:p>
            <a:pPr algn="ctr" indent="0" marL="0">
              <a:buNone/>
            </a:pPr>
            <a:r>
              <a:rPr lang="en-US" sz="950" i="1" dirty="0">
                <a:solidFill>
                  <a:srgbClr val="5B6B7C"/>
                </a:solidFill>
                <a:latin typeface="Calibri" pitchFamily="34" charset="0"/>
                <a:ea typeface="Calibri" pitchFamily="34" charset="-122"/>
                <a:cs typeface="Calibri" pitchFamily="34" charset="-120"/>
              </a:rPr>
              <a:t>IVA discriminado</a:t>
            </a:r>
            <a:endParaRPr lang="en-US" sz="950" dirty="0"/>
          </a:p>
        </p:txBody>
      </p:sp>
      <p:sp>
        <p:nvSpPr>
          <p:cNvPr id="14" name="Shape 12"/>
          <p:cNvSpPr/>
          <p:nvPr/>
        </p:nvSpPr>
        <p:spPr>
          <a:xfrm>
            <a:off x="2139696" y="1097280"/>
            <a:ext cx="1499616" cy="2651760"/>
          </a:xfrm>
          <a:prstGeom prst="roundRect">
            <a:avLst>
              <a:gd name="adj" fmla="val 4878"/>
            </a:avLst>
          </a:prstGeom>
          <a:solidFill>
            <a:srgbClr val="F1F3F6"/>
          </a:solidFill>
          <a:ln w="12700">
            <a:solidFill>
              <a:srgbClr val="F1F3F6"/>
            </a:solidFill>
            <a:prstDash val="solid"/>
          </a:ln>
        </p:spPr>
      </p:sp>
      <p:sp>
        <p:nvSpPr>
          <p:cNvPr id="15" name="Shape 13"/>
          <p:cNvSpPr/>
          <p:nvPr/>
        </p:nvSpPr>
        <p:spPr>
          <a:xfrm>
            <a:off x="2615184" y="1298448"/>
            <a:ext cx="548640" cy="548640"/>
          </a:xfrm>
          <a:prstGeom prst="roundRect">
            <a:avLst>
              <a:gd name="adj" fmla="val 20000"/>
            </a:avLst>
          </a:prstGeom>
          <a:solidFill>
            <a:srgbClr val="16283C"/>
          </a:solidFill>
          <a:ln w="12700">
            <a:solidFill>
              <a:srgbClr val="16283C"/>
            </a:solidFill>
            <a:prstDash val="solid"/>
          </a:ln>
        </p:spPr>
      </p:sp>
      <p:sp>
        <p:nvSpPr>
          <p:cNvPr id="16" name="Text 14"/>
          <p:cNvSpPr/>
          <p:nvPr/>
        </p:nvSpPr>
        <p:spPr>
          <a:xfrm>
            <a:off x="2615184" y="1298448"/>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B</a:t>
            </a:r>
            <a:endParaRPr lang="en-US" sz="2400" dirty="0"/>
          </a:p>
        </p:txBody>
      </p:sp>
      <p:sp>
        <p:nvSpPr>
          <p:cNvPr id="17" name="Text 15"/>
          <p:cNvSpPr/>
          <p:nvPr/>
        </p:nvSpPr>
        <p:spPr>
          <a:xfrm>
            <a:off x="2286000" y="1975104"/>
            <a:ext cx="1207008" cy="182880"/>
          </a:xfrm>
          <a:prstGeom prst="rect">
            <a:avLst/>
          </a:prstGeom>
          <a:noFill/>
          <a:ln/>
        </p:spPr>
        <p:txBody>
          <a:bodyPr wrap="square" lIns="0" tIns="0" rIns="0" bIns="0" rtlCol="0" anchor="ctr"/>
          <a:lstStyle/>
          <a:p>
            <a:pPr algn="ctr" indent="0" marL="0">
              <a:buNone/>
            </a:pPr>
            <a:r>
              <a:rPr lang="en-US" sz="800" b="1" spc="80" kern="0" dirty="0">
                <a:solidFill>
                  <a:srgbClr val="B8862B"/>
                </a:solidFill>
                <a:latin typeface="Calibri" pitchFamily="34" charset="0"/>
                <a:ea typeface="Calibri" pitchFamily="34" charset="-122"/>
                <a:cs typeface="Calibri" pitchFamily="34" charset="-120"/>
              </a:rPr>
              <a:t>EMITE</a:t>
            </a:r>
            <a:endParaRPr lang="en-US" sz="800" dirty="0"/>
          </a:p>
        </p:txBody>
      </p:sp>
      <p:sp>
        <p:nvSpPr>
          <p:cNvPr id="18" name="Text 16"/>
          <p:cNvSpPr/>
          <p:nvPr/>
        </p:nvSpPr>
        <p:spPr>
          <a:xfrm>
            <a:off x="2249424" y="2157984"/>
            <a:ext cx="1280160" cy="402336"/>
          </a:xfrm>
          <a:prstGeom prst="rect">
            <a:avLst/>
          </a:prstGeom>
          <a:noFill/>
          <a:ln/>
        </p:spPr>
        <p:txBody>
          <a:bodyPr wrap="square" lIns="0" tIns="0" rIns="0" bIns="0" rtlCol="0" anchor="ctr"/>
          <a:lstStyle/>
          <a:p>
            <a:pPr algn="ctr" indent="0" marL="0">
              <a:buNone/>
            </a:pPr>
            <a:r>
              <a:rPr lang="en-US" sz="1000" dirty="0">
                <a:solidFill>
                  <a:srgbClr val="16283C"/>
                </a:solidFill>
                <a:latin typeface="Calibri" pitchFamily="34" charset="0"/>
                <a:ea typeface="Calibri" pitchFamily="34" charset="-122"/>
                <a:cs typeface="Calibri" pitchFamily="34" charset="-120"/>
              </a:rPr>
              <a:t>Resp. Inscripto</a:t>
            </a:r>
            <a:endParaRPr lang="en-US" sz="1000" dirty="0"/>
          </a:p>
        </p:txBody>
      </p:sp>
      <p:sp>
        <p:nvSpPr>
          <p:cNvPr id="19" name="Text 17"/>
          <p:cNvSpPr/>
          <p:nvPr/>
        </p:nvSpPr>
        <p:spPr>
          <a:xfrm>
            <a:off x="2286000" y="2578608"/>
            <a:ext cx="1207008" cy="182880"/>
          </a:xfrm>
          <a:prstGeom prst="rect">
            <a:avLst/>
          </a:prstGeom>
          <a:noFill/>
          <a:ln/>
        </p:spPr>
        <p:txBody>
          <a:bodyPr wrap="square" lIns="0" tIns="0" rIns="0" bIns="0" rtlCol="0" anchor="ctr"/>
          <a:lstStyle/>
          <a:p>
            <a:pPr algn="ctr" indent="0" marL="0">
              <a:buNone/>
            </a:pPr>
            <a:r>
              <a:rPr lang="en-US" sz="800" b="1" spc="80" kern="0" dirty="0">
                <a:solidFill>
                  <a:srgbClr val="B8862B"/>
                </a:solidFill>
                <a:latin typeface="Calibri" pitchFamily="34" charset="0"/>
                <a:ea typeface="Calibri" pitchFamily="34" charset="-122"/>
                <a:cs typeface="Calibri" pitchFamily="34" charset="-120"/>
              </a:rPr>
              <a:t>RECIBE</a:t>
            </a:r>
            <a:endParaRPr lang="en-US" sz="800" dirty="0"/>
          </a:p>
        </p:txBody>
      </p:sp>
      <p:sp>
        <p:nvSpPr>
          <p:cNvPr id="20" name="Text 18"/>
          <p:cNvSpPr/>
          <p:nvPr/>
        </p:nvSpPr>
        <p:spPr>
          <a:xfrm>
            <a:off x="2249424" y="2761488"/>
            <a:ext cx="1280160" cy="457200"/>
          </a:xfrm>
          <a:prstGeom prst="rect">
            <a:avLst/>
          </a:prstGeom>
          <a:noFill/>
          <a:ln/>
        </p:spPr>
        <p:txBody>
          <a:bodyPr wrap="square" lIns="0" tIns="0" rIns="0" bIns="0" rtlCol="0" anchor="ctr"/>
          <a:lstStyle/>
          <a:p>
            <a:pPr algn="ctr" indent="0" marL="0">
              <a:buNone/>
            </a:pPr>
            <a:r>
              <a:rPr lang="en-US" sz="1000" dirty="0">
                <a:solidFill>
                  <a:srgbClr val="16283C"/>
                </a:solidFill>
                <a:latin typeface="Calibri" pitchFamily="34" charset="0"/>
                <a:ea typeface="Calibri" pitchFamily="34" charset="-122"/>
                <a:cs typeface="Calibri" pitchFamily="34" charset="-120"/>
              </a:rPr>
              <a:t>Cons. final o Monotributista</a:t>
            </a:r>
            <a:endParaRPr lang="en-US" sz="1000" dirty="0"/>
          </a:p>
        </p:txBody>
      </p:sp>
      <p:sp>
        <p:nvSpPr>
          <p:cNvPr id="21" name="Text 19"/>
          <p:cNvSpPr/>
          <p:nvPr/>
        </p:nvSpPr>
        <p:spPr>
          <a:xfrm>
            <a:off x="2249424" y="3273552"/>
            <a:ext cx="1280160" cy="384048"/>
          </a:xfrm>
          <a:prstGeom prst="rect">
            <a:avLst/>
          </a:prstGeom>
          <a:noFill/>
          <a:ln/>
        </p:spPr>
        <p:txBody>
          <a:bodyPr wrap="square" lIns="0" tIns="0" rIns="0" bIns="0" rtlCol="0" anchor="ctr"/>
          <a:lstStyle/>
          <a:p>
            <a:pPr algn="ctr" indent="0" marL="0">
              <a:buNone/>
            </a:pPr>
            <a:r>
              <a:rPr lang="en-US" sz="950" i="1" dirty="0">
                <a:solidFill>
                  <a:srgbClr val="5B6B7C"/>
                </a:solidFill>
                <a:latin typeface="Calibri" pitchFamily="34" charset="0"/>
                <a:ea typeface="Calibri" pitchFamily="34" charset="-122"/>
                <a:cs typeface="Calibri" pitchFamily="34" charset="-120"/>
              </a:rPr>
              <a:t>IVA incluido</a:t>
            </a:r>
            <a:endParaRPr lang="en-US" sz="950" dirty="0"/>
          </a:p>
        </p:txBody>
      </p:sp>
      <p:sp>
        <p:nvSpPr>
          <p:cNvPr id="22" name="Shape 20"/>
          <p:cNvSpPr/>
          <p:nvPr/>
        </p:nvSpPr>
        <p:spPr>
          <a:xfrm>
            <a:off x="3822192" y="1097280"/>
            <a:ext cx="1499616" cy="2651760"/>
          </a:xfrm>
          <a:prstGeom prst="roundRect">
            <a:avLst>
              <a:gd name="adj" fmla="val 4878"/>
            </a:avLst>
          </a:prstGeom>
          <a:solidFill>
            <a:srgbClr val="F1F3F6"/>
          </a:solidFill>
          <a:ln w="12700">
            <a:solidFill>
              <a:srgbClr val="F1F3F6"/>
            </a:solidFill>
            <a:prstDash val="solid"/>
          </a:ln>
        </p:spPr>
      </p:sp>
      <p:sp>
        <p:nvSpPr>
          <p:cNvPr id="23" name="Shape 21"/>
          <p:cNvSpPr/>
          <p:nvPr/>
        </p:nvSpPr>
        <p:spPr>
          <a:xfrm>
            <a:off x="4297680" y="1298448"/>
            <a:ext cx="548640" cy="548640"/>
          </a:xfrm>
          <a:prstGeom prst="roundRect">
            <a:avLst>
              <a:gd name="adj" fmla="val 20000"/>
            </a:avLst>
          </a:prstGeom>
          <a:solidFill>
            <a:srgbClr val="16283C"/>
          </a:solidFill>
          <a:ln w="12700">
            <a:solidFill>
              <a:srgbClr val="16283C"/>
            </a:solidFill>
            <a:prstDash val="solid"/>
          </a:ln>
        </p:spPr>
      </p:sp>
      <p:sp>
        <p:nvSpPr>
          <p:cNvPr id="24" name="Text 22"/>
          <p:cNvSpPr/>
          <p:nvPr/>
        </p:nvSpPr>
        <p:spPr>
          <a:xfrm>
            <a:off x="4297680" y="1298448"/>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C</a:t>
            </a:r>
            <a:endParaRPr lang="en-US" sz="2400" dirty="0"/>
          </a:p>
        </p:txBody>
      </p:sp>
      <p:sp>
        <p:nvSpPr>
          <p:cNvPr id="25" name="Text 23"/>
          <p:cNvSpPr/>
          <p:nvPr/>
        </p:nvSpPr>
        <p:spPr>
          <a:xfrm>
            <a:off x="3968496" y="1975104"/>
            <a:ext cx="1207008" cy="182880"/>
          </a:xfrm>
          <a:prstGeom prst="rect">
            <a:avLst/>
          </a:prstGeom>
          <a:noFill/>
          <a:ln/>
        </p:spPr>
        <p:txBody>
          <a:bodyPr wrap="square" lIns="0" tIns="0" rIns="0" bIns="0" rtlCol="0" anchor="ctr"/>
          <a:lstStyle/>
          <a:p>
            <a:pPr algn="ctr" indent="0" marL="0">
              <a:buNone/>
            </a:pPr>
            <a:r>
              <a:rPr lang="en-US" sz="800" b="1" spc="80" kern="0" dirty="0">
                <a:solidFill>
                  <a:srgbClr val="B8862B"/>
                </a:solidFill>
                <a:latin typeface="Calibri" pitchFamily="34" charset="0"/>
                <a:ea typeface="Calibri" pitchFamily="34" charset="-122"/>
                <a:cs typeface="Calibri" pitchFamily="34" charset="-120"/>
              </a:rPr>
              <a:t>EMITE</a:t>
            </a:r>
            <a:endParaRPr lang="en-US" sz="800" dirty="0"/>
          </a:p>
        </p:txBody>
      </p:sp>
      <p:sp>
        <p:nvSpPr>
          <p:cNvPr id="26" name="Text 24"/>
          <p:cNvSpPr/>
          <p:nvPr/>
        </p:nvSpPr>
        <p:spPr>
          <a:xfrm>
            <a:off x="3931920" y="2157984"/>
            <a:ext cx="1280160" cy="402336"/>
          </a:xfrm>
          <a:prstGeom prst="rect">
            <a:avLst/>
          </a:prstGeom>
          <a:noFill/>
          <a:ln/>
        </p:spPr>
        <p:txBody>
          <a:bodyPr wrap="square" lIns="0" tIns="0" rIns="0" bIns="0" rtlCol="0" anchor="ctr"/>
          <a:lstStyle/>
          <a:p>
            <a:pPr algn="ctr" indent="0" marL="0">
              <a:buNone/>
            </a:pPr>
            <a:r>
              <a:rPr lang="en-US" sz="1000" dirty="0">
                <a:solidFill>
                  <a:srgbClr val="16283C"/>
                </a:solidFill>
                <a:latin typeface="Calibri" pitchFamily="34" charset="0"/>
                <a:ea typeface="Calibri" pitchFamily="34" charset="-122"/>
                <a:cs typeface="Calibri" pitchFamily="34" charset="-120"/>
              </a:rPr>
              <a:t>Monotributista</a:t>
            </a:r>
            <a:endParaRPr lang="en-US" sz="1000" dirty="0"/>
          </a:p>
        </p:txBody>
      </p:sp>
      <p:sp>
        <p:nvSpPr>
          <p:cNvPr id="27" name="Text 25"/>
          <p:cNvSpPr/>
          <p:nvPr/>
        </p:nvSpPr>
        <p:spPr>
          <a:xfrm>
            <a:off x="3968496" y="2578608"/>
            <a:ext cx="1207008" cy="182880"/>
          </a:xfrm>
          <a:prstGeom prst="rect">
            <a:avLst/>
          </a:prstGeom>
          <a:noFill/>
          <a:ln/>
        </p:spPr>
        <p:txBody>
          <a:bodyPr wrap="square" lIns="0" tIns="0" rIns="0" bIns="0" rtlCol="0" anchor="ctr"/>
          <a:lstStyle/>
          <a:p>
            <a:pPr algn="ctr" indent="0" marL="0">
              <a:buNone/>
            </a:pPr>
            <a:r>
              <a:rPr lang="en-US" sz="800" b="1" spc="80" kern="0" dirty="0">
                <a:solidFill>
                  <a:srgbClr val="B8862B"/>
                </a:solidFill>
                <a:latin typeface="Calibri" pitchFamily="34" charset="0"/>
                <a:ea typeface="Calibri" pitchFamily="34" charset="-122"/>
                <a:cs typeface="Calibri" pitchFamily="34" charset="-120"/>
              </a:rPr>
              <a:t>RECIBE</a:t>
            </a:r>
            <a:endParaRPr lang="en-US" sz="800" dirty="0"/>
          </a:p>
        </p:txBody>
      </p:sp>
      <p:sp>
        <p:nvSpPr>
          <p:cNvPr id="28" name="Text 26"/>
          <p:cNvSpPr/>
          <p:nvPr/>
        </p:nvSpPr>
        <p:spPr>
          <a:xfrm>
            <a:off x="3931920" y="2761488"/>
            <a:ext cx="1280160" cy="457200"/>
          </a:xfrm>
          <a:prstGeom prst="rect">
            <a:avLst/>
          </a:prstGeom>
          <a:noFill/>
          <a:ln/>
        </p:spPr>
        <p:txBody>
          <a:bodyPr wrap="square" lIns="0" tIns="0" rIns="0" bIns="0" rtlCol="0" anchor="ctr"/>
          <a:lstStyle/>
          <a:p>
            <a:pPr algn="ctr" indent="0" marL="0">
              <a:buNone/>
            </a:pPr>
            <a:r>
              <a:rPr lang="en-US" sz="1000" dirty="0">
                <a:solidFill>
                  <a:srgbClr val="16283C"/>
                </a:solidFill>
                <a:latin typeface="Calibri" pitchFamily="34" charset="0"/>
                <a:ea typeface="Calibri" pitchFamily="34" charset="-122"/>
                <a:cs typeface="Calibri" pitchFamily="34" charset="-120"/>
              </a:rPr>
              <a:t>Cualquiera</a:t>
            </a:r>
            <a:endParaRPr lang="en-US" sz="1000" dirty="0"/>
          </a:p>
        </p:txBody>
      </p:sp>
      <p:sp>
        <p:nvSpPr>
          <p:cNvPr id="29" name="Text 27"/>
          <p:cNvSpPr/>
          <p:nvPr/>
        </p:nvSpPr>
        <p:spPr>
          <a:xfrm>
            <a:off x="3931920" y="3273552"/>
            <a:ext cx="1280160" cy="384048"/>
          </a:xfrm>
          <a:prstGeom prst="rect">
            <a:avLst/>
          </a:prstGeom>
          <a:noFill/>
          <a:ln/>
        </p:spPr>
        <p:txBody>
          <a:bodyPr wrap="square" lIns="0" tIns="0" rIns="0" bIns="0" rtlCol="0" anchor="ctr"/>
          <a:lstStyle/>
          <a:p>
            <a:pPr algn="ctr" indent="0" marL="0">
              <a:buNone/>
            </a:pPr>
            <a:r>
              <a:rPr lang="en-US" sz="950" i="1" dirty="0">
                <a:solidFill>
                  <a:srgbClr val="5B6B7C"/>
                </a:solidFill>
                <a:latin typeface="Calibri" pitchFamily="34" charset="0"/>
                <a:ea typeface="Calibri" pitchFamily="34" charset="-122"/>
                <a:cs typeface="Calibri" pitchFamily="34" charset="-120"/>
              </a:rPr>
              <a:t>Nunca discrimina IVA</a:t>
            </a:r>
            <a:endParaRPr lang="en-US" sz="950" dirty="0"/>
          </a:p>
        </p:txBody>
      </p:sp>
      <p:sp>
        <p:nvSpPr>
          <p:cNvPr id="30" name="Shape 28"/>
          <p:cNvSpPr/>
          <p:nvPr/>
        </p:nvSpPr>
        <p:spPr>
          <a:xfrm>
            <a:off x="5504688" y="1097280"/>
            <a:ext cx="1499616" cy="2651760"/>
          </a:xfrm>
          <a:prstGeom prst="roundRect">
            <a:avLst>
              <a:gd name="adj" fmla="val 4878"/>
            </a:avLst>
          </a:prstGeom>
          <a:solidFill>
            <a:srgbClr val="F1F3F6"/>
          </a:solidFill>
          <a:ln w="12700">
            <a:solidFill>
              <a:srgbClr val="F1F3F6"/>
            </a:solidFill>
            <a:prstDash val="solid"/>
          </a:ln>
        </p:spPr>
      </p:sp>
      <p:sp>
        <p:nvSpPr>
          <p:cNvPr id="31" name="Shape 29"/>
          <p:cNvSpPr/>
          <p:nvPr/>
        </p:nvSpPr>
        <p:spPr>
          <a:xfrm>
            <a:off x="5980176" y="1298448"/>
            <a:ext cx="548640" cy="548640"/>
          </a:xfrm>
          <a:prstGeom prst="roundRect">
            <a:avLst>
              <a:gd name="adj" fmla="val 20000"/>
            </a:avLst>
          </a:prstGeom>
          <a:solidFill>
            <a:srgbClr val="16283C"/>
          </a:solidFill>
          <a:ln w="12700">
            <a:solidFill>
              <a:srgbClr val="16283C"/>
            </a:solidFill>
            <a:prstDash val="solid"/>
          </a:ln>
        </p:spPr>
      </p:sp>
      <p:sp>
        <p:nvSpPr>
          <p:cNvPr id="32" name="Text 30"/>
          <p:cNvSpPr/>
          <p:nvPr/>
        </p:nvSpPr>
        <p:spPr>
          <a:xfrm>
            <a:off x="5980176" y="1298448"/>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E</a:t>
            </a:r>
            <a:endParaRPr lang="en-US" sz="2400" dirty="0"/>
          </a:p>
        </p:txBody>
      </p:sp>
      <p:sp>
        <p:nvSpPr>
          <p:cNvPr id="33" name="Text 31"/>
          <p:cNvSpPr/>
          <p:nvPr/>
        </p:nvSpPr>
        <p:spPr>
          <a:xfrm>
            <a:off x="5650992" y="1975104"/>
            <a:ext cx="1207008" cy="182880"/>
          </a:xfrm>
          <a:prstGeom prst="rect">
            <a:avLst/>
          </a:prstGeom>
          <a:noFill/>
          <a:ln/>
        </p:spPr>
        <p:txBody>
          <a:bodyPr wrap="square" lIns="0" tIns="0" rIns="0" bIns="0" rtlCol="0" anchor="ctr"/>
          <a:lstStyle/>
          <a:p>
            <a:pPr algn="ctr" indent="0" marL="0">
              <a:buNone/>
            </a:pPr>
            <a:r>
              <a:rPr lang="en-US" sz="800" b="1" spc="80" kern="0" dirty="0">
                <a:solidFill>
                  <a:srgbClr val="B8862B"/>
                </a:solidFill>
                <a:latin typeface="Calibri" pitchFamily="34" charset="0"/>
                <a:ea typeface="Calibri" pitchFamily="34" charset="-122"/>
                <a:cs typeface="Calibri" pitchFamily="34" charset="-120"/>
              </a:rPr>
              <a:t>EMITE</a:t>
            </a:r>
            <a:endParaRPr lang="en-US" sz="800" dirty="0"/>
          </a:p>
        </p:txBody>
      </p:sp>
      <p:sp>
        <p:nvSpPr>
          <p:cNvPr id="34" name="Text 32"/>
          <p:cNvSpPr/>
          <p:nvPr/>
        </p:nvSpPr>
        <p:spPr>
          <a:xfrm>
            <a:off x="5614416" y="2157984"/>
            <a:ext cx="1280160" cy="402336"/>
          </a:xfrm>
          <a:prstGeom prst="rect">
            <a:avLst/>
          </a:prstGeom>
          <a:noFill/>
          <a:ln/>
        </p:spPr>
        <p:txBody>
          <a:bodyPr wrap="square" lIns="0" tIns="0" rIns="0" bIns="0" rtlCol="0" anchor="ctr"/>
          <a:lstStyle/>
          <a:p>
            <a:pPr algn="ctr" indent="0" marL="0">
              <a:buNone/>
            </a:pPr>
            <a:r>
              <a:rPr lang="en-US" sz="1000" dirty="0">
                <a:solidFill>
                  <a:srgbClr val="16283C"/>
                </a:solidFill>
                <a:latin typeface="Calibri" pitchFamily="34" charset="0"/>
                <a:ea typeface="Calibri" pitchFamily="34" charset="-122"/>
                <a:cs typeface="Calibri" pitchFamily="34" charset="-120"/>
              </a:rPr>
              <a:t>Exportador</a:t>
            </a:r>
            <a:endParaRPr lang="en-US" sz="1000" dirty="0"/>
          </a:p>
        </p:txBody>
      </p:sp>
      <p:sp>
        <p:nvSpPr>
          <p:cNvPr id="35" name="Text 33"/>
          <p:cNvSpPr/>
          <p:nvPr/>
        </p:nvSpPr>
        <p:spPr>
          <a:xfrm>
            <a:off x="5650992" y="2578608"/>
            <a:ext cx="1207008" cy="182880"/>
          </a:xfrm>
          <a:prstGeom prst="rect">
            <a:avLst/>
          </a:prstGeom>
          <a:noFill/>
          <a:ln/>
        </p:spPr>
        <p:txBody>
          <a:bodyPr wrap="square" lIns="0" tIns="0" rIns="0" bIns="0" rtlCol="0" anchor="ctr"/>
          <a:lstStyle/>
          <a:p>
            <a:pPr algn="ctr" indent="0" marL="0">
              <a:buNone/>
            </a:pPr>
            <a:r>
              <a:rPr lang="en-US" sz="800" b="1" spc="80" kern="0" dirty="0">
                <a:solidFill>
                  <a:srgbClr val="B8862B"/>
                </a:solidFill>
                <a:latin typeface="Calibri" pitchFamily="34" charset="0"/>
                <a:ea typeface="Calibri" pitchFamily="34" charset="-122"/>
                <a:cs typeface="Calibri" pitchFamily="34" charset="-120"/>
              </a:rPr>
              <a:t>RECIBE</a:t>
            </a:r>
            <a:endParaRPr lang="en-US" sz="800" dirty="0"/>
          </a:p>
        </p:txBody>
      </p:sp>
      <p:sp>
        <p:nvSpPr>
          <p:cNvPr id="36" name="Text 34"/>
          <p:cNvSpPr/>
          <p:nvPr/>
        </p:nvSpPr>
        <p:spPr>
          <a:xfrm>
            <a:off x="5614416" y="2761488"/>
            <a:ext cx="1280160" cy="457200"/>
          </a:xfrm>
          <a:prstGeom prst="rect">
            <a:avLst/>
          </a:prstGeom>
          <a:noFill/>
          <a:ln/>
        </p:spPr>
        <p:txBody>
          <a:bodyPr wrap="square" lIns="0" tIns="0" rIns="0" bIns="0" rtlCol="0" anchor="ctr"/>
          <a:lstStyle/>
          <a:p>
            <a:pPr algn="ctr" indent="0" marL="0">
              <a:buNone/>
            </a:pPr>
            <a:r>
              <a:rPr lang="en-US" sz="1000" dirty="0">
                <a:solidFill>
                  <a:srgbClr val="16283C"/>
                </a:solidFill>
                <a:latin typeface="Calibri" pitchFamily="34" charset="0"/>
                <a:ea typeface="Calibri" pitchFamily="34" charset="-122"/>
                <a:cs typeface="Calibri" pitchFamily="34" charset="-120"/>
              </a:rPr>
              <a:t>Cliente del exterior</a:t>
            </a:r>
            <a:endParaRPr lang="en-US" sz="1000" dirty="0"/>
          </a:p>
        </p:txBody>
      </p:sp>
      <p:sp>
        <p:nvSpPr>
          <p:cNvPr id="37" name="Text 35"/>
          <p:cNvSpPr/>
          <p:nvPr/>
        </p:nvSpPr>
        <p:spPr>
          <a:xfrm>
            <a:off x="5614416" y="3273552"/>
            <a:ext cx="1280160" cy="384048"/>
          </a:xfrm>
          <a:prstGeom prst="rect">
            <a:avLst/>
          </a:prstGeom>
          <a:noFill/>
          <a:ln/>
        </p:spPr>
        <p:txBody>
          <a:bodyPr wrap="square" lIns="0" tIns="0" rIns="0" bIns="0" rtlCol="0" anchor="ctr"/>
          <a:lstStyle/>
          <a:p>
            <a:pPr algn="ctr" indent="0" marL="0">
              <a:buNone/>
            </a:pPr>
            <a:r>
              <a:rPr lang="en-US" sz="950" i="1" dirty="0">
                <a:solidFill>
                  <a:srgbClr val="5B6B7C"/>
                </a:solidFill>
                <a:latin typeface="Calibri" pitchFamily="34" charset="0"/>
                <a:ea typeface="Calibri" pitchFamily="34" charset="-122"/>
                <a:cs typeface="Calibri" pitchFamily="34" charset="-120"/>
              </a:rPr>
              <a:t>No aplica</a:t>
            </a:r>
            <a:endParaRPr lang="en-US" sz="950" dirty="0"/>
          </a:p>
        </p:txBody>
      </p:sp>
      <p:sp>
        <p:nvSpPr>
          <p:cNvPr id="38" name="Shape 36"/>
          <p:cNvSpPr/>
          <p:nvPr/>
        </p:nvSpPr>
        <p:spPr>
          <a:xfrm>
            <a:off x="7187184" y="1097280"/>
            <a:ext cx="1499616" cy="2651760"/>
          </a:xfrm>
          <a:prstGeom prst="roundRect">
            <a:avLst>
              <a:gd name="adj" fmla="val 4878"/>
            </a:avLst>
          </a:prstGeom>
          <a:solidFill>
            <a:srgbClr val="F1F3F6"/>
          </a:solidFill>
          <a:ln w="12700">
            <a:solidFill>
              <a:srgbClr val="F1F3F6"/>
            </a:solidFill>
            <a:prstDash val="solid"/>
          </a:ln>
        </p:spPr>
      </p:sp>
      <p:sp>
        <p:nvSpPr>
          <p:cNvPr id="39" name="Shape 37"/>
          <p:cNvSpPr/>
          <p:nvPr/>
        </p:nvSpPr>
        <p:spPr>
          <a:xfrm>
            <a:off x="7662672" y="1298448"/>
            <a:ext cx="548640" cy="548640"/>
          </a:xfrm>
          <a:prstGeom prst="roundRect">
            <a:avLst>
              <a:gd name="adj" fmla="val 20000"/>
            </a:avLst>
          </a:prstGeom>
          <a:solidFill>
            <a:srgbClr val="16283C"/>
          </a:solidFill>
          <a:ln w="12700">
            <a:solidFill>
              <a:srgbClr val="16283C"/>
            </a:solidFill>
            <a:prstDash val="solid"/>
          </a:ln>
        </p:spPr>
      </p:sp>
      <p:sp>
        <p:nvSpPr>
          <p:cNvPr id="40" name="Text 38"/>
          <p:cNvSpPr/>
          <p:nvPr/>
        </p:nvSpPr>
        <p:spPr>
          <a:xfrm>
            <a:off x="7662672" y="1298448"/>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M</a:t>
            </a:r>
            <a:endParaRPr lang="en-US" sz="2400" dirty="0"/>
          </a:p>
        </p:txBody>
      </p:sp>
      <p:sp>
        <p:nvSpPr>
          <p:cNvPr id="41" name="Text 39"/>
          <p:cNvSpPr/>
          <p:nvPr/>
        </p:nvSpPr>
        <p:spPr>
          <a:xfrm>
            <a:off x="7333488" y="1975104"/>
            <a:ext cx="1207008" cy="182880"/>
          </a:xfrm>
          <a:prstGeom prst="rect">
            <a:avLst/>
          </a:prstGeom>
          <a:noFill/>
          <a:ln/>
        </p:spPr>
        <p:txBody>
          <a:bodyPr wrap="square" lIns="0" tIns="0" rIns="0" bIns="0" rtlCol="0" anchor="ctr"/>
          <a:lstStyle/>
          <a:p>
            <a:pPr algn="ctr" indent="0" marL="0">
              <a:buNone/>
            </a:pPr>
            <a:r>
              <a:rPr lang="en-US" sz="800" b="1" spc="80" kern="0" dirty="0">
                <a:solidFill>
                  <a:srgbClr val="B8862B"/>
                </a:solidFill>
                <a:latin typeface="Calibri" pitchFamily="34" charset="0"/>
                <a:ea typeface="Calibri" pitchFamily="34" charset="-122"/>
                <a:cs typeface="Calibri" pitchFamily="34" charset="-120"/>
              </a:rPr>
              <a:t>EMITE</a:t>
            </a:r>
            <a:endParaRPr lang="en-US" sz="800" dirty="0"/>
          </a:p>
        </p:txBody>
      </p:sp>
      <p:sp>
        <p:nvSpPr>
          <p:cNvPr id="42" name="Text 40"/>
          <p:cNvSpPr/>
          <p:nvPr/>
        </p:nvSpPr>
        <p:spPr>
          <a:xfrm>
            <a:off x="7296912" y="2157984"/>
            <a:ext cx="1280160" cy="402336"/>
          </a:xfrm>
          <a:prstGeom prst="rect">
            <a:avLst/>
          </a:prstGeom>
          <a:noFill/>
          <a:ln/>
        </p:spPr>
        <p:txBody>
          <a:bodyPr wrap="square" lIns="0" tIns="0" rIns="0" bIns="0" rtlCol="0" anchor="ctr"/>
          <a:lstStyle/>
          <a:p>
            <a:pPr algn="ctr" indent="0" marL="0">
              <a:buNone/>
            </a:pPr>
            <a:r>
              <a:rPr lang="en-US" sz="1000" dirty="0">
                <a:solidFill>
                  <a:srgbClr val="16283C"/>
                </a:solidFill>
                <a:latin typeface="Calibri" pitchFamily="34" charset="0"/>
                <a:ea typeface="Calibri" pitchFamily="34" charset="-122"/>
                <a:cs typeface="Calibri" pitchFamily="34" charset="-120"/>
              </a:rPr>
              <a:t>Sin solvencia verificada</a:t>
            </a:r>
            <a:endParaRPr lang="en-US" sz="1000" dirty="0"/>
          </a:p>
        </p:txBody>
      </p:sp>
      <p:sp>
        <p:nvSpPr>
          <p:cNvPr id="43" name="Text 41"/>
          <p:cNvSpPr/>
          <p:nvPr/>
        </p:nvSpPr>
        <p:spPr>
          <a:xfrm>
            <a:off x="7333488" y="2578608"/>
            <a:ext cx="1207008" cy="182880"/>
          </a:xfrm>
          <a:prstGeom prst="rect">
            <a:avLst/>
          </a:prstGeom>
          <a:noFill/>
          <a:ln/>
        </p:spPr>
        <p:txBody>
          <a:bodyPr wrap="square" lIns="0" tIns="0" rIns="0" bIns="0" rtlCol="0" anchor="ctr"/>
          <a:lstStyle/>
          <a:p>
            <a:pPr algn="ctr" indent="0" marL="0">
              <a:buNone/>
            </a:pPr>
            <a:r>
              <a:rPr lang="en-US" sz="800" b="1" spc="80" kern="0" dirty="0">
                <a:solidFill>
                  <a:srgbClr val="B8862B"/>
                </a:solidFill>
                <a:latin typeface="Calibri" pitchFamily="34" charset="0"/>
                <a:ea typeface="Calibri" pitchFamily="34" charset="-122"/>
                <a:cs typeface="Calibri" pitchFamily="34" charset="-120"/>
              </a:rPr>
              <a:t>RECIBE</a:t>
            </a:r>
            <a:endParaRPr lang="en-US" sz="800" dirty="0"/>
          </a:p>
        </p:txBody>
      </p:sp>
      <p:sp>
        <p:nvSpPr>
          <p:cNvPr id="44" name="Text 42"/>
          <p:cNvSpPr/>
          <p:nvPr/>
        </p:nvSpPr>
        <p:spPr>
          <a:xfrm>
            <a:off x="7296912" y="2761488"/>
            <a:ext cx="1280160" cy="457200"/>
          </a:xfrm>
          <a:prstGeom prst="rect">
            <a:avLst/>
          </a:prstGeom>
          <a:noFill/>
          <a:ln/>
        </p:spPr>
        <p:txBody>
          <a:bodyPr wrap="square" lIns="0" tIns="0" rIns="0" bIns="0" rtlCol="0" anchor="ctr"/>
          <a:lstStyle/>
          <a:p>
            <a:pPr algn="ctr" indent="0" marL="0">
              <a:buNone/>
            </a:pPr>
            <a:r>
              <a:rPr lang="en-US" sz="1000" dirty="0">
                <a:solidFill>
                  <a:srgbClr val="16283C"/>
                </a:solidFill>
                <a:latin typeface="Calibri" pitchFamily="34" charset="0"/>
                <a:ea typeface="Calibri" pitchFamily="34" charset="-122"/>
                <a:cs typeface="Calibri" pitchFamily="34" charset="-120"/>
              </a:rPr>
              <a:t>Resp. Inscripto</a:t>
            </a:r>
            <a:endParaRPr lang="en-US" sz="1000" dirty="0"/>
          </a:p>
        </p:txBody>
      </p:sp>
      <p:sp>
        <p:nvSpPr>
          <p:cNvPr id="45" name="Text 43"/>
          <p:cNvSpPr/>
          <p:nvPr/>
        </p:nvSpPr>
        <p:spPr>
          <a:xfrm>
            <a:off x="7296912" y="3273552"/>
            <a:ext cx="1280160" cy="384048"/>
          </a:xfrm>
          <a:prstGeom prst="rect">
            <a:avLst/>
          </a:prstGeom>
          <a:noFill/>
          <a:ln/>
        </p:spPr>
        <p:txBody>
          <a:bodyPr wrap="square" lIns="0" tIns="0" rIns="0" bIns="0" rtlCol="0" anchor="ctr"/>
          <a:lstStyle/>
          <a:p>
            <a:pPr algn="ctr" indent="0" marL="0">
              <a:buNone/>
            </a:pPr>
            <a:r>
              <a:rPr lang="en-US" sz="950" i="1" dirty="0">
                <a:solidFill>
                  <a:srgbClr val="5B6B7C"/>
                </a:solidFill>
                <a:latin typeface="Calibri" pitchFamily="34" charset="0"/>
                <a:ea typeface="Calibri" pitchFamily="34" charset="-122"/>
                <a:cs typeface="Calibri" pitchFamily="34" charset="-120"/>
              </a:rPr>
              <a:t>IVA + retención extra</a:t>
            </a:r>
            <a:endParaRPr lang="en-US" sz="950" dirty="0"/>
          </a:p>
        </p:txBody>
      </p:sp>
      <p:sp>
        <p:nvSpPr>
          <p:cNvPr id="46" name="Shape 44"/>
          <p:cNvSpPr/>
          <p:nvPr/>
        </p:nvSpPr>
        <p:spPr>
          <a:xfrm>
            <a:off x="457200" y="3913632"/>
            <a:ext cx="8229600" cy="640080"/>
          </a:xfrm>
          <a:prstGeom prst="roundRect">
            <a:avLst>
              <a:gd name="adj" fmla="val 11429"/>
            </a:avLst>
          </a:prstGeom>
          <a:solidFill>
            <a:srgbClr val="F6EEDD"/>
          </a:solidFill>
          <a:ln w="12700">
            <a:solidFill>
              <a:srgbClr val="F6EEDD"/>
            </a:solidFill>
            <a:prstDash val="solid"/>
          </a:ln>
        </p:spPr>
      </p:sp>
      <p:sp>
        <p:nvSpPr>
          <p:cNvPr id="47" name="Text 45"/>
          <p:cNvSpPr/>
          <p:nvPr/>
        </p:nvSpPr>
        <p:spPr>
          <a:xfrm>
            <a:off x="658368" y="3959352"/>
            <a:ext cx="4572000" cy="201168"/>
          </a:xfrm>
          <a:prstGeom prst="rect">
            <a:avLst/>
          </a:prstGeom>
          <a:noFill/>
          <a:ln/>
        </p:spPr>
        <p:txBody>
          <a:bodyPr wrap="square" lIns="0" tIns="0" rIns="0" bIns="0" rtlCol="0" anchor="ctr"/>
          <a:lstStyle/>
          <a:p>
            <a:pPr indent="0" marL="0">
              <a:buNone/>
            </a:pPr>
            <a:r>
              <a:rPr lang="en-US" sz="900" b="1" spc="100" kern="0" dirty="0">
                <a:solidFill>
                  <a:srgbClr val="B8862B"/>
                </a:solidFill>
                <a:latin typeface="Calibri" pitchFamily="34" charset="0"/>
                <a:ea typeface="Calibri" pitchFamily="34" charset="-122"/>
                <a:cs typeface="Calibri" pitchFamily="34" charset="-120"/>
              </a:rPr>
              <a:t>SEÑAL DE ALERTA</a:t>
            </a:r>
            <a:endParaRPr lang="en-US" sz="900" dirty="0"/>
          </a:p>
        </p:txBody>
      </p:sp>
      <p:sp>
        <p:nvSpPr>
          <p:cNvPr id="48" name="Text 46"/>
          <p:cNvSpPr/>
          <p:nvPr/>
        </p:nvSpPr>
        <p:spPr>
          <a:xfrm>
            <a:off x="658368" y="4160520"/>
            <a:ext cx="7863840" cy="329184"/>
          </a:xfrm>
          <a:prstGeom prst="rect">
            <a:avLst/>
          </a:prstGeom>
          <a:noFill/>
          <a:ln/>
        </p:spPr>
        <p:txBody>
          <a:bodyPr wrap="square" lIns="0" tIns="0" rIns="0" bIns="0" rtlCol="0" anchor="ctr"/>
          <a:lstStyle/>
          <a:p>
            <a:pPr indent="0" marL="0">
              <a:lnSpc>
                <a:spcPts val="1400"/>
              </a:lnSpc>
              <a:buNone/>
            </a:pPr>
            <a:r>
              <a:rPr lang="en-US" sz="1100" dirty="0">
                <a:solidFill>
                  <a:srgbClr val="16283C"/>
                </a:solidFill>
                <a:latin typeface="Calibri" pitchFamily="34" charset="0"/>
                <a:ea typeface="Calibri" pitchFamily="34" charset="-122"/>
                <a:cs typeface="Calibri" pitchFamily="34" charset="-120"/>
              </a:rPr>
              <a:t>Si el tipo de factura no coincide con la condición fiscal del emisor, algo está mal: hay que frenar y revisar la constancia antes de pagar.</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roundRect">
            <a:avLst>
              <a:gd name="adj" fmla="val 96154"/>
            </a:avLst>
          </a:prstGeom>
          <a:solidFill>
            <a:srgbClr val="B8862B"/>
          </a:solidFill>
          <a:ln w="12700">
            <a:solidFill>
              <a:srgbClr val="B8862B"/>
            </a:solidFill>
            <a:prstDash val="solid"/>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4" name="Text 2"/>
          <p:cNvSpPr/>
          <p:nvPr/>
        </p:nvSpPr>
        <p:spPr>
          <a:xfrm>
            <a:off x="1078992" y="274320"/>
            <a:ext cx="7589520" cy="384048"/>
          </a:xfrm>
          <a:prstGeom prst="rect">
            <a:avLst/>
          </a:prstGeom>
          <a:noFill/>
          <a:ln/>
        </p:spPr>
        <p:txBody>
          <a:bodyPr wrap="square" lIns="0" tIns="0" rIns="0" bIns="0" rtlCol="0" anchor="ctr"/>
          <a:lstStyle/>
          <a:p>
            <a:pPr algn="l" indent="0" marL="0">
              <a:buNone/>
            </a:pPr>
            <a:r>
              <a:rPr lang="en-US" sz="2500" b="1" dirty="0">
                <a:solidFill>
                  <a:srgbClr val="16283C"/>
                </a:solidFill>
                <a:latin typeface="Cambria" pitchFamily="34" charset="0"/>
                <a:ea typeface="Cambria" pitchFamily="34" charset="-122"/>
                <a:cs typeface="Cambria" pitchFamily="34" charset="-120"/>
              </a:rPr>
              <a:t>El CAE: sin eso, no se paga</a:t>
            </a:r>
            <a:endParaRPr lang="en-US" sz="2500" dirty="0"/>
          </a:p>
        </p:txBody>
      </p:sp>
      <p:sp>
        <p:nvSpPr>
          <p:cNvPr id="5" name="Text 3"/>
          <p:cNvSpPr/>
          <p:nvPr/>
        </p:nvSpPr>
        <p:spPr>
          <a:xfrm>
            <a:off x="1078992" y="676656"/>
            <a:ext cx="7589520" cy="256032"/>
          </a:xfrm>
          <a:prstGeom prst="rect">
            <a:avLst/>
          </a:prstGeom>
          <a:noFill/>
          <a:ln/>
        </p:spPr>
        <p:txBody>
          <a:bodyPr wrap="square" lIns="0" tIns="0" rIns="0" bIns="0" rtlCol="0" anchor="ctr"/>
          <a:lstStyle/>
          <a:p>
            <a:pPr algn="l" indent="0" marL="0">
              <a:buNone/>
            </a:pPr>
            <a:r>
              <a:rPr lang="en-US" sz="1150" dirty="0">
                <a:solidFill>
                  <a:srgbClr val="5B6B7C"/>
                </a:solidFill>
                <a:latin typeface="Calibri" pitchFamily="34" charset="0"/>
                <a:ea typeface="Calibri" pitchFamily="34" charset="-122"/>
                <a:cs typeface="Calibri" pitchFamily="34" charset="-120"/>
              </a:rPr>
              <a:t>Código de Autorización Electrónico — es lo que le da validez fiscal a la factura</a:t>
            </a:r>
            <a:endParaRPr lang="en-US" sz="1150" dirty="0"/>
          </a:p>
        </p:txBody>
      </p:sp>
      <p:sp>
        <p:nvSpPr>
          <p:cNvPr id="6" name="Shape 4"/>
          <p:cNvSpPr/>
          <p:nvPr/>
        </p:nvSpPr>
        <p:spPr>
          <a:xfrm>
            <a:off x="457200" y="1097280"/>
            <a:ext cx="2880360" cy="3246120"/>
          </a:xfrm>
          <a:prstGeom prst="roundRect">
            <a:avLst>
              <a:gd name="adj" fmla="val 2540"/>
            </a:avLst>
          </a:prstGeom>
          <a:solidFill>
            <a:srgbClr val="16283C"/>
          </a:solidFill>
          <a:ln w="12700">
            <a:solidFill>
              <a:srgbClr val="16283C"/>
            </a:solidFill>
            <a:prstDash val="solid"/>
          </a:ln>
        </p:spPr>
      </p:sp>
      <p:sp>
        <p:nvSpPr>
          <p:cNvPr id="7" name="Text 5"/>
          <p:cNvSpPr/>
          <p:nvPr/>
        </p:nvSpPr>
        <p:spPr>
          <a:xfrm>
            <a:off x="685800" y="1280160"/>
            <a:ext cx="2468880" cy="329184"/>
          </a:xfrm>
          <a:prstGeom prst="rect">
            <a:avLst/>
          </a:prstGeom>
          <a:noFill/>
          <a:ln/>
        </p:spPr>
        <p:txBody>
          <a:bodyPr wrap="square" lIns="0" tIns="0" rIns="0" bIns="0" rtlCol="0" anchor="ctr"/>
          <a:lstStyle/>
          <a:p>
            <a:pPr indent="0" marL="0">
              <a:buNone/>
            </a:pPr>
            <a:r>
              <a:rPr lang="en-US" sz="1700" b="1" dirty="0">
                <a:solidFill>
                  <a:srgbClr val="B8862B"/>
                </a:solidFill>
                <a:latin typeface="Cambria" pitchFamily="34" charset="0"/>
                <a:ea typeface="Cambria" pitchFamily="34" charset="-122"/>
                <a:cs typeface="Cambria" pitchFamily="34" charset="-120"/>
              </a:rPr>
              <a:t>¿Qué es?</a:t>
            </a:r>
            <a:endParaRPr lang="en-US" sz="1700" dirty="0"/>
          </a:p>
        </p:txBody>
      </p:sp>
      <p:sp>
        <p:nvSpPr>
          <p:cNvPr id="8" name="Text 6"/>
          <p:cNvSpPr/>
          <p:nvPr/>
        </p:nvSpPr>
        <p:spPr>
          <a:xfrm>
            <a:off x="685800" y="1737360"/>
            <a:ext cx="2450592" cy="1691640"/>
          </a:xfrm>
          <a:prstGeom prst="rect">
            <a:avLst/>
          </a:prstGeom>
          <a:noFill/>
          <a:ln/>
        </p:spPr>
        <p:txBody>
          <a:bodyPr wrap="square" lIns="0" tIns="0" rIns="0" bIns="0" rtlCol="0" anchor="ctr"/>
          <a:lstStyle/>
          <a:p>
            <a:pPr indent="0" marL="0">
              <a:lnSpc>
                <a:spcPts val="1500"/>
              </a:lnSpc>
              <a:buNone/>
            </a:pPr>
            <a:r>
              <a:rPr lang="en-US" sz="1050" dirty="0">
                <a:solidFill>
                  <a:srgbClr val="C3CEDA"/>
                </a:solidFill>
                <a:latin typeface="Calibri" pitchFamily="34" charset="0"/>
                <a:ea typeface="Calibri" pitchFamily="34" charset="-122"/>
                <a:cs typeface="Calibri" pitchFamily="34" charset="-120"/>
              </a:rPr>
              <a:t>El número único que ARCA le asigna a cada comprobante al validarlo. Toda la facturación es electrónica: ya no existe el talonario impreso como opción habitual.</a:t>
            </a:r>
            <a:endParaRPr lang="en-US" sz="1050" dirty="0"/>
          </a:p>
          <a:p>
            <a:pPr indent="0" marL="0">
              <a:lnSpc>
                <a:spcPts val="1500"/>
              </a:lnSpc>
              <a:buNone/>
            </a:pPr>
            <a:endParaRPr lang="en-US" sz="1050" dirty="0"/>
          </a:p>
          <a:p>
            <a:pPr indent="0" marL="0">
              <a:lnSpc>
                <a:spcPts val="1500"/>
              </a:lnSpc>
              <a:buNone/>
            </a:pPr>
            <a:r>
              <a:rPr lang="en-US" sz="1050" dirty="0">
                <a:solidFill>
                  <a:srgbClr val="C3CEDA"/>
                </a:solidFill>
                <a:latin typeface="Calibri" pitchFamily="34" charset="0"/>
                <a:ea typeface="Calibri" pitchFamily="34" charset="-122"/>
                <a:cs typeface="Calibri" pitchFamily="34" charset="-120"/>
              </a:rPr>
              <a:t>Sin CAE, o con el CAE vencido, el comprobante no tiene respaldo ante el fisco.</a:t>
            </a:r>
            <a:endParaRPr lang="en-US" sz="1050" dirty="0"/>
          </a:p>
        </p:txBody>
      </p:sp>
      <p:sp>
        <p:nvSpPr>
          <p:cNvPr id="9" name="Shape 7"/>
          <p:cNvSpPr/>
          <p:nvPr/>
        </p:nvSpPr>
        <p:spPr>
          <a:xfrm>
            <a:off x="685800" y="3520440"/>
            <a:ext cx="2450592" cy="566928"/>
          </a:xfrm>
          <a:prstGeom prst="roundRect">
            <a:avLst>
              <a:gd name="adj" fmla="val 12903"/>
            </a:avLst>
          </a:prstGeom>
          <a:solidFill>
            <a:srgbClr val="2A4763"/>
          </a:solidFill>
          <a:ln w="12700">
            <a:solidFill>
              <a:srgbClr val="2A4763"/>
            </a:solidFill>
            <a:prstDash val="solid"/>
          </a:ln>
        </p:spPr>
      </p:sp>
      <p:sp>
        <p:nvSpPr>
          <p:cNvPr id="10" name="Text 8"/>
          <p:cNvSpPr/>
          <p:nvPr/>
        </p:nvSpPr>
        <p:spPr>
          <a:xfrm>
            <a:off x="822960" y="3520440"/>
            <a:ext cx="2194560" cy="566928"/>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Si pagás sin CAE válido, ARCA puede impugnar el gasto en IVA y Ganancias.</a:t>
            </a:r>
            <a:endParaRPr lang="en-US" sz="950" dirty="0"/>
          </a:p>
        </p:txBody>
      </p:sp>
      <p:sp>
        <p:nvSpPr>
          <p:cNvPr id="11" name="Text 9"/>
          <p:cNvSpPr/>
          <p:nvPr/>
        </p:nvSpPr>
        <p:spPr>
          <a:xfrm>
            <a:off x="3611880" y="1097280"/>
            <a:ext cx="5074920" cy="310896"/>
          </a:xfrm>
          <a:prstGeom prst="rect">
            <a:avLst/>
          </a:prstGeom>
          <a:noFill/>
          <a:ln/>
        </p:spPr>
        <p:txBody>
          <a:bodyPr wrap="square" lIns="0" tIns="0" rIns="0" bIns="0" rtlCol="0" anchor="ctr"/>
          <a:lstStyle/>
          <a:p>
            <a:pPr indent="0" marL="0">
              <a:buNone/>
            </a:pPr>
            <a:r>
              <a:rPr lang="en-US" sz="1600" b="1" dirty="0">
                <a:solidFill>
                  <a:srgbClr val="16283C"/>
                </a:solidFill>
                <a:latin typeface="Cambria" pitchFamily="34" charset="0"/>
                <a:ea typeface="Cambria" pitchFamily="34" charset="-122"/>
                <a:cs typeface="Cambria" pitchFamily="34" charset="-120"/>
              </a:rPr>
              <a:t>Cómo validar el CAE de una factura recibida</a:t>
            </a:r>
            <a:endParaRPr lang="en-US" sz="1600" dirty="0"/>
          </a:p>
        </p:txBody>
      </p:sp>
      <p:sp>
        <p:nvSpPr>
          <p:cNvPr id="12" name="Shape 10"/>
          <p:cNvSpPr/>
          <p:nvPr/>
        </p:nvSpPr>
        <p:spPr>
          <a:xfrm>
            <a:off x="3611880" y="1572768"/>
            <a:ext cx="365760" cy="365760"/>
          </a:xfrm>
          <a:prstGeom prst="roundRect">
            <a:avLst>
              <a:gd name="adj" fmla="val 125000"/>
            </a:avLst>
          </a:prstGeom>
          <a:solidFill>
            <a:srgbClr val="B8862B"/>
          </a:solidFill>
          <a:ln w="12700">
            <a:solidFill>
              <a:srgbClr val="B8862B"/>
            </a:solidFill>
            <a:prstDash val="solid"/>
          </a:ln>
        </p:spPr>
      </p:sp>
      <p:sp>
        <p:nvSpPr>
          <p:cNvPr id="13" name="Text 11"/>
          <p:cNvSpPr/>
          <p:nvPr/>
        </p:nvSpPr>
        <p:spPr>
          <a:xfrm>
            <a:off x="3611880" y="1572768"/>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p:nvPr/>
        </p:nvSpPr>
        <p:spPr>
          <a:xfrm>
            <a:off x="4114800" y="1536192"/>
            <a:ext cx="4572000" cy="438912"/>
          </a:xfrm>
          <a:prstGeom prst="rect">
            <a:avLst/>
          </a:prstGeom>
          <a:noFill/>
          <a:ln/>
        </p:spPr>
        <p:txBody>
          <a:bodyPr wrap="square" lIns="0" tIns="0" rIns="0" bIns="0" rtlCol="0" anchor="ctr"/>
          <a:lstStyle/>
          <a:p>
            <a:pPr indent="0" marL="0">
              <a:buNone/>
            </a:pPr>
            <a:r>
              <a:rPr lang="en-US" sz="1150" dirty="0">
                <a:solidFill>
                  <a:srgbClr val="16283C"/>
                </a:solidFill>
                <a:latin typeface="Calibri" pitchFamily="34" charset="0"/>
                <a:ea typeface="Calibri" pitchFamily="34" charset="-122"/>
                <a:cs typeface="Calibri" pitchFamily="34" charset="-120"/>
              </a:rPr>
              <a:t>Ubicar el CAE y su vencimiento, al pie del comprobante.</a:t>
            </a:r>
            <a:endParaRPr lang="en-US" sz="1150" dirty="0"/>
          </a:p>
        </p:txBody>
      </p:sp>
      <p:sp>
        <p:nvSpPr>
          <p:cNvPr id="15" name="Shape 13"/>
          <p:cNvSpPr/>
          <p:nvPr/>
        </p:nvSpPr>
        <p:spPr>
          <a:xfrm>
            <a:off x="3611880" y="2139696"/>
            <a:ext cx="365760" cy="365760"/>
          </a:xfrm>
          <a:prstGeom prst="roundRect">
            <a:avLst>
              <a:gd name="adj" fmla="val 125000"/>
            </a:avLst>
          </a:prstGeom>
          <a:solidFill>
            <a:srgbClr val="B8862B"/>
          </a:solidFill>
          <a:ln w="12700">
            <a:solidFill>
              <a:srgbClr val="B8862B"/>
            </a:solidFill>
            <a:prstDash val="solid"/>
          </a:ln>
        </p:spPr>
      </p:sp>
      <p:sp>
        <p:nvSpPr>
          <p:cNvPr id="16" name="Text 14"/>
          <p:cNvSpPr/>
          <p:nvPr/>
        </p:nvSpPr>
        <p:spPr>
          <a:xfrm>
            <a:off x="3611880" y="2139696"/>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7" name="Text 15"/>
          <p:cNvSpPr/>
          <p:nvPr/>
        </p:nvSpPr>
        <p:spPr>
          <a:xfrm>
            <a:off x="4114800" y="2103120"/>
            <a:ext cx="4572000" cy="438912"/>
          </a:xfrm>
          <a:prstGeom prst="rect">
            <a:avLst/>
          </a:prstGeom>
          <a:noFill/>
          <a:ln/>
        </p:spPr>
        <p:txBody>
          <a:bodyPr wrap="square" lIns="0" tIns="0" rIns="0" bIns="0" rtlCol="0" anchor="ctr"/>
          <a:lstStyle/>
          <a:p>
            <a:pPr indent="0" marL="0">
              <a:buNone/>
            </a:pPr>
            <a:r>
              <a:rPr lang="en-US" sz="1150" dirty="0">
                <a:solidFill>
                  <a:srgbClr val="16283C"/>
                </a:solidFill>
                <a:latin typeface="Calibri" pitchFamily="34" charset="0"/>
                <a:ea typeface="Calibri" pitchFamily="34" charset="-122"/>
                <a:cs typeface="Calibri" pitchFamily="34" charset="-120"/>
              </a:rPr>
              <a:t>Entrar a arca.gob.ar → Comprobantes en línea.</a:t>
            </a:r>
            <a:endParaRPr lang="en-US" sz="1150" dirty="0"/>
          </a:p>
        </p:txBody>
      </p:sp>
      <p:sp>
        <p:nvSpPr>
          <p:cNvPr id="18" name="Shape 16"/>
          <p:cNvSpPr/>
          <p:nvPr/>
        </p:nvSpPr>
        <p:spPr>
          <a:xfrm>
            <a:off x="3611880" y="2706624"/>
            <a:ext cx="365760" cy="365760"/>
          </a:xfrm>
          <a:prstGeom prst="roundRect">
            <a:avLst>
              <a:gd name="adj" fmla="val 125000"/>
            </a:avLst>
          </a:prstGeom>
          <a:solidFill>
            <a:srgbClr val="B8862B"/>
          </a:solidFill>
          <a:ln w="12700">
            <a:solidFill>
              <a:srgbClr val="B8862B"/>
            </a:solidFill>
            <a:prstDash val="solid"/>
          </a:ln>
        </p:spPr>
      </p:sp>
      <p:sp>
        <p:nvSpPr>
          <p:cNvPr id="19" name="Text 17"/>
          <p:cNvSpPr/>
          <p:nvPr/>
        </p:nvSpPr>
        <p:spPr>
          <a:xfrm>
            <a:off x="3611880" y="27066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4114800" y="2670048"/>
            <a:ext cx="4572000" cy="438912"/>
          </a:xfrm>
          <a:prstGeom prst="rect">
            <a:avLst/>
          </a:prstGeom>
          <a:noFill/>
          <a:ln/>
        </p:spPr>
        <p:txBody>
          <a:bodyPr wrap="square" lIns="0" tIns="0" rIns="0" bIns="0" rtlCol="0" anchor="ctr"/>
          <a:lstStyle/>
          <a:p>
            <a:pPr indent="0" marL="0">
              <a:buNone/>
            </a:pPr>
            <a:r>
              <a:rPr lang="en-US" sz="1150" dirty="0">
                <a:solidFill>
                  <a:srgbClr val="16283C"/>
                </a:solidFill>
                <a:latin typeface="Calibri" pitchFamily="34" charset="0"/>
                <a:ea typeface="Calibri" pitchFamily="34" charset="-122"/>
                <a:cs typeface="Calibri" pitchFamily="34" charset="-120"/>
              </a:rPr>
              <a:t>Cargar el CUIT del emisor y el tipo y número de comprobante.</a:t>
            </a:r>
            <a:endParaRPr lang="en-US" sz="1150" dirty="0"/>
          </a:p>
        </p:txBody>
      </p:sp>
      <p:sp>
        <p:nvSpPr>
          <p:cNvPr id="21" name="Shape 19"/>
          <p:cNvSpPr/>
          <p:nvPr/>
        </p:nvSpPr>
        <p:spPr>
          <a:xfrm>
            <a:off x="3611880" y="3273552"/>
            <a:ext cx="365760" cy="365760"/>
          </a:xfrm>
          <a:prstGeom prst="roundRect">
            <a:avLst>
              <a:gd name="adj" fmla="val 125000"/>
            </a:avLst>
          </a:prstGeom>
          <a:solidFill>
            <a:srgbClr val="B8862B"/>
          </a:solidFill>
          <a:ln w="12700">
            <a:solidFill>
              <a:srgbClr val="B8862B"/>
            </a:solidFill>
            <a:prstDash val="solid"/>
          </a:ln>
        </p:spPr>
      </p:sp>
      <p:sp>
        <p:nvSpPr>
          <p:cNvPr id="22" name="Text 20"/>
          <p:cNvSpPr/>
          <p:nvPr/>
        </p:nvSpPr>
        <p:spPr>
          <a:xfrm>
            <a:off x="3611880"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3" name="Text 21"/>
          <p:cNvSpPr/>
          <p:nvPr/>
        </p:nvSpPr>
        <p:spPr>
          <a:xfrm>
            <a:off x="4114800" y="3236976"/>
            <a:ext cx="4572000" cy="438912"/>
          </a:xfrm>
          <a:prstGeom prst="rect">
            <a:avLst/>
          </a:prstGeom>
          <a:noFill/>
          <a:ln/>
        </p:spPr>
        <p:txBody>
          <a:bodyPr wrap="square" lIns="0" tIns="0" rIns="0" bIns="0" rtlCol="0" anchor="ctr"/>
          <a:lstStyle/>
          <a:p>
            <a:pPr indent="0" marL="0">
              <a:buNone/>
            </a:pPr>
            <a:r>
              <a:rPr lang="en-US" sz="1150" dirty="0">
                <a:solidFill>
                  <a:srgbClr val="16283C"/>
                </a:solidFill>
                <a:latin typeface="Calibri" pitchFamily="34" charset="0"/>
                <a:ea typeface="Calibri" pitchFamily="34" charset="-122"/>
                <a:cs typeface="Calibri" pitchFamily="34" charset="-120"/>
              </a:rPr>
              <a:t>Verificar que el CAE informado coincida con el de la factura.</a:t>
            </a:r>
            <a:endParaRPr lang="en-US" sz="1150" dirty="0"/>
          </a:p>
        </p:txBody>
      </p:sp>
      <p:sp>
        <p:nvSpPr>
          <p:cNvPr id="24" name="Shape 22"/>
          <p:cNvSpPr/>
          <p:nvPr/>
        </p:nvSpPr>
        <p:spPr>
          <a:xfrm>
            <a:off x="3611880" y="3840480"/>
            <a:ext cx="365760" cy="365760"/>
          </a:xfrm>
          <a:prstGeom prst="roundRect">
            <a:avLst>
              <a:gd name="adj" fmla="val 125000"/>
            </a:avLst>
          </a:prstGeom>
          <a:solidFill>
            <a:srgbClr val="9E2B25"/>
          </a:solidFill>
          <a:ln w="12700">
            <a:solidFill>
              <a:srgbClr val="9E2B25"/>
            </a:solidFill>
            <a:prstDash val="solid"/>
          </a:ln>
        </p:spPr>
      </p:sp>
      <p:sp>
        <p:nvSpPr>
          <p:cNvPr id="25" name="Text 23"/>
          <p:cNvSpPr/>
          <p:nvPr/>
        </p:nvSpPr>
        <p:spPr>
          <a:xfrm>
            <a:off x="3611880" y="38404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6" name="Text 24"/>
          <p:cNvSpPr/>
          <p:nvPr/>
        </p:nvSpPr>
        <p:spPr>
          <a:xfrm>
            <a:off x="4114800" y="3803904"/>
            <a:ext cx="4572000" cy="438912"/>
          </a:xfrm>
          <a:prstGeom prst="rect">
            <a:avLst/>
          </a:prstGeom>
          <a:noFill/>
          <a:ln/>
        </p:spPr>
        <p:txBody>
          <a:bodyPr wrap="square" lIns="0" tIns="0" rIns="0" bIns="0" rtlCol="0" anchor="ctr"/>
          <a:lstStyle/>
          <a:p>
            <a:pPr indent="0" marL="0">
              <a:buNone/>
            </a:pPr>
            <a:r>
              <a:rPr lang="en-US" sz="1150" dirty="0">
                <a:solidFill>
                  <a:srgbClr val="16283C"/>
                </a:solidFill>
                <a:latin typeface="Calibri" pitchFamily="34" charset="0"/>
                <a:ea typeface="Calibri" pitchFamily="34" charset="-122"/>
                <a:cs typeface="Calibri" pitchFamily="34" charset="-120"/>
              </a:rPr>
              <a:t>Si no coincide o no existe: no pagar y avisar al proveedor.</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roundRect">
            <a:avLst>
              <a:gd name="adj" fmla="val 96154"/>
            </a:avLst>
          </a:prstGeom>
          <a:solidFill>
            <a:srgbClr val="B8862B"/>
          </a:solidFill>
          <a:ln w="12700">
            <a:solidFill>
              <a:srgbClr val="B8862B"/>
            </a:solidFill>
            <a:prstDash val="solid"/>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4" name="Text 2"/>
          <p:cNvSpPr/>
          <p:nvPr/>
        </p:nvSpPr>
        <p:spPr>
          <a:xfrm>
            <a:off x="1078992" y="274320"/>
            <a:ext cx="7589520" cy="384048"/>
          </a:xfrm>
          <a:prstGeom prst="rect">
            <a:avLst/>
          </a:prstGeom>
          <a:noFill/>
          <a:ln/>
        </p:spPr>
        <p:txBody>
          <a:bodyPr wrap="square" lIns="0" tIns="0" rIns="0" bIns="0" rtlCol="0" anchor="ctr"/>
          <a:lstStyle/>
          <a:p>
            <a:pPr algn="l" indent="0" marL="0">
              <a:buNone/>
            </a:pPr>
            <a:r>
              <a:rPr lang="en-US" sz="2500" b="1" dirty="0">
                <a:solidFill>
                  <a:srgbClr val="16283C"/>
                </a:solidFill>
                <a:latin typeface="Cambria" pitchFamily="34" charset="0"/>
                <a:ea typeface="Cambria" pitchFamily="34" charset="-122"/>
                <a:cs typeface="Cambria" pitchFamily="34" charset="-120"/>
              </a:rPr>
              <a:t>IVA y Ganancias</a:t>
            </a:r>
            <a:endParaRPr lang="en-US" sz="2500" dirty="0"/>
          </a:p>
        </p:txBody>
      </p:sp>
      <p:sp>
        <p:nvSpPr>
          <p:cNvPr id="5" name="Text 3"/>
          <p:cNvSpPr/>
          <p:nvPr/>
        </p:nvSpPr>
        <p:spPr>
          <a:xfrm>
            <a:off x="1078992" y="676656"/>
            <a:ext cx="7589520" cy="256032"/>
          </a:xfrm>
          <a:prstGeom prst="rect">
            <a:avLst/>
          </a:prstGeom>
          <a:noFill/>
          <a:ln/>
        </p:spPr>
        <p:txBody>
          <a:bodyPr wrap="square" lIns="0" tIns="0" rIns="0" bIns="0" rtlCol="0" anchor="ctr"/>
          <a:lstStyle/>
          <a:p>
            <a:pPr algn="l" indent="0" marL="0">
              <a:buNone/>
            </a:pPr>
            <a:r>
              <a:rPr lang="en-US" sz="1150" dirty="0">
                <a:solidFill>
                  <a:srgbClr val="5B6B7C"/>
                </a:solidFill>
                <a:latin typeface="Calibri" pitchFamily="34" charset="0"/>
                <a:ea typeface="Calibri" pitchFamily="34" charset="-122"/>
                <a:cs typeface="Calibri" pitchFamily="34" charset="-120"/>
              </a:rPr>
              <a:t>Los dos impuestos nacionales que atraviesan toda la operación</a:t>
            </a:r>
            <a:endParaRPr lang="en-US" sz="1150" dirty="0"/>
          </a:p>
        </p:txBody>
      </p:sp>
      <p:sp>
        <p:nvSpPr>
          <p:cNvPr id="6" name="Shape 4"/>
          <p:cNvSpPr/>
          <p:nvPr/>
        </p:nvSpPr>
        <p:spPr>
          <a:xfrm>
            <a:off x="457200" y="1097280"/>
            <a:ext cx="4069080" cy="3291840"/>
          </a:xfrm>
          <a:prstGeom prst="roundRect">
            <a:avLst>
              <a:gd name="adj" fmla="val 2222"/>
            </a:avLst>
          </a:prstGeom>
          <a:solidFill>
            <a:srgbClr val="F1F3F6"/>
          </a:solidFill>
          <a:ln w="12700">
            <a:solidFill>
              <a:srgbClr val="F1F3F6"/>
            </a:solidFill>
            <a:prstDash val="solid"/>
          </a:ln>
        </p:spPr>
      </p:sp>
      <p:sp>
        <p:nvSpPr>
          <p:cNvPr id="7" name="Text 5"/>
          <p:cNvSpPr/>
          <p:nvPr/>
        </p:nvSpPr>
        <p:spPr>
          <a:xfrm>
            <a:off x="685800" y="1280160"/>
            <a:ext cx="3566160" cy="329184"/>
          </a:xfrm>
          <a:prstGeom prst="rect">
            <a:avLst/>
          </a:prstGeom>
          <a:noFill/>
          <a:ln/>
        </p:spPr>
        <p:txBody>
          <a:bodyPr wrap="square" lIns="0" tIns="0" rIns="0" bIns="0" rtlCol="0" anchor="ctr"/>
          <a:lstStyle/>
          <a:p>
            <a:pPr indent="0" marL="0">
              <a:buNone/>
            </a:pPr>
            <a:r>
              <a:rPr lang="en-US" sz="2000" b="1" dirty="0">
                <a:solidFill>
                  <a:srgbClr val="16283C"/>
                </a:solidFill>
                <a:latin typeface="Cambria" pitchFamily="34" charset="0"/>
                <a:ea typeface="Cambria" pitchFamily="34" charset="-122"/>
                <a:cs typeface="Cambria" pitchFamily="34" charset="-120"/>
              </a:rPr>
              <a:t>IVA</a:t>
            </a:r>
            <a:endParaRPr lang="en-US" sz="2000" dirty="0"/>
          </a:p>
        </p:txBody>
      </p:sp>
      <p:sp>
        <p:nvSpPr>
          <p:cNvPr id="8" name="Text 6"/>
          <p:cNvSpPr/>
          <p:nvPr/>
        </p:nvSpPr>
        <p:spPr>
          <a:xfrm>
            <a:off x="685800" y="1627632"/>
            <a:ext cx="3566160" cy="548640"/>
          </a:xfrm>
          <a:prstGeom prst="rect">
            <a:avLst/>
          </a:prstGeom>
          <a:noFill/>
          <a:ln/>
        </p:spPr>
        <p:txBody>
          <a:bodyPr wrap="square" lIns="0" tIns="0" rIns="0" bIns="0" rtlCol="0" anchor="ctr"/>
          <a:lstStyle/>
          <a:p>
            <a:pPr indent="0" marL="0">
              <a:lnSpc>
                <a:spcPts val="1500"/>
              </a:lnSpc>
              <a:buNone/>
            </a:pPr>
            <a:r>
              <a:rPr lang="en-US" sz="1100" dirty="0">
                <a:solidFill>
                  <a:srgbClr val="5B6B7C"/>
                </a:solidFill>
                <a:latin typeface="Calibri" pitchFamily="34" charset="0"/>
                <a:ea typeface="Calibri" pitchFamily="34" charset="-122"/>
                <a:cs typeface="Calibri" pitchFamily="34" charset="-120"/>
              </a:rPr>
              <a:t>Indirecto: lo paga el consumidor final dentro del precio, pero cada eslabón lo liquida ante ARCA. DDJJ mensual.</a:t>
            </a:r>
            <a:endParaRPr lang="en-US" sz="1100" dirty="0"/>
          </a:p>
        </p:txBody>
      </p:sp>
      <p:sp>
        <p:nvSpPr>
          <p:cNvPr id="9" name="Text 7"/>
          <p:cNvSpPr/>
          <p:nvPr/>
        </p:nvSpPr>
        <p:spPr>
          <a:xfrm>
            <a:off x="685800" y="2240280"/>
            <a:ext cx="1143000" cy="411480"/>
          </a:xfrm>
          <a:prstGeom prst="rect">
            <a:avLst/>
          </a:prstGeom>
          <a:noFill/>
          <a:ln/>
        </p:spPr>
        <p:txBody>
          <a:bodyPr wrap="square" lIns="0" tIns="0" rIns="0" bIns="0" rtlCol="0" anchor="ctr"/>
          <a:lstStyle/>
          <a:p>
            <a:pPr indent="0" marL="0">
              <a:buNone/>
            </a:pPr>
            <a:r>
              <a:rPr lang="en-US" sz="2400" b="1" dirty="0">
                <a:solidFill>
                  <a:srgbClr val="B8862B"/>
                </a:solidFill>
                <a:latin typeface="Cambria" pitchFamily="34" charset="0"/>
                <a:ea typeface="Cambria" pitchFamily="34" charset="-122"/>
                <a:cs typeface="Cambria" pitchFamily="34" charset="-120"/>
              </a:rPr>
              <a:t>21%</a:t>
            </a:r>
            <a:endParaRPr lang="en-US" sz="2400" dirty="0"/>
          </a:p>
        </p:txBody>
      </p:sp>
      <p:sp>
        <p:nvSpPr>
          <p:cNvPr id="10" name="Text 8"/>
          <p:cNvSpPr/>
          <p:nvPr/>
        </p:nvSpPr>
        <p:spPr>
          <a:xfrm>
            <a:off x="685800" y="2670048"/>
            <a:ext cx="1097280" cy="548640"/>
          </a:xfrm>
          <a:prstGeom prst="rect">
            <a:avLst/>
          </a:prstGeom>
          <a:noFill/>
          <a:ln/>
        </p:spPr>
        <p:txBody>
          <a:bodyPr wrap="square" lIns="0" tIns="0" rIns="0" bIns="0" rtlCol="0" anchor="t"/>
          <a:lstStyle/>
          <a:p>
            <a:pPr indent="0" marL="0">
              <a:lnSpc>
                <a:spcPts val="1200"/>
              </a:lnSpc>
              <a:buNone/>
            </a:pPr>
            <a:r>
              <a:rPr lang="en-US" sz="950" dirty="0">
                <a:solidFill>
                  <a:srgbClr val="5B6B7C"/>
                </a:solidFill>
                <a:latin typeface="Calibri" pitchFamily="34" charset="0"/>
                <a:ea typeface="Calibri" pitchFamily="34" charset="-122"/>
                <a:cs typeface="Calibri" pitchFamily="34" charset="-120"/>
              </a:rPr>
              <a:t>Alícuota general</a:t>
            </a:r>
            <a:endParaRPr lang="en-US" sz="950" dirty="0"/>
          </a:p>
        </p:txBody>
      </p:sp>
      <p:sp>
        <p:nvSpPr>
          <p:cNvPr id="11" name="Text 9"/>
          <p:cNvSpPr/>
          <p:nvPr/>
        </p:nvSpPr>
        <p:spPr>
          <a:xfrm>
            <a:off x="1874520" y="2240280"/>
            <a:ext cx="1143000" cy="411480"/>
          </a:xfrm>
          <a:prstGeom prst="rect">
            <a:avLst/>
          </a:prstGeom>
          <a:noFill/>
          <a:ln/>
        </p:spPr>
        <p:txBody>
          <a:bodyPr wrap="square" lIns="0" tIns="0" rIns="0" bIns="0" rtlCol="0" anchor="ctr"/>
          <a:lstStyle/>
          <a:p>
            <a:pPr indent="0" marL="0">
              <a:buNone/>
            </a:pPr>
            <a:r>
              <a:rPr lang="en-US" sz="2400" b="1" dirty="0">
                <a:solidFill>
                  <a:srgbClr val="B8862B"/>
                </a:solidFill>
                <a:latin typeface="Cambria" pitchFamily="34" charset="0"/>
                <a:ea typeface="Cambria" pitchFamily="34" charset="-122"/>
                <a:cs typeface="Cambria" pitchFamily="34" charset="-120"/>
              </a:rPr>
              <a:t>10,5%</a:t>
            </a:r>
            <a:endParaRPr lang="en-US" sz="2400" dirty="0"/>
          </a:p>
        </p:txBody>
      </p:sp>
      <p:sp>
        <p:nvSpPr>
          <p:cNvPr id="12" name="Text 10"/>
          <p:cNvSpPr/>
          <p:nvPr/>
        </p:nvSpPr>
        <p:spPr>
          <a:xfrm>
            <a:off x="1874520" y="2670048"/>
            <a:ext cx="1097280" cy="548640"/>
          </a:xfrm>
          <a:prstGeom prst="rect">
            <a:avLst/>
          </a:prstGeom>
          <a:noFill/>
          <a:ln/>
        </p:spPr>
        <p:txBody>
          <a:bodyPr wrap="square" lIns="0" tIns="0" rIns="0" bIns="0" rtlCol="0" anchor="t"/>
          <a:lstStyle/>
          <a:p>
            <a:pPr indent="0" marL="0">
              <a:lnSpc>
                <a:spcPts val="1200"/>
              </a:lnSpc>
              <a:buNone/>
            </a:pPr>
            <a:r>
              <a:rPr lang="en-US" sz="950" dirty="0">
                <a:solidFill>
                  <a:srgbClr val="5B6B7C"/>
                </a:solidFill>
                <a:latin typeface="Calibri" pitchFamily="34" charset="0"/>
                <a:ea typeface="Calibri" pitchFamily="34" charset="-122"/>
                <a:cs typeface="Calibri" pitchFamily="34" charset="-120"/>
              </a:rPr>
              <a:t>Construcción, transporte, prepagas</a:t>
            </a:r>
            <a:endParaRPr lang="en-US" sz="950" dirty="0"/>
          </a:p>
        </p:txBody>
      </p:sp>
      <p:sp>
        <p:nvSpPr>
          <p:cNvPr id="13" name="Text 11"/>
          <p:cNvSpPr/>
          <p:nvPr/>
        </p:nvSpPr>
        <p:spPr>
          <a:xfrm>
            <a:off x="3063240" y="2240280"/>
            <a:ext cx="1143000" cy="411480"/>
          </a:xfrm>
          <a:prstGeom prst="rect">
            <a:avLst/>
          </a:prstGeom>
          <a:noFill/>
          <a:ln/>
        </p:spPr>
        <p:txBody>
          <a:bodyPr wrap="square" lIns="0" tIns="0" rIns="0" bIns="0" rtlCol="0" anchor="ctr"/>
          <a:lstStyle/>
          <a:p>
            <a:pPr indent="0" marL="0">
              <a:buNone/>
            </a:pPr>
            <a:r>
              <a:rPr lang="en-US" sz="2400" b="1" dirty="0">
                <a:solidFill>
                  <a:srgbClr val="B8862B"/>
                </a:solidFill>
                <a:latin typeface="Cambria" pitchFamily="34" charset="0"/>
                <a:ea typeface="Cambria" pitchFamily="34" charset="-122"/>
                <a:cs typeface="Cambria" pitchFamily="34" charset="-120"/>
              </a:rPr>
              <a:t>27%</a:t>
            </a:r>
            <a:endParaRPr lang="en-US" sz="2400" dirty="0"/>
          </a:p>
        </p:txBody>
      </p:sp>
      <p:sp>
        <p:nvSpPr>
          <p:cNvPr id="14" name="Text 12"/>
          <p:cNvSpPr/>
          <p:nvPr/>
        </p:nvSpPr>
        <p:spPr>
          <a:xfrm>
            <a:off x="3063240" y="2670048"/>
            <a:ext cx="1097280" cy="548640"/>
          </a:xfrm>
          <a:prstGeom prst="rect">
            <a:avLst/>
          </a:prstGeom>
          <a:noFill/>
          <a:ln/>
        </p:spPr>
        <p:txBody>
          <a:bodyPr wrap="square" lIns="0" tIns="0" rIns="0" bIns="0" rtlCol="0" anchor="t"/>
          <a:lstStyle/>
          <a:p>
            <a:pPr indent="0" marL="0">
              <a:lnSpc>
                <a:spcPts val="1200"/>
              </a:lnSpc>
              <a:buNone/>
            </a:pPr>
            <a:r>
              <a:rPr lang="en-US" sz="950" dirty="0">
                <a:solidFill>
                  <a:srgbClr val="5B6B7C"/>
                </a:solidFill>
                <a:latin typeface="Calibri" pitchFamily="34" charset="0"/>
                <a:ea typeface="Calibri" pitchFamily="34" charset="-122"/>
                <a:cs typeface="Calibri" pitchFamily="34" charset="-120"/>
              </a:rPr>
              <a:t>Luz, gas y teléfono comerciales</a:t>
            </a:r>
            <a:endParaRPr lang="en-US" sz="950" dirty="0"/>
          </a:p>
        </p:txBody>
      </p:sp>
      <p:sp>
        <p:nvSpPr>
          <p:cNvPr id="15" name="Shape 13"/>
          <p:cNvSpPr/>
          <p:nvPr/>
        </p:nvSpPr>
        <p:spPr>
          <a:xfrm>
            <a:off x="685800" y="3310128"/>
            <a:ext cx="3611880" cy="868680"/>
          </a:xfrm>
          <a:prstGeom prst="roundRect">
            <a:avLst>
              <a:gd name="adj" fmla="val 8421"/>
            </a:avLst>
          </a:prstGeom>
          <a:solidFill>
            <a:srgbClr val="F6EEDD"/>
          </a:solidFill>
          <a:ln w="12700">
            <a:solidFill>
              <a:srgbClr val="F6EEDD"/>
            </a:solidFill>
            <a:prstDash val="solid"/>
          </a:ln>
        </p:spPr>
      </p:sp>
      <p:sp>
        <p:nvSpPr>
          <p:cNvPr id="16" name="Text 14"/>
          <p:cNvSpPr/>
          <p:nvPr/>
        </p:nvSpPr>
        <p:spPr>
          <a:xfrm>
            <a:off x="868680" y="3310128"/>
            <a:ext cx="3291840" cy="868680"/>
          </a:xfrm>
          <a:prstGeom prst="rect">
            <a:avLst/>
          </a:prstGeom>
          <a:noFill/>
          <a:ln/>
        </p:spPr>
        <p:txBody>
          <a:bodyPr wrap="square" lIns="0" tIns="0" rIns="0" bIns="0" rtlCol="0" anchor="ctr"/>
          <a:lstStyle/>
          <a:p>
            <a:pPr indent="0" marL="0">
              <a:lnSpc>
                <a:spcPts val="1400"/>
              </a:lnSpc>
              <a:buNone/>
            </a:pPr>
            <a:r>
              <a:rPr lang="en-US" sz="1050" dirty="0">
                <a:solidFill>
                  <a:srgbClr val="16283C"/>
                </a:solidFill>
                <a:latin typeface="Calibri" pitchFamily="34" charset="0"/>
                <a:ea typeface="Calibri" pitchFamily="34" charset="-122"/>
                <a:cs typeface="Calibri" pitchFamily="34" charset="-120"/>
              </a:rPr>
              <a:t>Crédito fiscal es el IVA que pagaste en tus compras; débito fiscal, el que cobraste en tus ventas. Se liquida la diferencia.</a:t>
            </a:r>
            <a:endParaRPr lang="en-US" sz="1050" dirty="0"/>
          </a:p>
        </p:txBody>
      </p:sp>
      <p:sp>
        <p:nvSpPr>
          <p:cNvPr id="17" name="Shape 15"/>
          <p:cNvSpPr/>
          <p:nvPr/>
        </p:nvSpPr>
        <p:spPr>
          <a:xfrm>
            <a:off x="4709160" y="1097280"/>
            <a:ext cx="3977640" cy="3291840"/>
          </a:xfrm>
          <a:prstGeom prst="roundRect">
            <a:avLst>
              <a:gd name="adj" fmla="val 2222"/>
            </a:avLst>
          </a:prstGeom>
          <a:solidFill>
            <a:srgbClr val="F1F3F6"/>
          </a:solidFill>
          <a:ln w="12700">
            <a:solidFill>
              <a:srgbClr val="F1F3F6"/>
            </a:solidFill>
            <a:prstDash val="solid"/>
          </a:ln>
        </p:spPr>
      </p:sp>
      <p:sp>
        <p:nvSpPr>
          <p:cNvPr id="18" name="Text 16"/>
          <p:cNvSpPr/>
          <p:nvPr/>
        </p:nvSpPr>
        <p:spPr>
          <a:xfrm>
            <a:off x="4937760" y="1280160"/>
            <a:ext cx="3474720" cy="329184"/>
          </a:xfrm>
          <a:prstGeom prst="rect">
            <a:avLst/>
          </a:prstGeom>
          <a:noFill/>
          <a:ln/>
        </p:spPr>
        <p:txBody>
          <a:bodyPr wrap="square" lIns="0" tIns="0" rIns="0" bIns="0" rtlCol="0" anchor="ctr"/>
          <a:lstStyle/>
          <a:p>
            <a:pPr indent="0" marL="0">
              <a:buNone/>
            </a:pPr>
            <a:r>
              <a:rPr lang="en-US" sz="2000" b="1" dirty="0">
                <a:solidFill>
                  <a:srgbClr val="16283C"/>
                </a:solidFill>
                <a:latin typeface="Cambria" pitchFamily="34" charset="0"/>
                <a:ea typeface="Cambria" pitchFamily="34" charset="-122"/>
                <a:cs typeface="Cambria" pitchFamily="34" charset="-120"/>
              </a:rPr>
              <a:t>Ganancias</a:t>
            </a:r>
            <a:endParaRPr lang="en-US" sz="2000" dirty="0"/>
          </a:p>
        </p:txBody>
      </p:sp>
      <p:sp>
        <p:nvSpPr>
          <p:cNvPr id="19" name="Text 17"/>
          <p:cNvSpPr/>
          <p:nvPr/>
        </p:nvSpPr>
        <p:spPr>
          <a:xfrm>
            <a:off x="4937760" y="1627632"/>
            <a:ext cx="3474720" cy="411480"/>
          </a:xfrm>
          <a:prstGeom prst="rect">
            <a:avLst/>
          </a:prstGeom>
          <a:noFill/>
          <a:ln/>
        </p:spPr>
        <p:txBody>
          <a:bodyPr wrap="square" lIns="0" tIns="0" rIns="0" bIns="0" rtlCol="0" anchor="ctr"/>
          <a:lstStyle/>
          <a:p>
            <a:pPr indent="0" marL="0">
              <a:lnSpc>
                <a:spcPts val="1500"/>
              </a:lnSpc>
              <a:buNone/>
            </a:pPr>
            <a:r>
              <a:rPr lang="en-US" sz="1100" dirty="0">
                <a:solidFill>
                  <a:srgbClr val="5B6B7C"/>
                </a:solidFill>
                <a:latin typeface="Calibri" pitchFamily="34" charset="0"/>
                <a:ea typeface="Calibri" pitchFamily="34" charset="-122"/>
                <a:cs typeface="Calibri" pitchFamily="34" charset="-120"/>
              </a:rPr>
              <a:t>Grava la renta de personas y empresas. DDJJ anual, con anticipos durante el año.</a:t>
            </a:r>
            <a:endParaRPr lang="en-US" sz="1100" dirty="0"/>
          </a:p>
        </p:txBody>
      </p:sp>
      <p:sp>
        <p:nvSpPr>
          <p:cNvPr id="20" name="Text 18"/>
          <p:cNvSpPr/>
          <p:nvPr/>
        </p:nvSpPr>
        <p:spPr>
          <a:xfrm>
            <a:off x="4937760" y="2148840"/>
            <a:ext cx="3520440" cy="219456"/>
          </a:xfrm>
          <a:prstGeom prst="rect">
            <a:avLst/>
          </a:prstGeom>
          <a:noFill/>
          <a:ln/>
        </p:spPr>
        <p:txBody>
          <a:bodyPr wrap="square" lIns="0" tIns="0" rIns="0" bIns="0" rtlCol="0" anchor="ctr"/>
          <a:lstStyle/>
          <a:p>
            <a:pPr indent="0" marL="0">
              <a:buNone/>
            </a:pPr>
            <a:r>
              <a:rPr lang="en-US" sz="1150" b="1" dirty="0">
                <a:solidFill>
                  <a:srgbClr val="16283C"/>
                </a:solidFill>
                <a:latin typeface="Calibri" pitchFamily="34" charset="0"/>
                <a:ea typeface="Calibri" pitchFamily="34" charset="-122"/>
                <a:cs typeface="Calibri" pitchFamily="34" charset="-120"/>
              </a:rPr>
              <a:t>En relación de dependencia</a:t>
            </a:r>
            <a:endParaRPr lang="en-US" sz="1150" dirty="0"/>
          </a:p>
        </p:txBody>
      </p:sp>
      <p:sp>
        <p:nvSpPr>
          <p:cNvPr id="21" name="Text 19"/>
          <p:cNvSpPr/>
          <p:nvPr/>
        </p:nvSpPr>
        <p:spPr>
          <a:xfrm>
            <a:off x="4937760" y="2368296"/>
            <a:ext cx="3520440" cy="457200"/>
          </a:xfrm>
          <a:prstGeom prst="rect">
            <a:avLst/>
          </a:prstGeom>
          <a:noFill/>
          <a:ln/>
        </p:spPr>
        <p:txBody>
          <a:bodyPr wrap="square" lIns="0" tIns="0" rIns="0" bIns="0" rtlCol="0" anchor="ctr"/>
          <a:lstStyle/>
          <a:p>
            <a:pPr indent="0" marL="0">
              <a:lnSpc>
                <a:spcPts val="1300"/>
              </a:lnSpc>
              <a:buNone/>
            </a:pPr>
            <a:r>
              <a:rPr lang="en-US" sz="1000" dirty="0">
                <a:solidFill>
                  <a:srgbClr val="5B6B7C"/>
                </a:solidFill>
                <a:latin typeface="Calibri" pitchFamily="34" charset="0"/>
                <a:ea typeface="Calibri" pitchFamily="34" charset="-122"/>
                <a:cs typeface="Calibri" pitchFamily="34" charset="-120"/>
              </a:rPr>
              <a:t>El empleador retiene del sueldo cuando supera el mínimo no imponible vigente.</a:t>
            </a:r>
            <a:endParaRPr lang="en-US" sz="1000" dirty="0"/>
          </a:p>
        </p:txBody>
      </p:sp>
      <p:sp>
        <p:nvSpPr>
          <p:cNvPr id="22" name="Text 20"/>
          <p:cNvSpPr/>
          <p:nvPr/>
        </p:nvSpPr>
        <p:spPr>
          <a:xfrm>
            <a:off x="4937760" y="2862072"/>
            <a:ext cx="3520440" cy="219456"/>
          </a:xfrm>
          <a:prstGeom prst="rect">
            <a:avLst/>
          </a:prstGeom>
          <a:noFill/>
          <a:ln/>
        </p:spPr>
        <p:txBody>
          <a:bodyPr wrap="square" lIns="0" tIns="0" rIns="0" bIns="0" rtlCol="0" anchor="ctr"/>
          <a:lstStyle/>
          <a:p>
            <a:pPr indent="0" marL="0">
              <a:buNone/>
            </a:pPr>
            <a:r>
              <a:rPr lang="en-US" sz="1150" b="1" dirty="0">
                <a:solidFill>
                  <a:srgbClr val="16283C"/>
                </a:solidFill>
                <a:latin typeface="Calibri" pitchFamily="34" charset="0"/>
                <a:ea typeface="Calibri" pitchFamily="34" charset="-122"/>
                <a:cs typeface="Calibri" pitchFamily="34" charset="-120"/>
              </a:rPr>
              <a:t>En sociedades</a:t>
            </a:r>
            <a:endParaRPr lang="en-US" sz="1150" dirty="0"/>
          </a:p>
        </p:txBody>
      </p:sp>
      <p:sp>
        <p:nvSpPr>
          <p:cNvPr id="23" name="Text 21"/>
          <p:cNvSpPr/>
          <p:nvPr/>
        </p:nvSpPr>
        <p:spPr>
          <a:xfrm>
            <a:off x="4937760" y="3081528"/>
            <a:ext cx="3520440" cy="457200"/>
          </a:xfrm>
          <a:prstGeom prst="rect">
            <a:avLst/>
          </a:prstGeom>
          <a:noFill/>
          <a:ln/>
        </p:spPr>
        <p:txBody>
          <a:bodyPr wrap="square" lIns="0" tIns="0" rIns="0" bIns="0" rtlCol="0" anchor="ctr"/>
          <a:lstStyle/>
          <a:p>
            <a:pPr indent="0" marL="0">
              <a:lnSpc>
                <a:spcPts val="1300"/>
              </a:lnSpc>
              <a:buNone/>
            </a:pPr>
            <a:r>
              <a:rPr lang="en-US" sz="1000" dirty="0">
                <a:solidFill>
                  <a:srgbClr val="5B6B7C"/>
                </a:solidFill>
                <a:latin typeface="Calibri" pitchFamily="34" charset="0"/>
                <a:ea typeface="Calibri" pitchFamily="34" charset="-122"/>
                <a:cs typeface="Calibri" pitchFamily="34" charset="-120"/>
              </a:rPr>
              <a:t>Grava la utilidad fiscal, con alícuotas escalonadas según ganancia y si se reinvierte (Ley 27.630).</a:t>
            </a:r>
            <a:endParaRPr lang="en-US" sz="1000" dirty="0"/>
          </a:p>
        </p:txBody>
      </p:sp>
      <p:sp>
        <p:nvSpPr>
          <p:cNvPr id="24" name="Text 22"/>
          <p:cNvSpPr/>
          <p:nvPr/>
        </p:nvSpPr>
        <p:spPr>
          <a:xfrm>
            <a:off x="4937760" y="3575304"/>
            <a:ext cx="3520440" cy="219456"/>
          </a:xfrm>
          <a:prstGeom prst="rect">
            <a:avLst/>
          </a:prstGeom>
          <a:noFill/>
          <a:ln/>
        </p:spPr>
        <p:txBody>
          <a:bodyPr wrap="square" lIns="0" tIns="0" rIns="0" bIns="0" rtlCol="0" anchor="ctr"/>
          <a:lstStyle/>
          <a:p>
            <a:pPr indent="0" marL="0">
              <a:buNone/>
            </a:pPr>
            <a:r>
              <a:rPr lang="en-US" sz="1150" b="1" dirty="0">
                <a:solidFill>
                  <a:srgbClr val="16283C"/>
                </a:solidFill>
                <a:latin typeface="Calibri" pitchFamily="34" charset="0"/>
                <a:ea typeface="Calibri" pitchFamily="34" charset="-122"/>
                <a:cs typeface="Calibri" pitchFamily="34" charset="-120"/>
              </a:rPr>
              <a:t>Bienes Personales</a:t>
            </a:r>
            <a:endParaRPr lang="en-US" sz="1150" dirty="0"/>
          </a:p>
        </p:txBody>
      </p:sp>
      <p:sp>
        <p:nvSpPr>
          <p:cNvPr id="25" name="Text 23"/>
          <p:cNvSpPr/>
          <p:nvPr/>
        </p:nvSpPr>
        <p:spPr>
          <a:xfrm>
            <a:off x="4937760" y="3794760"/>
            <a:ext cx="3520440" cy="457200"/>
          </a:xfrm>
          <a:prstGeom prst="rect">
            <a:avLst/>
          </a:prstGeom>
          <a:noFill/>
          <a:ln/>
        </p:spPr>
        <p:txBody>
          <a:bodyPr wrap="square" lIns="0" tIns="0" rIns="0" bIns="0" rtlCol="0" anchor="ctr"/>
          <a:lstStyle/>
          <a:p>
            <a:pPr indent="0" marL="0">
              <a:lnSpc>
                <a:spcPts val="1300"/>
              </a:lnSpc>
              <a:buNone/>
            </a:pPr>
            <a:r>
              <a:rPr lang="en-US" sz="1000" dirty="0">
                <a:solidFill>
                  <a:srgbClr val="5B6B7C"/>
                </a:solidFill>
                <a:latin typeface="Calibri" pitchFamily="34" charset="0"/>
                <a:ea typeface="Calibri" pitchFamily="34" charset="-122"/>
                <a:cs typeface="Calibri" pitchFamily="34" charset="-120"/>
              </a:rPr>
              <a:t>Impuesto anual al patrimonio al 31/12: inmuebles, vehículos, inversiones y participaciones societarias.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roundRect">
            <a:avLst>
              <a:gd name="adj" fmla="val 96154"/>
            </a:avLst>
          </a:prstGeom>
          <a:solidFill>
            <a:srgbClr val="B8862B"/>
          </a:solidFill>
          <a:ln w="12700">
            <a:solidFill>
              <a:srgbClr val="B8862B"/>
            </a:solidFill>
            <a:prstDash val="solid"/>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7</a:t>
            </a:r>
            <a:endParaRPr lang="en-US" sz="1600" dirty="0"/>
          </a:p>
        </p:txBody>
      </p:sp>
      <p:sp>
        <p:nvSpPr>
          <p:cNvPr id="4" name="Text 2"/>
          <p:cNvSpPr/>
          <p:nvPr/>
        </p:nvSpPr>
        <p:spPr>
          <a:xfrm>
            <a:off x="1078992" y="274320"/>
            <a:ext cx="7589520" cy="384048"/>
          </a:xfrm>
          <a:prstGeom prst="rect">
            <a:avLst/>
          </a:prstGeom>
          <a:noFill/>
          <a:ln/>
        </p:spPr>
        <p:txBody>
          <a:bodyPr wrap="square" lIns="0" tIns="0" rIns="0" bIns="0" rtlCol="0" anchor="ctr"/>
          <a:lstStyle/>
          <a:p>
            <a:pPr algn="l" indent="0" marL="0">
              <a:buNone/>
            </a:pPr>
            <a:r>
              <a:rPr lang="en-US" sz="2500" b="1" dirty="0">
                <a:solidFill>
                  <a:srgbClr val="16283C"/>
                </a:solidFill>
                <a:latin typeface="Cambria" pitchFamily="34" charset="0"/>
                <a:ea typeface="Cambria" pitchFamily="34" charset="-122"/>
                <a:cs typeface="Cambria" pitchFamily="34" charset="-120"/>
              </a:rPr>
              <a:t>Ingresos Brutos: el que más duele</a:t>
            </a:r>
            <a:endParaRPr lang="en-US" sz="2500" dirty="0"/>
          </a:p>
        </p:txBody>
      </p:sp>
      <p:sp>
        <p:nvSpPr>
          <p:cNvPr id="5" name="Text 3"/>
          <p:cNvSpPr/>
          <p:nvPr/>
        </p:nvSpPr>
        <p:spPr>
          <a:xfrm>
            <a:off x="1078992" y="676656"/>
            <a:ext cx="7589520" cy="256032"/>
          </a:xfrm>
          <a:prstGeom prst="rect">
            <a:avLst/>
          </a:prstGeom>
          <a:noFill/>
          <a:ln/>
        </p:spPr>
        <p:txBody>
          <a:bodyPr wrap="square" lIns="0" tIns="0" rIns="0" bIns="0" rtlCol="0" anchor="ctr"/>
          <a:lstStyle/>
          <a:p>
            <a:pPr algn="l" indent="0" marL="0">
              <a:buNone/>
            </a:pPr>
            <a:r>
              <a:rPr lang="en-US" sz="1150" dirty="0">
                <a:solidFill>
                  <a:srgbClr val="5B6B7C"/>
                </a:solidFill>
                <a:latin typeface="Calibri" pitchFamily="34" charset="0"/>
                <a:ea typeface="Calibri" pitchFamily="34" charset="-122"/>
                <a:cs typeface="Calibri" pitchFamily="34" charset="-120"/>
              </a:rPr>
              <a:t>Provincial, mensual y calculado sobre lo facturado — exista o no ganancia</a:t>
            </a:r>
            <a:endParaRPr lang="en-US" sz="1150" dirty="0"/>
          </a:p>
        </p:txBody>
      </p:sp>
      <p:sp>
        <p:nvSpPr>
          <p:cNvPr id="6" name="Shape 4"/>
          <p:cNvSpPr/>
          <p:nvPr/>
        </p:nvSpPr>
        <p:spPr>
          <a:xfrm>
            <a:off x="457200" y="1097280"/>
            <a:ext cx="4069080" cy="2148840"/>
          </a:xfrm>
          <a:prstGeom prst="roundRect">
            <a:avLst>
              <a:gd name="adj" fmla="val 3404"/>
            </a:avLst>
          </a:prstGeom>
          <a:solidFill>
            <a:srgbClr val="16283C"/>
          </a:solidFill>
          <a:ln w="12700">
            <a:solidFill>
              <a:srgbClr val="16283C"/>
            </a:solidFill>
            <a:prstDash val="solid"/>
          </a:ln>
        </p:spPr>
      </p:sp>
      <p:sp>
        <p:nvSpPr>
          <p:cNvPr id="7" name="Text 5"/>
          <p:cNvSpPr/>
          <p:nvPr/>
        </p:nvSpPr>
        <p:spPr>
          <a:xfrm>
            <a:off x="713232" y="1325880"/>
            <a:ext cx="3566160" cy="777240"/>
          </a:xfrm>
          <a:prstGeom prst="rect">
            <a:avLst/>
          </a:prstGeom>
          <a:noFill/>
          <a:ln/>
        </p:spPr>
        <p:txBody>
          <a:bodyPr wrap="square" lIns="0" tIns="0" rIns="0" bIns="0" rtlCol="0" anchor="ctr"/>
          <a:lstStyle/>
          <a:p>
            <a:pPr indent="0" marL="0">
              <a:lnSpc>
                <a:spcPts val="2400"/>
              </a:lnSpc>
              <a:buNone/>
            </a:pPr>
            <a:r>
              <a:rPr lang="en-US" sz="1900" b="1" dirty="0">
                <a:solidFill>
                  <a:srgbClr val="FFFFFF"/>
                </a:solidFill>
                <a:latin typeface="Cambria" pitchFamily="34" charset="0"/>
                <a:ea typeface="Cambria" pitchFamily="34" charset="-122"/>
                <a:cs typeface="Cambria" pitchFamily="34" charset="-120"/>
              </a:rPr>
              <a:t>Se paga sobre la facturación,</a:t>
            </a:r>
            <a:endParaRPr lang="en-US" sz="1900" dirty="0"/>
          </a:p>
          <a:p>
            <a:pPr indent="0" marL="0">
              <a:lnSpc>
                <a:spcPts val="2400"/>
              </a:lnSpc>
              <a:buNone/>
            </a:pPr>
            <a:r>
              <a:rPr lang="en-US" sz="1900" b="1" dirty="0">
                <a:solidFill>
                  <a:srgbClr val="FFFFFF"/>
                </a:solidFill>
                <a:latin typeface="Cambria" pitchFamily="34" charset="0"/>
                <a:ea typeface="Cambria" pitchFamily="34" charset="-122"/>
                <a:cs typeface="Cambria" pitchFamily="34" charset="-120"/>
              </a:rPr>
              <a:t>no sobre la rentabilidad.</a:t>
            </a:r>
            <a:endParaRPr lang="en-US" sz="1900" dirty="0"/>
          </a:p>
        </p:txBody>
      </p:sp>
      <p:sp>
        <p:nvSpPr>
          <p:cNvPr id="8" name="Text 6"/>
          <p:cNvSpPr/>
          <p:nvPr/>
        </p:nvSpPr>
        <p:spPr>
          <a:xfrm>
            <a:off x="713232" y="2194560"/>
            <a:ext cx="3566160" cy="914400"/>
          </a:xfrm>
          <a:prstGeom prst="rect">
            <a:avLst/>
          </a:prstGeom>
          <a:noFill/>
          <a:ln/>
        </p:spPr>
        <p:txBody>
          <a:bodyPr wrap="square" lIns="0" tIns="0" rIns="0" bIns="0" rtlCol="0" anchor="ctr"/>
          <a:lstStyle/>
          <a:p>
            <a:pPr indent="0" marL="0">
              <a:lnSpc>
                <a:spcPts val="1600"/>
              </a:lnSpc>
              <a:buNone/>
            </a:pPr>
            <a:r>
              <a:rPr lang="en-US" sz="1100" dirty="0">
                <a:solidFill>
                  <a:srgbClr val="C3CEDA"/>
                </a:solidFill>
                <a:latin typeface="Calibri" pitchFamily="34" charset="0"/>
                <a:ea typeface="Calibri" pitchFamily="34" charset="-122"/>
                <a:cs typeface="Calibri" pitchFamily="34" charset="-120"/>
              </a:rPr>
              <a:t>Cada provincia fija su propia alícuota según el rubro: la de real estate no es la misma que la de venta de herramientas o marketing. Se liquida mensualmente ante ARBA, AGIP u otra provincia.</a:t>
            </a:r>
            <a:endParaRPr lang="en-US" sz="1100" dirty="0"/>
          </a:p>
        </p:txBody>
      </p:sp>
      <p:sp>
        <p:nvSpPr>
          <p:cNvPr id="9" name="Shape 7"/>
          <p:cNvSpPr/>
          <p:nvPr/>
        </p:nvSpPr>
        <p:spPr>
          <a:xfrm>
            <a:off x="4709160" y="1097280"/>
            <a:ext cx="3977640" cy="2148840"/>
          </a:xfrm>
          <a:prstGeom prst="roundRect">
            <a:avLst>
              <a:gd name="adj" fmla="val 3404"/>
            </a:avLst>
          </a:prstGeom>
          <a:solidFill>
            <a:srgbClr val="F1F3F6"/>
          </a:solidFill>
          <a:ln w="12700">
            <a:solidFill>
              <a:srgbClr val="F1F3F6"/>
            </a:solidFill>
            <a:prstDash val="solid"/>
          </a:ln>
        </p:spPr>
      </p:sp>
      <p:sp>
        <p:nvSpPr>
          <p:cNvPr id="10" name="Text 8"/>
          <p:cNvSpPr/>
          <p:nvPr/>
        </p:nvSpPr>
        <p:spPr>
          <a:xfrm>
            <a:off x="4937760" y="1280160"/>
            <a:ext cx="3520440" cy="310896"/>
          </a:xfrm>
          <a:prstGeom prst="rect">
            <a:avLst/>
          </a:prstGeom>
          <a:noFill/>
          <a:ln/>
        </p:spPr>
        <p:txBody>
          <a:bodyPr wrap="square" lIns="0" tIns="0" rIns="0" bIns="0" rtlCol="0" anchor="ctr"/>
          <a:lstStyle/>
          <a:p>
            <a:pPr indent="0" marL="0">
              <a:buNone/>
            </a:pPr>
            <a:r>
              <a:rPr lang="en-US" sz="1800" b="1" dirty="0">
                <a:solidFill>
                  <a:srgbClr val="16283C"/>
                </a:solidFill>
                <a:latin typeface="Cambria" pitchFamily="34" charset="0"/>
                <a:ea typeface="Cambria" pitchFamily="34" charset="-122"/>
                <a:cs typeface="Cambria" pitchFamily="34" charset="-120"/>
              </a:rPr>
              <a:t>Convenio Multilateral</a:t>
            </a:r>
            <a:endParaRPr lang="en-US" sz="1800" dirty="0"/>
          </a:p>
        </p:txBody>
      </p:sp>
      <p:sp>
        <p:nvSpPr>
          <p:cNvPr id="11" name="Text 9"/>
          <p:cNvSpPr/>
          <p:nvPr/>
        </p:nvSpPr>
        <p:spPr>
          <a:xfrm>
            <a:off x="4937760" y="1645920"/>
            <a:ext cx="3520440" cy="868680"/>
          </a:xfrm>
          <a:prstGeom prst="rect">
            <a:avLst/>
          </a:prstGeom>
          <a:noFill/>
          <a:ln/>
        </p:spPr>
        <p:txBody>
          <a:bodyPr wrap="square" lIns="0" tIns="0" rIns="0" bIns="0" rtlCol="0" anchor="ctr"/>
          <a:lstStyle/>
          <a:p>
            <a:pPr indent="0" marL="0">
              <a:lnSpc>
                <a:spcPts val="1500"/>
              </a:lnSpc>
              <a:buNone/>
            </a:pPr>
            <a:r>
              <a:rPr lang="en-US" sz="1050" dirty="0">
                <a:solidFill>
                  <a:srgbClr val="5B6B7C"/>
                </a:solidFill>
                <a:latin typeface="Calibri" pitchFamily="34" charset="0"/>
                <a:ea typeface="Calibri" pitchFamily="34" charset="-122"/>
                <a:cs typeface="Calibri" pitchFamily="34" charset="-120"/>
              </a:rPr>
              <a:t>Si la inmobiliaria factura en CABA y en PBA, no paga IIBB completo en cada jurisdicción por el mismo ingreso: el Convenio reparte la base imponible entre ambas.</a:t>
            </a:r>
            <a:endParaRPr lang="en-US" sz="1050" dirty="0"/>
          </a:p>
        </p:txBody>
      </p:sp>
      <p:sp>
        <p:nvSpPr>
          <p:cNvPr id="12" name="Shape 10"/>
          <p:cNvSpPr/>
          <p:nvPr/>
        </p:nvSpPr>
        <p:spPr>
          <a:xfrm>
            <a:off x="4937760" y="2560320"/>
            <a:ext cx="3520440" cy="548640"/>
          </a:xfrm>
          <a:prstGeom prst="roundRect">
            <a:avLst>
              <a:gd name="adj" fmla="val 13333"/>
            </a:avLst>
          </a:prstGeom>
          <a:solidFill>
            <a:srgbClr val="F6EEDD"/>
          </a:solidFill>
          <a:ln w="12700">
            <a:solidFill>
              <a:srgbClr val="F6EEDD"/>
            </a:solidFill>
            <a:prstDash val="solid"/>
          </a:ln>
        </p:spPr>
      </p:sp>
      <p:sp>
        <p:nvSpPr>
          <p:cNvPr id="13" name="Text 11"/>
          <p:cNvSpPr/>
          <p:nvPr/>
        </p:nvSpPr>
        <p:spPr>
          <a:xfrm>
            <a:off x="5120640" y="2560320"/>
            <a:ext cx="3200400" cy="548640"/>
          </a:xfrm>
          <a:prstGeom prst="rect">
            <a:avLst/>
          </a:prstGeom>
          <a:noFill/>
          <a:ln/>
        </p:spPr>
        <p:txBody>
          <a:bodyPr wrap="square" lIns="0" tIns="0" rIns="0" bIns="0" rtlCol="0" anchor="ctr"/>
          <a:lstStyle/>
          <a:p>
            <a:pPr indent="0" marL="0">
              <a:lnSpc>
                <a:spcPts val="1300"/>
              </a:lnSpc>
              <a:buNone/>
            </a:pPr>
            <a:r>
              <a:rPr lang="en-US" sz="1050" dirty="0">
                <a:solidFill>
                  <a:srgbClr val="16283C"/>
                </a:solidFill>
                <a:latin typeface="Calibri" pitchFamily="34" charset="0"/>
                <a:ea typeface="Calibri" pitchFamily="34" charset="-122"/>
                <a:cs typeface="Calibri" pitchFamily="34" charset="-120"/>
              </a:rPr>
              <a:t>Una única DDJJ mensual (SIFERE) + el CM05 anual al cierre del ejercicio.</a:t>
            </a:r>
            <a:endParaRPr lang="en-US" sz="1050" dirty="0"/>
          </a:p>
        </p:txBody>
      </p:sp>
      <p:sp>
        <p:nvSpPr>
          <p:cNvPr id="14" name="Shape 12"/>
          <p:cNvSpPr/>
          <p:nvPr/>
        </p:nvSpPr>
        <p:spPr>
          <a:xfrm>
            <a:off x="457200" y="3401568"/>
            <a:ext cx="3977640" cy="960120"/>
          </a:xfrm>
          <a:prstGeom prst="roundRect">
            <a:avLst>
              <a:gd name="adj" fmla="val 7619"/>
            </a:avLst>
          </a:prstGeom>
          <a:solidFill>
            <a:srgbClr val="F7F8FA"/>
          </a:solidFill>
          <a:ln w="12700">
            <a:solidFill>
              <a:srgbClr val="F7F8FA"/>
            </a:solidFill>
            <a:prstDash val="solid"/>
          </a:ln>
        </p:spPr>
      </p:sp>
      <p:sp>
        <p:nvSpPr>
          <p:cNvPr id="15" name="Text 13"/>
          <p:cNvSpPr/>
          <p:nvPr/>
        </p:nvSpPr>
        <p:spPr>
          <a:xfrm>
            <a:off x="658368" y="3520440"/>
            <a:ext cx="1463040" cy="237744"/>
          </a:xfrm>
          <a:prstGeom prst="rect">
            <a:avLst/>
          </a:prstGeom>
          <a:noFill/>
          <a:ln/>
        </p:spPr>
        <p:txBody>
          <a:bodyPr wrap="square" lIns="0" tIns="0" rIns="0" bIns="0" rtlCol="0" anchor="ctr"/>
          <a:lstStyle/>
          <a:p>
            <a:pPr indent="0" marL="0">
              <a:buNone/>
            </a:pPr>
            <a:r>
              <a:rPr lang="en-US" sz="1250" b="1" dirty="0">
                <a:solidFill>
                  <a:srgbClr val="16283C"/>
                </a:solidFill>
                <a:latin typeface="Calibri" pitchFamily="34" charset="0"/>
                <a:ea typeface="Calibri" pitchFamily="34" charset="-122"/>
                <a:cs typeface="Calibri" pitchFamily="34" charset="-120"/>
              </a:rPr>
              <a:t>Retención</a:t>
            </a:r>
            <a:endParaRPr lang="en-US" sz="1250" dirty="0"/>
          </a:p>
        </p:txBody>
      </p:sp>
      <p:sp>
        <p:nvSpPr>
          <p:cNvPr id="16" name="Text 14"/>
          <p:cNvSpPr/>
          <p:nvPr/>
        </p:nvSpPr>
        <p:spPr>
          <a:xfrm>
            <a:off x="2148840" y="3520440"/>
            <a:ext cx="2103120" cy="237744"/>
          </a:xfrm>
          <a:prstGeom prst="rect">
            <a:avLst/>
          </a:prstGeom>
          <a:noFill/>
          <a:ln/>
        </p:spPr>
        <p:txBody>
          <a:bodyPr wrap="square" lIns="0" tIns="0" rIns="0" bIns="0" rtlCol="0" anchor="ctr"/>
          <a:lstStyle/>
          <a:p>
            <a:pPr algn="r" indent="0" marL="0">
              <a:buNone/>
            </a:pPr>
            <a:r>
              <a:rPr lang="en-US" sz="950" b="1" spc="80" kern="0" dirty="0">
                <a:solidFill>
                  <a:srgbClr val="B8862B"/>
                </a:solidFill>
                <a:latin typeface="Calibri" pitchFamily="34" charset="0"/>
                <a:ea typeface="Calibri" pitchFamily="34" charset="-122"/>
                <a:cs typeface="Calibri" pitchFamily="34" charset="-120"/>
              </a:rPr>
              <a:t>La cobra quien PAGA</a:t>
            </a:r>
            <a:endParaRPr lang="en-US" sz="950" dirty="0"/>
          </a:p>
        </p:txBody>
      </p:sp>
      <p:sp>
        <p:nvSpPr>
          <p:cNvPr id="17" name="Text 15"/>
          <p:cNvSpPr/>
          <p:nvPr/>
        </p:nvSpPr>
        <p:spPr>
          <a:xfrm>
            <a:off x="658368" y="3776472"/>
            <a:ext cx="3566160" cy="502920"/>
          </a:xfrm>
          <a:prstGeom prst="rect">
            <a:avLst/>
          </a:prstGeom>
          <a:noFill/>
          <a:ln/>
        </p:spPr>
        <p:txBody>
          <a:bodyPr wrap="square" lIns="0" tIns="0" rIns="0" bIns="0" rtlCol="0" anchor="ctr"/>
          <a:lstStyle/>
          <a:p>
            <a:pPr indent="0" marL="0">
              <a:lnSpc>
                <a:spcPts val="1300"/>
              </a:lnSpc>
              <a:buNone/>
            </a:pPr>
            <a:r>
              <a:rPr lang="en-US" sz="1000" dirty="0">
                <a:solidFill>
                  <a:srgbClr val="5B6B7C"/>
                </a:solidFill>
                <a:latin typeface="Calibri" pitchFamily="34" charset="0"/>
                <a:ea typeface="Calibri" pitchFamily="34" charset="-122"/>
                <a:cs typeface="Calibri" pitchFamily="34" charset="-120"/>
              </a:rPr>
              <a:t>Descuenta un % de la factura del proveedor y lo deposita al fisco a cuenta de ese proveedor, que recibe un certificado.</a:t>
            </a:r>
            <a:endParaRPr lang="en-US" sz="1000" dirty="0"/>
          </a:p>
        </p:txBody>
      </p:sp>
      <p:sp>
        <p:nvSpPr>
          <p:cNvPr id="18" name="Shape 16"/>
          <p:cNvSpPr/>
          <p:nvPr/>
        </p:nvSpPr>
        <p:spPr>
          <a:xfrm>
            <a:off x="4709160" y="3401568"/>
            <a:ext cx="3977640" cy="960120"/>
          </a:xfrm>
          <a:prstGeom prst="roundRect">
            <a:avLst>
              <a:gd name="adj" fmla="val 7619"/>
            </a:avLst>
          </a:prstGeom>
          <a:solidFill>
            <a:srgbClr val="F7F8FA"/>
          </a:solidFill>
          <a:ln w="12700">
            <a:solidFill>
              <a:srgbClr val="F7F8FA"/>
            </a:solidFill>
            <a:prstDash val="solid"/>
          </a:ln>
        </p:spPr>
      </p:sp>
      <p:sp>
        <p:nvSpPr>
          <p:cNvPr id="19" name="Text 17"/>
          <p:cNvSpPr/>
          <p:nvPr/>
        </p:nvSpPr>
        <p:spPr>
          <a:xfrm>
            <a:off x="4910328" y="3520440"/>
            <a:ext cx="1463040" cy="237744"/>
          </a:xfrm>
          <a:prstGeom prst="rect">
            <a:avLst/>
          </a:prstGeom>
          <a:noFill/>
          <a:ln/>
        </p:spPr>
        <p:txBody>
          <a:bodyPr wrap="square" lIns="0" tIns="0" rIns="0" bIns="0" rtlCol="0" anchor="ctr"/>
          <a:lstStyle/>
          <a:p>
            <a:pPr indent="0" marL="0">
              <a:buNone/>
            </a:pPr>
            <a:r>
              <a:rPr lang="en-US" sz="1250" b="1" dirty="0">
                <a:solidFill>
                  <a:srgbClr val="16283C"/>
                </a:solidFill>
                <a:latin typeface="Calibri" pitchFamily="34" charset="0"/>
                <a:ea typeface="Calibri" pitchFamily="34" charset="-122"/>
                <a:cs typeface="Calibri" pitchFamily="34" charset="-120"/>
              </a:rPr>
              <a:t>Percepción</a:t>
            </a:r>
            <a:endParaRPr lang="en-US" sz="1250" dirty="0"/>
          </a:p>
        </p:txBody>
      </p:sp>
      <p:sp>
        <p:nvSpPr>
          <p:cNvPr id="20" name="Text 18"/>
          <p:cNvSpPr/>
          <p:nvPr/>
        </p:nvSpPr>
        <p:spPr>
          <a:xfrm>
            <a:off x="6400800" y="3520440"/>
            <a:ext cx="2103120" cy="237744"/>
          </a:xfrm>
          <a:prstGeom prst="rect">
            <a:avLst/>
          </a:prstGeom>
          <a:noFill/>
          <a:ln/>
        </p:spPr>
        <p:txBody>
          <a:bodyPr wrap="square" lIns="0" tIns="0" rIns="0" bIns="0" rtlCol="0" anchor="ctr"/>
          <a:lstStyle/>
          <a:p>
            <a:pPr algn="r" indent="0" marL="0">
              <a:buNone/>
            </a:pPr>
            <a:r>
              <a:rPr lang="en-US" sz="950" b="1" spc="80" kern="0" dirty="0">
                <a:solidFill>
                  <a:srgbClr val="B8862B"/>
                </a:solidFill>
                <a:latin typeface="Calibri" pitchFamily="34" charset="0"/>
                <a:ea typeface="Calibri" pitchFamily="34" charset="-122"/>
                <a:cs typeface="Calibri" pitchFamily="34" charset="-120"/>
              </a:rPr>
              <a:t>La cobra quien VENDE</a:t>
            </a:r>
            <a:endParaRPr lang="en-US" sz="950" dirty="0"/>
          </a:p>
        </p:txBody>
      </p:sp>
      <p:sp>
        <p:nvSpPr>
          <p:cNvPr id="21" name="Text 19"/>
          <p:cNvSpPr/>
          <p:nvPr/>
        </p:nvSpPr>
        <p:spPr>
          <a:xfrm>
            <a:off x="4910328" y="3776472"/>
            <a:ext cx="3566160" cy="502920"/>
          </a:xfrm>
          <a:prstGeom prst="rect">
            <a:avLst/>
          </a:prstGeom>
          <a:noFill/>
          <a:ln/>
        </p:spPr>
        <p:txBody>
          <a:bodyPr wrap="square" lIns="0" tIns="0" rIns="0" bIns="0" rtlCol="0" anchor="ctr"/>
          <a:lstStyle/>
          <a:p>
            <a:pPr indent="0" marL="0">
              <a:lnSpc>
                <a:spcPts val="1300"/>
              </a:lnSpc>
              <a:buNone/>
            </a:pPr>
            <a:r>
              <a:rPr lang="en-US" sz="1000" dirty="0">
                <a:solidFill>
                  <a:srgbClr val="5B6B7C"/>
                </a:solidFill>
                <a:latin typeface="Calibri" pitchFamily="34" charset="0"/>
                <a:ea typeface="Calibri" pitchFamily="34" charset="-122"/>
                <a:cs typeface="Calibri" pitchFamily="34" charset="-120"/>
              </a:rPr>
              <a:t>Suma un importe por encima del precio y lo deposita al fisco a cuenta de las obligaciones futuras del comprador.</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566160" cy="5143500"/>
          </a:xfrm>
          <a:prstGeom prst="rect">
            <a:avLst/>
          </a:prstGeom>
          <a:solidFill>
            <a:srgbClr val="16283C"/>
          </a:solidFill>
          <a:ln w="12700">
            <a:solidFill>
              <a:srgbClr val="16283C"/>
            </a:solidFill>
            <a:prstDash val="solid"/>
          </a:ln>
        </p:spPr>
      </p:sp>
      <p:sp>
        <p:nvSpPr>
          <p:cNvPr id="3" name="Shape 1"/>
          <p:cNvSpPr/>
          <p:nvPr/>
        </p:nvSpPr>
        <p:spPr>
          <a:xfrm>
            <a:off x="502920" y="502920"/>
            <a:ext cx="475488" cy="475488"/>
          </a:xfrm>
          <a:prstGeom prst="roundRect">
            <a:avLst>
              <a:gd name="adj" fmla="val 96154"/>
            </a:avLst>
          </a:prstGeom>
          <a:solidFill>
            <a:srgbClr val="B8862B"/>
          </a:solidFill>
          <a:ln w="12700">
            <a:solidFill>
              <a:srgbClr val="B8862B"/>
            </a:solidFill>
            <a:prstDash val="solid"/>
          </a:ln>
        </p:spPr>
      </p:sp>
      <p:sp>
        <p:nvSpPr>
          <p:cNvPr id="4" name="Text 2"/>
          <p:cNvSpPr/>
          <p:nvPr/>
        </p:nvSpPr>
        <p:spPr>
          <a:xfrm>
            <a:off x="502920" y="5029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8</a:t>
            </a:r>
            <a:endParaRPr lang="en-US" sz="1600" dirty="0"/>
          </a:p>
        </p:txBody>
      </p:sp>
      <p:sp>
        <p:nvSpPr>
          <p:cNvPr id="5" name="Text 3"/>
          <p:cNvSpPr/>
          <p:nvPr/>
        </p:nvSpPr>
        <p:spPr>
          <a:xfrm>
            <a:off x="502920" y="1234440"/>
            <a:ext cx="2651760" cy="5486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Sellos</a:t>
            </a:r>
            <a:endParaRPr lang="en-US" sz="3600" dirty="0"/>
          </a:p>
        </p:txBody>
      </p:sp>
      <p:sp>
        <p:nvSpPr>
          <p:cNvPr id="6" name="Text 4"/>
          <p:cNvSpPr/>
          <p:nvPr/>
        </p:nvSpPr>
        <p:spPr>
          <a:xfrm>
            <a:off x="502920" y="1810512"/>
            <a:ext cx="2651760" cy="329184"/>
          </a:xfrm>
          <a:prstGeom prst="rect">
            <a:avLst/>
          </a:prstGeom>
          <a:noFill/>
          <a:ln/>
        </p:spPr>
        <p:txBody>
          <a:bodyPr wrap="square" lIns="0" tIns="0" rIns="0" bIns="0" rtlCol="0" anchor="ctr"/>
          <a:lstStyle/>
          <a:p>
            <a:pPr indent="0" marL="0">
              <a:buNone/>
            </a:pPr>
            <a:r>
              <a:rPr lang="en-US" sz="1700" dirty="0">
                <a:solidFill>
                  <a:srgbClr val="B8862B"/>
                </a:solidFill>
                <a:latin typeface="Cambria" pitchFamily="34" charset="0"/>
                <a:ea typeface="Cambria" pitchFamily="34" charset="-122"/>
                <a:cs typeface="Cambria" pitchFamily="34" charset="-120"/>
              </a:rPr>
              <a:t>El impuesto de la firma</a:t>
            </a:r>
            <a:endParaRPr lang="en-US" sz="1700" dirty="0"/>
          </a:p>
        </p:txBody>
      </p:sp>
      <p:sp>
        <p:nvSpPr>
          <p:cNvPr id="7" name="Text 5"/>
          <p:cNvSpPr/>
          <p:nvPr/>
        </p:nvSpPr>
        <p:spPr>
          <a:xfrm>
            <a:off x="502920" y="2377440"/>
            <a:ext cx="2651760" cy="1828800"/>
          </a:xfrm>
          <a:prstGeom prst="rect">
            <a:avLst/>
          </a:prstGeom>
          <a:noFill/>
          <a:ln/>
        </p:spPr>
        <p:txBody>
          <a:bodyPr wrap="square" lIns="0" tIns="0" rIns="0" bIns="0" rtlCol="0" anchor="ctr"/>
          <a:lstStyle/>
          <a:p>
            <a:pPr indent="0" marL="0">
              <a:lnSpc>
                <a:spcPts val="1700"/>
              </a:lnSpc>
              <a:buNone/>
            </a:pPr>
            <a:r>
              <a:rPr lang="en-US" sz="1150" dirty="0">
                <a:solidFill>
                  <a:srgbClr val="C3CEDA"/>
                </a:solidFill>
                <a:latin typeface="Calibri" pitchFamily="34" charset="0"/>
                <a:ea typeface="Calibri" pitchFamily="34" charset="-122"/>
                <a:cs typeface="Calibri" pitchFamily="34" charset="-120"/>
              </a:rPr>
              <a:t>Impuesto provincial sobre la instrumentación de actos y contratos: alquileres, boletos de compraventa, contratos comerciales.</a:t>
            </a:r>
            <a:endParaRPr lang="en-US" sz="1150" dirty="0"/>
          </a:p>
          <a:p>
            <a:pPr indent="0" marL="0">
              <a:lnSpc>
                <a:spcPts val="1700"/>
              </a:lnSpc>
              <a:buNone/>
            </a:pPr>
            <a:endParaRPr lang="en-US" sz="1150" dirty="0"/>
          </a:p>
          <a:p>
            <a:pPr indent="0" marL="0">
              <a:lnSpc>
                <a:spcPts val="1700"/>
              </a:lnSpc>
              <a:buNone/>
            </a:pPr>
            <a:r>
              <a:rPr lang="en-US" sz="1150" dirty="0">
                <a:solidFill>
                  <a:srgbClr val="C3CEDA"/>
                </a:solidFill>
                <a:latin typeface="Calibri" pitchFamily="34" charset="0"/>
                <a:ea typeface="Calibri" pitchFamily="34" charset="-122"/>
                <a:cs typeface="Calibri" pitchFamily="34" charset="-120"/>
              </a:rPr>
              <a:t>No se paga mes a mes: se paga una vez, al firmar, sobre el valor total del acto.</a:t>
            </a:r>
            <a:endParaRPr lang="en-US" sz="1150" dirty="0"/>
          </a:p>
        </p:txBody>
      </p:sp>
      <p:sp>
        <p:nvSpPr>
          <p:cNvPr id="8" name="Text 6"/>
          <p:cNvSpPr/>
          <p:nvPr/>
        </p:nvSpPr>
        <p:spPr>
          <a:xfrm>
            <a:off x="3931920" y="658368"/>
            <a:ext cx="4754880" cy="365760"/>
          </a:xfrm>
          <a:prstGeom prst="rect">
            <a:avLst/>
          </a:prstGeom>
          <a:noFill/>
          <a:ln/>
        </p:spPr>
        <p:txBody>
          <a:bodyPr wrap="square" lIns="0" tIns="0" rIns="0" bIns="0" rtlCol="0" anchor="ctr"/>
          <a:lstStyle/>
          <a:p>
            <a:pPr indent="0" marL="0">
              <a:buNone/>
            </a:pPr>
            <a:r>
              <a:rPr lang="en-US" sz="2200" b="1" dirty="0">
                <a:solidFill>
                  <a:srgbClr val="16283C"/>
                </a:solidFill>
                <a:latin typeface="Cambria" pitchFamily="34" charset="0"/>
                <a:ea typeface="Cambria" pitchFamily="34" charset="-122"/>
                <a:cs typeface="Cambria" pitchFamily="34" charset="-120"/>
              </a:rPr>
              <a:t>Qué mirar en cada operación</a:t>
            </a:r>
            <a:endParaRPr lang="en-US" sz="2200" dirty="0"/>
          </a:p>
        </p:txBody>
      </p:sp>
      <p:sp>
        <p:nvSpPr>
          <p:cNvPr id="9" name="Shape 7"/>
          <p:cNvSpPr/>
          <p:nvPr/>
        </p:nvSpPr>
        <p:spPr>
          <a:xfrm>
            <a:off x="3931920" y="1188720"/>
            <a:ext cx="4754880" cy="822960"/>
          </a:xfrm>
          <a:prstGeom prst="roundRect">
            <a:avLst>
              <a:gd name="adj" fmla="val 8889"/>
            </a:avLst>
          </a:prstGeom>
          <a:solidFill>
            <a:srgbClr val="F7F8FA"/>
          </a:solidFill>
          <a:ln w="12700">
            <a:solidFill>
              <a:srgbClr val="F7F8FA"/>
            </a:solidFill>
            <a:prstDash val="solid"/>
          </a:ln>
        </p:spPr>
      </p:sp>
      <p:sp>
        <p:nvSpPr>
          <p:cNvPr id="10" name="Shape 8"/>
          <p:cNvSpPr/>
          <p:nvPr/>
        </p:nvSpPr>
        <p:spPr>
          <a:xfrm>
            <a:off x="4114800" y="1426464"/>
            <a:ext cx="329184" cy="329184"/>
          </a:xfrm>
          <a:prstGeom prst="roundRect">
            <a:avLst>
              <a:gd name="adj" fmla="val 138889"/>
            </a:avLst>
          </a:prstGeom>
          <a:solidFill>
            <a:srgbClr val="B8862B"/>
          </a:solidFill>
          <a:ln w="12700">
            <a:solidFill>
              <a:srgbClr val="B8862B"/>
            </a:solidFill>
            <a:prstDash val="solid"/>
          </a:ln>
        </p:spPr>
      </p:sp>
      <p:sp>
        <p:nvSpPr>
          <p:cNvPr id="11" name="Text 9"/>
          <p:cNvSpPr/>
          <p:nvPr/>
        </p:nvSpPr>
        <p:spPr>
          <a:xfrm>
            <a:off x="4114800" y="1426464"/>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72000" y="1316736"/>
            <a:ext cx="3977640" cy="256032"/>
          </a:xfrm>
          <a:prstGeom prst="rect">
            <a:avLst/>
          </a:prstGeom>
          <a:noFill/>
          <a:ln/>
        </p:spPr>
        <p:txBody>
          <a:bodyPr wrap="square" lIns="0" tIns="0" rIns="0" bIns="0" rtlCol="0" anchor="ctr"/>
          <a:lstStyle/>
          <a:p>
            <a:pPr indent="0" marL="0">
              <a:buNone/>
            </a:pPr>
            <a:r>
              <a:rPr lang="en-US" sz="1200" b="1" dirty="0">
                <a:solidFill>
                  <a:srgbClr val="16283C"/>
                </a:solidFill>
                <a:latin typeface="Calibri" pitchFamily="34" charset="0"/>
                <a:ea typeface="Calibri" pitchFamily="34" charset="-122"/>
                <a:cs typeface="Calibri" pitchFamily="34" charset="-120"/>
              </a:rPr>
              <a:t>La base es el valor total del acto</a:t>
            </a:r>
            <a:endParaRPr lang="en-US" sz="1200" dirty="0"/>
          </a:p>
        </p:txBody>
      </p:sp>
      <p:sp>
        <p:nvSpPr>
          <p:cNvPr id="13" name="Text 11"/>
          <p:cNvSpPr/>
          <p:nvPr/>
        </p:nvSpPr>
        <p:spPr>
          <a:xfrm>
            <a:off x="4572000" y="1572768"/>
            <a:ext cx="3977640" cy="365760"/>
          </a:xfrm>
          <a:prstGeom prst="rect">
            <a:avLst/>
          </a:prstGeom>
          <a:noFill/>
          <a:ln/>
        </p:spPr>
        <p:txBody>
          <a:bodyPr wrap="square" lIns="0" tIns="0" rIns="0" bIns="0" rtlCol="0" anchor="ctr"/>
          <a:lstStyle/>
          <a:p>
            <a:pPr indent="0" marL="0">
              <a:lnSpc>
                <a:spcPts val="1300"/>
              </a:lnSpc>
              <a:buNone/>
            </a:pPr>
            <a:r>
              <a:rPr lang="en-US" sz="1000" dirty="0">
                <a:solidFill>
                  <a:srgbClr val="5B6B7C"/>
                </a:solidFill>
                <a:latin typeface="Calibri" pitchFamily="34" charset="0"/>
                <a:ea typeface="Calibri" pitchFamily="34" charset="-122"/>
                <a:cs typeface="Calibri" pitchFamily="34" charset="-120"/>
              </a:rPr>
              <a:t>En un alquiler, la suma de todos los meses del contrato — no un mes suelto.</a:t>
            </a:r>
            <a:endParaRPr lang="en-US" sz="1000" dirty="0"/>
          </a:p>
        </p:txBody>
      </p:sp>
      <p:sp>
        <p:nvSpPr>
          <p:cNvPr id="14" name="Shape 12"/>
          <p:cNvSpPr/>
          <p:nvPr/>
        </p:nvSpPr>
        <p:spPr>
          <a:xfrm>
            <a:off x="3931920" y="2121408"/>
            <a:ext cx="4754880" cy="822960"/>
          </a:xfrm>
          <a:prstGeom prst="roundRect">
            <a:avLst>
              <a:gd name="adj" fmla="val 8889"/>
            </a:avLst>
          </a:prstGeom>
          <a:solidFill>
            <a:srgbClr val="F7F8FA"/>
          </a:solidFill>
          <a:ln w="12700">
            <a:solidFill>
              <a:srgbClr val="F7F8FA"/>
            </a:solidFill>
            <a:prstDash val="solid"/>
          </a:ln>
        </p:spPr>
      </p:sp>
      <p:sp>
        <p:nvSpPr>
          <p:cNvPr id="15" name="Shape 13"/>
          <p:cNvSpPr/>
          <p:nvPr/>
        </p:nvSpPr>
        <p:spPr>
          <a:xfrm>
            <a:off x="4114800" y="2359152"/>
            <a:ext cx="329184" cy="329184"/>
          </a:xfrm>
          <a:prstGeom prst="roundRect">
            <a:avLst>
              <a:gd name="adj" fmla="val 138889"/>
            </a:avLst>
          </a:prstGeom>
          <a:solidFill>
            <a:srgbClr val="B8862B"/>
          </a:solidFill>
          <a:ln w="12700">
            <a:solidFill>
              <a:srgbClr val="B8862B"/>
            </a:solidFill>
            <a:prstDash val="solid"/>
          </a:ln>
        </p:spPr>
      </p:sp>
      <p:sp>
        <p:nvSpPr>
          <p:cNvPr id="16" name="Text 14"/>
          <p:cNvSpPr/>
          <p:nvPr/>
        </p:nvSpPr>
        <p:spPr>
          <a:xfrm>
            <a:off x="4114800" y="2359152"/>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a:t>
            </a:r>
            <a:endParaRPr lang="en-US" sz="1050" dirty="0"/>
          </a:p>
        </p:txBody>
      </p:sp>
      <p:sp>
        <p:nvSpPr>
          <p:cNvPr id="17" name="Text 15"/>
          <p:cNvSpPr/>
          <p:nvPr/>
        </p:nvSpPr>
        <p:spPr>
          <a:xfrm>
            <a:off x="4572000" y="2249424"/>
            <a:ext cx="3977640" cy="256032"/>
          </a:xfrm>
          <a:prstGeom prst="rect">
            <a:avLst/>
          </a:prstGeom>
          <a:noFill/>
          <a:ln/>
        </p:spPr>
        <p:txBody>
          <a:bodyPr wrap="square" lIns="0" tIns="0" rIns="0" bIns="0" rtlCol="0" anchor="ctr"/>
          <a:lstStyle/>
          <a:p>
            <a:pPr indent="0" marL="0">
              <a:buNone/>
            </a:pPr>
            <a:r>
              <a:rPr lang="en-US" sz="1200" b="1" dirty="0">
                <a:solidFill>
                  <a:srgbClr val="16283C"/>
                </a:solidFill>
                <a:latin typeface="Calibri" pitchFamily="34" charset="0"/>
                <a:ea typeface="Calibri" pitchFamily="34" charset="-122"/>
                <a:cs typeface="Calibri" pitchFamily="34" charset="-120"/>
              </a:rPr>
              <a:t>Impacta la rentabilidad neta</a:t>
            </a:r>
            <a:endParaRPr lang="en-US" sz="1200" dirty="0"/>
          </a:p>
        </p:txBody>
      </p:sp>
      <p:sp>
        <p:nvSpPr>
          <p:cNvPr id="18" name="Text 16"/>
          <p:cNvSpPr/>
          <p:nvPr/>
        </p:nvSpPr>
        <p:spPr>
          <a:xfrm>
            <a:off x="4572000" y="2505456"/>
            <a:ext cx="3977640" cy="365760"/>
          </a:xfrm>
          <a:prstGeom prst="rect">
            <a:avLst/>
          </a:prstGeom>
          <a:noFill/>
          <a:ln/>
        </p:spPr>
        <p:txBody>
          <a:bodyPr wrap="square" lIns="0" tIns="0" rIns="0" bIns="0" rtlCol="0" anchor="ctr"/>
          <a:lstStyle/>
          <a:p>
            <a:pPr indent="0" marL="0">
              <a:lnSpc>
                <a:spcPts val="1300"/>
              </a:lnSpc>
              <a:buNone/>
            </a:pPr>
            <a:r>
              <a:rPr lang="en-US" sz="1000" dirty="0">
                <a:solidFill>
                  <a:srgbClr val="5B6B7C"/>
                </a:solidFill>
                <a:latin typeface="Calibri" pitchFamily="34" charset="0"/>
                <a:ea typeface="Calibri" pitchFamily="34" charset="-122"/>
                <a:cs typeface="Calibri" pitchFamily="34" charset="-120"/>
              </a:rPr>
              <a:t>Sellos es un costo de la operación: hay que sumarlo al cálculo, no solo mirar la comisión.</a:t>
            </a:r>
            <a:endParaRPr lang="en-US" sz="1000" dirty="0"/>
          </a:p>
        </p:txBody>
      </p:sp>
      <p:sp>
        <p:nvSpPr>
          <p:cNvPr id="19" name="Shape 17"/>
          <p:cNvSpPr/>
          <p:nvPr/>
        </p:nvSpPr>
        <p:spPr>
          <a:xfrm>
            <a:off x="3931920" y="3054096"/>
            <a:ext cx="4754880" cy="822960"/>
          </a:xfrm>
          <a:prstGeom prst="roundRect">
            <a:avLst>
              <a:gd name="adj" fmla="val 8889"/>
            </a:avLst>
          </a:prstGeom>
          <a:solidFill>
            <a:srgbClr val="F7F8FA"/>
          </a:solidFill>
          <a:ln w="12700">
            <a:solidFill>
              <a:srgbClr val="F7F8FA"/>
            </a:solidFill>
            <a:prstDash val="solid"/>
          </a:ln>
        </p:spPr>
      </p:sp>
      <p:sp>
        <p:nvSpPr>
          <p:cNvPr id="20" name="Shape 18"/>
          <p:cNvSpPr/>
          <p:nvPr/>
        </p:nvSpPr>
        <p:spPr>
          <a:xfrm>
            <a:off x="4114800" y="3291840"/>
            <a:ext cx="329184" cy="329184"/>
          </a:xfrm>
          <a:prstGeom prst="roundRect">
            <a:avLst>
              <a:gd name="adj" fmla="val 138889"/>
            </a:avLst>
          </a:prstGeom>
          <a:solidFill>
            <a:srgbClr val="B8862B"/>
          </a:solidFill>
          <a:ln w="12700">
            <a:solidFill>
              <a:srgbClr val="B8862B"/>
            </a:solidFill>
            <a:prstDash val="solid"/>
          </a:ln>
        </p:spPr>
      </p:sp>
      <p:sp>
        <p:nvSpPr>
          <p:cNvPr id="21" name="Text 19"/>
          <p:cNvSpPr/>
          <p:nvPr/>
        </p:nvSpPr>
        <p:spPr>
          <a:xfrm>
            <a:off x="4114800" y="3291840"/>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22" name="Text 20"/>
          <p:cNvSpPr/>
          <p:nvPr/>
        </p:nvSpPr>
        <p:spPr>
          <a:xfrm>
            <a:off x="4572000" y="3182112"/>
            <a:ext cx="3977640" cy="256032"/>
          </a:xfrm>
          <a:prstGeom prst="rect">
            <a:avLst/>
          </a:prstGeom>
          <a:noFill/>
          <a:ln/>
        </p:spPr>
        <p:txBody>
          <a:bodyPr wrap="square" lIns="0" tIns="0" rIns="0" bIns="0" rtlCol="0" anchor="ctr"/>
          <a:lstStyle/>
          <a:p>
            <a:pPr indent="0" marL="0">
              <a:buNone/>
            </a:pPr>
            <a:r>
              <a:rPr lang="en-US" sz="1200" b="1" dirty="0">
                <a:solidFill>
                  <a:srgbClr val="16283C"/>
                </a:solidFill>
                <a:latin typeface="Calibri" pitchFamily="34" charset="0"/>
                <a:ea typeface="Calibri" pitchFamily="34" charset="-122"/>
                <a:cs typeface="Calibri" pitchFamily="34" charset="-120"/>
              </a:rPr>
              <a:t>El sellado da fecha cierta</a:t>
            </a:r>
            <a:endParaRPr lang="en-US" sz="1200" dirty="0"/>
          </a:p>
        </p:txBody>
      </p:sp>
      <p:sp>
        <p:nvSpPr>
          <p:cNvPr id="23" name="Text 21"/>
          <p:cNvSpPr/>
          <p:nvPr/>
        </p:nvSpPr>
        <p:spPr>
          <a:xfrm>
            <a:off x="4572000" y="3438144"/>
            <a:ext cx="3977640" cy="365760"/>
          </a:xfrm>
          <a:prstGeom prst="rect">
            <a:avLst/>
          </a:prstGeom>
          <a:noFill/>
          <a:ln/>
        </p:spPr>
        <p:txBody>
          <a:bodyPr wrap="square" lIns="0" tIns="0" rIns="0" bIns="0" rtlCol="0" anchor="ctr"/>
          <a:lstStyle/>
          <a:p>
            <a:pPr indent="0" marL="0">
              <a:lnSpc>
                <a:spcPts val="1300"/>
              </a:lnSpc>
              <a:buNone/>
            </a:pPr>
            <a:r>
              <a:rPr lang="en-US" sz="1000" dirty="0">
                <a:solidFill>
                  <a:srgbClr val="5B6B7C"/>
                </a:solidFill>
                <a:latin typeface="Calibri" pitchFamily="34" charset="0"/>
                <a:ea typeface="Calibri" pitchFamily="34" charset="-122"/>
                <a:cs typeface="Calibri" pitchFamily="34" charset="-120"/>
              </a:rPr>
              <a:t>Sin sellar, el contrato pierde fuerza probatoria ante el fisco y ante la contraparte.</a:t>
            </a:r>
            <a:endParaRPr lang="en-US" sz="1000" dirty="0"/>
          </a:p>
        </p:txBody>
      </p:sp>
      <p:sp>
        <p:nvSpPr>
          <p:cNvPr id="24" name="Shape 22"/>
          <p:cNvSpPr/>
          <p:nvPr/>
        </p:nvSpPr>
        <p:spPr>
          <a:xfrm>
            <a:off x="3931920" y="3986784"/>
            <a:ext cx="4754880" cy="822960"/>
          </a:xfrm>
          <a:prstGeom prst="roundRect">
            <a:avLst>
              <a:gd name="adj" fmla="val 8889"/>
            </a:avLst>
          </a:prstGeom>
          <a:solidFill>
            <a:srgbClr val="F7F8FA"/>
          </a:solidFill>
          <a:ln w="12700">
            <a:solidFill>
              <a:srgbClr val="F7F8FA"/>
            </a:solidFill>
            <a:prstDash val="solid"/>
          </a:ln>
        </p:spPr>
      </p:sp>
      <p:sp>
        <p:nvSpPr>
          <p:cNvPr id="25" name="Shape 23"/>
          <p:cNvSpPr/>
          <p:nvPr/>
        </p:nvSpPr>
        <p:spPr>
          <a:xfrm>
            <a:off x="4114800" y="4224528"/>
            <a:ext cx="329184" cy="329184"/>
          </a:xfrm>
          <a:prstGeom prst="roundRect">
            <a:avLst>
              <a:gd name="adj" fmla="val 138889"/>
            </a:avLst>
          </a:prstGeom>
          <a:solidFill>
            <a:srgbClr val="B8862B"/>
          </a:solidFill>
          <a:ln w="12700">
            <a:solidFill>
              <a:srgbClr val="B8862B"/>
            </a:solidFill>
            <a:prstDash val="solid"/>
          </a:ln>
        </p:spPr>
      </p:sp>
      <p:sp>
        <p:nvSpPr>
          <p:cNvPr id="26" name="Text 24"/>
          <p:cNvSpPr/>
          <p:nvPr/>
        </p:nvSpPr>
        <p:spPr>
          <a:xfrm>
            <a:off x="4114800" y="4224528"/>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4</a:t>
            </a:r>
            <a:endParaRPr lang="en-US" sz="1050" dirty="0"/>
          </a:p>
        </p:txBody>
      </p:sp>
      <p:sp>
        <p:nvSpPr>
          <p:cNvPr id="27" name="Text 25"/>
          <p:cNvSpPr/>
          <p:nvPr/>
        </p:nvSpPr>
        <p:spPr>
          <a:xfrm>
            <a:off x="4572000" y="4114800"/>
            <a:ext cx="3977640" cy="256032"/>
          </a:xfrm>
          <a:prstGeom prst="rect">
            <a:avLst/>
          </a:prstGeom>
          <a:noFill/>
          <a:ln/>
        </p:spPr>
        <p:txBody>
          <a:bodyPr wrap="square" lIns="0" tIns="0" rIns="0" bIns="0" rtlCol="0" anchor="ctr"/>
          <a:lstStyle/>
          <a:p>
            <a:pPr indent="0" marL="0">
              <a:buNone/>
            </a:pPr>
            <a:r>
              <a:rPr lang="en-US" sz="1200" b="1" dirty="0">
                <a:solidFill>
                  <a:srgbClr val="16283C"/>
                </a:solidFill>
                <a:latin typeface="Calibri" pitchFamily="34" charset="0"/>
                <a:ea typeface="Calibri" pitchFamily="34" charset="-122"/>
                <a:cs typeface="Calibri" pitchFamily="34" charset="-120"/>
              </a:rPr>
              <a:t>Se coordina antes de firmar</a:t>
            </a:r>
            <a:endParaRPr lang="en-US" sz="1200" dirty="0"/>
          </a:p>
        </p:txBody>
      </p:sp>
      <p:sp>
        <p:nvSpPr>
          <p:cNvPr id="28" name="Text 26"/>
          <p:cNvSpPr/>
          <p:nvPr/>
        </p:nvSpPr>
        <p:spPr>
          <a:xfrm>
            <a:off x="4572000" y="4370832"/>
            <a:ext cx="3977640" cy="365760"/>
          </a:xfrm>
          <a:prstGeom prst="rect">
            <a:avLst/>
          </a:prstGeom>
          <a:noFill/>
          <a:ln/>
        </p:spPr>
        <p:txBody>
          <a:bodyPr wrap="square" lIns="0" tIns="0" rIns="0" bIns="0" rtlCol="0" anchor="ctr"/>
          <a:lstStyle/>
          <a:p>
            <a:pPr indent="0" marL="0">
              <a:lnSpc>
                <a:spcPts val="1300"/>
              </a:lnSpc>
              <a:buNone/>
            </a:pPr>
            <a:r>
              <a:rPr lang="en-US" sz="1000" dirty="0">
                <a:solidFill>
                  <a:srgbClr val="5B6B7C"/>
                </a:solidFill>
                <a:latin typeface="Calibri" pitchFamily="34" charset="0"/>
                <a:ea typeface="Calibri" pitchFamily="34" charset="-122"/>
                <a:cs typeface="Calibri" pitchFamily="34" charset="-120"/>
              </a:rPr>
              <a:t>Conviene resolver el trámite ante ARBA o AGIP para no atrasar la firma.</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roundRect">
            <a:avLst>
              <a:gd name="adj" fmla="val 96154"/>
            </a:avLst>
          </a:prstGeom>
          <a:solidFill>
            <a:srgbClr val="B8862B"/>
          </a:solidFill>
          <a:ln w="12700">
            <a:solidFill>
              <a:srgbClr val="B8862B"/>
            </a:solidFill>
            <a:prstDash val="solid"/>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9</a:t>
            </a:r>
            <a:endParaRPr lang="en-US" sz="1600" dirty="0"/>
          </a:p>
        </p:txBody>
      </p:sp>
      <p:sp>
        <p:nvSpPr>
          <p:cNvPr id="4" name="Text 2"/>
          <p:cNvSpPr/>
          <p:nvPr/>
        </p:nvSpPr>
        <p:spPr>
          <a:xfrm>
            <a:off x="1078992" y="274320"/>
            <a:ext cx="7589520" cy="384048"/>
          </a:xfrm>
          <a:prstGeom prst="rect">
            <a:avLst/>
          </a:prstGeom>
          <a:noFill/>
          <a:ln/>
        </p:spPr>
        <p:txBody>
          <a:bodyPr wrap="square" lIns="0" tIns="0" rIns="0" bIns="0" rtlCol="0" anchor="ctr"/>
          <a:lstStyle/>
          <a:p>
            <a:pPr algn="l" indent="0" marL="0">
              <a:buNone/>
            </a:pPr>
            <a:r>
              <a:rPr lang="en-US" sz="2500" b="1" dirty="0">
                <a:solidFill>
                  <a:srgbClr val="16283C"/>
                </a:solidFill>
                <a:latin typeface="Cambria" pitchFamily="34" charset="0"/>
                <a:ea typeface="Cambria" pitchFamily="34" charset="-122"/>
                <a:cs typeface="Cambria" pitchFamily="34" charset="-120"/>
              </a:rPr>
              <a:t>Los impuestos del inmueble</a:t>
            </a:r>
            <a:endParaRPr lang="en-US" sz="2500" dirty="0"/>
          </a:p>
        </p:txBody>
      </p:sp>
      <p:sp>
        <p:nvSpPr>
          <p:cNvPr id="5" name="Text 3"/>
          <p:cNvSpPr/>
          <p:nvPr/>
        </p:nvSpPr>
        <p:spPr>
          <a:xfrm>
            <a:off x="1078992" y="676656"/>
            <a:ext cx="7589520" cy="256032"/>
          </a:xfrm>
          <a:prstGeom prst="rect">
            <a:avLst/>
          </a:prstGeom>
          <a:noFill/>
          <a:ln/>
        </p:spPr>
        <p:txBody>
          <a:bodyPr wrap="square" lIns="0" tIns="0" rIns="0" bIns="0" rtlCol="0" anchor="ctr"/>
          <a:lstStyle/>
          <a:p>
            <a:pPr algn="l" indent="0" marL="0">
              <a:buNone/>
            </a:pPr>
            <a:r>
              <a:rPr lang="en-US" sz="1150" dirty="0">
                <a:solidFill>
                  <a:srgbClr val="5B6B7C"/>
                </a:solidFill>
                <a:latin typeface="Calibri" pitchFamily="34" charset="0"/>
                <a:ea typeface="Calibri" pitchFamily="34" charset="-122"/>
                <a:cs typeface="Calibri" pitchFamily="34" charset="-120"/>
              </a:rPr>
              <a:t>Lo que paga el propietario — y lo que hay que saber leer para tasar y asesorar</a:t>
            </a:r>
            <a:endParaRPr lang="en-US" sz="1150" dirty="0"/>
          </a:p>
        </p:txBody>
      </p:sp>
      <p:sp>
        <p:nvSpPr>
          <p:cNvPr id="6" name="Shape 4"/>
          <p:cNvSpPr/>
          <p:nvPr/>
        </p:nvSpPr>
        <p:spPr>
          <a:xfrm>
            <a:off x="457200" y="1097280"/>
            <a:ext cx="1920240" cy="2651760"/>
          </a:xfrm>
          <a:prstGeom prst="roundRect">
            <a:avLst>
              <a:gd name="adj" fmla="val 3810"/>
            </a:avLst>
          </a:prstGeom>
          <a:solidFill>
            <a:srgbClr val="F1F3F6"/>
          </a:solidFill>
          <a:ln w="12700">
            <a:solidFill>
              <a:srgbClr val="F1F3F6"/>
            </a:solidFill>
            <a:prstDash val="solid"/>
          </a:ln>
        </p:spPr>
      </p:sp>
      <p:sp>
        <p:nvSpPr>
          <p:cNvPr id="7" name="Text 5"/>
          <p:cNvSpPr/>
          <p:nvPr/>
        </p:nvSpPr>
        <p:spPr>
          <a:xfrm>
            <a:off x="640080" y="1261872"/>
            <a:ext cx="1600200" cy="548640"/>
          </a:xfrm>
          <a:prstGeom prst="rect">
            <a:avLst/>
          </a:prstGeom>
          <a:noFill/>
          <a:ln/>
        </p:spPr>
        <p:txBody>
          <a:bodyPr wrap="square" lIns="0" tIns="0" rIns="0" bIns="0" rtlCol="0" anchor="ctr"/>
          <a:lstStyle/>
          <a:p>
            <a:pPr indent="0" marL="0">
              <a:lnSpc>
                <a:spcPts val="1700"/>
              </a:lnSpc>
              <a:buNone/>
            </a:pPr>
            <a:r>
              <a:rPr lang="en-US" sz="1400" b="1" dirty="0">
                <a:solidFill>
                  <a:srgbClr val="16283C"/>
                </a:solidFill>
                <a:latin typeface="Cambria" pitchFamily="34" charset="0"/>
                <a:ea typeface="Cambria" pitchFamily="34" charset="-122"/>
                <a:cs typeface="Cambria" pitchFamily="34" charset="-120"/>
              </a:rPr>
              <a:t>Impuesto Inmobiliario</a:t>
            </a:r>
            <a:endParaRPr lang="en-US" sz="1400" dirty="0"/>
          </a:p>
        </p:txBody>
      </p:sp>
      <p:sp>
        <p:nvSpPr>
          <p:cNvPr id="8" name="Text 6"/>
          <p:cNvSpPr/>
          <p:nvPr/>
        </p:nvSpPr>
        <p:spPr>
          <a:xfrm>
            <a:off x="640080" y="1828800"/>
            <a:ext cx="1600200" cy="219456"/>
          </a:xfrm>
          <a:prstGeom prst="rect">
            <a:avLst/>
          </a:prstGeom>
          <a:noFill/>
          <a:ln/>
        </p:spPr>
        <p:txBody>
          <a:bodyPr wrap="square" lIns="0" tIns="0" rIns="0" bIns="0" rtlCol="0" anchor="ctr"/>
          <a:lstStyle/>
          <a:p>
            <a:pPr indent="0" marL="0">
              <a:buNone/>
            </a:pPr>
            <a:r>
              <a:rPr lang="en-US" sz="900" b="1" spc="80" kern="0" dirty="0">
                <a:solidFill>
                  <a:srgbClr val="B8862B"/>
                </a:solidFill>
                <a:latin typeface="Calibri" pitchFamily="34" charset="0"/>
                <a:ea typeface="Calibri" pitchFamily="34" charset="-122"/>
                <a:cs typeface="Calibri" pitchFamily="34" charset="-120"/>
              </a:rPr>
              <a:t>ARBA (PBA)</a:t>
            </a:r>
            <a:endParaRPr lang="en-US" sz="900" dirty="0"/>
          </a:p>
        </p:txBody>
      </p:sp>
      <p:sp>
        <p:nvSpPr>
          <p:cNvPr id="9" name="Text 7"/>
          <p:cNvSpPr/>
          <p:nvPr/>
        </p:nvSpPr>
        <p:spPr>
          <a:xfrm>
            <a:off x="640080" y="2103120"/>
            <a:ext cx="1600200" cy="1508760"/>
          </a:xfrm>
          <a:prstGeom prst="rect">
            <a:avLst/>
          </a:prstGeom>
          <a:noFill/>
          <a:ln/>
        </p:spPr>
        <p:txBody>
          <a:bodyPr wrap="square" lIns="0" tIns="0" rIns="0" bIns="0" rtlCol="0" anchor="ctr"/>
          <a:lstStyle/>
          <a:p>
            <a:pPr indent="0" marL="0">
              <a:lnSpc>
                <a:spcPts val="1300"/>
              </a:lnSpc>
              <a:buNone/>
            </a:pPr>
            <a:r>
              <a:rPr lang="en-US" sz="950" dirty="0">
                <a:solidFill>
                  <a:srgbClr val="5B6B7C"/>
                </a:solidFill>
                <a:latin typeface="Calibri" pitchFamily="34" charset="0"/>
                <a:ea typeface="Calibri" pitchFamily="34" charset="-122"/>
                <a:cs typeface="Calibri" pitchFamily="34" charset="-120"/>
              </a:rPr>
              <a:t>Sobre la titularidad del inmueble, calculado sobre la valuación fiscal. Vencimientos bimestrales o trimestrales. En CABA no existe por separado: va dentro del ABL.</a:t>
            </a:r>
            <a:endParaRPr lang="en-US" sz="950" dirty="0"/>
          </a:p>
        </p:txBody>
      </p:sp>
      <p:sp>
        <p:nvSpPr>
          <p:cNvPr id="10" name="Shape 8"/>
          <p:cNvSpPr/>
          <p:nvPr/>
        </p:nvSpPr>
        <p:spPr>
          <a:xfrm>
            <a:off x="2560320" y="1097280"/>
            <a:ext cx="1920240" cy="2651760"/>
          </a:xfrm>
          <a:prstGeom prst="roundRect">
            <a:avLst>
              <a:gd name="adj" fmla="val 3810"/>
            </a:avLst>
          </a:prstGeom>
          <a:solidFill>
            <a:srgbClr val="F1F3F6"/>
          </a:solidFill>
          <a:ln w="12700">
            <a:solidFill>
              <a:srgbClr val="F1F3F6"/>
            </a:solidFill>
            <a:prstDash val="solid"/>
          </a:ln>
        </p:spPr>
      </p:sp>
      <p:sp>
        <p:nvSpPr>
          <p:cNvPr id="11" name="Text 9"/>
          <p:cNvSpPr/>
          <p:nvPr/>
        </p:nvSpPr>
        <p:spPr>
          <a:xfrm>
            <a:off x="2743200" y="1261872"/>
            <a:ext cx="1600200" cy="548640"/>
          </a:xfrm>
          <a:prstGeom prst="rect">
            <a:avLst/>
          </a:prstGeom>
          <a:noFill/>
          <a:ln/>
        </p:spPr>
        <p:txBody>
          <a:bodyPr wrap="square" lIns="0" tIns="0" rIns="0" bIns="0" rtlCol="0" anchor="ctr"/>
          <a:lstStyle/>
          <a:p>
            <a:pPr indent="0" marL="0">
              <a:lnSpc>
                <a:spcPts val="1700"/>
              </a:lnSpc>
              <a:buNone/>
            </a:pPr>
            <a:r>
              <a:rPr lang="en-US" sz="1400" b="1" dirty="0">
                <a:solidFill>
                  <a:srgbClr val="16283C"/>
                </a:solidFill>
                <a:latin typeface="Cambria" pitchFamily="34" charset="0"/>
                <a:ea typeface="Cambria" pitchFamily="34" charset="-122"/>
                <a:cs typeface="Cambria" pitchFamily="34" charset="-120"/>
              </a:rPr>
              <a:t>ABL / TSU</a:t>
            </a:r>
            <a:endParaRPr lang="en-US" sz="1400" dirty="0"/>
          </a:p>
        </p:txBody>
      </p:sp>
      <p:sp>
        <p:nvSpPr>
          <p:cNvPr id="12" name="Text 10"/>
          <p:cNvSpPr/>
          <p:nvPr/>
        </p:nvSpPr>
        <p:spPr>
          <a:xfrm>
            <a:off x="2743200" y="1828800"/>
            <a:ext cx="1600200" cy="219456"/>
          </a:xfrm>
          <a:prstGeom prst="rect">
            <a:avLst/>
          </a:prstGeom>
          <a:noFill/>
          <a:ln/>
        </p:spPr>
        <p:txBody>
          <a:bodyPr wrap="square" lIns="0" tIns="0" rIns="0" bIns="0" rtlCol="0" anchor="ctr"/>
          <a:lstStyle/>
          <a:p>
            <a:pPr indent="0" marL="0">
              <a:buNone/>
            </a:pPr>
            <a:r>
              <a:rPr lang="en-US" sz="900" b="1" spc="80" kern="0" dirty="0">
                <a:solidFill>
                  <a:srgbClr val="B8862B"/>
                </a:solidFill>
                <a:latin typeface="Calibri" pitchFamily="34" charset="0"/>
                <a:ea typeface="Calibri" pitchFamily="34" charset="-122"/>
                <a:cs typeface="Calibri" pitchFamily="34" charset="-120"/>
              </a:rPr>
              <a:t>AGIP · Municipio</a:t>
            </a:r>
            <a:endParaRPr lang="en-US" sz="900" dirty="0"/>
          </a:p>
        </p:txBody>
      </p:sp>
      <p:sp>
        <p:nvSpPr>
          <p:cNvPr id="13" name="Text 11"/>
          <p:cNvSpPr/>
          <p:nvPr/>
        </p:nvSpPr>
        <p:spPr>
          <a:xfrm>
            <a:off x="2743200" y="2103120"/>
            <a:ext cx="1600200" cy="1508760"/>
          </a:xfrm>
          <a:prstGeom prst="rect">
            <a:avLst/>
          </a:prstGeom>
          <a:noFill/>
          <a:ln/>
        </p:spPr>
        <p:txBody>
          <a:bodyPr wrap="square" lIns="0" tIns="0" rIns="0" bIns="0" rtlCol="0" anchor="ctr"/>
          <a:lstStyle/>
          <a:p>
            <a:pPr indent="0" marL="0">
              <a:lnSpc>
                <a:spcPts val="1300"/>
              </a:lnSpc>
              <a:buNone/>
            </a:pPr>
            <a:r>
              <a:rPr lang="en-US" sz="950" dirty="0">
                <a:solidFill>
                  <a:srgbClr val="5B6B7C"/>
                </a:solidFill>
                <a:latin typeface="Calibri" pitchFamily="34" charset="0"/>
                <a:ea typeface="Calibri" pitchFamily="34" charset="-122"/>
                <a:cs typeface="Calibri" pitchFamily="34" charset="-120"/>
              </a:rPr>
              <a:t>Alumbrado, Barrido y Limpieza en CABA; fuera, cada municipio tiene su Tasa de Servicios Urbanos. Retribuye servicios urbanos sobre el inmueble.</a:t>
            </a:r>
            <a:endParaRPr lang="en-US" sz="950" dirty="0"/>
          </a:p>
        </p:txBody>
      </p:sp>
      <p:sp>
        <p:nvSpPr>
          <p:cNvPr id="14" name="Shape 12"/>
          <p:cNvSpPr/>
          <p:nvPr/>
        </p:nvSpPr>
        <p:spPr>
          <a:xfrm>
            <a:off x="4663440" y="1097280"/>
            <a:ext cx="1920240" cy="2651760"/>
          </a:xfrm>
          <a:prstGeom prst="roundRect">
            <a:avLst>
              <a:gd name="adj" fmla="val 3810"/>
            </a:avLst>
          </a:prstGeom>
          <a:solidFill>
            <a:srgbClr val="F1F3F6"/>
          </a:solidFill>
          <a:ln w="12700">
            <a:solidFill>
              <a:srgbClr val="F1F3F6"/>
            </a:solidFill>
            <a:prstDash val="solid"/>
          </a:ln>
        </p:spPr>
      </p:sp>
      <p:sp>
        <p:nvSpPr>
          <p:cNvPr id="15" name="Text 13"/>
          <p:cNvSpPr/>
          <p:nvPr/>
        </p:nvSpPr>
        <p:spPr>
          <a:xfrm>
            <a:off x="4846320" y="1261872"/>
            <a:ext cx="1600200" cy="548640"/>
          </a:xfrm>
          <a:prstGeom prst="rect">
            <a:avLst/>
          </a:prstGeom>
          <a:noFill/>
          <a:ln/>
        </p:spPr>
        <p:txBody>
          <a:bodyPr wrap="square" lIns="0" tIns="0" rIns="0" bIns="0" rtlCol="0" anchor="ctr"/>
          <a:lstStyle/>
          <a:p>
            <a:pPr indent="0" marL="0">
              <a:lnSpc>
                <a:spcPts val="1700"/>
              </a:lnSpc>
              <a:buNone/>
            </a:pPr>
            <a:r>
              <a:rPr lang="en-US" sz="1400" b="1" dirty="0">
                <a:solidFill>
                  <a:srgbClr val="16283C"/>
                </a:solidFill>
                <a:latin typeface="Cambria" pitchFamily="34" charset="0"/>
                <a:ea typeface="Cambria" pitchFamily="34" charset="-122"/>
                <a:cs typeface="Cambria" pitchFamily="34" charset="-120"/>
              </a:rPr>
              <a:t>Patentes</a:t>
            </a:r>
            <a:endParaRPr lang="en-US" sz="1400" dirty="0"/>
          </a:p>
        </p:txBody>
      </p:sp>
      <p:sp>
        <p:nvSpPr>
          <p:cNvPr id="16" name="Text 14"/>
          <p:cNvSpPr/>
          <p:nvPr/>
        </p:nvSpPr>
        <p:spPr>
          <a:xfrm>
            <a:off x="4846320" y="1828800"/>
            <a:ext cx="1600200" cy="219456"/>
          </a:xfrm>
          <a:prstGeom prst="rect">
            <a:avLst/>
          </a:prstGeom>
          <a:noFill/>
          <a:ln/>
        </p:spPr>
        <p:txBody>
          <a:bodyPr wrap="square" lIns="0" tIns="0" rIns="0" bIns="0" rtlCol="0" anchor="ctr"/>
          <a:lstStyle/>
          <a:p>
            <a:pPr indent="0" marL="0">
              <a:buNone/>
            </a:pPr>
            <a:r>
              <a:rPr lang="en-US" sz="900" b="1" spc="80" kern="0" dirty="0">
                <a:solidFill>
                  <a:srgbClr val="B8862B"/>
                </a:solidFill>
                <a:latin typeface="Calibri" pitchFamily="34" charset="0"/>
                <a:ea typeface="Calibri" pitchFamily="34" charset="-122"/>
                <a:cs typeface="Calibri" pitchFamily="34" charset="-120"/>
              </a:rPr>
              <a:t>ARBA · AGIP</a:t>
            </a:r>
            <a:endParaRPr lang="en-US" sz="900" dirty="0"/>
          </a:p>
        </p:txBody>
      </p:sp>
      <p:sp>
        <p:nvSpPr>
          <p:cNvPr id="17" name="Text 15"/>
          <p:cNvSpPr/>
          <p:nvPr/>
        </p:nvSpPr>
        <p:spPr>
          <a:xfrm>
            <a:off x="4846320" y="2103120"/>
            <a:ext cx="1600200" cy="1508760"/>
          </a:xfrm>
          <a:prstGeom prst="rect">
            <a:avLst/>
          </a:prstGeom>
          <a:noFill/>
          <a:ln/>
        </p:spPr>
        <p:txBody>
          <a:bodyPr wrap="square" lIns="0" tIns="0" rIns="0" bIns="0" rtlCol="0" anchor="ctr"/>
          <a:lstStyle/>
          <a:p>
            <a:pPr indent="0" marL="0">
              <a:lnSpc>
                <a:spcPts val="1300"/>
              </a:lnSpc>
              <a:buNone/>
            </a:pPr>
            <a:r>
              <a:rPr lang="en-US" sz="950" dirty="0">
                <a:solidFill>
                  <a:srgbClr val="5B6B7C"/>
                </a:solidFill>
                <a:latin typeface="Calibri" pitchFamily="34" charset="0"/>
                <a:ea typeface="Calibri" pitchFamily="34" charset="-122"/>
                <a:cs typeface="Calibri" pitchFamily="34" charset="-120"/>
              </a:rPr>
              <a:t>Sobre la titularidad de un vehículo, según valuación fiscal por marca, modelo y año. En PBA, habitualmente en cinco cuotas anuales.</a:t>
            </a:r>
            <a:endParaRPr lang="en-US" sz="950" dirty="0"/>
          </a:p>
        </p:txBody>
      </p:sp>
      <p:sp>
        <p:nvSpPr>
          <p:cNvPr id="18" name="Shape 16"/>
          <p:cNvSpPr/>
          <p:nvPr/>
        </p:nvSpPr>
        <p:spPr>
          <a:xfrm>
            <a:off x="6766560" y="1097280"/>
            <a:ext cx="1920240" cy="2651760"/>
          </a:xfrm>
          <a:prstGeom prst="roundRect">
            <a:avLst>
              <a:gd name="adj" fmla="val 3810"/>
            </a:avLst>
          </a:prstGeom>
          <a:solidFill>
            <a:srgbClr val="F1F3F6"/>
          </a:solidFill>
          <a:ln w="12700">
            <a:solidFill>
              <a:srgbClr val="F1F3F6"/>
            </a:solidFill>
            <a:prstDash val="solid"/>
          </a:ln>
        </p:spPr>
      </p:sp>
      <p:sp>
        <p:nvSpPr>
          <p:cNvPr id="19" name="Text 17"/>
          <p:cNvSpPr/>
          <p:nvPr/>
        </p:nvSpPr>
        <p:spPr>
          <a:xfrm>
            <a:off x="6949440" y="1261872"/>
            <a:ext cx="1600200" cy="548640"/>
          </a:xfrm>
          <a:prstGeom prst="rect">
            <a:avLst/>
          </a:prstGeom>
          <a:noFill/>
          <a:ln/>
        </p:spPr>
        <p:txBody>
          <a:bodyPr wrap="square" lIns="0" tIns="0" rIns="0" bIns="0" rtlCol="0" anchor="ctr"/>
          <a:lstStyle/>
          <a:p>
            <a:pPr indent="0" marL="0">
              <a:lnSpc>
                <a:spcPts val="1700"/>
              </a:lnSpc>
              <a:buNone/>
            </a:pPr>
            <a:r>
              <a:rPr lang="en-US" sz="1400" b="1" dirty="0">
                <a:solidFill>
                  <a:srgbClr val="16283C"/>
                </a:solidFill>
                <a:latin typeface="Cambria" pitchFamily="34" charset="0"/>
                <a:ea typeface="Cambria" pitchFamily="34" charset="-122"/>
                <a:cs typeface="Cambria" pitchFamily="34" charset="-120"/>
              </a:rPr>
              <a:t>Seguridad e Higiene</a:t>
            </a:r>
            <a:endParaRPr lang="en-US" sz="1400" dirty="0"/>
          </a:p>
        </p:txBody>
      </p:sp>
      <p:sp>
        <p:nvSpPr>
          <p:cNvPr id="20" name="Text 18"/>
          <p:cNvSpPr/>
          <p:nvPr/>
        </p:nvSpPr>
        <p:spPr>
          <a:xfrm>
            <a:off x="6949440" y="1828800"/>
            <a:ext cx="1600200" cy="219456"/>
          </a:xfrm>
          <a:prstGeom prst="rect">
            <a:avLst/>
          </a:prstGeom>
          <a:noFill/>
          <a:ln/>
        </p:spPr>
        <p:txBody>
          <a:bodyPr wrap="square" lIns="0" tIns="0" rIns="0" bIns="0" rtlCol="0" anchor="ctr"/>
          <a:lstStyle/>
          <a:p>
            <a:pPr indent="0" marL="0">
              <a:buNone/>
            </a:pPr>
            <a:r>
              <a:rPr lang="en-US" sz="900" b="1" spc="80" kern="0" dirty="0">
                <a:solidFill>
                  <a:srgbClr val="B8862B"/>
                </a:solidFill>
                <a:latin typeface="Calibri" pitchFamily="34" charset="0"/>
                <a:ea typeface="Calibri" pitchFamily="34" charset="-122"/>
                <a:cs typeface="Calibri" pitchFamily="34" charset="-120"/>
              </a:rPr>
              <a:t>Municipio</a:t>
            </a:r>
            <a:endParaRPr lang="en-US" sz="900" dirty="0"/>
          </a:p>
        </p:txBody>
      </p:sp>
      <p:sp>
        <p:nvSpPr>
          <p:cNvPr id="21" name="Text 19"/>
          <p:cNvSpPr/>
          <p:nvPr/>
        </p:nvSpPr>
        <p:spPr>
          <a:xfrm>
            <a:off x="6949440" y="2103120"/>
            <a:ext cx="1600200" cy="1508760"/>
          </a:xfrm>
          <a:prstGeom prst="rect">
            <a:avLst/>
          </a:prstGeom>
          <a:noFill/>
          <a:ln/>
        </p:spPr>
        <p:txBody>
          <a:bodyPr wrap="square" lIns="0" tIns="0" rIns="0" bIns="0" rtlCol="0" anchor="ctr"/>
          <a:lstStyle/>
          <a:p>
            <a:pPr indent="0" marL="0">
              <a:lnSpc>
                <a:spcPts val="1300"/>
              </a:lnSpc>
              <a:buNone/>
            </a:pPr>
            <a:r>
              <a:rPr lang="en-US" sz="950" dirty="0">
                <a:solidFill>
                  <a:srgbClr val="5B6B7C"/>
                </a:solidFill>
                <a:latin typeface="Calibri" pitchFamily="34" charset="0"/>
                <a:ea typeface="Calibri" pitchFamily="34" charset="-122"/>
                <a:cs typeface="Calibri" pitchFamily="34" charset="-120"/>
              </a:rPr>
              <a:t>Tasa municipal por desarrollar actividad comercial en un local. Base variable: ingresos, superficie o ambas. Va de la mano de la habilitación.</a:t>
            </a:r>
            <a:endParaRPr lang="en-US" sz="950" dirty="0"/>
          </a:p>
        </p:txBody>
      </p:sp>
      <p:sp>
        <p:nvSpPr>
          <p:cNvPr id="22" name="Shape 20"/>
          <p:cNvSpPr/>
          <p:nvPr/>
        </p:nvSpPr>
        <p:spPr>
          <a:xfrm>
            <a:off x="457200" y="3913632"/>
            <a:ext cx="8229600" cy="640080"/>
          </a:xfrm>
          <a:prstGeom prst="roundRect">
            <a:avLst>
              <a:gd name="adj" fmla="val 11429"/>
            </a:avLst>
          </a:prstGeom>
          <a:solidFill>
            <a:srgbClr val="F6EEDD"/>
          </a:solidFill>
          <a:ln w="12700">
            <a:solidFill>
              <a:srgbClr val="F6EEDD"/>
            </a:solidFill>
            <a:prstDash val="solid"/>
          </a:ln>
        </p:spPr>
      </p:sp>
      <p:sp>
        <p:nvSpPr>
          <p:cNvPr id="23" name="Text 21"/>
          <p:cNvSpPr/>
          <p:nvPr/>
        </p:nvSpPr>
        <p:spPr>
          <a:xfrm>
            <a:off x="658368" y="3959352"/>
            <a:ext cx="4572000" cy="201168"/>
          </a:xfrm>
          <a:prstGeom prst="rect">
            <a:avLst/>
          </a:prstGeom>
          <a:noFill/>
          <a:ln/>
        </p:spPr>
        <p:txBody>
          <a:bodyPr wrap="square" lIns="0" tIns="0" rIns="0" bIns="0" rtlCol="0" anchor="ctr"/>
          <a:lstStyle/>
          <a:p>
            <a:pPr indent="0" marL="0">
              <a:buNone/>
            </a:pPr>
            <a:r>
              <a:rPr lang="en-US" sz="900" b="1" spc="100" kern="0" dirty="0">
                <a:solidFill>
                  <a:srgbClr val="B8862B"/>
                </a:solidFill>
                <a:latin typeface="Calibri" pitchFamily="34" charset="0"/>
                <a:ea typeface="Calibri" pitchFamily="34" charset="-122"/>
                <a:cs typeface="Calibri" pitchFamily="34" charset="-120"/>
              </a:rPr>
              <a:t>IMPUESTO ≠ TASA</a:t>
            </a:r>
            <a:endParaRPr lang="en-US" sz="900" dirty="0"/>
          </a:p>
        </p:txBody>
      </p:sp>
      <p:sp>
        <p:nvSpPr>
          <p:cNvPr id="24" name="Text 22"/>
          <p:cNvSpPr/>
          <p:nvPr/>
        </p:nvSpPr>
        <p:spPr>
          <a:xfrm>
            <a:off x="658368" y="4160520"/>
            <a:ext cx="7863840" cy="329184"/>
          </a:xfrm>
          <a:prstGeom prst="rect">
            <a:avLst/>
          </a:prstGeom>
          <a:noFill/>
          <a:ln/>
        </p:spPr>
        <p:txBody>
          <a:bodyPr wrap="square" lIns="0" tIns="0" rIns="0" bIns="0" rtlCol="0" anchor="ctr"/>
          <a:lstStyle/>
          <a:p>
            <a:pPr indent="0" marL="0">
              <a:lnSpc>
                <a:spcPts val="1400"/>
              </a:lnSpc>
              <a:buNone/>
            </a:pPr>
            <a:r>
              <a:rPr lang="en-US" sz="1100" dirty="0">
                <a:solidFill>
                  <a:srgbClr val="16283C"/>
                </a:solidFill>
                <a:latin typeface="Calibri" pitchFamily="34" charset="0"/>
                <a:ea typeface="Calibri" pitchFamily="34" charset="-122"/>
                <a:cs typeface="Calibri" pitchFamily="34" charset="-120"/>
              </a:rPr>
              <a:t>El impuesto no tiene contraprestación directa (Ganancias, IVA). La tasa retribuye un servicio concreto: alumbrado, inspecciones, habilitación.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457200" y="310896"/>
            <a:ext cx="475488" cy="475488"/>
          </a:xfrm>
          <a:prstGeom prst="roundRect">
            <a:avLst>
              <a:gd name="adj" fmla="val 96154"/>
            </a:avLst>
          </a:prstGeom>
          <a:solidFill>
            <a:srgbClr val="B8862B"/>
          </a:solidFill>
          <a:ln w="12700">
            <a:solidFill>
              <a:srgbClr val="B8862B"/>
            </a:solidFill>
            <a:prstDash val="solid"/>
          </a:ln>
        </p:spPr>
      </p:sp>
      <p:sp>
        <p:nvSpPr>
          <p:cNvPr id="3" name="Text 1"/>
          <p:cNvSpPr/>
          <p:nvPr/>
        </p:nvSpPr>
        <p:spPr>
          <a:xfrm>
            <a:off x="457200" y="31089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10</a:t>
            </a:r>
            <a:endParaRPr lang="en-US" sz="1600" dirty="0"/>
          </a:p>
        </p:txBody>
      </p:sp>
      <p:sp>
        <p:nvSpPr>
          <p:cNvPr id="4" name="Text 2"/>
          <p:cNvSpPr/>
          <p:nvPr/>
        </p:nvSpPr>
        <p:spPr>
          <a:xfrm>
            <a:off x="1078992" y="274320"/>
            <a:ext cx="7589520" cy="384048"/>
          </a:xfrm>
          <a:prstGeom prst="rect">
            <a:avLst/>
          </a:prstGeom>
          <a:noFill/>
          <a:ln/>
        </p:spPr>
        <p:txBody>
          <a:bodyPr wrap="square" lIns="0" tIns="0" rIns="0" bIns="0" rtlCol="0" anchor="ctr"/>
          <a:lstStyle/>
          <a:p>
            <a:pPr algn="l" indent="0" marL="0">
              <a:buNone/>
            </a:pPr>
            <a:r>
              <a:rPr lang="en-US" sz="2500" b="1" dirty="0">
                <a:solidFill>
                  <a:srgbClr val="16283C"/>
                </a:solidFill>
                <a:latin typeface="Cambria" pitchFamily="34" charset="0"/>
                <a:ea typeface="Cambria" pitchFamily="34" charset="-122"/>
                <a:cs typeface="Cambria" pitchFamily="34" charset="-120"/>
              </a:rPr>
              <a:t>El control de todos los días</a:t>
            </a:r>
            <a:endParaRPr lang="en-US" sz="2500" dirty="0"/>
          </a:p>
        </p:txBody>
      </p:sp>
      <p:sp>
        <p:nvSpPr>
          <p:cNvPr id="5" name="Text 3"/>
          <p:cNvSpPr/>
          <p:nvPr/>
        </p:nvSpPr>
        <p:spPr>
          <a:xfrm>
            <a:off x="1078992" y="676656"/>
            <a:ext cx="7589520" cy="256032"/>
          </a:xfrm>
          <a:prstGeom prst="rect">
            <a:avLst/>
          </a:prstGeom>
          <a:noFill/>
          <a:ln/>
        </p:spPr>
        <p:txBody>
          <a:bodyPr wrap="square" lIns="0" tIns="0" rIns="0" bIns="0" rtlCol="0" anchor="ctr"/>
          <a:lstStyle/>
          <a:p>
            <a:pPr algn="l" indent="0" marL="0">
              <a:buNone/>
            </a:pPr>
            <a:r>
              <a:rPr lang="en-US" sz="1150" dirty="0">
                <a:solidFill>
                  <a:srgbClr val="5B6B7C"/>
                </a:solidFill>
                <a:latin typeface="Calibri" pitchFamily="34" charset="0"/>
                <a:ea typeface="Calibri" pitchFamily="34" charset="-122"/>
                <a:cs typeface="Calibri" pitchFamily="34" charset="-120"/>
              </a:rPr>
              <a:t>Cuatro chequeos antes de pagar y los cinco errores que salen más caros</a:t>
            </a:r>
            <a:endParaRPr lang="en-US" sz="1150" dirty="0"/>
          </a:p>
        </p:txBody>
      </p:sp>
      <p:sp>
        <p:nvSpPr>
          <p:cNvPr id="6" name="Shape 4"/>
          <p:cNvSpPr/>
          <p:nvPr/>
        </p:nvSpPr>
        <p:spPr>
          <a:xfrm>
            <a:off x="457200" y="1097280"/>
            <a:ext cx="4069080" cy="3246120"/>
          </a:xfrm>
          <a:prstGeom prst="roundRect">
            <a:avLst>
              <a:gd name="adj" fmla="val 2254"/>
            </a:avLst>
          </a:prstGeom>
          <a:solidFill>
            <a:srgbClr val="16283C"/>
          </a:solidFill>
          <a:ln w="12700">
            <a:solidFill>
              <a:srgbClr val="16283C"/>
            </a:solidFill>
            <a:prstDash val="solid"/>
          </a:ln>
        </p:spPr>
      </p:sp>
      <p:sp>
        <p:nvSpPr>
          <p:cNvPr id="7" name="Text 5"/>
          <p:cNvSpPr/>
          <p:nvPr/>
        </p:nvSpPr>
        <p:spPr>
          <a:xfrm>
            <a:off x="685800" y="1280160"/>
            <a:ext cx="3611880" cy="310896"/>
          </a:xfrm>
          <a:prstGeom prst="rect">
            <a:avLst/>
          </a:prstGeom>
          <a:noFill/>
          <a:ln/>
        </p:spPr>
        <p:txBody>
          <a:bodyPr wrap="square" lIns="0" tIns="0" rIns="0" bIns="0" rtlCol="0" anchor="ctr"/>
          <a:lstStyle/>
          <a:p>
            <a:pPr indent="0" marL="0">
              <a:buNone/>
            </a:pPr>
            <a:r>
              <a:rPr lang="en-US" sz="1550" b="1" dirty="0">
                <a:solidFill>
                  <a:srgbClr val="B8862B"/>
                </a:solidFill>
                <a:latin typeface="Cambria" pitchFamily="34" charset="0"/>
                <a:ea typeface="Cambria" pitchFamily="34" charset="-122"/>
                <a:cs typeface="Cambria" pitchFamily="34" charset="-120"/>
              </a:rPr>
              <a:t>Antes de pagar una factura</a:t>
            </a:r>
            <a:endParaRPr lang="en-US" sz="1550" dirty="0"/>
          </a:p>
        </p:txBody>
      </p:sp>
      <p:sp>
        <p:nvSpPr>
          <p:cNvPr id="8" name="Shape 6"/>
          <p:cNvSpPr/>
          <p:nvPr/>
        </p:nvSpPr>
        <p:spPr>
          <a:xfrm>
            <a:off x="685800" y="1755648"/>
            <a:ext cx="292608" cy="292608"/>
          </a:xfrm>
          <a:prstGeom prst="roundRect">
            <a:avLst>
              <a:gd name="adj" fmla="val 156250"/>
            </a:avLst>
          </a:prstGeom>
          <a:solidFill>
            <a:srgbClr val="B8862B"/>
          </a:solidFill>
          <a:ln w="12700">
            <a:solidFill>
              <a:srgbClr val="B8862B"/>
            </a:solidFill>
            <a:prstDash val="solid"/>
          </a:ln>
        </p:spPr>
      </p:sp>
      <p:sp>
        <p:nvSpPr>
          <p:cNvPr id="9" name="Text 7"/>
          <p:cNvSpPr/>
          <p:nvPr/>
        </p:nvSpPr>
        <p:spPr>
          <a:xfrm>
            <a:off x="685800" y="1755648"/>
            <a:ext cx="292608" cy="292608"/>
          </a:xfrm>
          <a:prstGeom prst="rect">
            <a:avLst/>
          </a:prstGeom>
          <a:noFill/>
          <a:ln/>
        </p:spPr>
        <p:txBody>
          <a:bodyPr wrap="square" lIns="0" tIns="0" rIns="0" bIns="0" rtlCol="0" anchor="ctr"/>
          <a:lstStyle/>
          <a:p>
            <a:pPr algn="ctr" indent="0" marL="0">
              <a:buNone/>
            </a:pPr>
            <a:r>
              <a:rPr lang="en-US" sz="1100" b="1" dirty="0">
                <a:solidFill>
                  <a:srgbClr val="16283C"/>
                </a:solidFill>
                <a:latin typeface="Calibri" pitchFamily="34" charset="0"/>
                <a:ea typeface="Calibri" pitchFamily="34" charset="-122"/>
                <a:cs typeface="Calibri" pitchFamily="34" charset="-120"/>
              </a:rPr>
              <a:t>✓</a:t>
            </a:r>
            <a:endParaRPr lang="en-US" sz="1100" dirty="0"/>
          </a:p>
        </p:txBody>
      </p:sp>
      <p:sp>
        <p:nvSpPr>
          <p:cNvPr id="10" name="Text 8"/>
          <p:cNvSpPr/>
          <p:nvPr/>
        </p:nvSpPr>
        <p:spPr>
          <a:xfrm>
            <a:off x="1115568" y="1700784"/>
            <a:ext cx="3200400" cy="420624"/>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Calibri" pitchFamily="34" charset="0"/>
                <a:ea typeface="Calibri" pitchFamily="34" charset="-122"/>
                <a:cs typeface="Calibri" pitchFamily="34" charset="-120"/>
              </a:rPr>
              <a:t>Que el CUIT esté activo y no dado de baja.</a:t>
            </a:r>
            <a:endParaRPr lang="en-US" sz="1100" dirty="0"/>
          </a:p>
        </p:txBody>
      </p:sp>
      <p:sp>
        <p:nvSpPr>
          <p:cNvPr id="11" name="Shape 9"/>
          <p:cNvSpPr/>
          <p:nvPr/>
        </p:nvSpPr>
        <p:spPr>
          <a:xfrm>
            <a:off x="685800" y="2304288"/>
            <a:ext cx="292608" cy="292608"/>
          </a:xfrm>
          <a:prstGeom prst="roundRect">
            <a:avLst>
              <a:gd name="adj" fmla="val 156250"/>
            </a:avLst>
          </a:prstGeom>
          <a:solidFill>
            <a:srgbClr val="B8862B"/>
          </a:solidFill>
          <a:ln w="12700">
            <a:solidFill>
              <a:srgbClr val="B8862B"/>
            </a:solidFill>
            <a:prstDash val="solid"/>
          </a:ln>
        </p:spPr>
      </p:sp>
      <p:sp>
        <p:nvSpPr>
          <p:cNvPr id="12" name="Text 10"/>
          <p:cNvSpPr/>
          <p:nvPr/>
        </p:nvSpPr>
        <p:spPr>
          <a:xfrm>
            <a:off x="685800" y="2304288"/>
            <a:ext cx="292608" cy="292608"/>
          </a:xfrm>
          <a:prstGeom prst="rect">
            <a:avLst/>
          </a:prstGeom>
          <a:noFill/>
          <a:ln/>
        </p:spPr>
        <p:txBody>
          <a:bodyPr wrap="square" lIns="0" tIns="0" rIns="0" bIns="0" rtlCol="0" anchor="ctr"/>
          <a:lstStyle/>
          <a:p>
            <a:pPr algn="ctr" indent="0" marL="0">
              <a:buNone/>
            </a:pPr>
            <a:r>
              <a:rPr lang="en-US" sz="1100" b="1" dirty="0">
                <a:solidFill>
                  <a:srgbClr val="16283C"/>
                </a:solidFill>
                <a:latin typeface="Calibri" pitchFamily="34" charset="0"/>
                <a:ea typeface="Calibri" pitchFamily="34" charset="-122"/>
                <a:cs typeface="Calibri" pitchFamily="34" charset="-120"/>
              </a:rPr>
              <a:t>✓</a:t>
            </a:r>
            <a:endParaRPr lang="en-US" sz="1100" dirty="0"/>
          </a:p>
        </p:txBody>
      </p:sp>
      <p:sp>
        <p:nvSpPr>
          <p:cNvPr id="13" name="Text 11"/>
          <p:cNvSpPr/>
          <p:nvPr/>
        </p:nvSpPr>
        <p:spPr>
          <a:xfrm>
            <a:off x="1115568" y="2249424"/>
            <a:ext cx="3200400" cy="420624"/>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Calibri" pitchFamily="34" charset="0"/>
                <a:ea typeface="Calibri" pitchFamily="34" charset="-122"/>
                <a:cs typeface="Calibri" pitchFamily="34" charset="-120"/>
              </a:rPr>
              <a:t>Que la condición de IVA de la constancia coincida con el tipo de factura.</a:t>
            </a:r>
            <a:endParaRPr lang="en-US" sz="1100" dirty="0"/>
          </a:p>
        </p:txBody>
      </p:sp>
      <p:sp>
        <p:nvSpPr>
          <p:cNvPr id="14" name="Shape 12"/>
          <p:cNvSpPr/>
          <p:nvPr/>
        </p:nvSpPr>
        <p:spPr>
          <a:xfrm>
            <a:off x="685800" y="2852928"/>
            <a:ext cx="292608" cy="292608"/>
          </a:xfrm>
          <a:prstGeom prst="roundRect">
            <a:avLst>
              <a:gd name="adj" fmla="val 156250"/>
            </a:avLst>
          </a:prstGeom>
          <a:solidFill>
            <a:srgbClr val="B8862B"/>
          </a:solidFill>
          <a:ln w="12700">
            <a:solidFill>
              <a:srgbClr val="B8862B"/>
            </a:solidFill>
            <a:prstDash val="solid"/>
          </a:ln>
        </p:spPr>
      </p:sp>
      <p:sp>
        <p:nvSpPr>
          <p:cNvPr id="15" name="Text 13"/>
          <p:cNvSpPr/>
          <p:nvPr/>
        </p:nvSpPr>
        <p:spPr>
          <a:xfrm>
            <a:off x="685800" y="2852928"/>
            <a:ext cx="292608" cy="292608"/>
          </a:xfrm>
          <a:prstGeom prst="rect">
            <a:avLst/>
          </a:prstGeom>
          <a:noFill/>
          <a:ln/>
        </p:spPr>
        <p:txBody>
          <a:bodyPr wrap="square" lIns="0" tIns="0" rIns="0" bIns="0" rtlCol="0" anchor="ctr"/>
          <a:lstStyle/>
          <a:p>
            <a:pPr algn="ctr" indent="0" marL="0">
              <a:buNone/>
            </a:pPr>
            <a:r>
              <a:rPr lang="en-US" sz="1100" b="1" dirty="0">
                <a:solidFill>
                  <a:srgbClr val="16283C"/>
                </a:solidFill>
                <a:latin typeface="Calibri" pitchFamily="34" charset="0"/>
                <a:ea typeface="Calibri" pitchFamily="34" charset="-122"/>
                <a:cs typeface="Calibri" pitchFamily="34" charset="-120"/>
              </a:rPr>
              <a:t>✓</a:t>
            </a:r>
            <a:endParaRPr lang="en-US" sz="1100" dirty="0"/>
          </a:p>
        </p:txBody>
      </p:sp>
      <p:sp>
        <p:nvSpPr>
          <p:cNvPr id="16" name="Text 14"/>
          <p:cNvSpPr/>
          <p:nvPr/>
        </p:nvSpPr>
        <p:spPr>
          <a:xfrm>
            <a:off x="1115568" y="2798064"/>
            <a:ext cx="3200400" cy="420624"/>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Calibri" pitchFamily="34" charset="0"/>
                <a:ea typeface="Calibri" pitchFamily="34" charset="-122"/>
                <a:cs typeface="Calibri" pitchFamily="34" charset="-120"/>
              </a:rPr>
              <a:t>Que el comprobante tenga CAE vigente.</a:t>
            </a:r>
            <a:endParaRPr lang="en-US" sz="1100" dirty="0"/>
          </a:p>
        </p:txBody>
      </p:sp>
      <p:sp>
        <p:nvSpPr>
          <p:cNvPr id="17" name="Shape 15"/>
          <p:cNvSpPr/>
          <p:nvPr/>
        </p:nvSpPr>
        <p:spPr>
          <a:xfrm>
            <a:off x="685800" y="3401568"/>
            <a:ext cx="292608" cy="292608"/>
          </a:xfrm>
          <a:prstGeom prst="roundRect">
            <a:avLst>
              <a:gd name="adj" fmla="val 156250"/>
            </a:avLst>
          </a:prstGeom>
          <a:solidFill>
            <a:srgbClr val="B8862B"/>
          </a:solidFill>
          <a:ln w="12700">
            <a:solidFill>
              <a:srgbClr val="B8862B"/>
            </a:solidFill>
            <a:prstDash val="solid"/>
          </a:ln>
        </p:spPr>
      </p:sp>
      <p:sp>
        <p:nvSpPr>
          <p:cNvPr id="18" name="Text 16"/>
          <p:cNvSpPr/>
          <p:nvPr/>
        </p:nvSpPr>
        <p:spPr>
          <a:xfrm>
            <a:off x="685800" y="3401568"/>
            <a:ext cx="292608" cy="292608"/>
          </a:xfrm>
          <a:prstGeom prst="rect">
            <a:avLst/>
          </a:prstGeom>
          <a:noFill/>
          <a:ln/>
        </p:spPr>
        <p:txBody>
          <a:bodyPr wrap="square" lIns="0" tIns="0" rIns="0" bIns="0" rtlCol="0" anchor="ctr"/>
          <a:lstStyle/>
          <a:p>
            <a:pPr algn="ctr" indent="0" marL="0">
              <a:buNone/>
            </a:pPr>
            <a:r>
              <a:rPr lang="en-US" sz="1100" b="1" dirty="0">
                <a:solidFill>
                  <a:srgbClr val="16283C"/>
                </a:solidFill>
                <a:latin typeface="Calibri" pitchFamily="34" charset="0"/>
                <a:ea typeface="Calibri" pitchFamily="34" charset="-122"/>
                <a:cs typeface="Calibri" pitchFamily="34" charset="-120"/>
              </a:rPr>
              <a:t>✓</a:t>
            </a:r>
            <a:endParaRPr lang="en-US" sz="1100" dirty="0"/>
          </a:p>
        </p:txBody>
      </p:sp>
      <p:sp>
        <p:nvSpPr>
          <p:cNvPr id="19" name="Text 17"/>
          <p:cNvSpPr/>
          <p:nvPr/>
        </p:nvSpPr>
        <p:spPr>
          <a:xfrm>
            <a:off x="1115568" y="3346704"/>
            <a:ext cx="3200400" cy="420624"/>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Calibri" pitchFamily="34" charset="0"/>
                <a:ea typeface="Calibri" pitchFamily="34" charset="-122"/>
                <a:cs typeface="Calibri" pitchFamily="34" charset="-120"/>
              </a:rPr>
              <a:t>Que el CBU esté a nombre del mismo CUIT que factura.</a:t>
            </a:r>
            <a:endParaRPr lang="en-US" sz="1100" dirty="0"/>
          </a:p>
        </p:txBody>
      </p:sp>
      <p:sp>
        <p:nvSpPr>
          <p:cNvPr id="20" name="Text 18"/>
          <p:cNvSpPr/>
          <p:nvPr/>
        </p:nvSpPr>
        <p:spPr>
          <a:xfrm>
            <a:off x="685800" y="3886200"/>
            <a:ext cx="3611880" cy="411480"/>
          </a:xfrm>
          <a:prstGeom prst="rect">
            <a:avLst/>
          </a:prstGeom>
          <a:noFill/>
          <a:ln/>
        </p:spPr>
        <p:txBody>
          <a:bodyPr wrap="square" lIns="0" tIns="0" rIns="0" bIns="0" rtlCol="0" anchor="ctr"/>
          <a:lstStyle/>
          <a:p>
            <a:pPr indent="0" marL="0">
              <a:lnSpc>
                <a:spcPts val="1200"/>
              </a:lnSpc>
              <a:buNone/>
            </a:pPr>
            <a:r>
              <a:rPr lang="en-US" sz="950" i="1" dirty="0">
                <a:solidFill>
                  <a:srgbClr val="9FB0C0"/>
                </a:solidFill>
                <a:latin typeface="Calibri" pitchFamily="34" charset="0"/>
                <a:ea typeface="Calibri" pitchFamily="34" charset="-122"/>
                <a:cs typeface="Calibri" pitchFamily="34" charset="-120"/>
              </a:rPr>
              <a:t>Para dar de alta: constancia actualizada, CBU, condición de IVA y ART vigente si tiene personal.</a:t>
            </a:r>
            <a:endParaRPr lang="en-US" sz="950" dirty="0"/>
          </a:p>
        </p:txBody>
      </p:sp>
      <p:sp>
        <p:nvSpPr>
          <p:cNvPr id="21" name="Text 19"/>
          <p:cNvSpPr/>
          <p:nvPr/>
        </p:nvSpPr>
        <p:spPr>
          <a:xfrm>
            <a:off x="4709160" y="1097280"/>
            <a:ext cx="3977640" cy="292608"/>
          </a:xfrm>
          <a:prstGeom prst="rect">
            <a:avLst/>
          </a:prstGeom>
          <a:noFill/>
          <a:ln/>
        </p:spPr>
        <p:txBody>
          <a:bodyPr wrap="square" lIns="0" tIns="0" rIns="0" bIns="0" rtlCol="0" anchor="ctr"/>
          <a:lstStyle/>
          <a:p>
            <a:pPr indent="0" marL="0">
              <a:buNone/>
            </a:pPr>
            <a:r>
              <a:rPr lang="en-US" sz="1550" b="1" dirty="0">
                <a:solidFill>
                  <a:srgbClr val="9E2B25"/>
                </a:solidFill>
                <a:latin typeface="Cambria" pitchFamily="34" charset="0"/>
                <a:ea typeface="Cambria" pitchFamily="34" charset="-122"/>
                <a:cs typeface="Cambria" pitchFamily="34" charset="-120"/>
              </a:rPr>
              <a:t>Los cinco errores más caros</a:t>
            </a:r>
            <a:endParaRPr lang="en-US" sz="1550" dirty="0"/>
          </a:p>
        </p:txBody>
      </p:sp>
      <p:sp>
        <p:nvSpPr>
          <p:cNvPr id="22" name="Shape 20"/>
          <p:cNvSpPr/>
          <p:nvPr/>
        </p:nvSpPr>
        <p:spPr>
          <a:xfrm>
            <a:off x="4709160" y="1517904"/>
            <a:ext cx="3977640" cy="530352"/>
          </a:xfrm>
          <a:prstGeom prst="roundRect">
            <a:avLst>
              <a:gd name="adj" fmla="val 13793"/>
            </a:avLst>
          </a:prstGeom>
          <a:solidFill>
            <a:srgbClr val="F7F8FA"/>
          </a:solidFill>
          <a:ln w="12700">
            <a:solidFill>
              <a:srgbClr val="F7F8FA"/>
            </a:solidFill>
            <a:prstDash val="solid"/>
          </a:ln>
        </p:spPr>
      </p:sp>
      <p:sp>
        <p:nvSpPr>
          <p:cNvPr id="23" name="Text 21"/>
          <p:cNvSpPr/>
          <p:nvPr/>
        </p:nvSpPr>
        <p:spPr>
          <a:xfrm>
            <a:off x="4892040" y="1554480"/>
            <a:ext cx="3657600" cy="219456"/>
          </a:xfrm>
          <a:prstGeom prst="rect">
            <a:avLst/>
          </a:prstGeom>
          <a:noFill/>
          <a:ln/>
        </p:spPr>
        <p:txBody>
          <a:bodyPr wrap="square" lIns="0" tIns="0" rIns="0" bIns="0" rtlCol="0" anchor="ctr"/>
          <a:lstStyle/>
          <a:p>
            <a:pPr indent="0" marL="0">
              <a:buNone/>
            </a:pPr>
            <a:r>
              <a:rPr lang="en-US" sz="1100" b="1" dirty="0">
                <a:solidFill>
                  <a:srgbClr val="16283C"/>
                </a:solidFill>
                <a:latin typeface="Calibri" pitchFamily="34" charset="0"/>
                <a:ea typeface="Calibri" pitchFamily="34" charset="-122"/>
                <a:cs typeface="Calibri" pitchFamily="34" charset="-120"/>
              </a:rPr>
              <a:t>Pagar sin verificar el CAE</a:t>
            </a:r>
            <a:endParaRPr lang="en-US" sz="1100" dirty="0"/>
          </a:p>
        </p:txBody>
      </p:sp>
      <p:sp>
        <p:nvSpPr>
          <p:cNvPr id="24" name="Text 22"/>
          <p:cNvSpPr/>
          <p:nvPr/>
        </p:nvSpPr>
        <p:spPr>
          <a:xfrm>
            <a:off x="4892040" y="1773936"/>
            <a:ext cx="3657600" cy="219456"/>
          </a:xfrm>
          <a:prstGeom prst="rect">
            <a:avLst/>
          </a:prstGeom>
          <a:noFill/>
          <a:ln/>
        </p:spPr>
        <p:txBody>
          <a:bodyPr wrap="square" lIns="0" tIns="0" rIns="0" bIns="0" rtlCol="0" anchor="ctr"/>
          <a:lstStyle/>
          <a:p>
            <a:pPr indent="0" marL="0">
              <a:buNone/>
            </a:pPr>
            <a:r>
              <a:rPr lang="en-US" sz="950" dirty="0">
                <a:solidFill>
                  <a:srgbClr val="5B6B7C"/>
                </a:solidFill>
                <a:latin typeface="Calibri" pitchFamily="34" charset="0"/>
                <a:ea typeface="Calibri" pitchFamily="34" charset="-122"/>
                <a:cs typeface="Calibri" pitchFamily="34" charset="-120"/>
              </a:rPr>
              <a:t>ARCA puede impugnar el gasto en IVA y Ganancias.</a:t>
            </a:r>
            <a:endParaRPr lang="en-US" sz="950" dirty="0"/>
          </a:p>
        </p:txBody>
      </p:sp>
      <p:sp>
        <p:nvSpPr>
          <p:cNvPr id="25" name="Text 23"/>
          <p:cNvSpPr/>
          <p:nvPr/>
        </p:nvSpPr>
        <p:spPr>
          <a:xfrm>
            <a:off x="4892040" y="2121408"/>
            <a:ext cx="3657600" cy="219456"/>
          </a:xfrm>
          <a:prstGeom prst="rect">
            <a:avLst/>
          </a:prstGeom>
          <a:noFill/>
          <a:ln/>
        </p:spPr>
        <p:txBody>
          <a:bodyPr wrap="square" lIns="0" tIns="0" rIns="0" bIns="0" rtlCol="0" anchor="ctr"/>
          <a:lstStyle/>
          <a:p>
            <a:pPr indent="0" marL="0">
              <a:buNone/>
            </a:pPr>
            <a:r>
              <a:rPr lang="en-US" sz="1100" b="1" dirty="0">
                <a:solidFill>
                  <a:srgbClr val="16283C"/>
                </a:solidFill>
                <a:latin typeface="Calibri" pitchFamily="34" charset="0"/>
                <a:ea typeface="Calibri" pitchFamily="34" charset="-122"/>
                <a:cs typeface="Calibri" pitchFamily="34" charset="-120"/>
              </a:rPr>
              <a:t>No presentar la DDJJ por no tener actividad</a:t>
            </a:r>
            <a:endParaRPr lang="en-US" sz="1100" dirty="0"/>
          </a:p>
        </p:txBody>
      </p:sp>
      <p:sp>
        <p:nvSpPr>
          <p:cNvPr id="26" name="Text 24"/>
          <p:cNvSpPr/>
          <p:nvPr/>
        </p:nvSpPr>
        <p:spPr>
          <a:xfrm>
            <a:off x="4892040" y="2340864"/>
            <a:ext cx="3657600" cy="219456"/>
          </a:xfrm>
          <a:prstGeom prst="rect">
            <a:avLst/>
          </a:prstGeom>
          <a:noFill/>
          <a:ln/>
        </p:spPr>
        <p:txBody>
          <a:bodyPr wrap="square" lIns="0" tIns="0" rIns="0" bIns="0" rtlCol="0" anchor="ctr"/>
          <a:lstStyle/>
          <a:p>
            <a:pPr indent="0" marL="0">
              <a:buNone/>
            </a:pPr>
            <a:r>
              <a:rPr lang="en-US" sz="950" dirty="0">
                <a:solidFill>
                  <a:srgbClr val="5B6B7C"/>
                </a:solidFill>
                <a:latin typeface="Calibri" pitchFamily="34" charset="0"/>
                <a:ea typeface="Calibri" pitchFamily="34" charset="-122"/>
                <a:cs typeface="Calibri" pitchFamily="34" charset="-120"/>
              </a:rPr>
              <a:t>La multa es automática, aun con impuesto en cero.</a:t>
            </a:r>
            <a:endParaRPr lang="en-US" sz="950" dirty="0"/>
          </a:p>
        </p:txBody>
      </p:sp>
      <p:sp>
        <p:nvSpPr>
          <p:cNvPr id="27" name="Shape 25"/>
          <p:cNvSpPr/>
          <p:nvPr/>
        </p:nvSpPr>
        <p:spPr>
          <a:xfrm>
            <a:off x="4709160" y="2651760"/>
            <a:ext cx="3977640" cy="530352"/>
          </a:xfrm>
          <a:prstGeom prst="roundRect">
            <a:avLst>
              <a:gd name="adj" fmla="val 13793"/>
            </a:avLst>
          </a:prstGeom>
          <a:solidFill>
            <a:srgbClr val="F7F8FA"/>
          </a:solidFill>
          <a:ln w="12700">
            <a:solidFill>
              <a:srgbClr val="F7F8FA"/>
            </a:solidFill>
            <a:prstDash val="solid"/>
          </a:ln>
        </p:spPr>
      </p:sp>
      <p:sp>
        <p:nvSpPr>
          <p:cNvPr id="28" name="Text 26"/>
          <p:cNvSpPr/>
          <p:nvPr/>
        </p:nvSpPr>
        <p:spPr>
          <a:xfrm>
            <a:off x="4892040" y="2688336"/>
            <a:ext cx="3657600" cy="219456"/>
          </a:xfrm>
          <a:prstGeom prst="rect">
            <a:avLst/>
          </a:prstGeom>
          <a:noFill/>
          <a:ln/>
        </p:spPr>
        <p:txBody>
          <a:bodyPr wrap="square" lIns="0" tIns="0" rIns="0" bIns="0" rtlCol="0" anchor="ctr"/>
          <a:lstStyle/>
          <a:p>
            <a:pPr indent="0" marL="0">
              <a:buNone/>
            </a:pPr>
            <a:r>
              <a:rPr lang="en-US" sz="1100" b="1" dirty="0">
                <a:solidFill>
                  <a:srgbClr val="16283C"/>
                </a:solidFill>
                <a:latin typeface="Calibri" pitchFamily="34" charset="0"/>
                <a:ea typeface="Calibri" pitchFamily="34" charset="-122"/>
                <a:cs typeface="Calibri" pitchFamily="34" charset="-120"/>
              </a:rPr>
              <a:t>No recategorizar el Monotributo a tiempo</a:t>
            </a:r>
            <a:endParaRPr lang="en-US" sz="1100" dirty="0"/>
          </a:p>
        </p:txBody>
      </p:sp>
      <p:sp>
        <p:nvSpPr>
          <p:cNvPr id="29" name="Text 27"/>
          <p:cNvSpPr/>
          <p:nvPr/>
        </p:nvSpPr>
        <p:spPr>
          <a:xfrm>
            <a:off x="4892040" y="2907792"/>
            <a:ext cx="3657600" cy="219456"/>
          </a:xfrm>
          <a:prstGeom prst="rect">
            <a:avLst/>
          </a:prstGeom>
          <a:noFill/>
          <a:ln/>
        </p:spPr>
        <p:txBody>
          <a:bodyPr wrap="square" lIns="0" tIns="0" rIns="0" bIns="0" rtlCol="0" anchor="ctr"/>
          <a:lstStyle/>
          <a:p>
            <a:pPr indent="0" marL="0">
              <a:buNone/>
            </a:pPr>
            <a:r>
              <a:rPr lang="en-US" sz="950" dirty="0">
                <a:solidFill>
                  <a:srgbClr val="5B6B7C"/>
                </a:solidFill>
                <a:latin typeface="Calibri" pitchFamily="34" charset="0"/>
                <a:ea typeface="Calibri" pitchFamily="34" charset="-122"/>
                <a:cs typeface="Calibri" pitchFamily="34" charset="-120"/>
              </a:rPr>
              <a:t>ARCA recategoriza de oficio, casi siempre más caro.</a:t>
            </a:r>
            <a:endParaRPr lang="en-US" sz="950" dirty="0"/>
          </a:p>
        </p:txBody>
      </p:sp>
      <p:sp>
        <p:nvSpPr>
          <p:cNvPr id="30" name="Text 28"/>
          <p:cNvSpPr/>
          <p:nvPr/>
        </p:nvSpPr>
        <p:spPr>
          <a:xfrm>
            <a:off x="4892040" y="3255264"/>
            <a:ext cx="3657600" cy="219456"/>
          </a:xfrm>
          <a:prstGeom prst="rect">
            <a:avLst/>
          </a:prstGeom>
          <a:noFill/>
          <a:ln/>
        </p:spPr>
        <p:txBody>
          <a:bodyPr wrap="square" lIns="0" tIns="0" rIns="0" bIns="0" rtlCol="0" anchor="ctr"/>
          <a:lstStyle/>
          <a:p>
            <a:pPr indent="0" marL="0">
              <a:buNone/>
            </a:pPr>
            <a:r>
              <a:rPr lang="en-US" sz="1100" b="1" dirty="0">
                <a:solidFill>
                  <a:srgbClr val="16283C"/>
                </a:solidFill>
                <a:latin typeface="Calibri" pitchFamily="34" charset="0"/>
                <a:ea typeface="Calibri" pitchFamily="34" charset="-122"/>
                <a:cs typeface="Calibri" pitchFamily="34" charset="-120"/>
              </a:rPr>
              <a:t>Operar con un proveedor de alto riesgo fiscal</a:t>
            </a:r>
            <a:endParaRPr lang="en-US" sz="1100" dirty="0"/>
          </a:p>
        </p:txBody>
      </p:sp>
      <p:sp>
        <p:nvSpPr>
          <p:cNvPr id="31" name="Text 29"/>
          <p:cNvSpPr/>
          <p:nvPr/>
        </p:nvSpPr>
        <p:spPr>
          <a:xfrm>
            <a:off x="4892040" y="3474720"/>
            <a:ext cx="3657600" cy="219456"/>
          </a:xfrm>
          <a:prstGeom prst="rect">
            <a:avLst/>
          </a:prstGeom>
          <a:noFill/>
          <a:ln/>
        </p:spPr>
        <p:txBody>
          <a:bodyPr wrap="square" lIns="0" tIns="0" rIns="0" bIns="0" rtlCol="0" anchor="ctr"/>
          <a:lstStyle/>
          <a:p>
            <a:pPr indent="0" marL="0">
              <a:buNone/>
            </a:pPr>
            <a:r>
              <a:rPr lang="en-US" sz="950" dirty="0">
                <a:solidFill>
                  <a:srgbClr val="5B6B7C"/>
                </a:solidFill>
                <a:latin typeface="Calibri" pitchFamily="34" charset="0"/>
                <a:ea typeface="Calibri" pitchFamily="34" charset="-122"/>
                <a:cs typeface="Calibri" pitchFamily="34" charset="-120"/>
              </a:rPr>
              <a:t>Puede derivar en responsabilidad solidaria por su deuda.</a:t>
            </a:r>
            <a:endParaRPr lang="en-US" sz="950" dirty="0"/>
          </a:p>
        </p:txBody>
      </p:sp>
      <p:sp>
        <p:nvSpPr>
          <p:cNvPr id="32" name="Shape 30"/>
          <p:cNvSpPr/>
          <p:nvPr/>
        </p:nvSpPr>
        <p:spPr>
          <a:xfrm>
            <a:off x="4709160" y="3785616"/>
            <a:ext cx="3977640" cy="530352"/>
          </a:xfrm>
          <a:prstGeom prst="roundRect">
            <a:avLst>
              <a:gd name="adj" fmla="val 13793"/>
            </a:avLst>
          </a:prstGeom>
          <a:solidFill>
            <a:srgbClr val="F7F8FA"/>
          </a:solidFill>
          <a:ln w="12700">
            <a:solidFill>
              <a:srgbClr val="F7F8FA"/>
            </a:solidFill>
            <a:prstDash val="solid"/>
          </a:ln>
        </p:spPr>
      </p:sp>
      <p:sp>
        <p:nvSpPr>
          <p:cNvPr id="33" name="Text 31"/>
          <p:cNvSpPr/>
          <p:nvPr/>
        </p:nvSpPr>
        <p:spPr>
          <a:xfrm>
            <a:off x="4892040" y="3822192"/>
            <a:ext cx="3657600" cy="219456"/>
          </a:xfrm>
          <a:prstGeom prst="rect">
            <a:avLst/>
          </a:prstGeom>
          <a:noFill/>
          <a:ln/>
        </p:spPr>
        <p:txBody>
          <a:bodyPr wrap="square" lIns="0" tIns="0" rIns="0" bIns="0" rtlCol="0" anchor="ctr"/>
          <a:lstStyle/>
          <a:p>
            <a:pPr indent="0" marL="0">
              <a:buNone/>
            </a:pPr>
            <a:r>
              <a:rPr lang="en-US" sz="1100" b="1" dirty="0">
                <a:solidFill>
                  <a:srgbClr val="16283C"/>
                </a:solidFill>
                <a:latin typeface="Calibri" pitchFamily="34" charset="0"/>
                <a:ea typeface="Calibri" pitchFamily="34" charset="-122"/>
                <a:cs typeface="Calibri" pitchFamily="34" charset="-120"/>
              </a:rPr>
              <a:t>Firmar un alquiler sin sellar</a:t>
            </a:r>
            <a:endParaRPr lang="en-US" sz="1100" dirty="0"/>
          </a:p>
        </p:txBody>
      </p:sp>
      <p:sp>
        <p:nvSpPr>
          <p:cNvPr id="34" name="Text 32"/>
          <p:cNvSpPr/>
          <p:nvPr/>
        </p:nvSpPr>
        <p:spPr>
          <a:xfrm>
            <a:off x="4892040" y="4041648"/>
            <a:ext cx="3657600" cy="219456"/>
          </a:xfrm>
          <a:prstGeom prst="rect">
            <a:avLst/>
          </a:prstGeom>
          <a:noFill/>
          <a:ln/>
        </p:spPr>
        <p:txBody>
          <a:bodyPr wrap="square" lIns="0" tIns="0" rIns="0" bIns="0" rtlCol="0" anchor="ctr"/>
          <a:lstStyle/>
          <a:p>
            <a:pPr indent="0" marL="0">
              <a:buNone/>
            </a:pPr>
            <a:r>
              <a:rPr lang="en-US" sz="950" dirty="0">
                <a:solidFill>
                  <a:srgbClr val="5B6B7C"/>
                </a:solidFill>
                <a:latin typeface="Calibri" pitchFamily="34" charset="0"/>
                <a:ea typeface="Calibri" pitchFamily="34" charset="-122"/>
                <a:cs typeface="Calibri" pitchFamily="34" charset="-120"/>
              </a:rPr>
              <a:t>El contrato pierde fuerza probatoria ante el fisco.</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283C"/>
        </a:solidFill>
      </p:bgPr>
    </p:bg>
    <p:spTree>
      <p:nvGrpSpPr>
        <p:cNvPr id="1" name=""/>
        <p:cNvGrpSpPr/>
        <p:nvPr/>
      </p:nvGrpSpPr>
      <p:grpSpPr>
        <a:xfrm>
          <a:off x="0" y="0"/>
          <a:ext cx="0" cy="0"/>
          <a:chOff x="0" y="0"/>
          <a:chExt cx="0" cy="0"/>
        </a:xfrm>
      </p:grpSpPr>
      <p:sp>
        <p:nvSpPr>
          <p:cNvPr id="2" name="Shape 0"/>
          <p:cNvSpPr/>
          <p:nvPr/>
        </p:nvSpPr>
        <p:spPr>
          <a:xfrm rot="1200000">
            <a:off x="-3566160" y="3657600"/>
            <a:ext cx="5852160" cy="5852160"/>
          </a:xfrm>
          <a:prstGeom prst="roundRect">
            <a:avLst>
              <a:gd name="adj" fmla="val 781"/>
            </a:avLst>
          </a:prstGeom>
          <a:solidFill>
            <a:srgbClr val="2A4763"/>
          </a:solidFill>
          <a:ln w="12700">
            <a:solidFill>
              <a:srgbClr val="2A4763"/>
            </a:solidFill>
            <a:prstDash val="solid"/>
          </a:ln>
        </p:spPr>
      </p:sp>
      <p:sp>
        <p:nvSpPr>
          <p:cNvPr id="3" name="Text 1"/>
          <p:cNvSpPr/>
          <p:nvPr/>
        </p:nvSpPr>
        <p:spPr>
          <a:xfrm>
            <a:off x="640080" y="640080"/>
            <a:ext cx="4572000" cy="274320"/>
          </a:xfrm>
          <a:prstGeom prst="rect">
            <a:avLst/>
          </a:prstGeom>
          <a:noFill/>
          <a:ln/>
        </p:spPr>
        <p:txBody>
          <a:bodyPr wrap="square" lIns="0" tIns="0" rIns="0" bIns="0" rtlCol="0" anchor="ctr"/>
          <a:lstStyle/>
          <a:p>
            <a:pPr indent="0" marL="0">
              <a:buNone/>
            </a:pPr>
            <a:r>
              <a:rPr lang="en-US" sz="1050" b="1" spc="160" kern="0" dirty="0">
                <a:solidFill>
                  <a:srgbClr val="B8862B"/>
                </a:solidFill>
                <a:latin typeface="Calibri" pitchFamily="34" charset="0"/>
                <a:ea typeface="Calibri" pitchFamily="34" charset="-122"/>
                <a:cs typeface="Calibri" pitchFamily="34" charset="-120"/>
              </a:rPr>
              <a:t>PARA LLEVARSE</a:t>
            </a:r>
            <a:endParaRPr lang="en-US" sz="1050" dirty="0"/>
          </a:p>
        </p:txBody>
      </p:sp>
      <p:sp>
        <p:nvSpPr>
          <p:cNvPr id="4" name="Text 2"/>
          <p:cNvSpPr/>
          <p:nvPr/>
        </p:nvSpPr>
        <p:spPr>
          <a:xfrm>
            <a:off x="640080" y="1024128"/>
            <a:ext cx="7315200" cy="1097280"/>
          </a:xfrm>
          <a:prstGeom prst="rect">
            <a:avLst/>
          </a:prstGeom>
          <a:noFill/>
          <a:ln/>
        </p:spPr>
        <p:txBody>
          <a:bodyPr wrap="square" lIns="0" tIns="0" rIns="0" bIns="0" rtlCol="0" anchor="ctr"/>
          <a:lstStyle/>
          <a:p>
            <a:pPr indent="0" marL="0">
              <a:lnSpc>
                <a:spcPts val="4000"/>
              </a:lnSpc>
              <a:buNone/>
            </a:pPr>
            <a:r>
              <a:rPr lang="en-US" sz="3100" b="1" dirty="0">
                <a:solidFill>
                  <a:srgbClr val="FFFFFF"/>
                </a:solidFill>
                <a:latin typeface="Cambria" pitchFamily="34" charset="0"/>
                <a:ea typeface="Cambria" pitchFamily="34" charset="-122"/>
                <a:cs typeface="Cambria" pitchFamily="34" charset="-120"/>
              </a:rPr>
              <a:t>“Preguntar antes de pagar,</a:t>
            </a:r>
            <a:endParaRPr lang="en-US" sz="3100" dirty="0"/>
          </a:p>
          <a:p>
            <a:pPr indent="0" marL="0">
              <a:lnSpc>
                <a:spcPts val="4000"/>
              </a:lnSpc>
              <a:buNone/>
            </a:pPr>
            <a:r>
              <a:rPr lang="en-US" sz="3100" b="1" dirty="0">
                <a:solidFill>
                  <a:srgbClr val="FFFFFF"/>
                </a:solidFill>
                <a:latin typeface="Cambria" pitchFamily="34" charset="0"/>
                <a:ea typeface="Cambria" pitchFamily="34" charset="-122"/>
                <a:cs typeface="Cambria" pitchFamily="34" charset="-120"/>
              </a:rPr>
              <a:t>nunca después.”</a:t>
            </a:r>
            <a:endParaRPr lang="en-US" sz="3100" dirty="0"/>
          </a:p>
        </p:txBody>
      </p:sp>
      <p:sp>
        <p:nvSpPr>
          <p:cNvPr id="5" name="Shape 3"/>
          <p:cNvSpPr/>
          <p:nvPr/>
        </p:nvSpPr>
        <p:spPr>
          <a:xfrm>
            <a:off x="640080" y="2395728"/>
            <a:ext cx="2468880" cy="1572768"/>
          </a:xfrm>
          <a:prstGeom prst="roundRect">
            <a:avLst>
              <a:gd name="adj" fmla="val 4651"/>
            </a:avLst>
          </a:prstGeom>
          <a:solidFill>
            <a:srgbClr val="2A4763"/>
          </a:solidFill>
          <a:ln w="12700">
            <a:solidFill>
              <a:srgbClr val="2A4763"/>
            </a:solidFill>
            <a:prstDash val="solid"/>
          </a:ln>
        </p:spPr>
      </p:sp>
      <p:sp>
        <p:nvSpPr>
          <p:cNvPr id="6" name="Text 4"/>
          <p:cNvSpPr/>
          <p:nvPr/>
        </p:nvSpPr>
        <p:spPr>
          <a:xfrm>
            <a:off x="841248" y="2560320"/>
            <a:ext cx="2103120" cy="457200"/>
          </a:xfrm>
          <a:prstGeom prst="rect">
            <a:avLst/>
          </a:prstGeom>
          <a:noFill/>
          <a:ln/>
        </p:spPr>
        <p:txBody>
          <a:bodyPr wrap="square" lIns="0" tIns="0" rIns="0" bIns="0" rtlCol="0" anchor="ctr"/>
          <a:lstStyle/>
          <a:p>
            <a:pPr indent="0" marL="0">
              <a:lnSpc>
                <a:spcPts val="1700"/>
              </a:lnSpc>
              <a:buNone/>
            </a:pPr>
            <a:r>
              <a:rPr lang="en-US" sz="1400" b="1" dirty="0">
                <a:solidFill>
                  <a:srgbClr val="B8862B"/>
                </a:solidFill>
                <a:latin typeface="Cambria" pitchFamily="34" charset="0"/>
                <a:ea typeface="Cambria" pitchFamily="34" charset="-122"/>
                <a:cs typeface="Cambria" pitchFamily="34" charset="-120"/>
              </a:rPr>
              <a:t>Identificá el nivel</a:t>
            </a:r>
            <a:endParaRPr lang="en-US" sz="1400" dirty="0"/>
          </a:p>
        </p:txBody>
      </p:sp>
      <p:sp>
        <p:nvSpPr>
          <p:cNvPr id="7" name="Text 5"/>
          <p:cNvSpPr/>
          <p:nvPr/>
        </p:nvSpPr>
        <p:spPr>
          <a:xfrm>
            <a:off x="841248" y="3054096"/>
            <a:ext cx="2103120" cy="777240"/>
          </a:xfrm>
          <a:prstGeom prst="rect">
            <a:avLst/>
          </a:prstGeom>
          <a:noFill/>
          <a:ln/>
        </p:spPr>
        <p:txBody>
          <a:bodyPr wrap="square" lIns="0" tIns="0" rIns="0" bIns="0" rtlCol="0" anchor="ctr"/>
          <a:lstStyle/>
          <a:p>
            <a:pPr indent="0" marL="0">
              <a:lnSpc>
                <a:spcPts val="1400"/>
              </a:lnSpc>
              <a:buNone/>
            </a:pPr>
            <a:r>
              <a:rPr lang="en-US" sz="1050" dirty="0">
                <a:solidFill>
                  <a:srgbClr val="C3CEDA"/>
                </a:solidFill>
                <a:latin typeface="Calibri" pitchFamily="34" charset="0"/>
                <a:ea typeface="Calibri" pitchFamily="34" charset="-122"/>
                <a:cs typeface="Calibri" pitchFamily="34" charset="-120"/>
              </a:rPr>
              <a:t>Nación, provincia o municipio: eso define el organismo, el portal y el vencimiento.</a:t>
            </a:r>
            <a:endParaRPr lang="en-US" sz="1050" dirty="0"/>
          </a:p>
        </p:txBody>
      </p:sp>
      <p:sp>
        <p:nvSpPr>
          <p:cNvPr id="8" name="Shape 6"/>
          <p:cNvSpPr/>
          <p:nvPr/>
        </p:nvSpPr>
        <p:spPr>
          <a:xfrm>
            <a:off x="3337560" y="2395728"/>
            <a:ext cx="2468880" cy="1572768"/>
          </a:xfrm>
          <a:prstGeom prst="roundRect">
            <a:avLst>
              <a:gd name="adj" fmla="val 4651"/>
            </a:avLst>
          </a:prstGeom>
          <a:solidFill>
            <a:srgbClr val="2A4763"/>
          </a:solidFill>
          <a:ln w="12700">
            <a:solidFill>
              <a:srgbClr val="2A4763"/>
            </a:solidFill>
            <a:prstDash val="solid"/>
          </a:ln>
        </p:spPr>
      </p:sp>
      <p:sp>
        <p:nvSpPr>
          <p:cNvPr id="9" name="Text 7"/>
          <p:cNvSpPr/>
          <p:nvPr/>
        </p:nvSpPr>
        <p:spPr>
          <a:xfrm>
            <a:off x="3538728" y="2560320"/>
            <a:ext cx="2103120" cy="457200"/>
          </a:xfrm>
          <a:prstGeom prst="rect">
            <a:avLst/>
          </a:prstGeom>
          <a:noFill/>
          <a:ln/>
        </p:spPr>
        <p:txBody>
          <a:bodyPr wrap="square" lIns="0" tIns="0" rIns="0" bIns="0" rtlCol="0" anchor="ctr"/>
          <a:lstStyle/>
          <a:p>
            <a:pPr indent="0" marL="0">
              <a:lnSpc>
                <a:spcPts val="1700"/>
              </a:lnSpc>
              <a:buNone/>
            </a:pPr>
            <a:r>
              <a:rPr lang="en-US" sz="1400" b="1" dirty="0">
                <a:solidFill>
                  <a:srgbClr val="B8862B"/>
                </a:solidFill>
                <a:latin typeface="Cambria" pitchFamily="34" charset="0"/>
                <a:ea typeface="Cambria" pitchFamily="34" charset="-122"/>
                <a:cs typeface="Cambria" pitchFamily="34" charset="-120"/>
              </a:rPr>
              <a:t>Controlá antes de pagar</a:t>
            </a:r>
            <a:endParaRPr lang="en-US" sz="1400" dirty="0"/>
          </a:p>
        </p:txBody>
      </p:sp>
      <p:sp>
        <p:nvSpPr>
          <p:cNvPr id="10" name="Text 8"/>
          <p:cNvSpPr/>
          <p:nvPr/>
        </p:nvSpPr>
        <p:spPr>
          <a:xfrm>
            <a:off x="3538728" y="3054096"/>
            <a:ext cx="2103120" cy="777240"/>
          </a:xfrm>
          <a:prstGeom prst="rect">
            <a:avLst/>
          </a:prstGeom>
          <a:noFill/>
          <a:ln/>
        </p:spPr>
        <p:txBody>
          <a:bodyPr wrap="square" lIns="0" tIns="0" rIns="0" bIns="0" rtlCol="0" anchor="ctr"/>
          <a:lstStyle/>
          <a:p>
            <a:pPr indent="0" marL="0">
              <a:lnSpc>
                <a:spcPts val="1400"/>
              </a:lnSpc>
              <a:buNone/>
            </a:pPr>
            <a:r>
              <a:rPr lang="en-US" sz="1050" dirty="0">
                <a:solidFill>
                  <a:srgbClr val="C3CEDA"/>
                </a:solidFill>
                <a:latin typeface="Calibri" pitchFamily="34" charset="0"/>
                <a:ea typeface="Calibri" pitchFamily="34" charset="-122"/>
                <a:cs typeface="Calibri" pitchFamily="34" charset="-120"/>
              </a:rPr>
              <a:t>Constancia, tipo de factura y CAE vigente. Dos minutos que evitan el error más caro.</a:t>
            </a:r>
            <a:endParaRPr lang="en-US" sz="1050" dirty="0"/>
          </a:p>
        </p:txBody>
      </p:sp>
      <p:sp>
        <p:nvSpPr>
          <p:cNvPr id="11" name="Shape 9"/>
          <p:cNvSpPr/>
          <p:nvPr/>
        </p:nvSpPr>
        <p:spPr>
          <a:xfrm>
            <a:off x="6035040" y="2395728"/>
            <a:ext cx="2468880" cy="1572768"/>
          </a:xfrm>
          <a:prstGeom prst="roundRect">
            <a:avLst>
              <a:gd name="adj" fmla="val 4651"/>
            </a:avLst>
          </a:prstGeom>
          <a:solidFill>
            <a:srgbClr val="2A4763"/>
          </a:solidFill>
          <a:ln w="12700">
            <a:solidFill>
              <a:srgbClr val="2A4763"/>
            </a:solidFill>
            <a:prstDash val="solid"/>
          </a:ln>
        </p:spPr>
      </p:sp>
      <p:sp>
        <p:nvSpPr>
          <p:cNvPr id="12" name="Text 10"/>
          <p:cNvSpPr/>
          <p:nvPr/>
        </p:nvSpPr>
        <p:spPr>
          <a:xfrm>
            <a:off x="6236208" y="2560320"/>
            <a:ext cx="2103120" cy="457200"/>
          </a:xfrm>
          <a:prstGeom prst="rect">
            <a:avLst/>
          </a:prstGeom>
          <a:noFill/>
          <a:ln/>
        </p:spPr>
        <p:txBody>
          <a:bodyPr wrap="square" lIns="0" tIns="0" rIns="0" bIns="0" rtlCol="0" anchor="ctr"/>
          <a:lstStyle/>
          <a:p>
            <a:pPr indent="0" marL="0">
              <a:lnSpc>
                <a:spcPts val="1700"/>
              </a:lnSpc>
              <a:buNone/>
            </a:pPr>
            <a:r>
              <a:rPr lang="en-US" sz="1400" b="1" dirty="0">
                <a:solidFill>
                  <a:srgbClr val="B8862B"/>
                </a:solidFill>
                <a:latin typeface="Cambria" pitchFamily="34" charset="0"/>
                <a:ea typeface="Cambria" pitchFamily="34" charset="-122"/>
                <a:cs typeface="Cambria" pitchFamily="34" charset="-120"/>
              </a:rPr>
              <a:t>Ante la duda, consultá</a:t>
            </a:r>
            <a:endParaRPr lang="en-US" sz="1400" dirty="0"/>
          </a:p>
        </p:txBody>
      </p:sp>
      <p:sp>
        <p:nvSpPr>
          <p:cNvPr id="13" name="Text 11"/>
          <p:cNvSpPr/>
          <p:nvPr/>
        </p:nvSpPr>
        <p:spPr>
          <a:xfrm>
            <a:off x="6236208" y="3054096"/>
            <a:ext cx="2103120" cy="777240"/>
          </a:xfrm>
          <a:prstGeom prst="rect">
            <a:avLst/>
          </a:prstGeom>
          <a:noFill/>
          <a:ln/>
        </p:spPr>
        <p:txBody>
          <a:bodyPr wrap="square" lIns="0" tIns="0" rIns="0" bIns="0" rtlCol="0" anchor="ctr"/>
          <a:lstStyle/>
          <a:p>
            <a:pPr indent="0" marL="0">
              <a:lnSpc>
                <a:spcPts val="1400"/>
              </a:lnSpc>
              <a:buNone/>
            </a:pPr>
            <a:r>
              <a:rPr lang="en-US" sz="1050" dirty="0">
                <a:solidFill>
                  <a:srgbClr val="C3CEDA"/>
                </a:solidFill>
                <a:latin typeface="Calibri" pitchFamily="34" charset="0"/>
                <a:ea typeface="Calibri" pitchFamily="34" charset="-122"/>
                <a:cs typeface="Calibri" pitchFamily="34" charset="-120"/>
              </a:rPr>
              <a:t>Esta capacitación cubre lo básico; no reemplaza el criterio del estudio contable.</a:t>
            </a:r>
            <a:endParaRPr lang="en-US" sz="1050" dirty="0"/>
          </a:p>
        </p:txBody>
      </p:sp>
      <p:sp>
        <p:nvSpPr>
          <p:cNvPr id="14" name="Text 12"/>
          <p:cNvSpPr/>
          <p:nvPr/>
        </p:nvSpPr>
        <p:spPr>
          <a:xfrm>
            <a:off x="640080" y="4279392"/>
            <a:ext cx="7863840" cy="274320"/>
          </a:xfrm>
          <a:prstGeom prst="rect">
            <a:avLst/>
          </a:prstGeom>
          <a:noFill/>
          <a:ln/>
        </p:spPr>
        <p:txBody>
          <a:bodyPr wrap="square" lIns="0" tIns="0" rIns="0" bIns="0" rtlCol="0" anchor="ctr"/>
          <a:lstStyle/>
          <a:p>
            <a:pPr indent="0" marL="0">
              <a:buNone/>
            </a:pPr>
            <a:r>
              <a:rPr lang="en-US" sz="950" dirty="0">
                <a:solidFill>
                  <a:srgbClr val="8FA3B5"/>
                </a:solidFill>
                <a:latin typeface="Calibri" pitchFamily="34" charset="0"/>
                <a:ea typeface="Calibri" pitchFamily="34" charset="-122"/>
                <a:cs typeface="Calibri" pitchFamily="34" charset="-120"/>
              </a:rPr>
              <a:t>Krak Real Estate  ·  Capacitación interna 2026  ·  Material de consulta: Manual de Impuestos para Administrativos en Argentina</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Impuestos para Agentes Inmobiliarios</dc:title>
  <dc:subject>PptxGenJS Presentation</dc:subject>
  <dc:creator>Krak Real Estate</dc:creator>
  <cp:lastModifiedBy>Krak Real Estate</cp:lastModifiedBy>
  <cp:revision>1</cp:revision>
  <dcterms:created xsi:type="dcterms:W3CDTF">2026-08-17T13:31:41Z</dcterms:created>
  <dcterms:modified xsi:type="dcterms:W3CDTF">2026-08-17T13:31:41Z</dcterms:modified>
</cp:coreProperties>
</file>